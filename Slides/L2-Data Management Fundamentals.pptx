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45"/>
  </p:notesMasterIdLst>
  <p:sldIdLst>
    <p:sldId id="374" r:id="rId2"/>
    <p:sldId id="375" r:id="rId3"/>
    <p:sldId id="376" r:id="rId4"/>
    <p:sldId id="284" r:id="rId5"/>
    <p:sldId id="302" r:id="rId6"/>
    <p:sldId id="287" r:id="rId7"/>
    <p:sldId id="372" r:id="rId8"/>
    <p:sldId id="288" r:id="rId9"/>
    <p:sldId id="289" r:id="rId10"/>
    <p:sldId id="290" r:id="rId11"/>
    <p:sldId id="291" r:id="rId12"/>
    <p:sldId id="292" r:id="rId13"/>
    <p:sldId id="293" r:id="rId14"/>
    <p:sldId id="354" r:id="rId15"/>
    <p:sldId id="353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43" r:id="rId27"/>
    <p:sldId id="344" r:id="rId28"/>
    <p:sldId id="351" r:id="rId29"/>
    <p:sldId id="365" r:id="rId30"/>
    <p:sldId id="352" r:id="rId31"/>
    <p:sldId id="366" r:id="rId32"/>
    <p:sldId id="369" r:id="rId33"/>
    <p:sldId id="368" r:id="rId34"/>
    <p:sldId id="370" r:id="rId35"/>
    <p:sldId id="346" r:id="rId36"/>
    <p:sldId id="345" r:id="rId37"/>
    <p:sldId id="348" r:id="rId38"/>
    <p:sldId id="350" r:id="rId39"/>
    <p:sldId id="373" r:id="rId40"/>
    <p:sldId id="347" r:id="rId41"/>
    <p:sldId id="349" r:id="rId42"/>
    <p:sldId id="342" r:id="rId43"/>
    <p:sldId id="26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46AD46"/>
    <a:srgbClr val="1E2F64"/>
    <a:srgbClr val="150860"/>
    <a:srgbClr val="1C1573"/>
    <a:srgbClr val="283E84"/>
    <a:srgbClr val="211D71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106" d="100"/>
          <a:sy n="106" d="100"/>
        </p:scale>
        <p:origin x="672" y="96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55D98D-0104-48FC-BAC8-8904215577D1}" type="doc">
      <dgm:prSet loTypeId="urn:microsoft.com/office/officeart/2005/8/layout/hChevron3" loCatId="process" qsTypeId="urn:microsoft.com/office/officeart/2005/8/quickstyle/simple1" qsCatId="simple" csTypeId="urn:microsoft.com/office/officeart/2005/8/colors/accent1_5" csCatId="accent1" phldr="1"/>
      <dgm:spPr/>
    </dgm:pt>
    <dgm:pt modelId="{9C76F328-AA74-41DE-9BAA-AE937DD977DA}">
      <dgm:prSet phldrT="[Text]" custT="1"/>
      <dgm:spPr/>
      <dgm:t>
        <a:bodyPr/>
        <a:lstStyle/>
        <a:p>
          <a:r>
            <a:rPr lang="en-US" sz="1400" dirty="0"/>
            <a:t>Collect</a:t>
          </a:r>
        </a:p>
      </dgm:t>
    </dgm:pt>
    <dgm:pt modelId="{319967FE-172F-4694-89A8-126A1880EA2B}" type="parTrans" cxnId="{3D6E045F-2A6B-4078-AF2B-AB3BB71B431D}">
      <dgm:prSet/>
      <dgm:spPr/>
      <dgm:t>
        <a:bodyPr/>
        <a:lstStyle/>
        <a:p>
          <a:endParaRPr lang="en-US" sz="1400"/>
        </a:p>
      </dgm:t>
    </dgm:pt>
    <dgm:pt modelId="{254D1803-564E-4713-A967-9588DF0AC0C3}" type="sibTrans" cxnId="{3D6E045F-2A6B-4078-AF2B-AB3BB71B431D}">
      <dgm:prSet/>
      <dgm:spPr/>
      <dgm:t>
        <a:bodyPr/>
        <a:lstStyle/>
        <a:p>
          <a:endParaRPr lang="en-US" sz="1400"/>
        </a:p>
      </dgm:t>
    </dgm:pt>
    <dgm:pt modelId="{B9A9133A-E345-4C27-A9FA-F5F9DEB63047}">
      <dgm:prSet phldrT="[Text]" custT="1"/>
      <dgm:spPr/>
      <dgm:t>
        <a:bodyPr/>
        <a:lstStyle/>
        <a:p>
          <a:r>
            <a:rPr lang="en-US" sz="1400" dirty="0"/>
            <a:t>Store</a:t>
          </a:r>
        </a:p>
      </dgm:t>
    </dgm:pt>
    <dgm:pt modelId="{275D5BB9-1D2D-48B1-8C61-51EC163D379E}" type="parTrans" cxnId="{C8467F56-0D41-45B0-A98B-99270DE8F751}">
      <dgm:prSet/>
      <dgm:spPr/>
      <dgm:t>
        <a:bodyPr/>
        <a:lstStyle/>
        <a:p>
          <a:endParaRPr lang="en-US" sz="1400"/>
        </a:p>
      </dgm:t>
    </dgm:pt>
    <dgm:pt modelId="{2A278859-DC1C-402B-9C56-66D8C7656F7F}" type="sibTrans" cxnId="{C8467F56-0D41-45B0-A98B-99270DE8F751}">
      <dgm:prSet/>
      <dgm:spPr/>
      <dgm:t>
        <a:bodyPr/>
        <a:lstStyle/>
        <a:p>
          <a:endParaRPr lang="en-US" sz="1400"/>
        </a:p>
      </dgm:t>
    </dgm:pt>
    <dgm:pt modelId="{7D03E578-A850-49D4-9F60-16BACC004D65}">
      <dgm:prSet phldrT="[Text]" custT="1"/>
      <dgm:spPr/>
      <dgm:t>
        <a:bodyPr/>
        <a:lstStyle/>
        <a:p>
          <a:r>
            <a:rPr lang="en-US" sz="1400" dirty="0"/>
            <a:t>Delete</a:t>
          </a:r>
        </a:p>
      </dgm:t>
    </dgm:pt>
    <dgm:pt modelId="{7F60F3BE-F9D7-4506-AB9B-EE64E696DCAF}" type="parTrans" cxnId="{D820A5DE-FF4B-49F9-8485-930F505834A4}">
      <dgm:prSet/>
      <dgm:spPr/>
      <dgm:t>
        <a:bodyPr/>
        <a:lstStyle/>
        <a:p>
          <a:endParaRPr lang="en-US" sz="1400"/>
        </a:p>
      </dgm:t>
    </dgm:pt>
    <dgm:pt modelId="{23172D38-3842-4DB5-A991-4F2EB8175149}" type="sibTrans" cxnId="{D820A5DE-FF4B-49F9-8485-930F505834A4}">
      <dgm:prSet/>
      <dgm:spPr/>
      <dgm:t>
        <a:bodyPr/>
        <a:lstStyle/>
        <a:p>
          <a:endParaRPr lang="en-US" sz="1400"/>
        </a:p>
      </dgm:t>
    </dgm:pt>
    <dgm:pt modelId="{137A1C17-2805-444E-B3EA-04EDF6E0E093}" type="pres">
      <dgm:prSet presAssocID="{2F55D98D-0104-48FC-BAC8-8904215577D1}" presName="Name0" presStyleCnt="0">
        <dgm:presLayoutVars>
          <dgm:dir/>
          <dgm:resizeHandles val="exact"/>
        </dgm:presLayoutVars>
      </dgm:prSet>
      <dgm:spPr/>
    </dgm:pt>
    <dgm:pt modelId="{B0643106-ECFA-4872-B3DD-F5EDAB9B0CE7}" type="pres">
      <dgm:prSet presAssocID="{9C76F328-AA74-41DE-9BAA-AE937DD977DA}" presName="parTxOnly" presStyleLbl="node1" presStyleIdx="0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CD24BC-8231-4B04-B0C7-11651E3E9916}" type="pres">
      <dgm:prSet presAssocID="{254D1803-564E-4713-A967-9588DF0AC0C3}" presName="parSpace" presStyleCnt="0"/>
      <dgm:spPr/>
    </dgm:pt>
    <dgm:pt modelId="{56861CF7-EA42-4BD9-B855-5EF4A5E082A6}" type="pres">
      <dgm:prSet presAssocID="{B9A9133A-E345-4C27-A9FA-F5F9DEB63047}" presName="parTxOnly" presStyleLbl="node1" presStyleIdx="1" presStyleCnt="3" custScaleY="57495" custLinFactNeighborY="-35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3A8759-E6A7-4276-ACCA-563FF0352118}" type="pres">
      <dgm:prSet presAssocID="{2A278859-DC1C-402B-9C56-66D8C7656F7F}" presName="parSpace" presStyleCnt="0"/>
      <dgm:spPr/>
    </dgm:pt>
    <dgm:pt modelId="{3E6B126E-77BD-4C7A-9559-F7C908441F89}" type="pres">
      <dgm:prSet presAssocID="{7D03E578-A850-49D4-9F60-16BACC004D65}" presName="parTxOnly" presStyleLbl="node1" presStyleIdx="2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B973D2-2FA0-4C93-BCEB-3794D7EF7B4E}" type="presOf" srcId="{B9A9133A-E345-4C27-A9FA-F5F9DEB63047}" destId="{56861CF7-EA42-4BD9-B855-5EF4A5E082A6}" srcOrd="0" destOrd="0" presId="urn:microsoft.com/office/officeart/2005/8/layout/hChevron3"/>
    <dgm:cxn modelId="{CEDA6222-9ED4-493B-9BE9-E96B3D0E648C}" type="presOf" srcId="{7D03E578-A850-49D4-9F60-16BACC004D65}" destId="{3E6B126E-77BD-4C7A-9559-F7C908441F89}" srcOrd="0" destOrd="0" presId="urn:microsoft.com/office/officeart/2005/8/layout/hChevron3"/>
    <dgm:cxn modelId="{C8467F56-0D41-45B0-A98B-99270DE8F751}" srcId="{2F55D98D-0104-48FC-BAC8-8904215577D1}" destId="{B9A9133A-E345-4C27-A9FA-F5F9DEB63047}" srcOrd="1" destOrd="0" parTransId="{275D5BB9-1D2D-48B1-8C61-51EC163D379E}" sibTransId="{2A278859-DC1C-402B-9C56-66D8C7656F7F}"/>
    <dgm:cxn modelId="{3D6E045F-2A6B-4078-AF2B-AB3BB71B431D}" srcId="{2F55D98D-0104-48FC-BAC8-8904215577D1}" destId="{9C76F328-AA74-41DE-9BAA-AE937DD977DA}" srcOrd="0" destOrd="0" parTransId="{319967FE-172F-4694-89A8-126A1880EA2B}" sibTransId="{254D1803-564E-4713-A967-9588DF0AC0C3}"/>
    <dgm:cxn modelId="{D820A5DE-FF4B-49F9-8485-930F505834A4}" srcId="{2F55D98D-0104-48FC-BAC8-8904215577D1}" destId="{7D03E578-A850-49D4-9F60-16BACC004D65}" srcOrd="2" destOrd="0" parTransId="{7F60F3BE-F9D7-4506-AB9B-EE64E696DCAF}" sibTransId="{23172D38-3842-4DB5-A991-4F2EB8175149}"/>
    <dgm:cxn modelId="{1D183540-FEFE-44BC-97C2-DC57E3814379}" type="presOf" srcId="{9C76F328-AA74-41DE-9BAA-AE937DD977DA}" destId="{B0643106-ECFA-4872-B3DD-F5EDAB9B0CE7}" srcOrd="0" destOrd="0" presId="urn:microsoft.com/office/officeart/2005/8/layout/hChevron3"/>
    <dgm:cxn modelId="{7F33FEB4-E68F-4711-9DC2-4F1CBD9D0167}" type="presOf" srcId="{2F55D98D-0104-48FC-BAC8-8904215577D1}" destId="{137A1C17-2805-444E-B3EA-04EDF6E0E093}" srcOrd="0" destOrd="0" presId="urn:microsoft.com/office/officeart/2005/8/layout/hChevron3"/>
    <dgm:cxn modelId="{0C1FE78A-EED6-4310-A6E7-C4E725BB317D}" type="presParOf" srcId="{137A1C17-2805-444E-B3EA-04EDF6E0E093}" destId="{B0643106-ECFA-4872-B3DD-F5EDAB9B0CE7}" srcOrd="0" destOrd="0" presId="urn:microsoft.com/office/officeart/2005/8/layout/hChevron3"/>
    <dgm:cxn modelId="{1E53A8E2-862C-4D81-9729-8578A12CD3E2}" type="presParOf" srcId="{137A1C17-2805-444E-B3EA-04EDF6E0E093}" destId="{4CCD24BC-8231-4B04-B0C7-11651E3E9916}" srcOrd="1" destOrd="0" presId="urn:microsoft.com/office/officeart/2005/8/layout/hChevron3"/>
    <dgm:cxn modelId="{EB0822A6-0E59-41CA-99CB-FB397C95FCDC}" type="presParOf" srcId="{137A1C17-2805-444E-B3EA-04EDF6E0E093}" destId="{56861CF7-EA42-4BD9-B855-5EF4A5E082A6}" srcOrd="2" destOrd="0" presId="urn:microsoft.com/office/officeart/2005/8/layout/hChevron3"/>
    <dgm:cxn modelId="{63C170CC-A321-420B-8755-4B62A1713716}" type="presParOf" srcId="{137A1C17-2805-444E-B3EA-04EDF6E0E093}" destId="{5F3A8759-E6A7-4276-ACCA-563FF0352118}" srcOrd="3" destOrd="0" presId="urn:microsoft.com/office/officeart/2005/8/layout/hChevron3"/>
    <dgm:cxn modelId="{9BA4DC8A-0A5C-4074-A392-38A86242D641}" type="presParOf" srcId="{137A1C17-2805-444E-B3EA-04EDF6E0E093}" destId="{3E6B126E-77BD-4C7A-9559-F7C908441F8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55D98D-0104-48FC-BAC8-8904215577D1}" type="doc">
      <dgm:prSet loTypeId="urn:microsoft.com/office/officeart/2005/8/layout/hChevron3" loCatId="process" qsTypeId="urn:microsoft.com/office/officeart/2005/8/quickstyle/simple1" qsCatId="simple" csTypeId="urn:microsoft.com/office/officeart/2005/8/colors/accent1_5" csCatId="accent1" phldr="1"/>
      <dgm:spPr/>
    </dgm:pt>
    <dgm:pt modelId="{9C76F328-AA74-41DE-9BAA-AE937DD977DA}">
      <dgm:prSet phldrT="[Text]" custT="1"/>
      <dgm:spPr/>
      <dgm:t>
        <a:bodyPr/>
        <a:lstStyle/>
        <a:p>
          <a:r>
            <a:rPr lang="en-US" sz="3200" i="1" u="sng" dirty="0"/>
            <a:t>Collect</a:t>
          </a:r>
        </a:p>
      </dgm:t>
    </dgm:pt>
    <dgm:pt modelId="{319967FE-172F-4694-89A8-126A1880EA2B}" type="parTrans" cxnId="{3D6E045F-2A6B-4078-AF2B-AB3BB71B431D}">
      <dgm:prSet/>
      <dgm:spPr/>
      <dgm:t>
        <a:bodyPr/>
        <a:lstStyle/>
        <a:p>
          <a:endParaRPr lang="en-US" sz="1400"/>
        </a:p>
      </dgm:t>
    </dgm:pt>
    <dgm:pt modelId="{254D1803-564E-4713-A967-9588DF0AC0C3}" type="sibTrans" cxnId="{3D6E045F-2A6B-4078-AF2B-AB3BB71B431D}">
      <dgm:prSet/>
      <dgm:spPr/>
      <dgm:t>
        <a:bodyPr/>
        <a:lstStyle/>
        <a:p>
          <a:endParaRPr lang="en-US" sz="1400"/>
        </a:p>
      </dgm:t>
    </dgm:pt>
    <dgm:pt modelId="{B9A9133A-E345-4C27-A9FA-F5F9DEB63047}">
      <dgm:prSet phldrT="[Text]" custT="1"/>
      <dgm:spPr/>
      <dgm:t>
        <a:bodyPr/>
        <a:lstStyle/>
        <a:p>
          <a:r>
            <a:rPr lang="en-US" sz="1400"/>
            <a:t>Store</a:t>
          </a:r>
          <a:endParaRPr lang="en-US" sz="1400" dirty="0"/>
        </a:p>
      </dgm:t>
    </dgm:pt>
    <dgm:pt modelId="{275D5BB9-1D2D-48B1-8C61-51EC163D379E}" type="parTrans" cxnId="{C8467F56-0D41-45B0-A98B-99270DE8F751}">
      <dgm:prSet/>
      <dgm:spPr/>
      <dgm:t>
        <a:bodyPr/>
        <a:lstStyle/>
        <a:p>
          <a:endParaRPr lang="en-US" sz="1400"/>
        </a:p>
      </dgm:t>
    </dgm:pt>
    <dgm:pt modelId="{2A278859-DC1C-402B-9C56-66D8C7656F7F}" type="sibTrans" cxnId="{C8467F56-0D41-45B0-A98B-99270DE8F751}">
      <dgm:prSet/>
      <dgm:spPr/>
      <dgm:t>
        <a:bodyPr/>
        <a:lstStyle/>
        <a:p>
          <a:endParaRPr lang="en-US" sz="1400"/>
        </a:p>
      </dgm:t>
    </dgm:pt>
    <dgm:pt modelId="{7D03E578-A850-49D4-9F60-16BACC004D65}">
      <dgm:prSet phldrT="[Text]" custT="1"/>
      <dgm:spPr/>
      <dgm:t>
        <a:bodyPr/>
        <a:lstStyle/>
        <a:p>
          <a:r>
            <a:rPr lang="en-US" sz="1400"/>
            <a:t>Delete</a:t>
          </a:r>
          <a:endParaRPr lang="en-US" sz="1400" dirty="0"/>
        </a:p>
      </dgm:t>
    </dgm:pt>
    <dgm:pt modelId="{7F60F3BE-F9D7-4506-AB9B-EE64E696DCAF}" type="parTrans" cxnId="{D820A5DE-FF4B-49F9-8485-930F505834A4}">
      <dgm:prSet/>
      <dgm:spPr/>
      <dgm:t>
        <a:bodyPr/>
        <a:lstStyle/>
        <a:p>
          <a:endParaRPr lang="en-US" sz="1400"/>
        </a:p>
      </dgm:t>
    </dgm:pt>
    <dgm:pt modelId="{23172D38-3842-4DB5-A991-4F2EB8175149}" type="sibTrans" cxnId="{D820A5DE-FF4B-49F9-8485-930F505834A4}">
      <dgm:prSet/>
      <dgm:spPr/>
      <dgm:t>
        <a:bodyPr/>
        <a:lstStyle/>
        <a:p>
          <a:endParaRPr lang="en-US" sz="1400"/>
        </a:p>
      </dgm:t>
    </dgm:pt>
    <dgm:pt modelId="{137A1C17-2805-444E-B3EA-04EDF6E0E093}" type="pres">
      <dgm:prSet presAssocID="{2F55D98D-0104-48FC-BAC8-8904215577D1}" presName="Name0" presStyleCnt="0">
        <dgm:presLayoutVars>
          <dgm:dir/>
          <dgm:resizeHandles val="exact"/>
        </dgm:presLayoutVars>
      </dgm:prSet>
      <dgm:spPr/>
    </dgm:pt>
    <dgm:pt modelId="{B0643106-ECFA-4872-B3DD-F5EDAB9B0CE7}" type="pres">
      <dgm:prSet presAssocID="{9C76F328-AA74-41DE-9BAA-AE937DD977DA}" presName="parTxOnly" presStyleLbl="node1" presStyleIdx="0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CD24BC-8231-4B04-B0C7-11651E3E9916}" type="pres">
      <dgm:prSet presAssocID="{254D1803-564E-4713-A967-9588DF0AC0C3}" presName="parSpace" presStyleCnt="0"/>
      <dgm:spPr/>
    </dgm:pt>
    <dgm:pt modelId="{56861CF7-EA42-4BD9-B855-5EF4A5E082A6}" type="pres">
      <dgm:prSet presAssocID="{B9A9133A-E345-4C27-A9FA-F5F9DEB63047}" presName="parTxOnly" presStyleLbl="node1" presStyleIdx="1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3A8759-E6A7-4276-ACCA-563FF0352118}" type="pres">
      <dgm:prSet presAssocID="{2A278859-DC1C-402B-9C56-66D8C7656F7F}" presName="parSpace" presStyleCnt="0"/>
      <dgm:spPr/>
    </dgm:pt>
    <dgm:pt modelId="{3E6B126E-77BD-4C7A-9559-F7C908441F89}" type="pres">
      <dgm:prSet presAssocID="{7D03E578-A850-49D4-9F60-16BACC004D65}" presName="parTxOnly" presStyleLbl="node1" presStyleIdx="2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B973D2-2FA0-4C93-BCEB-3794D7EF7B4E}" type="presOf" srcId="{B9A9133A-E345-4C27-A9FA-F5F9DEB63047}" destId="{56861CF7-EA42-4BD9-B855-5EF4A5E082A6}" srcOrd="0" destOrd="0" presId="urn:microsoft.com/office/officeart/2005/8/layout/hChevron3"/>
    <dgm:cxn modelId="{CEDA6222-9ED4-493B-9BE9-E96B3D0E648C}" type="presOf" srcId="{7D03E578-A850-49D4-9F60-16BACC004D65}" destId="{3E6B126E-77BD-4C7A-9559-F7C908441F89}" srcOrd="0" destOrd="0" presId="urn:microsoft.com/office/officeart/2005/8/layout/hChevron3"/>
    <dgm:cxn modelId="{C8467F56-0D41-45B0-A98B-99270DE8F751}" srcId="{2F55D98D-0104-48FC-BAC8-8904215577D1}" destId="{B9A9133A-E345-4C27-A9FA-F5F9DEB63047}" srcOrd="1" destOrd="0" parTransId="{275D5BB9-1D2D-48B1-8C61-51EC163D379E}" sibTransId="{2A278859-DC1C-402B-9C56-66D8C7656F7F}"/>
    <dgm:cxn modelId="{3D6E045F-2A6B-4078-AF2B-AB3BB71B431D}" srcId="{2F55D98D-0104-48FC-BAC8-8904215577D1}" destId="{9C76F328-AA74-41DE-9BAA-AE937DD977DA}" srcOrd="0" destOrd="0" parTransId="{319967FE-172F-4694-89A8-126A1880EA2B}" sibTransId="{254D1803-564E-4713-A967-9588DF0AC0C3}"/>
    <dgm:cxn modelId="{D820A5DE-FF4B-49F9-8485-930F505834A4}" srcId="{2F55D98D-0104-48FC-BAC8-8904215577D1}" destId="{7D03E578-A850-49D4-9F60-16BACC004D65}" srcOrd="2" destOrd="0" parTransId="{7F60F3BE-F9D7-4506-AB9B-EE64E696DCAF}" sibTransId="{23172D38-3842-4DB5-A991-4F2EB8175149}"/>
    <dgm:cxn modelId="{1D183540-FEFE-44BC-97C2-DC57E3814379}" type="presOf" srcId="{9C76F328-AA74-41DE-9BAA-AE937DD977DA}" destId="{B0643106-ECFA-4872-B3DD-F5EDAB9B0CE7}" srcOrd="0" destOrd="0" presId="urn:microsoft.com/office/officeart/2005/8/layout/hChevron3"/>
    <dgm:cxn modelId="{7F33FEB4-E68F-4711-9DC2-4F1CBD9D0167}" type="presOf" srcId="{2F55D98D-0104-48FC-BAC8-8904215577D1}" destId="{137A1C17-2805-444E-B3EA-04EDF6E0E093}" srcOrd="0" destOrd="0" presId="urn:microsoft.com/office/officeart/2005/8/layout/hChevron3"/>
    <dgm:cxn modelId="{0C1FE78A-EED6-4310-A6E7-C4E725BB317D}" type="presParOf" srcId="{137A1C17-2805-444E-B3EA-04EDF6E0E093}" destId="{B0643106-ECFA-4872-B3DD-F5EDAB9B0CE7}" srcOrd="0" destOrd="0" presId="urn:microsoft.com/office/officeart/2005/8/layout/hChevron3"/>
    <dgm:cxn modelId="{1E53A8E2-862C-4D81-9729-8578A12CD3E2}" type="presParOf" srcId="{137A1C17-2805-444E-B3EA-04EDF6E0E093}" destId="{4CCD24BC-8231-4B04-B0C7-11651E3E9916}" srcOrd="1" destOrd="0" presId="urn:microsoft.com/office/officeart/2005/8/layout/hChevron3"/>
    <dgm:cxn modelId="{EB0822A6-0E59-41CA-99CB-FB397C95FCDC}" type="presParOf" srcId="{137A1C17-2805-444E-B3EA-04EDF6E0E093}" destId="{56861CF7-EA42-4BD9-B855-5EF4A5E082A6}" srcOrd="2" destOrd="0" presId="urn:microsoft.com/office/officeart/2005/8/layout/hChevron3"/>
    <dgm:cxn modelId="{63C170CC-A321-420B-8755-4B62A1713716}" type="presParOf" srcId="{137A1C17-2805-444E-B3EA-04EDF6E0E093}" destId="{5F3A8759-E6A7-4276-ACCA-563FF0352118}" srcOrd="3" destOrd="0" presId="urn:microsoft.com/office/officeart/2005/8/layout/hChevron3"/>
    <dgm:cxn modelId="{9BA4DC8A-0A5C-4074-A392-38A86242D641}" type="presParOf" srcId="{137A1C17-2805-444E-B3EA-04EDF6E0E093}" destId="{3E6B126E-77BD-4C7A-9559-F7C908441F8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55D98D-0104-48FC-BAC8-8904215577D1}" type="doc">
      <dgm:prSet loTypeId="urn:microsoft.com/office/officeart/2005/8/layout/hChevron3" loCatId="process" qsTypeId="urn:microsoft.com/office/officeart/2005/8/quickstyle/simple1" qsCatId="simple" csTypeId="urn:microsoft.com/office/officeart/2005/8/colors/accent3_5" csCatId="accent3" phldr="1"/>
      <dgm:spPr/>
    </dgm:pt>
    <dgm:pt modelId="{9C76F328-AA74-41DE-9BAA-AE937DD977DA}">
      <dgm:prSet phldrT="[Text]" custT="1"/>
      <dgm:spPr/>
      <dgm:t>
        <a:bodyPr/>
        <a:lstStyle/>
        <a:p>
          <a:r>
            <a:rPr lang="en-US" sz="1400" kern="1200">
              <a:latin typeface="Calibri"/>
              <a:ea typeface="+mn-ea"/>
              <a:cs typeface="+mn-cs"/>
            </a:rPr>
            <a:t>Collect</a:t>
          </a:r>
          <a:endParaRPr lang="en-US" sz="1400" kern="1200" dirty="0">
            <a:latin typeface="Calibri"/>
            <a:ea typeface="+mn-ea"/>
            <a:cs typeface="+mn-cs"/>
          </a:endParaRPr>
        </a:p>
      </dgm:t>
    </dgm:pt>
    <dgm:pt modelId="{319967FE-172F-4694-89A8-126A1880EA2B}" type="parTrans" cxnId="{3D6E045F-2A6B-4078-AF2B-AB3BB71B431D}">
      <dgm:prSet/>
      <dgm:spPr/>
      <dgm:t>
        <a:bodyPr/>
        <a:lstStyle/>
        <a:p>
          <a:endParaRPr lang="en-US" sz="1400"/>
        </a:p>
      </dgm:t>
    </dgm:pt>
    <dgm:pt modelId="{254D1803-564E-4713-A967-9588DF0AC0C3}" type="sibTrans" cxnId="{3D6E045F-2A6B-4078-AF2B-AB3BB71B431D}">
      <dgm:prSet/>
      <dgm:spPr/>
      <dgm:t>
        <a:bodyPr/>
        <a:lstStyle/>
        <a:p>
          <a:endParaRPr lang="en-US" sz="1400"/>
        </a:p>
      </dgm:t>
    </dgm:pt>
    <dgm:pt modelId="{B9A9133A-E345-4C27-A9FA-F5F9DEB63047}">
      <dgm:prSet phldrT="[Text]" custT="1"/>
      <dgm:spPr/>
      <dgm:t>
        <a:bodyPr/>
        <a:lstStyle/>
        <a:p>
          <a:r>
            <a:rPr lang="en-US" sz="3200" i="1" u="sng" kern="1200">
              <a:latin typeface="Calibri"/>
              <a:ea typeface="+mn-ea"/>
              <a:cs typeface="+mn-cs"/>
            </a:rPr>
            <a:t>Store</a:t>
          </a:r>
          <a:endParaRPr lang="en-US" sz="3200" i="1" u="sng" kern="1200" dirty="0">
            <a:latin typeface="Calibri"/>
            <a:ea typeface="+mn-ea"/>
            <a:cs typeface="+mn-cs"/>
          </a:endParaRPr>
        </a:p>
      </dgm:t>
    </dgm:pt>
    <dgm:pt modelId="{275D5BB9-1D2D-48B1-8C61-51EC163D379E}" type="parTrans" cxnId="{C8467F56-0D41-45B0-A98B-99270DE8F751}">
      <dgm:prSet/>
      <dgm:spPr/>
      <dgm:t>
        <a:bodyPr/>
        <a:lstStyle/>
        <a:p>
          <a:endParaRPr lang="en-US" sz="1400"/>
        </a:p>
      </dgm:t>
    </dgm:pt>
    <dgm:pt modelId="{2A278859-DC1C-402B-9C56-66D8C7656F7F}" type="sibTrans" cxnId="{C8467F56-0D41-45B0-A98B-99270DE8F751}">
      <dgm:prSet/>
      <dgm:spPr/>
      <dgm:t>
        <a:bodyPr/>
        <a:lstStyle/>
        <a:p>
          <a:endParaRPr lang="en-US" sz="1400"/>
        </a:p>
      </dgm:t>
    </dgm:pt>
    <dgm:pt modelId="{7D03E578-A850-49D4-9F60-16BACC004D65}">
      <dgm:prSet phldrT="[Text]" custT="1"/>
      <dgm:spPr/>
      <dgm:t>
        <a:bodyPr/>
        <a:lstStyle/>
        <a:p>
          <a:r>
            <a:rPr lang="en-US" sz="1400"/>
            <a:t>Delete</a:t>
          </a:r>
          <a:endParaRPr lang="en-US" sz="1400" dirty="0"/>
        </a:p>
      </dgm:t>
    </dgm:pt>
    <dgm:pt modelId="{7F60F3BE-F9D7-4506-AB9B-EE64E696DCAF}" type="parTrans" cxnId="{D820A5DE-FF4B-49F9-8485-930F505834A4}">
      <dgm:prSet/>
      <dgm:spPr/>
      <dgm:t>
        <a:bodyPr/>
        <a:lstStyle/>
        <a:p>
          <a:endParaRPr lang="en-US" sz="1400"/>
        </a:p>
      </dgm:t>
    </dgm:pt>
    <dgm:pt modelId="{23172D38-3842-4DB5-A991-4F2EB8175149}" type="sibTrans" cxnId="{D820A5DE-FF4B-49F9-8485-930F505834A4}">
      <dgm:prSet/>
      <dgm:spPr/>
      <dgm:t>
        <a:bodyPr/>
        <a:lstStyle/>
        <a:p>
          <a:endParaRPr lang="en-US" sz="1400"/>
        </a:p>
      </dgm:t>
    </dgm:pt>
    <dgm:pt modelId="{137A1C17-2805-444E-B3EA-04EDF6E0E093}" type="pres">
      <dgm:prSet presAssocID="{2F55D98D-0104-48FC-BAC8-8904215577D1}" presName="Name0" presStyleCnt="0">
        <dgm:presLayoutVars>
          <dgm:dir/>
          <dgm:resizeHandles val="exact"/>
        </dgm:presLayoutVars>
      </dgm:prSet>
      <dgm:spPr/>
    </dgm:pt>
    <dgm:pt modelId="{B0643106-ECFA-4872-B3DD-F5EDAB9B0CE7}" type="pres">
      <dgm:prSet presAssocID="{9C76F328-AA74-41DE-9BAA-AE937DD977DA}" presName="parTxOnly" presStyleLbl="node1" presStyleIdx="0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CD24BC-8231-4B04-B0C7-11651E3E9916}" type="pres">
      <dgm:prSet presAssocID="{254D1803-564E-4713-A967-9588DF0AC0C3}" presName="parSpace" presStyleCnt="0"/>
      <dgm:spPr/>
    </dgm:pt>
    <dgm:pt modelId="{56861CF7-EA42-4BD9-B855-5EF4A5E082A6}" type="pres">
      <dgm:prSet presAssocID="{B9A9133A-E345-4C27-A9FA-F5F9DEB63047}" presName="parTxOnly" presStyleLbl="node1" presStyleIdx="1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3A8759-E6A7-4276-ACCA-563FF0352118}" type="pres">
      <dgm:prSet presAssocID="{2A278859-DC1C-402B-9C56-66D8C7656F7F}" presName="parSpace" presStyleCnt="0"/>
      <dgm:spPr/>
    </dgm:pt>
    <dgm:pt modelId="{3E6B126E-77BD-4C7A-9559-F7C908441F89}" type="pres">
      <dgm:prSet presAssocID="{7D03E578-A850-49D4-9F60-16BACC004D65}" presName="parTxOnly" presStyleLbl="node1" presStyleIdx="2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B973D2-2FA0-4C93-BCEB-3794D7EF7B4E}" type="presOf" srcId="{B9A9133A-E345-4C27-A9FA-F5F9DEB63047}" destId="{56861CF7-EA42-4BD9-B855-5EF4A5E082A6}" srcOrd="0" destOrd="0" presId="urn:microsoft.com/office/officeart/2005/8/layout/hChevron3"/>
    <dgm:cxn modelId="{CEDA6222-9ED4-493B-9BE9-E96B3D0E648C}" type="presOf" srcId="{7D03E578-A850-49D4-9F60-16BACC004D65}" destId="{3E6B126E-77BD-4C7A-9559-F7C908441F89}" srcOrd="0" destOrd="0" presId="urn:microsoft.com/office/officeart/2005/8/layout/hChevron3"/>
    <dgm:cxn modelId="{C8467F56-0D41-45B0-A98B-99270DE8F751}" srcId="{2F55D98D-0104-48FC-BAC8-8904215577D1}" destId="{B9A9133A-E345-4C27-A9FA-F5F9DEB63047}" srcOrd="1" destOrd="0" parTransId="{275D5BB9-1D2D-48B1-8C61-51EC163D379E}" sibTransId="{2A278859-DC1C-402B-9C56-66D8C7656F7F}"/>
    <dgm:cxn modelId="{3D6E045F-2A6B-4078-AF2B-AB3BB71B431D}" srcId="{2F55D98D-0104-48FC-BAC8-8904215577D1}" destId="{9C76F328-AA74-41DE-9BAA-AE937DD977DA}" srcOrd="0" destOrd="0" parTransId="{319967FE-172F-4694-89A8-126A1880EA2B}" sibTransId="{254D1803-564E-4713-A967-9588DF0AC0C3}"/>
    <dgm:cxn modelId="{D820A5DE-FF4B-49F9-8485-930F505834A4}" srcId="{2F55D98D-0104-48FC-BAC8-8904215577D1}" destId="{7D03E578-A850-49D4-9F60-16BACC004D65}" srcOrd="2" destOrd="0" parTransId="{7F60F3BE-F9D7-4506-AB9B-EE64E696DCAF}" sibTransId="{23172D38-3842-4DB5-A991-4F2EB8175149}"/>
    <dgm:cxn modelId="{1D183540-FEFE-44BC-97C2-DC57E3814379}" type="presOf" srcId="{9C76F328-AA74-41DE-9BAA-AE937DD977DA}" destId="{B0643106-ECFA-4872-B3DD-F5EDAB9B0CE7}" srcOrd="0" destOrd="0" presId="urn:microsoft.com/office/officeart/2005/8/layout/hChevron3"/>
    <dgm:cxn modelId="{7F33FEB4-E68F-4711-9DC2-4F1CBD9D0167}" type="presOf" srcId="{2F55D98D-0104-48FC-BAC8-8904215577D1}" destId="{137A1C17-2805-444E-B3EA-04EDF6E0E093}" srcOrd="0" destOrd="0" presId="urn:microsoft.com/office/officeart/2005/8/layout/hChevron3"/>
    <dgm:cxn modelId="{0C1FE78A-EED6-4310-A6E7-C4E725BB317D}" type="presParOf" srcId="{137A1C17-2805-444E-B3EA-04EDF6E0E093}" destId="{B0643106-ECFA-4872-B3DD-F5EDAB9B0CE7}" srcOrd="0" destOrd="0" presId="urn:microsoft.com/office/officeart/2005/8/layout/hChevron3"/>
    <dgm:cxn modelId="{1E53A8E2-862C-4D81-9729-8578A12CD3E2}" type="presParOf" srcId="{137A1C17-2805-444E-B3EA-04EDF6E0E093}" destId="{4CCD24BC-8231-4B04-B0C7-11651E3E9916}" srcOrd="1" destOrd="0" presId="urn:microsoft.com/office/officeart/2005/8/layout/hChevron3"/>
    <dgm:cxn modelId="{EB0822A6-0E59-41CA-99CB-FB397C95FCDC}" type="presParOf" srcId="{137A1C17-2805-444E-B3EA-04EDF6E0E093}" destId="{56861CF7-EA42-4BD9-B855-5EF4A5E082A6}" srcOrd="2" destOrd="0" presId="urn:microsoft.com/office/officeart/2005/8/layout/hChevron3"/>
    <dgm:cxn modelId="{63C170CC-A321-420B-8755-4B62A1713716}" type="presParOf" srcId="{137A1C17-2805-444E-B3EA-04EDF6E0E093}" destId="{5F3A8759-E6A7-4276-ACCA-563FF0352118}" srcOrd="3" destOrd="0" presId="urn:microsoft.com/office/officeart/2005/8/layout/hChevron3"/>
    <dgm:cxn modelId="{9BA4DC8A-0A5C-4074-A392-38A86242D641}" type="presParOf" srcId="{137A1C17-2805-444E-B3EA-04EDF6E0E093}" destId="{3E6B126E-77BD-4C7A-9559-F7C908441F8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55D98D-0104-48FC-BAC8-8904215577D1}" type="doc">
      <dgm:prSet loTypeId="urn:microsoft.com/office/officeart/2005/8/layout/hChevron3" loCatId="process" qsTypeId="urn:microsoft.com/office/officeart/2005/8/quickstyle/simple1" qsCatId="simple" csTypeId="urn:microsoft.com/office/officeart/2005/8/colors/accent1_5" csCatId="accent1" phldr="1"/>
      <dgm:spPr/>
    </dgm:pt>
    <dgm:pt modelId="{9C76F328-AA74-41DE-9BAA-AE937DD977DA}">
      <dgm:prSet phldrT="[Text]" custT="1"/>
      <dgm:spPr/>
      <dgm:t>
        <a:bodyPr/>
        <a:lstStyle/>
        <a:p>
          <a:r>
            <a:rPr lang="en-US" sz="1400" kern="1200">
              <a:latin typeface="Calibri"/>
              <a:ea typeface="+mn-ea"/>
              <a:cs typeface="+mn-cs"/>
            </a:rPr>
            <a:t>Collect</a:t>
          </a:r>
          <a:endParaRPr lang="en-US" sz="1400" kern="1200" dirty="0">
            <a:latin typeface="Calibri"/>
            <a:ea typeface="+mn-ea"/>
            <a:cs typeface="+mn-cs"/>
          </a:endParaRPr>
        </a:p>
      </dgm:t>
    </dgm:pt>
    <dgm:pt modelId="{319967FE-172F-4694-89A8-126A1880EA2B}" type="parTrans" cxnId="{3D6E045F-2A6B-4078-AF2B-AB3BB71B431D}">
      <dgm:prSet/>
      <dgm:spPr/>
      <dgm:t>
        <a:bodyPr/>
        <a:lstStyle/>
        <a:p>
          <a:endParaRPr lang="en-US" sz="1400"/>
        </a:p>
      </dgm:t>
    </dgm:pt>
    <dgm:pt modelId="{254D1803-564E-4713-A967-9588DF0AC0C3}" type="sibTrans" cxnId="{3D6E045F-2A6B-4078-AF2B-AB3BB71B431D}">
      <dgm:prSet/>
      <dgm:spPr/>
      <dgm:t>
        <a:bodyPr/>
        <a:lstStyle/>
        <a:p>
          <a:endParaRPr lang="en-US" sz="1400"/>
        </a:p>
      </dgm:t>
    </dgm:pt>
    <dgm:pt modelId="{B9A9133A-E345-4C27-A9FA-F5F9DEB63047}">
      <dgm:prSet phldrT="[Text]" custT="1"/>
      <dgm:spPr/>
      <dgm:t>
        <a:bodyPr/>
        <a:lstStyle/>
        <a:p>
          <a:r>
            <a:rPr lang="en-US" sz="1400" kern="1200">
              <a:latin typeface="Calibri"/>
              <a:ea typeface="+mn-ea"/>
              <a:cs typeface="+mn-cs"/>
            </a:rPr>
            <a:t>Store</a:t>
          </a:r>
          <a:endParaRPr lang="en-US" sz="1400" kern="1200" dirty="0">
            <a:latin typeface="Calibri"/>
            <a:ea typeface="+mn-ea"/>
            <a:cs typeface="+mn-cs"/>
          </a:endParaRPr>
        </a:p>
      </dgm:t>
    </dgm:pt>
    <dgm:pt modelId="{275D5BB9-1D2D-48B1-8C61-51EC163D379E}" type="parTrans" cxnId="{C8467F56-0D41-45B0-A98B-99270DE8F751}">
      <dgm:prSet/>
      <dgm:spPr/>
      <dgm:t>
        <a:bodyPr/>
        <a:lstStyle/>
        <a:p>
          <a:endParaRPr lang="en-US" sz="1400"/>
        </a:p>
      </dgm:t>
    </dgm:pt>
    <dgm:pt modelId="{2A278859-DC1C-402B-9C56-66D8C7656F7F}" type="sibTrans" cxnId="{C8467F56-0D41-45B0-A98B-99270DE8F751}">
      <dgm:prSet/>
      <dgm:spPr/>
      <dgm:t>
        <a:bodyPr/>
        <a:lstStyle/>
        <a:p>
          <a:endParaRPr lang="en-US" sz="1400"/>
        </a:p>
      </dgm:t>
    </dgm:pt>
    <dgm:pt modelId="{7D03E578-A850-49D4-9F60-16BACC004D65}">
      <dgm:prSet phldrT="[Text]" custT="1"/>
      <dgm:spPr/>
      <dgm:t>
        <a:bodyPr/>
        <a:lstStyle/>
        <a:p>
          <a:r>
            <a:rPr lang="en-US" sz="3200" i="1" u="sng" kern="1200">
              <a:latin typeface="Calibri"/>
              <a:ea typeface="+mn-ea"/>
              <a:cs typeface="+mn-cs"/>
            </a:rPr>
            <a:t>Delete</a:t>
          </a:r>
          <a:endParaRPr lang="en-US" sz="3200" i="1" u="sng" kern="1200" dirty="0">
            <a:latin typeface="Calibri"/>
            <a:ea typeface="+mn-ea"/>
            <a:cs typeface="+mn-cs"/>
          </a:endParaRPr>
        </a:p>
      </dgm:t>
    </dgm:pt>
    <dgm:pt modelId="{7F60F3BE-F9D7-4506-AB9B-EE64E696DCAF}" type="parTrans" cxnId="{D820A5DE-FF4B-49F9-8485-930F505834A4}">
      <dgm:prSet/>
      <dgm:spPr/>
      <dgm:t>
        <a:bodyPr/>
        <a:lstStyle/>
        <a:p>
          <a:endParaRPr lang="en-US" sz="1400"/>
        </a:p>
      </dgm:t>
    </dgm:pt>
    <dgm:pt modelId="{23172D38-3842-4DB5-A991-4F2EB8175149}" type="sibTrans" cxnId="{D820A5DE-FF4B-49F9-8485-930F505834A4}">
      <dgm:prSet/>
      <dgm:spPr/>
      <dgm:t>
        <a:bodyPr/>
        <a:lstStyle/>
        <a:p>
          <a:endParaRPr lang="en-US" sz="1400"/>
        </a:p>
      </dgm:t>
    </dgm:pt>
    <dgm:pt modelId="{137A1C17-2805-444E-B3EA-04EDF6E0E093}" type="pres">
      <dgm:prSet presAssocID="{2F55D98D-0104-48FC-BAC8-8904215577D1}" presName="Name0" presStyleCnt="0">
        <dgm:presLayoutVars>
          <dgm:dir/>
          <dgm:resizeHandles val="exact"/>
        </dgm:presLayoutVars>
      </dgm:prSet>
      <dgm:spPr/>
    </dgm:pt>
    <dgm:pt modelId="{B0643106-ECFA-4872-B3DD-F5EDAB9B0CE7}" type="pres">
      <dgm:prSet presAssocID="{9C76F328-AA74-41DE-9BAA-AE937DD977DA}" presName="parTxOnly" presStyleLbl="node1" presStyleIdx="0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CD24BC-8231-4B04-B0C7-11651E3E9916}" type="pres">
      <dgm:prSet presAssocID="{254D1803-564E-4713-A967-9588DF0AC0C3}" presName="parSpace" presStyleCnt="0"/>
      <dgm:spPr/>
    </dgm:pt>
    <dgm:pt modelId="{56861CF7-EA42-4BD9-B855-5EF4A5E082A6}" type="pres">
      <dgm:prSet presAssocID="{B9A9133A-E345-4C27-A9FA-F5F9DEB63047}" presName="parTxOnly" presStyleLbl="node1" presStyleIdx="1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3A8759-E6A7-4276-ACCA-563FF0352118}" type="pres">
      <dgm:prSet presAssocID="{2A278859-DC1C-402B-9C56-66D8C7656F7F}" presName="parSpace" presStyleCnt="0"/>
      <dgm:spPr/>
    </dgm:pt>
    <dgm:pt modelId="{3E6B126E-77BD-4C7A-9559-F7C908441F89}" type="pres">
      <dgm:prSet presAssocID="{7D03E578-A850-49D4-9F60-16BACC004D65}" presName="parTxOnly" presStyleLbl="node1" presStyleIdx="2" presStyleCnt="3" custScaleY="57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B973D2-2FA0-4C93-BCEB-3794D7EF7B4E}" type="presOf" srcId="{B9A9133A-E345-4C27-A9FA-F5F9DEB63047}" destId="{56861CF7-EA42-4BD9-B855-5EF4A5E082A6}" srcOrd="0" destOrd="0" presId="urn:microsoft.com/office/officeart/2005/8/layout/hChevron3"/>
    <dgm:cxn modelId="{CEDA6222-9ED4-493B-9BE9-E96B3D0E648C}" type="presOf" srcId="{7D03E578-A850-49D4-9F60-16BACC004D65}" destId="{3E6B126E-77BD-4C7A-9559-F7C908441F89}" srcOrd="0" destOrd="0" presId="urn:microsoft.com/office/officeart/2005/8/layout/hChevron3"/>
    <dgm:cxn modelId="{C8467F56-0D41-45B0-A98B-99270DE8F751}" srcId="{2F55D98D-0104-48FC-BAC8-8904215577D1}" destId="{B9A9133A-E345-4C27-A9FA-F5F9DEB63047}" srcOrd="1" destOrd="0" parTransId="{275D5BB9-1D2D-48B1-8C61-51EC163D379E}" sibTransId="{2A278859-DC1C-402B-9C56-66D8C7656F7F}"/>
    <dgm:cxn modelId="{3D6E045F-2A6B-4078-AF2B-AB3BB71B431D}" srcId="{2F55D98D-0104-48FC-BAC8-8904215577D1}" destId="{9C76F328-AA74-41DE-9BAA-AE937DD977DA}" srcOrd="0" destOrd="0" parTransId="{319967FE-172F-4694-89A8-126A1880EA2B}" sibTransId="{254D1803-564E-4713-A967-9588DF0AC0C3}"/>
    <dgm:cxn modelId="{D820A5DE-FF4B-49F9-8485-930F505834A4}" srcId="{2F55D98D-0104-48FC-BAC8-8904215577D1}" destId="{7D03E578-A850-49D4-9F60-16BACC004D65}" srcOrd="2" destOrd="0" parTransId="{7F60F3BE-F9D7-4506-AB9B-EE64E696DCAF}" sibTransId="{23172D38-3842-4DB5-A991-4F2EB8175149}"/>
    <dgm:cxn modelId="{1D183540-FEFE-44BC-97C2-DC57E3814379}" type="presOf" srcId="{9C76F328-AA74-41DE-9BAA-AE937DD977DA}" destId="{B0643106-ECFA-4872-B3DD-F5EDAB9B0CE7}" srcOrd="0" destOrd="0" presId="urn:microsoft.com/office/officeart/2005/8/layout/hChevron3"/>
    <dgm:cxn modelId="{7F33FEB4-E68F-4711-9DC2-4F1CBD9D0167}" type="presOf" srcId="{2F55D98D-0104-48FC-BAC8-8904215577D1}" destId="{137A1C17-2805-444E-B3EA-04EDF6E0E093}" srcOrd="0" destOrd="0" presId="urn:microsoft.com/office/officeart/2005/8/layout/hChevron3"/>
    <dgm:cxn modelId="{0C1FE78A-EED6-4310-A6E7-C4E725BB317D}" type="presParOf" srcId="{137A1C17-2805-444E-B3EA-04EDF6E0E093}" destId="{B0643106-ECFA-4872-B3DD-F5EDAB9B0CE7}" srcOrd="0" destOrd="0" presId="urn:microsoft.com/office/officeart/2005/8/layout/hChevron3"/>
    <dgm:cxn modelId="{1E53A8E2-862C-4D81-9729-8578A12CD3E2}" type="presParOf" srcId="{137A1C17-2805-444E-B3EA-04EDF6E0E093}" destId="{4CCD24BC-8231-4B04-B0C7-11651E3E9916}" srcOrd="1" destOrd="0" presId="urn:microsoft.com/office/officeart/2005/8/layout/hChevron3"/>
    <dgm:cxn modelId="{EB0822A6-0E59-41CA-99CB-FB397C95FCDC}" type="presParOf" srcId="{137A1C17-2805-444E-B3EA-04EDF6E0E093}" destId="{56861CF7-EA42-4BD9-B855-5EF4A5E082A6}" srcOrd="2" destOrd="0" presId="urn:microsoft.com/office/officeart/2005/8/layout/hChevron3"/>
    <dgm:cxn modelId="{63C170CC-A321-420B-8755-4B62A1713716}" type="presParOf" srcId="{137A1C17-2805-444E-B3EA-04EDF6E0E093}" destId="{5F3A8759-E6A7-4276-ACCA-563FF0352118}" srcOrd="3" destOrd="0" presId="urn:microsoft.com/office/officeart/2005/8/layout/hChevron3"/>
    <dgm:cxn modelId="{9BA4DC8A-0A5C-4074-A392-38A86242D641}" type="presParOf" srcId="{137A1C17-2805-444E-B3EA-04EDF6E0E093}" destId="{3E6B126E-77BD-4C7A-9559-F7C908441F8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6B9E09-3970-4CE9-A6A6-C48B58541331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61B272E-233D-4769-8000-398A340FC17C}">
      <dgm:prSet phldrT="[Text]" phldr="0" custT="1"/>
      <dgm:spPr/>
      <dgm:t>
        <a:bodyPr/>
        <a:lstStyle/>
        <a:p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Why?</a:t>
          </a:r>
        </a:p>
      </dgm:t>
    </dgm:pt>
    <dgm:pt modelId="{E78CB8F5-EBBF-4811-97D3-5860823B61A4}" type="parTrans" cxnId="{B92631C2-908B-4509-A54E-D34A3B4F123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6E37C5D9-3D21-4522-A648-0A07BFC6FC4C}" type="sibTrans" cxnId="{B92631C2-908B-4509-A54E-D34A3B4F123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070B4DBB-0FA8-48AF-A825-1AD956A65499}">
      <dgm:prSet phldrT="[Text]" phldr="0" custT="1"/>
      <dgm:spPr/>
      <dgm:t>
        <a:bodyPr/>
        <a:lstStyle/>
        <a:p>
          <a:pPr algn="just"/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Promotes :</a:t>
          </a:r>
        </a:p>
      </dgm:t>
    </dgm:pt>
    <dgm:pt modelId="{3CA21907-3410-49DD-AA8E-BCBED862AA60}" type="parTrans" cxnId="{BD5F5657-DABA-49B3-80AC-48031CBDC34D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322FCB31-ADE0-444E-8799-FF9AADDABD99}" type="sibTrans" cxnId="{BD5F5657-DABA-49B3-80AC-48031CBDC34D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ADF479A2-C35C-498B-8D73-03AD3601409B}">
      <dgm:prSet phldrT="[Text]" phldr="0" custT="1"/>
      <dgm:spPr/>
      <dgm:t>
        <a:bodyPr/>
        <a:lstStyle/>
        <a:p>
          <a:pPr algn="just"/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Availability</a:t>
          </a:r>
        </a:p>
      </dgm:t>
    </dgm:pt>
    <dgm:pt modelId="{B63AD095-B5B6-4A95-B50D-18352801C61B}" type="parTrans" cxnId="{FF968359-5B34-4384-8A25-5A0330E8AB66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3B75A359-5503-4FB5-ABC2-ED83E30FB0C2}" type="sibTrans" cxnId="{FF968359-5B34-4384-8A25-5A0330E8AB66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A6947431-56E3-4D51-A5F0-CB3F36AE5125}">
      <dgm:prSet phldrT="[Text]" phldr="0" custT="1"/>
      <dgm:spPr/>
      <dgm:t>
        <a:bodyPr/>
        <a:lstStyle/>
        <a:p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What?</a:t>
          </a:r>
        </a:p>
      </dgm:t>
    </dgm:pt>
    <dgm:pt modelId="{B4D38D8B-1F30-427B-A9B7-5C9A592E22E3}" type="parTrans" cxnId="{68EAAC5E-044E-43F7-A725-FB0E3885423C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972A5D84-536C-4F69-AA64-C18370BE79B5}" type="sibTrans" cxnId="{68EAAC5E-044E-43F7-A725-FB0E3885423C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E114BB54-B089-4C85-AFA5-60FD565ED233}">
      <dgm:prSet phldrT="[Text]" custT="1"/>
      <dgm:spPr/>
      <dgm:t>
        <a:bodyPr/>
        <a:lstStyle/>
        <a:p>
          <a:pPr algn="just"/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A set of standards and business processes which ensure that data assets are leveraged effectively within an organization</a:t>
          </a:r>
        </a:p>
      </dgm:t>
    </dgm:pt>
    <dgm:pt modelId="{281D9C85-6B80-4061-A27B-0E5777D33ADB}" type="parTrans" cxnId="{DD839249-43F8-46DB-8799-522E8A53D2DA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518DE657-8143-427E-827A-95B23C8E116A}" type="sibTrans" cxnId="{DD839249-43F8-46DB-8799-522E8A53D2DA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04108FE3-BBEF-4095-AB6C-EAA4F1FD3AF6}">
      <dgm:prSet phldrT="[Text]" phldr="0" custT="1"/>
      <dgm:spPr/>
      <dgm:t>
        <a:bodyPr/>
        <a:lstStyle/>
        <a:p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Includes</a:t>
          </a:r>
        </a:p>
      </dgm:t>
    </dgm:pt>
    <dgm:pt modelId="{5A4D86D0-F196-4E6F-82C3-AC5CF04F163F}" type="parTrans" cxnId="{5D3EAF80-0BDE-49F7-98B1-8BAC0B8166AE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6A0E5845-696E-425C-9730-75738F355B96}" type="sibTrans" cxnId="{5D3EAF80-0BDE-49F7-98B1-8BAC0B8166AE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696B636F-108E-4F76-AF84-35F2B5E473B0}">
      <dgm:prSet phldrT="[Text]" phldr="0" custT="1"/>
      <dgm:spPr/>
      <dgm:t>
        <a:bodyPr/>
        <a:lstStyle/>
        <a:p>
          <a:pPr algn="just"/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Usage </a:t>
          </a:r>
        </a:p>
      </dgm:t>
    </dgm:pt>
    <dgm:pt modelId="{076E0C63-85C1-4D8A-B18B-B25788D719AE}" type="parTrans" cxnId="{3FE56384-EDAB-43B0-A2C7-54303C80ED81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DB982400-374C-4D3D-BCA6-FAC8B3FDDACE}" type="sibTrans" cxnId="{3FE56384-EDAB-43B0-A2C7-54303C80ED81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734DD1A3-31F1-4D8D-8579-2F49478BAFCD}">
      <dgm:prSet phldrT="[Text]" phldr="0" custT="1"/>
      <dgm:spPr/>
      <dgm:t>
        <a:bodyPr/>
        <a:lstStyle/>
        <a:p>
          <a:pPr algn="just"/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Ensures Compliance</a:t>
          </a:r>
        </a:p>
      </dgm:t>
    </dgm:pt>
    <dgm:pt modelId="{EDE20D43-5DD4-4E8B-8B1F-962D4E5FADD5}" type="parTrans" cxnId="{B182CD1D-B7CE-42A5-A75F-7545F64FB3F6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07EC727B-6053-4689-98D8-3D0B371EF5C2}" type="sibTrans" cxnId="{B182CD1D-B7CE-42A5-A75F-7545F64FB3F6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B62BA97E-E8D4-4383-A8B6-EF9A63C977F6}">
      <dgm:prSet phldrT="[Text]" phldr="0" custT="1"/>
      <dgm:spPr/>
      <dgm:t>
        <a:bodyPr/>
        <a:lstStyle/>
        <a:p>
          <a:r>
            <a:rPr lang="en-US" sz="1800">
              <a:latin typeface="Helvetica" panose="020B0604020202020204" pitchFamily="34" charset="0"/>
              <a:cs typeface="Helvetica" panose="020B0604020202020204" pitchFamily="34" charset="0"/>
            </a:rPr>
            <a:t>Processes</a:t>
          </a:r>
          <a:endParaRPr lang="en-US" sz="1800" dirty="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D4DA1564-D92E-4CE4-93B3-FE1FB34C4720}" type="parTrans" cxnId="{5774E2E3-3586-4D2F-A4A0-68FD5676F54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1460EB73-E3F0-49D6-A78E-D25E5095DE4F}" type="sibTrans" cxnId="{5774E2E3-3586-4D2F-A4A0-68FD5676F54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A721372E-07E3-4F1B-8FDF-E1A47DA0BD64}">
      <dgm:prSet phldrT="[Text]" phldr="0" custT="1"/>
      <dgm:spPr/>
      <dgm:t>
        <a:bodyPr/>
        <a:lstStyle/>
        <a:p>
          <a:r>
            <a:rPr lang="en-US" sz="1800">
              <a:latin typeface="Helvetica" panose="020B0604020202020204" pitchFamily="34" charset="0"/>
              <a:cs typeface="Helvetica" panose="020B0604020202020204" pitchFamily="34" charset="0"/>
            </a:rPr>
            <a:t>Policies</a:t>
          </a:r>
          <a:endParaRPr lang="en-US" sz="1800" dirty="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FCC7F4D0-44C2-4A61-9867-95A5BFB6145B}" type="parTrans" cxnId="{5DACCCB7-D6CE-4E0F-979B-2451547BECCF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629AE69D-52A7-4097-A71B-D41B2867E044}" type="sibTrans" cxnId="{5DACCCB7-D6CE-4E0F-979B-2451547BECCF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EE283624-71B5-4197-9248-DF0608AA1E4A}">
      <dgm:prSet phldrT="[Text]" phldr="0" custT="1"/>
      <dgm:spPr/>
      <dgm:t>
        <a:bodyPr/>
        <a:lstStyle/>
        <a:p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Tools</a:t>
          </a:r>
        </a:p>
      </dgm:t>
    </dgm:pt>
    <dgm:pt modelId="{E32D48B8-395E-462D-82E1-DADE287A8E4D}" type="parTrans" cxnId="{DF7906FD-43E9-4BDA-9F59-F471E7740E93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F896C451-5500-45C2-932A-C776528C2B9B}" type="sibTrans" cxnId="{DF7906FD-43E9-4BDA-9F59-F471E7740E93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3057E7BD-F6E6-4F14-851E-D216C98CAF7D}">
      <dgm:prSet phldrT="[Text]" phldr="0" custT="1"/>
      <dgm:spPr/>
      <dgm:t>
        <a:bodyPr/>
        <a:lstStyle/>
        <a:p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Ensures</a:t>
          </a:r>
        </a:p>
      </dgm:t>
    </dgm:pt>
    <dgm:pt modelId="{7D4D52FF-85E8-4DE3-B405-76D61417D70D}" type="parTrans" cxnId="{90EC635F-6A6C-4B18-8D31-02188419C430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2E994C95-CCEF-4D68-A46D-4BD6B5ADDB2E}" type="sibTrans" cxnId="{90EC635F-6A6C-4B18-8D31-02188419C430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2007CADF-DDDC-483E-A1D8-4D9AB608301B}">
      <dgm:prSet phldrT="[Text]" phldr="0" custT="1"/>
      <dgm:spPr/>
      <dgm:t>
        <a:bodyPr/>
        <a:lstStyle/>
        <a:p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Data Quality</a:t>
          </a:r>
        </a:p>
      </dgm:t>
    </dgm:pt>
    <dgm:pt modelId="{04B76C0E-4B1A-4D07-9A45-0972EB6369D8}" type="parTrans" cxnId="{93BA5622-0B58-4689-A0F6-322BEAD8AD01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D32EC527-6712-4023-9C7C-620388722C98}" type="sibTrans" cxnId="{93BA5622-0B58-4689-A0F6-322BEAD8AD01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55D9B295-1272-4220-868F-18CAD79C8F0A}">
      <dgm:prSet phldrT="[Text]" phldr="0" custT="1"/>
      <dgm:spPr/>
      <dgm:t>
        <a:bodyPr/>
        <a:lstStyle/>
        <a:p>
          <a:r>
            <a:rPr lang="en-US" sz="1800">
              <a:latin typeface="Helvetica" panose="020B0604020202020204" pitchFamily="34" charset="0"/>
              <a:cs typeface="Helvetica" panose="020B0604020202020204" pitchFamily="34" charset="0"/>
            </a:rPr>
            <a:t>Data Access</a:t>
          </a:r>
          <a:endParaRPr lang="en-US" sz="1800" dirty="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827654A4-8B00-4F51-82CA-8B76196498B6}" type="parTrans" cxnId="{26DF6E8E-348E-449E-8569-E43A0B334B69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89A1B1E1-4877-4C2E-B3A5-DF9320625A64}" type="sibTrans" cxnId="{26DF6E8E-348E-449E-8569-E43A0B334B69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82514DE9-E760-4BE4-BBBE-00E4CD5E3CEE}">
      <dgm:prSet phldrT="[Text]" phldr="0" custT="1"/>
      <dgm:spPr/>
      <dgm:t>
        <a:bodyPr/>
        <a:lstStyle/>
        <a:p>
          <a:r>
            <a:rPr lang="en-US" sz="1800">
              <a:latin typeface="Helvetica" panose="020B0604020202020204" pitchFamily="34" charset="0"/>
              <a:cs typeface="Helvetica" panose="020B0604020202020204" pitchFamily="34" charset="0"/>
            </a:rPr>
            <a:t>Data Usability</a:t>
          </a:r>
          <a:endParaRPr lang="en-US" sz="1800" dirty="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53CD4E8E-8383-4C59-BC1C-69ED58EC6FFC}" type="parTrans" cxnId="{CAA768E1-364A-4B53-A70F-666FCC3D36F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75BB5013-F309-4E4F-9865-6C5E750E46A3}" type="sibTrans" cxnId="{CAA768E1-364A-4B53-A70F-666FCC3D36F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6C271B99-39D4-487D-A960-A55E43ED5826}">
      <dgm:prSet phldrT="[Text]" phldr="0" custT="1"/>
      <dgm:spPr/>
      <dgm:t>
        <a:bodyPr/>
        <a:lstStyle/>
        <a:p>
          <a:r>
            <a:rPr lang="en-US" sz="1800" dirty="0">
              <a:latin typeface="Helvetica" panose="020B0604020202020204" pitchFamily="34" charset="0"/>
              <a:cs typeface="Helvetica" panose="020B0604020202020204" pitchFamily="34" charset="0"/>
            </a:rPr>
            <a:t>Data Security</a:t>
          </a:r>
        </a:p>
      </dgm:t>
    </dgm:pt>
    <dgm:pt modelId="{88B237FE-FE53-411A-B8DA-922ECDE5BEFB}" type="parTrans" cxnId="{60A304FA-F5E1-4F8D-B82D-62E26A18EC4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043AB8EA-0C40-4F60-88BA-80E98CD12F97}" type="sibTrans" cxnId="{60A304FA-F5E1-4F8D-B82D-62E26A18EC44}">
      <dgm:prSet/>
      <dgm:spPr/>
      <dgm:t>
        <a:bodyPr/>
        <a:lstStyle/>
        <a:p>
          <a:endParaRPr lang="en-US" sz="1800">
            <a:latin typeface="Helvetica" panose="020B0604020202020204" pitchFamily="34" charset="0"/>
            <a:cs typeface="Helvetica" panose="020B0604020202020204" pitchFamily="34" charset="0"/>
          </a:endParaRPr>
        </a:p>
      </dgm:t>
    </dgm:pt>
    <dgm:pt modelId="{53C88693-9ADB-4203-BCD2-83B77E350011}" type="pres">
      <dgm:prSet presAssocID="{4D6B9E09-3970-4CE9-A6A6-C48B5854133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40C4DF-17A6-4270-B70A-CBA6D19CB646}" type="pres">
      <dgm:prSet presAssocID="{761B272E-233D-4769-8000-398A340FC17C}" presName="linNode" presStyleCnt="0"/>
      <dgm:spPr/>
    </dgm:pt>
    <dgm:pt modelId="{10BBB5C8-7561-4636-969A-CC3088E12D81}" type="pres">
      <dgm:prSet presAssocID="{761B272E-233D-4769-8000-398A340FC17C}" presName="parentText" presStyleLbl="node1" presStyleIdx="0" presStyleCnt="4" custScaleX="6145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D7AB9F-B0C9-4BDF-A6FD-D3A0528238CD}" type="pres">
      <dgm:prSet presAssocID="{761B272E-233D-4769-8000-398A340FC17C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39F42A-A572-4FEA-9056-ADED9B455F08}" type="pres">
      <dgm:prSet presAssocID="{6E37C5D9-3D21-4522-A648-0A07BFC6FC4C}" presName="sp" presStyleCnt="0"/>
      <dgm:spPr/>
    </dgm:pt>
    <dgm:pt modelId="{6FBF4C58-E205-4467-8E42-BDD36303D955}" type="pres">
      <dgm:prSet presAssocID="{A6947431-56E3-4D51-A5F0-CB3F36AE5125}" presName="linNode" presStyleCnt="0"/>
      <dgm:spPr/>
    </dgm:pt>
    <dgm:pt modelId="{D5B76C1A-7973-4708-8A60-6BF63F0935B7}" type="pres">
      <dgm:prSet presAssocID="{A6947431-56E3-4D51-A5F0-CB3F36AE5125}" presName="parentText" presStyleLbl="node1" presStyleIdx="1" presStyleCnt="4" custScaleX="6145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C05837-BCC3-4C69-9216-D22382C32351}" type="pres">
      <dgm:prSet presAssocID="{A6947431-56E3-4D51-A5F0-CB3F36AE5125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960CB3-43AB-45E7-8157-2C497929D00B}" type="pres">
      <dgm:prSet presAssocID="{972A5D84-536C-4F69-AA64-C18370BE79B5}" presName="sp" presStyleCnt="0"/>
      <dgm:spPr/>
    </dgm:pt>
    <dgm:pt modelId="{10551662-2E5F-4767-B6D2-3884115BDA81}" type="pres">
      <dgm:prSet presAssocID="{04108FE3-BBEF-4095-AB6C-EAA4F1FD3AF6}" presName="linNode" presStyleCnt="0"/>
      <dgm:spPr/>
    </dgm:pt>
    <dgm:pt modelId="{507C9B91-DB90-4361-B41A-DEF27D1B56C2}" type="pres">
      <dgm:prSet presAssocID="{04108FE3-BBEF-4095-AB6C-EAA4F1FD3AF6}" presName="parentText" presStyleLbl="node1" presStyleIdx="2" presStyleCnt="4" custScaleX="6145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2E36CB-B7C0-4358-8F32-3F0D5F722BA7}" type="pres">
      <dgm:prSet presAssocID="{04108FE3-BBEF-4095-AB6C-EAA4F1FD3AF6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AB2FAC-587C-48E2-87C7-279C8E41DB1C}" type="pres">
      <dgm:prSet presAssocID="{6A0E5845-696E-425C-9730-75738F355B96}" presName="sp" presStyleCnt="0"/>
      <dgm:spPr/>
    </dgm:pt>
    <dgm:pt modelId="{62701BE0-B1FD-456B-B53F-2947ADD91D0C}" type="pres">
      <dgm:prSet presAssocID="{3057E7BD-F6E6-4F14-851E-D216C98CAF7D}" presName="linNode" presStyleCnt="0"/>
      <dgm:spPr/>
    </dgm:pt>
    <dgm:pt modelId="{4A980815-374D-4D9B-803F-EAA2B1E8F46A}" type="pres">
      <dgm:prSet presAssocID="{3057E7BD-F6E6-4F14-851E-D216C98CAF7D}" presName="parentText" presStyleLbl="node1" presStyleIdx="3" presStyleCnt="4" custScaleX="6145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3A7F50-4D8E-4D1E-A70C-314E2B387E3B}" type="pres">
      <dgm:prSet presAssocID="{3057E7BD-F6E6-4F14-851E-D216C98CAF7D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5BF0A1-87C0-4810-AFE2-7ACC4A9489EA}" type="presOf" srcId="{E114BB54-B089-4C85-AFA5-60FD565ED233}" destId="{FCC05837-BCC3-4C69-9216-D22382C32351}" srcOrd="0" destOrd="0" presId="urn:microsoft.com/office/officeart/2005/8/layout/vList5"/>
    <dgm:cxn modelId="{CDEF04D6-ACAA-4104-82FF-CF57EFDEB082}" type="presOf" srcId="{04108FE3-BBEF-4095-AB6C-EAA4F1FD3AF6}" destId="{507C9B91-DB90-4361-B41A-DEF27D1B56C2}" srcOrd="0" destOrd="0" presId="urn:microsoft.com/office/officeart/2005/8/layout/vList5"/>
    <dgm:cxn modelId="{5774E2E3-3586-4D2F-A4A0-68FD5676F544}" srcId="{04108FE3-BBEF-4095-AB6C-EAA4F1FD3AF6}" destId="{B62BA97E-E8D4-4383-A8B6-EF9A63C977F6}" srcOrd="0" destOrd="0" parTransId="{D4DA1564-D92E-4CE4-93B3-FE1FB34C4720}" sibTransId="{1460EB73-E3F0-49D6-A78E-D25E5095DE4F}"/>
    <dgm:cxn modelId="{C2728CD2-9B62-4944-B821-DFBEE23C613B}" type="presOf" srcId="{696B636F-108E-4F76-AF84-35F2B5E473B0}" destId="{0BD7AB9F-B0C9-4BDF-A6FD-D3A0528238CD}" srcOrd="0" destOrd="2" presId="urn:microsoft.com/office/officeart/2005/8/layout/vList5"/>
    <dgm:cxn modelId="{26DF6E8E-348E-449E-8569-E43A0B334B69}" srcId="{3057E7BD-F6E6-4F14-851E-D216C98CAF7D}" destId="{55D9B295-1272-4220-868F-18CAD79C8F0A}" srcOrd="1" destOrd="0" parTransId="{827654A4-8B00-4F51-82CA-8B76196498B6}" sibTransId="{89A1B1E1-4877-4C2E-B3A5-DF9320625A64}"/>
    <dgm:cxn modelId="{AD7A56B4-72BB-4851-B3D6-9AC9110EED56}" type="presOf" srcId="{B62BA97E-E8D4-4383-A8B6-EF9A63C977F6}" destId="{E42E36CB-B7C0-4358-8F32-3F0D5F722BA7}" srcOrd="0" destOrd="0" presId="urn:microsoft.com/office/officeart/2005/8/layout/vList5"/>
    <dgm:cxn modelId="{CCCFD344-ACC5-47A7-9BAC-104C72B8D50A}" type="presOf" srcId="{A721372E-07E3-4F1B-8FDF-E1A47DA0BD64}" destId="{E42E36CB-B7C0-4358-8F32-3F0D5F722BA7}" srcOrd="0" destOrd="1" presId="urn:microsoft.com/office/officeart/2005/8/layout/vList5"/>
    <dgm:cxn modelId="{B92631C2-908B-4509-A54E-D34A3B4F1234}" srcId="{4D6B9E09-3970-4CE9-A6A6-C48B58541331}" destId="{761B272E-233D-4769-8000-398A340FC17C}" srcOrd="0" destOrd="0" parTransId="{E78CB8F5-EBBF-4811-97D3-5860823B61A4}" sibTransId="{6E37C5D9-3D21-4522-A648-0A07BFC6FC4C}"/>
    <dgm:cxn modelId="{F636B943-CF15-41B8-9968-F1341AC2B32B}" type="presOf" srcId="{EE283624-71B5-4197-9248-DF0608AA1E4A}" destId="{E42E36CB-B7C0-4358-8F32-3F0D5F722BA7}" srcOrd="0" destOrd="2" presId="urn:microsoft.com/office/officeart/2005/8/layout/vList5"/>
    <dgm:cxn modelId="{CAA768E1-364A-4B53-A70F-666FCC3D36F4}" srcId="{3057E7BD-F6E6-4F14-851E-D216C98CAF7D}" destId="{82514DE9-E760-4BE4-BBBE-00E4CD5E3CEE}" srcOrd="2" destOrd="0" parTransId="{53CD4E8E-8383-4C59-BC1C-69ED58EC6FFC}" sibTransId="{75BB5013-F309-4E4F-9865-6C5E750E46A3}"/>
    <dgm:cxn modelId="{33BE4E16-F3E8-4B91-BD7A-9AC21A8B4401}" type="presOf" srcId="{761B272E-233D-4769-8000-398A340FC17C}" destId="{10BBB5C8-7561-4636-969A-CC3088E12D81}" srcOrd="0" destOrd="0" presId="urn:microsoft.com/office/officeart/2005/8/layout/vList5"/>
    <dgm:cxn modelId="{FF968359-5B34-4384-8A25-5A0330E8AB66}" srcId="{070B4DBB-0FA8-48AF-A825-1AD956A65499}" destId="{ADF479A2-C35C-498B-8D73-03AD3601409B}" srcOrd="0" destOrd="0" parTransId="{B63AD095-B5B6-4A95-B50D-18352801C61B}" sibTransId="{3B75A359-5503-4FB5-ABC2-ED83E30FB0C2}"/>
    <dgm:cxn modelId="{60A304FA-F5E1-4F8D-B82D-62E26A18EC44}" srcId="{3057E7BD-F6E6-4F14-851E-D216C98CAF7D}" destId="{6C271B99-39D4-487D-A960-A55E43ED5826}" srcOrd="3" destOrd="0" parTransId="{88B237FE-FE53-411A-B8DA-922ECDE5BEFB}" sibTransId="{043AB8EA-0C40-4F60-88BA-80E98CD12F97}"/>
    <dgm:cxn modelId="{68EAAC5E-044E-43F7-A725-FB0E3885423C}" srcId="{4D6B9E09-3970-4CE9-A6A6-C48B58541331}" destId="{A6947431-56E3-4D51-A5F0-CB3F36AE5125}" srcOrd="1" destOrd="0" parTransId="{B4D38D8B-1F30-427B-A9B7-5C9A592E22E3}" sibTransId="{972A5D84-536C-4F69-AA64-C18370BE79B5}"/>
    <dgm:cxn modelId="{5DACCCB7-D6CE-4E0F-979B-2451547BECCF}" srcId="{04108FE3-BBEF-4095-AB6C-EAA4F1FD3AF6}" destId="{A721372E-07E3-4F1B-8FDF-E1A47DA0BD64}" srcOrd="1" destOrd="0" parTransId="{FCC7F4D0-44C2-4A61-9867-95A5BFB6145B}" sibTransId="{629AE69D-52A7-4097-A71B-D41B2867E044}"/>
    <dgm:cxn modelId="{09CFCA42-64DD-4EBF-82D0-E7A9DAE5339D}" type="presOf" srcId="{55D9B295-1272-4220-868F-18CAD79C8F0A}" destId="{D73A7F50-4D8E-4D1E-A70C-314E2B387E3B}" srcOrd="0" destOrd="1" presId="urn:microsoft.com/office/officeart/2005/8/layout/vList5"/>
    <dgm:cxn modelId="{5D3EAF80-0BDE-49F7-98B1-8BAC0B8166AE}" srcId="{4D6B9E09-3970-4CE9-A6A6-C48B58541331}" destId="{04108FE3-BBEF-4095-AB6C-EAA4F1FD3AF6}" srcOrd="2" destOrd="0" parTransId="{5A4D86D0-F196-4E6F-82C3-AC5CF04F163F}" sibTransId="{6A0E5845-696E-425C-9730-75738F355B96}"/>
    <dgm:cxn modelId="{E31948EC-94D0-4FB0-A22A-C1540C368DAB}" type="presOf" srcId="{82514DE9-E760-4BE4-BBBE-00E4CD5E3CEE}" destId="{D73A7F50-4D8E-4D1E-A70C-314E2B387E3B}" srcOrd="0" destOrd="2" presId="urn:microsoft.com/office/officeart/2005/8/layout/vList5"/>
    <dgm:cxn modelId="{84F58579-0C18-4B6F-BEEC-A0515B50B6D8}" type="presOf" srcId="{6C271B99-39D4-487D-A960-A55E43ED5826}" destId="{D73A7F50-4D8E-4D1E-A70C-314E2B387E3B}" srcOrd="0" destOrd="3" presId="urn:microsoft.com/office/officeart/2005/8/layout/vList5"/>
    <dgm:cxn modelId="{DF7906FD-43E9-4BDA-9F59-F471E7740E93}" srcId="{04108FE3-BBEF-4095-AB6C-EAA4F1FD3AF6}" destId="{EE283624-71B5-4197-9248-DF0608AA1E4A}" srcOrd="2" destOrd="0" parTransId="{E32D48B8-395E-462D-82E1-DADE287A8E4D}" sibTransId="{F896C451-5500-45C2-932A-C776528C2B9B}"/>
    <dgm:cxn modelId="{DD8BFCF5-7815-4593-BD4F-8A7B4E49203A}" type="presOf" srcId="{A6947431-56E3-4D51-A5F0-CB3F36AE5125}" destId="{D5B76C1A-7973-4708-8A60-6BF63F0935B7}" srcOrd="0" destOrd="0" presId="urn:microsoft.com/office/officeart/2005/8/layout/vList5"/>
    <dgm:cxn modelId="{93BA5622-0B58-4689-A0F6-322BEAD8AD01}" srcId="{3057E7BD-F6E6-4F14-851E-D216C98CAF7D}" destId="{2007CADF-DDDC-483E-A1D8-4D9AB608301B}" srcOrd="0" destOrd="0" parTransId="{04B76C0E-4B1A-4D07-9A45-0972EB6369D8}" sibTransId="{D32EC527-6712-4023-9C7C-620388722C98}"/>
    <dgm:cxn modelId="{DD839249-43F8-46DB-8799-522E8A53D2DA}" srcId="{A6947431-56E3-4D51-A5F0-CB3F36AE5125}" destId="{E114BB54-B089-4C85-AFA5-60FD565ED233}" srcOrd="0" destOrd="0" parTransId="{281D9C85-6B80-4061-A27B-0E5777D33ADB}" sibTransId="{518DE657-8143-427E-827A-95B23C8E116A}"/>
    <dgm:cxn modelId="{C0D43411-FC65-4404-83AD-16A6F539FA1C}" type="presOf" srcId="{4D6B9E09-3970-4CE9-A6A6-C48B58541331}" destId="{53C88693-9ADB-4203-BCD2-83B77E350011}" srcOrd="0" destOrd="0" presId="urn:microsoft.com/office/officeart/2005/8/layout/vList5"/>
    <dgm:cxn modelId="{AE45C2DB-A02B-483D-A5A9-6DA14443FA8B}" type="presOf" srcId="{2007CADF-DDDC-483E-A1D8-4D9AB608301B}" destId="{D73A7F50-4D8E-4D1E-A70C-314E2B387E3B}" srcOrd="0" destOrd="0" presId="urn:microsoft.com/office/officeart/2005/8/layout/vList5"/>
    <dgm:cxn modelId="{B182CD1D-B7CE-42A5-A75F-7545F64FB3F6}" srcId="{761B272E-233D-4769-8000-398A340FC17C}" destId="{734DD1A3-31F1-4D8D-8579-2F49478BAFCD}" srcOrd="1" destOrd="0" parTransId="{EDE20D43-5DD4-4E8B-8B1F-962D4E5FADD5}" sibTransId="{07EC727B-6053-4689-98D8-3D0B371EF5C2}"/>
    <dgm:cxn modelId="{BD5F5657-DABA-49B3-80AC-48031CBDC34D}" srcId="{761B272E-233D-4769-8000-398A340FC17C}" destId="{070B4DBB-0FA8-48AF-A825-1AD956A65499}" srcOrd="0" destOrd="0" parTransId="{3CA21907-3410-49DD-AA8E-BCBED862AA60}" sibTransId="{322FCB31-ADE0-444E-8799-FF9AADDABD99}"/>
    <dgm:cxn modelId="{E3DF23BE-BA01-41EF-B8D3-B5F990E08C5E}" type="presOf" srcId="{734DD1A3-31F1-4D8D-8579-2F49478BAFCD}" destId="{0BD7AB9F-B0C9-4BDF-A6FD-D3A0528238CD}" srcOrd="0" destOrd="3" presId="urn:microsoft.com/office/officeart/2005/8/layout/vList5"/>
    <dgm:cxn modelId="{457ACFD4-C699-432D-940C-1FA60F35B33B}" type="presOf" srcId="{ADF479A2-C35C-498B-8D73-03AD3601409B}" destId="{0BD7AB9F-B0C9-4BDF-A6FD-D3A0528238CD}" srcOrd="0" destOrd="1" presId="urn:microsoft.com/office/officeart/2005/8/layout/vList5"/>
    <dgm:cxn modelId="{90EC635F-6A6C-4B18-8D31-02188419C430}" srcId="{4D6B9E09-3970-4CE9-A6A6-C48B58541331}" destId="{3057E7BD-F6E6-4F14-851E-D216C98CAF7D}" srcOrd="3" destOrd="0" parTransId="{7D4D52FF-85E8-4DE3-B405-76D61417D70D}" sibTransId="{2E994C95-CCEF-4D68-A46D-4BD6B5ADDB2E}"/>
    <dgm:cxn modelId="{B6DF1DA1-CBD3-4C1A-BBCE-DCFE430211BE}" type="presOf" srcId="{3057E7BD-F6E6-4F14-851E-D216C98CAF7D}" destId="{4A980815-374D-4D9B-803F-EAA2B1E8F46A}" srcOrd="0" destOrd="0" presId="urn:microsoft.com/office/officeart/2005/8/layout/vList5"/>
    <dgm:cxn modelId="{3FE56384-EDAB-43B0-A2C7-54303C80ED81}" srcId="{070B4DBB-0FA8-48AF-A825-1AD956A65499}" destId="{696B636F-108E-4F76-AF84-35F2B5E473B0}" srcOrd="1" destOrd="0" parTransId="{076E0C63-85C1-4D8A-B18B-B25788D719AE}" sibTransId="{DB982400-374C-4D3D-BCA6-FAC8B3FDDACE}"/>
    <dgm:cxn modelId="{B7DB106D-2A84-4193-8016-5D2689306409}" type="presOf" srcId="{070B4DBB-0FA8-48AF-A825-1AD956A65499}" destId="{0BD7AB9F-B0C9-4BDF-A6FD-D3A0528238CD}" srcOrd="0" destOrd="0" presId="urn:microsoft.com/office/officeart/2005/8/layout/vList5"/>
    <dgm:cxn modelId="{0682B640-09C1-4795-9A2C-24E86F9250EC}" type="presParOf" srcId="{53C88693-9ADB-4203-BCD2-83B77E350011}" destId="{7C40C4DF-17A6-4270-B70A-CBA6D19CB646}" srcOrd="0" destOrd="0" presId="urn:microsoft.com/office/officeart/2005/8/layout/vList5"/>
    <dgm:cxn modelId="{3B840F29-5FFE-4786-8940-398DB21867FB}" type="presParOf" srcId="{7C40C4DF-17A6-4270-B70A-CBA6D19CB646}" destId="{10BBB5C8-7561-4636-969A-CC3088E12D81}" srcOrd="0" destOrd="0" presId="urn:microsoft.com/office/officeart/2005/8/layout/vList5"/>
    <dgm:cxn modelId="{9E25D5A4-A766-4F26-9FAD-4F55AF3DACEB}" type="presParOf" srcId="{7C40C4DF-17A6-4270-B70A-CBA6D19CB646}" destId="{0BD7AB9F-B0C9-4BDF-A6FD-D3A0528238CD}" srcOrd="1" destOrd="0" presId="urn:microsoft.com/office/officeart/2005/8/layout/vList5"/>
    <dgm:cxn modelId="{FA894367-1F3B-4761-8BA2-616195D0EEF6}" type="presParOf" srcId="{53C88693-9ADB-4203-BCD2-83B77E350011}" destId="{A339F42A-A572-4FEA-9056-ADED9B455F08}" srcOrd="1" destOrd="0" presId="urn:microsoft.com/office/officeart/2005/8/layout/vList5"/>
    <dgm:cxn modelId="{F352C46C-B00C-4D15-AFE5-0FE3FFF6CB84}" type="presParOf" srcId="{53C88693-9ADB-4203-BCD2-83B77E350011}" destId="{6FBF4C58-E205-4467-8E42-BDD36303D955}" srcOrd="2" destOrd="0" presId="urn:microsoft.com/office/officeart/2005/8/layout/vList5"/>
    <dgm:cxn modelId="{392FF5B6-CE38-4DB1-A3B6-7498AAAD866F}" type="presParOf" srcId="{6FBF4C58-E205-4467-8E42-BDD36303D955}" destId="{D5B76C1A-7973-4708-8A60-6BF63F0935B7}" srcOrd="0" destOrd="0" presId="urn:microsoft.com/office/officeart/2005/8/layout/vList5"/>
    <dgm:cxn modelId="{C304C46D-6E88-4DDC-9D71-6F5F8121D8D8}" type="presParOf" srcId="{6FBF4C58-E205-4467-8E42-BDD36303D955}" destId="{FCC05837-BCC3-4C69-9216-D22382C32351}" srcOrd="1" destOrd="0" presId="urn:microsoft.com/office/officeart/2005/8/layout/vList5"/>
    <dgm:cxn modelId="{8BA88003-ADD8-4861-AD9C-A515E332DBB4}" type="presParOf" srcId="{53C88693-9ADB-4203-BCD2-83B77E350011}" destId="{23960CB3-43AB-45E7-8157-2C497929D00B}" srcOrd="3" destOrd="0" presId="urn:microsoft.com/office/officeart/2005/8/layout/vList5"/>
    <dgm:cxn modelId="{D70B1CDC-29AB-43FA-A64B-46BC8B927F0C}" type="presParOf" srcId="{53C88693-9ADB-4203-BCD2-83B77E350011}" destId="{10551662-2E5F-4767-B6D2-3884115BDA81}" srcOrd="4" destOrd="0" presId="urn:microsoft.com/office/officeart/2005/8/layout/vList5"/>
    <dgm:cxn modelId="{690563C8-92E6-4E42-A46A-C54CE2DE842B}" type="presParOf" srcId="{10551662-2E5F-4767-B6D2-3884115BDA81}" destId="{507C9B91-DB90-4361-B41A-DEF27D1B56C2}" srcOrd="0" destOrd="0" presId="urn:microsoft.com/office/officeart/2005/8/layout/vList5"/>
    <dgm:cxn modelId="{4B73E11B-8464-4F38-A9E0-6B883B56E199}" type="presParOf" srcId="{10551662-2E5F-4767-B6D2-3884115BDA81}" destId="{E42E36CB-B7C0-4358-8F32-3F0D5F722BA7}" srcOrd="1" destOrd="0" presId="urn:microsoft.com/office/officeart/2005/8/layout/vList5"/>
    <dgm:cxn modelId="{BC28D946-B1E2-4F28-99C2-71C61F8DB1A3}" type="presParOf" srcId="{53C88693-9ADB-4203-BCD2-83B77E350011}" destId="{79AB2FAC-587C-48E2-87C7-279C8E41DB1C}" srcOrd="5" destOrd="0" presId="urn:microsoft.com/office/officeart/2005/8/layout/vList5"/>
    <dgm:cxn modelId="{9B6F344A-DA2E-4FA0-B2D3-9E6561359F6C}" type="presParOf" srcId="{53C88693-9ADB-4203-BCD2-83B77E350011}" destId="{62701BE0-B1FD-456B-B53F-2947ADD91D0C}" srcOrd="6" destOrd="0" presId="urn:microsoft.com/office/officeart/2005/8/layout/vList5"/>
    <dgm:cxn modelId="{4C24ACCF-2574-4BAD-8E58-53E69E4CAF01}" type="presParOf" srcId="{62701BE0-B1FD-456B-B53F-2947ADD91D0C}" destId="{4A980815-374D-4D9B-803F-EAA2B1E8F46A}" srcOrd="0" destOrd="0" presId="urn:microsoft.com/office/officeart/2005/8/layout/vList5"/>
    <dgm:cxn modelId="{0CF33976-E0D0-4420-94A7-93478021097A}" type="presParOf" srcId="{62701BE0-B1FD-456B-B53F-2947ADD91D0C}" destId="{D73A7F50-4D8E-4D1E-A70C-314E2B387E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483568-6364-48D9-A59C-355B58C91E2C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FD03021-C856-49E1-BD92-5FAD7CCA310B}">
      <dgm:prSet phldrT="[Text]" phldr="0"/>
      <dgm:spPr/>
      <dgm:t>
        <a:bodyPr/>
        <a:lstStyle/>
        <a:p>
          <a:r>
            <a:rPr lang="en-US" dirty="0">
              <a:latin typeface="Helvetica" panose="020B0604020202030204"/>
              <a:cs typeface="Helvetica" panose="020B0604020202030204"/>
            </a:rPr>
            <a:t>Generation/ Creation</a:t>
          </a:r>
        </a:p>
      </dgm:t>
    </dgm:pt>
    <dgm:pt modelId="{DC2FFF34-2582-4A15-83B7-28DF40504205}" type="parTrans" cxnId="{FCA0CB2B-E3EC-4F6B-8DB4-28F06679BFBA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5F954DA9-FCA0-458A-936F-AB6DBBE45723}" type="sibTrans" cxnId="{FCA0CB2B-E3EC-4F6B-8DB4-28F06679BFBA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81D4F03D-255C-42DF-9836-CF8614BE5660}">
      <dgm:prSet phldrT="[Text]" phldr="0"/>
      <dgm:spPr>
        <a:solidFill>
          <a:srgbClr val="43BEB9"/>
        </a:solidFill>
      </dgm:spPr>
      <dgm:t>
        <a:bodyPr/>
        <a:lstStyle/>
        <a:p>
          <a:r>
            <a:rPr lang="en-US" dirty="0">
              <a:latin typeface="Helvetica" panose="020B0604020202030204"/>
              <a:cs typeface="Helvetica" panose="020B0604020202030204"/>
            </a:rPr>
            <a:t>Ingestion</a:t>
          </a:r>
        </a:p>
      </dgm:t>
    </dgm:pt>
    <dgm:pt modelId="{2B06BA76-ADEE-4B1E-BF8E-E74AD021B691}" type="parTrans" cxnId="{BE117943-ECF0-4755-A52A-F9F685F7CA49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9E2CBAAB-EADA-4B25-A46C-C5E8EE1C09E5}" type="sibTrans" cxnId="{BE117943-ECF0-4755-A52A-F9F685F7CA49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CC696125-6552-4E52-A649-3F231A7DFEEC}">
      <dgm:prSet phldrT="[Text]" phldr="0"/>
      <dgm:spPr/>
      <dgm:t>
        <a:bodyPr/>
        <a:lstStyle/>
        <a:p>
          <a:r>
            <a:rPr lang="en-US" dirty="0">
              <a:latin typeface="Helvetica" panose="020B0604020202030204"/>
              <a:cs typeface="Helvetica" panose="020B0604020202030204"/>
            </a:rPr>
            <a:t>Processing</a:t>
          </a:r>
        </a:p>
      </dgm:t>
    </dgm:pt>
    <dgm:pt modelId="{FB190C27-5082-4543-908F-A2BE37160C14}" type="parTrans" cxnId="{178586E4-41DA-4FEE-9E0F-B53EF10BF7FB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C40B1CC4-8A9F-4DCF-8E7A-0831D34C2E5B}" type="sibTrans" cxnId="{178586E4-41DA-4FEE-9E0F-B53EF10BF7FB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5743C600-3953-490C-9A46-2540DBF6FAAF}">
      <dgm:prSet phldrT="[Text]" phldr="0"/>
      <dgm:spPr/>
      <dgm:t>
        <a:bodyPr/>
        <a:lstStyle/>
        <a:p>
          <a:r>
            <a:rPr lang="en-US" dirty="0">
              <a:latin typeface="Helvetica" panose="020B0604020202030204"/>
              <a:cs typeface="Helvetica" panose="020B0604020202030204"/>
            </a:rPr>
            <a:t>Post – Processing</a:t>
          </a:r>
        </a:p>
      </dgm:t>
    </dgm:pt>
    <dgm:pt modelId="{13E6AC03-B524-43D9-A678-EB2CA0583C8C}" type="parTrans" cxnId="{CE75A1F6-24ED-4B34-8FE2-601BD611E22E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D5D8C792-3A9C-438C-855B-F8C0D32280C9}" type="sibTrans" cxnId="{CE75A1F6-24ED-4B34-8FE2-601BD611E22E}">
      <dgm:prSet/>
      <dgm:spPr/>
      <dgm:t>
        <a:bodyPr/>
        <a:lstStyle/>
        <a:p>
          <a:endParaRPr lang="en-US">
            <a:latin typeface="Helvetica" panose="020B0604020202030204"/>
            <a:cs typeface="Helvetica" panose="020B0604020202030204"/>
          </a:endParaRPr>
        </a:p>
      </dgm:t>
    </dgm:pt>
    <dgm:pt modelId="{A0719A64-B164-425A-949E-C4EE2784E34A}" type="pres">
      <dgm:prSet presAssocID="{AC483568-6364-48D9-A59C-355B58C91E2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430D2DE-37E6-4EE3-BD04-A412CAEC1B79}" type="pres">
      <dgm:prSet presAssocID="{6FD03021-C856-49E1-BD92-5FAD7CCA310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582C84-A36E-4509-815C-74B9003282F6}" type="pres">
      <dgm:prSet presAssocID="{5F954DA9-FCA0-458A-936F-AB6DBBE45723}" presName="parTxOnlySpace" presStyleCnt="0"/>
      <dgm:spPr/>
    </dgm:pt>
    <dgm:pt modelId="{C97ED816-D4C0-461E-A9AE-A1B8148F064F}" type="pres">
      <dgm:prSet presAssocID="{81D4F03D-255C-42DF-9836-CF8614BE566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719E3C-CAF7-4A01-A8FF-1A09C62EDA6F}" type="pres">
      <dgm:prSet presAssocID="{9E2CBAAB-EADA-4B25-A46C-C5E8EE1C09E5}" presName="parTxOnlySpace" presStyleCnt="0"/>
      <dgm:spPr/>
    </dgm:pt>
    <dgm:pt modelId="{B06774A2-ECA6-414D-A6CE-964AE58FBDA8}" type="pres">
      <dgm:prSet presAssocID="{CC696125-6552-4E52-A649-3F231A7DFEE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8C1518-175E-456C-B783-6D0AC17444CB}" type="pres">
      <dgm:prSet presAssocID="{C40B1CC4-8A9F-4DCF-8E7A-0831D34C2E5B}" presName="parTxOnlySpace" presStyleCnt="0"/>
      <dgm:spPr/>
    </dgm:pt>
    <dgm:pt modelId="{54AACEF6-7F13-4390-B797-D23778F48114}" type="pres">
      <dgm:prSet presAssocID="{5743C600-3953-490C-9A46-2540DBF6FAAF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C10C88-8612-4BE7-B26F-4835C4D518C4}" type="presOf" srcId="{AC483568-6364-48D9-A59C-355B58C91E2C}" destId="{A0719A64-B164-425A-949E-C4EE2784E34A}" srcOrd="0" destOrd="0" presId="urn:microsoft.com/office/officeart/2005/8/layout/chevron1"/>
    <dgm:cxn modelId="{BE117943-ECF0-4755-A52A-F9F685F7CA49}" srcId="{AC483568-6364-48D9-A59C-355B58C91E2C}" destId="{81D4F03D-255C-42DF-9836-CF8614BE5660}" srcOrd="1" destOrd="0" parTransId="{2B06BA76-ADEE-4B1E-BF8E-E74AD021B691}" sibTransId="{9E2CBAAB-EADA-4B25-A46C-C5E8EE1C09E5}"/>
    <dgm:cxn modelId="{FCA0CB2B-E3EC-4F6B-8DB4-28F06679BFBA}" srcId="{AC483568-6364-48D9-A59C-355B58C91E2C}" destId="{6FD03021-C856-49E1-BD92-5FAD7CCA310B}" srcOrd="0" destOrd="0" parTransId="{DC2FFF34-2582-4A15-83B7-28DF40504205}" sibTransId="{5F954DA9-FCA0-458A-936F-AB6DBBE45723}"/>
    <dgm:cxn modelId="{178586E4-41DA-4FEE-9E0F-B53EF10BF7FB}" srcId="{AC483568-6364-48D9-A59C-355B58C91E2C}" destId="{CC696125-6552-4E52-A649-3F231A7DFEEC}" srcOrd="2" destOrd="0" parTransId="{FB190C27-5082-4543-908F-A2BE37160C14}" sibTransId="{C40B1CC4-8A9F-4DCF-8E7A-0831D34C2E5B}"/>
    <dgm:cxn modelId="{B930F44D-42DC-4EF6-9B0B-AE64F9577B06}" type="presOf" srcId="{6FD03021-C856-49E1-BD92-5FAD7CCA310B}" destId="{6430D2DE-37E6-4EE3-BD04-A412CAEC1B79}" srcOrd="0" destOrd="0" presId="urn:microsoft.com/office/officeart/2005/8/layout/chevron1"/>
    <dgm:cxn modelId="{10119308-CC2A-4E86-A528-27DC1AAD9021}" type="presOf" srcId="{5743C600-3953-490C-9A46-2540DBF6FAAF}" destId="{54AACEF6-7F13-4390-B797-D23778F48114}" srcOrd="0" destOrd="0" presId="urn:microsoft.com/office/officeart/2005/8/layout/chevron1"/>
    <dgm:cxn modelId="{CE75A1F6-24ED-4B34-8FE2-601BD611E22E}" srcId="{AC483568-6364-48D9-A59C-355B58C91E2C}" destId="{5743C600-3953-490C-9A46-2540DBF6FAAF}" srcOrd="3" destOrd="0" parTransId="{13E6AC03-B524-43D9-A678-EB2CA0583C8C}" sibTransId="{D5D8C792-3A9C-438C-855B-F8C0D32280C9}"/>
    <dgm:cxn modelId="{3647E775-6A33-4860-9E42-7C6B45DCFFAB}" type="presOf" srcId="{CC696125-6552-4E52-A649-3F231A7DFEEC}" destId="{B06774A2-ECA6-414D-A6CE-964AE58FBDA8}" srcOrd="0" destOrd="0" presId="urn:microsoft.com/office/officeart/2005/8/layout/chevron1"/>
    <dgm:cxn modelId="{3A4EF8D1-4386-44EF-AE67-3FA2C8508509}" type="presOf" srcId="{81D4F03D-255C-42DF-9836-CF8614BE5660}" destId="{C97ED816-D4C0-461E-A9AE-A1B8148F064F}" srcOrd="0" destOrd="0" presId="urn:microsoft.com/office/officeart/2005/8/layout/chevron1"/>
    <dgm:cxn modelId="{0F847FCC-2ACF-492D-8AE3-B92EA248DCA5}" type="presParOf" srcId="{A0719A64-B164-425A-949E-C4EE2784E34A}" destId="{6430D2DE-37E6-4EE3-BD04-A412CAEC1B79}" srcOrd="0" destOrd="0" presId="urn:microsoft.com/office/officeart/2005/8/layout/chevron1"/>
    <dgm:cxn modelId="{96B5F593-6604-49D2-A0D1-381DCA20BF00}" type="presParOf" srcId="{A0719A64-B164-425A-949E-C4EE2784E34A}" destId="{AA582C84-A36E-4509-815C-74B9003282F6}" srcOrd="1" destOrd="0" presId="urn:microsoft.com/office/officeart/2005/8/layout/chevron1"/>
    <dgm:cxn modelId="{214296C8-9CF9-4AA0-A9D8-4D42AE42924B}" type="presParOf" srcId="{A0719A64-B164-425A-949E-C4EE2784E34A}" destId="{C97ED816-D4C0-461E-A9AE-A1B8148F064F}" srcOrd="2" destOrd="0" presId="urn:microsoft.com/office/officeart/2005/8/layout/chevron1"/>
    <dgm:cxn modelId="{2B25A48A-93F8-4E75-B9FE-77D3DCED9E8C}" type="presParOf" srcId="{A0719A64-B164-425A-949E-C4EE2784E34A}" destId="{5A719E3C-CAF7-4A01-A8FF-1A09C62EDA6F}" srcOrd="3" destOrd="0" presId="urn:microsoft.com/office/officeart/2005/8/layout/chevron1"/>
    <dgm:cxn modelId="{C52BDA27-5D97-47E4-B257-4033B6818954}" type="presParOf" srcId="{A0719A64-B164-425A-949E-C4EE2784E34A}" destId="{B06774A2-ECA6-414D-A6CE-964AE58FBDA8}" srcOrd="4" destOrd="0" presId="urn:microsoft.com/office/officeart/2005/8/layout/chevron1"/>
    <dgm:cxn modelId="{8AC83C1F-4B89-4852-92A9-86FF9665D641}" type="presParOf" srcId="{A0719A64-B164-425A-949E-C4EE2784E34A}" destId="{BB8C1518-175E-456C-B783-6D0AC17444CB}" srcOrd="5" destOrd="0" presId="urn:microsoft.com/office/officeart/2005/8/layout/chevron1"/>
    <dgm:cxn modelId="{807939F6-D3BE-4B99-AF48-672B6EC9A5AD}" type="presParOf" srcId="{A0719A64-B164-425A-949E-C4EE2784E34A}" destId="{54AACEF6-7F13-4390-B797-D23778F4811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43106-ECFA-4872-B3DD-F5EDAB9B0CE7}">
      <dsp:nvSpPr>
        <dsp:cNvPr id="0" name=""/>
        <dsp:cNvSpPr/>
      </dsp:nvSpPr>
      <dsp:spPr>
        <a:xfrm>
          <a:off x="3571" y="0"/>
          <a:ext cx="3123406" cy="673921"/>
        </a:xfrm>
        <a:prstGeom prst="homePlat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Collect</a:t>
          </a:r>
        </a:p>
      </dsp:txBody>
      <dsp:txXfrm>
        <a:off x="3571" y="0"/>
        <a:ext cx="2954926" cy="673921"/>
      </dsp:txXfrm>
    </dsp:sp>
    <dsp:sp modelId="{56861CF7-EA42-4BD9-B855-5EF4A5E082A6}">
      <dsp:nvSpPr>
        <dsp:cNvPr id="0" name=""/>
        <dsp:cNvSpPr/>
      </dsp:nvSpPr>
      <dsp:spPr>
        <a:xfrm>
          <a:off x="2502296" y="0"/>
          <a:ext cx="3123406" cy="673921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Store</a:t>
          </a:r>
        </a:p>
      </dsp:txBody>
      <dsp:txXfrm>
        <a:off x="2839257" y="0"/>
        <a:ext cx="2449485" cy="673921"/>
      </dsp:txXfrm>
    </dsp:sp>
    <dsp:sp modelId="{3E6B126E-77BD-4C7A-9559-F7C908441F89}">
      <dsp:nvSpPr>
        <dsp:cNvPr id="0" name=""/>
        <dsp:cNvSpPr/>
      </dsp:nvSpPr>
      <dsp:spPr>
        <a:xfrm>
          <a:off x="5001021" y="0"/>
          <a:ext cx="3123406" cy="673921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Delete</a:t>
          </a:r>
        </a:p>
      </dsp:txBody>
      <dsp:txXfrm>
        <a:off x="5337982" y="0"/>
        <a:ext cx="2449485" cy="6739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43106-ECFA-4872-B3DD-F5EDAB9B0CE7}">
      <dsp:nvSpPr>
        <dsp:cNvPr id="0" name=""/>
        <dsp:cNvSpPr/>
      </dsp:nvSpPr>
      <dsp:spPr>
        <a:xfrm>
          <a:off x="3571" y="0"/>
          <a:ext cx="3123406" cy="673921"/>
        </a:xfrm>
        <a:prstGeom prst="homePlat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85344" rIns="42672" bIns="8534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i="1" u="sng" kern="1200" dirty="0"/>
            <a:t>Collect</a:t>
          </a:r>
        </a:p>
      </dsp:txBody>
      <dsp:txXfrm>
        <a:off x="3571" y="0"/>
        <a:ext cx="2954926" cy="673921"/>
      </dsp:txXfrm>
    </dsp:sp>
    <dsp:sp modelId="{56861CF7-EA42-4BD9-B855-5EF4A5E082A6}">
      <dsp:nvSpPr>
        <dsp:cNvPr id="0" name=""/>
        <dsp:cNvSpPr/>
      </dsp:nvSpPr>
      <dsp:spPr>
        <a:xfrm>
          <a:off x="2502296" y="0"/>
          <a:ext cx="3123406" cy="673921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Store</a:t>
          </a:r>
          <a:endParaRPr lang="en-US" sz="1400" kern="1200" dirty="0"/>
        </a:p>
      </dsp:txBody>
      <dsp:txXfrm>
        <a:off x="2839257" y="0"/>
        <a:ext cx="2449485" cy="673921"/>
      </dsp:txXfrm>
    </dsp:sp>
    <dsp:sp modelId="{3E6B126E-77BD-4C7A-9559-F7C908441F89}">
      <dsp:nvSpPr>
        <dsp:cNvPr id="0" name=""/>
        <dsp:cNvSpPr/>
      </dsp:nvSpPr>
      <dsp:spPr>
        <a:xfrm>
          <a:off x="5001021" y="0"/>
          <a:ext cx="3123406" cy="673921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Delete</a:t>
          </a:r>
          <a:endParaRPr lang="en-US" sz="1400" kern="1200" dirty="0"/>
        </a:p>
      </dsp:txBody>
      <dsp:txXfrm>
        <a:off x="5337982" y="0"/>
        <a:ext cx="2449485" cy="6739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43106-ECFA-4872-B3DD-F5EDAB9B0CE7}">
      <dsp:nvSpPr>
        <dsp:cNvPr id="0" name=""/>
        <dsp:cNvSpPr/>
      </dsp:nvSpPr>
      <dsp:spPr>
        <a:xfrm>
          <a:off x="3571" y="0"/>
          <a:ext cx="3123406" cy="673921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latin typeface="Calibri"/>
              <a:ea typeface="+mn-ea"/>
              <a:cs typeface="+mn-cs"/>
            </a:rPr>
            <a:t>Collect</a:t>
          </a:r>
          <a:endParaRPr lang="en-US" sz="1400" kern="1200" dirty="0">
            <a:latin typeface="Calibri"/>
            <a:ea typeface="+mn-ea"/>
            <a:cs typeface="+mn-cs"/>
          </a:endParaRPr>
        </a:p>
      </dsp:txBody>
      <dsp:txXfrm>
        <a:off x="3571" y="0"/>
        <a:ext cx="2954926" cy="673921"/>
      </dsp:txXfrm>
    </dsp:sp>
    <dsp:sp modelId="{56861CF7-EA42-4BD9-B855-5EF4A5E082A6}">
      <dsp:nvSpPr>
        <dsp:cNvPr id="0" name=""/>
        <dsp:cNvSpPr/>
      </dsp:nvSpPr>
      <dsp:spPr>
        <a:xfrm>
          <a:off x="2502296" y="0"/>
          <a:ext cx="3123406" cy="673921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i="1" u="sng" kern="1200">
              <a:latin typeface="Calibri"/>
              <a:ea typeface="+mn-ea"/>
              <a:cs typeface="+mn-cs"/>
            </a:rPr>
            <a:t>Store</a:t>
          </a:r>
          <a:endParaRPr lang="en-US" sz="3200" i="1" u="sng" kern="1200" dirty="0">
            <a:latin typeface="Calibri"/>
            <a:ea typeface="+mn-ea"/>
            <a:cs typeface="+mn-cs"/>
          </a:endParaRPr>
        </a:p>
      </dsp:txBody>
      <dsp:txXfrm>
        <a:off x="2839257" y="0"/>
        <a:ext cx="2449485" cy="673921"/>
      </dsp:txXfrm>
    </dsp:sp>
    <dsp:sp modelId="{3E6B126E-77BD-4C7A-9559-F7C908441F89}">
      <dsp:nvSpPr>
        <dsp:cNvPr id="0" name=""/>
        <dsp:cNvSpPr/>
      </dsp:nvSpPr>
      <dsp:spPr>
        <a:xfrm>
          <a:off x="5001021" y="0"/>
          <a:ext cx="3123406" cy="673921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Delete</a:t>
          </a:r>
          <a:endParaRPr lang="en-US" sz="1400" kern="1200" dirty="0"/>
        </a:p>
      </dsp:txBody>
      <dsp:txXfrm>
        <a:off x="5337982" y="0"/>
        <a:ext cx="2449485" cy="6739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43106-ECFA-4872-B3DD-F5EDAB9B0CE7}">
      <dsp:nvSpPr>
        <dsp:cNvPr id="0" name=""/>
        <dsp:cNvSpPr/>
      </dsp:nvSpPr>
      <dsp:spPr>
        <a:xfrm>
          <a:off x="3571" y="0"/>
          <a:ext cx="3123406" cy="673921"/>
        </a:xfrm>
        <a:prstGeom prst="homePlat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latin typeface="Calibri"/>
              <a:ea typeface="+mn-ea"/>
              <a:cs typeface="+mn-cs"/>
            </a:rPr>
            <a:t>Collect</a:t>
          </a:r>
          <a:endParaRPr lang="en-US" sz="1400" kern="1200" dirty="0">
            <a:latin typeface="Calibri"/>
            <a:ea typeface="+mn-ea"/>
            <a:cs typeface="+mn-cs"/>
          </a:endParaRPr>
        </a:p>
      </dsp:txBody>
      <dsp:txXfrm>
        <a:off x="3571" y="0"/>
        <a:ext cx="2954926" cy="673921"/>
      </dsp:txXfrm>
    </dsp:sp>
    <dsp:sp modelId="{56861CF7-EA42-4BD9-B855-5EF4A5E082A6}">
      <dsp:nvSpPr>
        <dsp:cNvPr id="0" name=""/>
        <dsp:cNvSpPr/>
      </dsp:nvSpPr>
      <dsp:spPr>
        <a:xfrm>
          <a:off x="2502296" y="0"/>
          <a:ext cx="3123406" cy="673921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latin typeface="Calibri"/>
              <a:ea typeface="+mn-ea"/>
              <a:cs typeface="+mn-cs"/>
            </a:rPr>
            <a:t>Store</a:t>
          </a:r>
          <a:endParaRPr lang="en-US" sz="1400" kern="1200" dirty="0">
            <a:latin typeface="Calibri"/>
            <a:ea typeface="+mn-ea"/>
            <a:cs typeface="+mn-cs"/>
          </a:endParaRPr>
        </a:p>
      </dsp:txBody>
      <dsp:txXfrm>
        <a:off x="2839257" y="0"/>
        <a:ext cx="2449485" cy="673921"/>
      </dsp:txXfrm>
    </dsp:sp>
    <dsp:sp modelId="{3E6B126E-77BD-4C7A-9559-F7C908441F89}">
      <dsp:nvSpPr>
        <dsp:cNvPr id="0" name=""/>
        <dsp:cNvSpPr/>
      </dsp:nvSpPr>
      <dsp:spPr>
        <a:xfrm>
          <a:off x="5001021" y="0"/>
          <a:ext cx="3123406" cy="673921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i="1" u="sng" kern="1200">
              <a:latin typeface="Calibri"/>
              <a:ea typeface="+mn-ea"/>
              <a:cs typeface="+mn-cs"/>
            </a:rPr>
            <a:t>Delete</a:t>
          </a:r>
          <a:endParaRPr lang="en-US" sz="3200" i="1" u="sng" kern="1200" dirty="0">
            <a:latin typeface="Calibri"/>
            <a:ea typeface="+mn-ea"/>
            <a:cs typeface="+mn-cs"/>
          </a:endParaRPr>
        </a:p>
      </dsp:txBody>
      <dsp:txXfrm>
        <a:off x="5337982" y="0"/>
        <a:ext cx="2449485" cy="6739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7AB9F-B0C9-4BDF-A6FD-D3A0528238CD}">
      <dsp:nvSpPr>
        <dsp:cNvPr id="0" name=""/>
        <dsp:cNvSpPr/>
      </dsp:nvSpPr>
      <dsp:spPr>
        <a:xfrm rot="5400000">
          <a:off x="4271239" y="-1823188"/>
          <a:ext cx="1135673" cy="5071872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Promotes :</a:t>
          </a:r>
        </a:p>
        <a:p>
          <a:pPr marL="342900" lvl="2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Availability</a:t>
          </a:r>
        </a:p>
        <a:p>
          <a:pPr marL="342900" lvl="2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Usage 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Ensures Compliance</a:t>
          </a:r>
        </a:p>
      </dsp:txBody>
      <dsp:txXfrm rot="-5400000">
        <a:off x="2303140" y="200350"/>
        <a:ext cx="5016433" cy="1024795"/>
      </dsp:txXfrm>
    </dsp:sp>
    <dsp:sp modelId="{10BBB5C8-7561-4636-969A-CC3088E12D81}">
      <dsp:nvSpPr>
        <dsp:cNvPr id="0" name=""/>
        <dsp:cNvSpPr/>
      </dsp:nvSpPr>
      <dsp:spPr>
        <a:xfrm>
          <a:off x="549787" y="2951"/>
          <a:ext cx="1753352" cy="141959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Why?</a:t>
          </a:r>
        </a:p>
      </dsp:txBody>
      <dsp:txXfrm>
        <a:off x="619086" y="72250"/>
        <a:ext cx="1614754" cy="1280993"/>
      </dsp:txXfrm>
    </dsp:sp>
    <dsp:sp modelId="{FCC05837-BCC3-4C69-9216-D22382C32351}">
      <dsp:nvSpPr>
        <dsp:cNvPr id="0" name=""/>
        <dsp:cNvSpPr/>
      </dsp:nvSpPr>
      <dsp:spPr>
        <a:xfrm rot="5400000">
          <a:off x="4271239" y="-332617"/>
          <a:ext cx="1135673" cy="5071872"/>
        </a:xfrm>
        <a:prstGeom prst="round2SameRect">
          <a:avLst/>
        </a:prstGeom>
        <a:solidFill>
          <a:schemeClr val="accent3">
            <a:tint val="40000"/>
            <a:alpha val="90000"/>
            <a:hueOff val="676380"/>
            <a:satOff val="33333"/>
            <a:lumOff val="59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676380"/>
              <a:satOff val="33333"/>
              <a:lumOff val="5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A set of standards and business processes which ensure that data assets are leveraged effectively within an organization</a:t>
          </a:r>
        </a:p>
      </dsp:txBody>
      <dsp:txXfrm rot="-5400000">
        <a:off x="2303140" y="1690921"/>
        <a:ext cx="5016433" cy="1024795"/>
      </dsp:txXfrm>
    </dsp:sp>
    <dsp:sp modelId="{D5B76C1A-7973-4708-8A60-6BF63F0935B7}">
      <dsp:nvSpPr>
        <dsp:cNvPr id="0" name=""/>
        <dsp:cNvSpPr/>
      </dsp:nvSpPr>
      <dsp:spPr>
        <a:xfrm>
          <a:off x="549787" y="1493522"/>
          <a:ext cx="1753352" cy="1419591"/>
        </a:xfrm>
        <a:prstGeom prst="round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What?</a:t>
          </a:r>
        </a:p>
      </dsp:txBody>
      <dsp:txXfrm>
        <a:off x="619086" y="1562821"/>
        <a:ext cx="1614754" cy="1280993"/>
      </dsp:txXfrm>
    </dsp:sp>
    <dsp:sp modelId="{E42E36CB-B7C0-4358-8F32-3F0D5F722BA7}">
      <dsp:nvSpPr>
        <dsp:cNvPr id="0" name=""/>
        <dsp:cNvSpPr/>
      </dsp:nvSpPr>
      <dsp:spPr>
        <a:xfrm rot="5400000">
          <a:off x="4271239" y="1157953"/>
          <a:ext cx="1135673" cy="5071872"/>
        </a:xfrm>
        <a:prstGeom prst="round2SameRect">
          <a:avLst/>
        </a:prstGeom>
        <a:solidFill>
          <a:schemeClr val="accent3">
            <a:tint val="40000"/>
            <a:alpha val="90000"/>
            <a:hueOff val="1352761"/>
            <a:satOff val="66667"/>
            <a:lumOff val="118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352761"/>
              <a:satOff val="66667"/>
              <a:lumOff val="1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>
              <a:latin typeface="Helvetica" panose="020B0604020202020204" pitchFamily="34" charset="0"/>
              <a:cs typeface="Helvetica" panose="020B0604020202020204" pitchFamily="34" charset="0"/>
            </a:rPr>
            <a:t>Processes</a:t>
          </a:r>
          <a:endParaRPr lang="en-US" sz="1800" kern="1200" dirty="0">
            <a:latin typeface="Helvetica" panose="020B0604020202020204" pitchFamily="34" charset="0"/>
            <a:cs typeface="Helvetica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>
              <a:latin typeface="Helvetica" panose="020B0604020202020204" pitchFamily="34" charset="0"/>
              <a:cs typeface="Helvetica" panose="020B0604020202020204" pitchFamily="34" charset="0"/>
            </a:rPr>
            <a:t>Policies</a:t>
          </a:r>
          <a:endParaRPr lang="en-US" sz="1800" kern="1200" dirty="0">
            <a:latin typeface="Helvetica" panose="020B0604020202020204" pitchFamily="34" charset="0"/>
            <a:cs typeface="Helvetica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Tools</a:t>
          </a:r>
        </a:p>
      </dsp:txBody>
      <dsp:txXfrm rot="-5400000">
        <a:off x="2303140" y="3181492"/>
        <a:ext cx="5016433" cy="1024795"/>
      </dsp:txXfrm>
    </dsp:sp>
    <dsp:sp modelId="{507C9B91-DB90-4361-B41A-DEF27D1B56C2}">
      <dsp:nvSpPr>
        <dsp:cNvPr id="0" name=""/>
        <dsp:cNvSpPr/>
      </dsp:nvSpPr>
      <dsp:spPr>
        <a:xfrm>
          <a:off x="549787" y="2984093"/>
          <a:ext cx="1753352" cy="1419591"/>
        </a:xfrm>
        <a:prstGeom prst="round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Includes</a:t>
          </a:r>
        </a:p>
      </dsp:txBody>
      <dsp:txXfrm>
        <a:off x="619086" y="3053392"/>
        <a:ext cx="1614754" cy="1280993"/>
      </dsp:txXfrm>
    </dsp:sp>
    <dsp:sp modelId="{D73A7F50-4D8E-4D1E-A70C-314E2B387E3B}">
      <dsp:nvSpPr>
        <dsp:cNvPr id="0" name=""/>
        <dsp:cNvSpPr/>
      </dsp:nvSpPr>
      <dsp:spPr>
        <a:xfrm rot="5400000">
          <a:off x="4271239" y="2648524"/>
          <a:ext cx="1135673" cy="5071872"/>
        </a:xfrm>
        <a:prstGeom prst="round2Same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Data Quality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>
              <a:latin typeface="Helvetica" panose="020B0604020202020204" pitchFamily="34" charset="0"/>
              <a:cs typeface="Helvetica" panose="020B0604020202020204" pitchFamily="34" charset="0"/>
            </a:rPr>
            <a:t>Data Access</a:t>
          </a:r>
          <a:endParaRPr lang="en-US" sz="1800" kern="1200" dirty="0">
            <a:latin typeface="Helvetica" panose="020B0604020202020204" pitchFamily="34" charset="0"/>
            <a:cs typeface="Helvetica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>
              <a:latin typeface="Helvetica" panose="020B0604020202020204" pitchFamily="34" charset="0"/>
              <a:cs typeface="Helvetica" panose="020B0604020202020204" pitchFamily="34" charset="0"/>
            </a:rPr>
            <a:t>Data Usability</a:t>
          </a:r>
          <a:endParaRPr lang="en-US" sz="1800" kern="1200" dirty="0">
            <a:latin typeface="Helvetica" panose="020B0604020202020204" pitchFamily="34" charset="0"/>
            <a:cs typeface="Helvetica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Data Security</a:t>
          </a:r>
        </a:p>
      </dsp:txBody>
      <dsp:txXfrm rot="-5400000">
        <a:off x="2303140" y="4672063"/>
        <a:ext cx="5016433" cy="1024795"/>
      </dsp:txXfrm>
    </dsp:sp>
    <dsp:sp modelId="{4A980815-374D-4D9B-803F-EAA2B1E8F46A}">
      <dsp:nvSpPr>
        <dsp:cNvPr id="0" name=""/>
        <dsp:cNvSpPr/>
      </dsp:nvSpPr>
      <dsp:spPr>
        <a:xfrm>
          <a:off x="549787" y="4474664"/>
          <a:ext cx="1753352" cy="1419591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Helvetica" panose="020B0604020202020204" pitchFamily="34" charset="0"/>
              <a:cs typeface="Helvetica" panose="020B0604020202020204" pitchFamily="34" charset="0"/>
            </a:rPr>
            <a:t>Ensures</a:t>
          </a:r>
        </a:p>
      </dsp:txBody>
      <dsp:txXfrm>
        <a:off x="619086" y="4543963"/>
        <a:ext cx="1614754" cy="12809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0D2DE-37E6-4EE3-BD04-A412CAEC1B79}">
      <dsp:nvSpPr>
        <dsp:cNvPr id="0" name=""/>
        <dsp:cNvSpPr/>
      </dsp:nvSpPr>
      <dsp:spPr>
        <a:xfrm>
          <a:off x="5681" y="57232"/>
          <a:ext cx="3307005" cy="132280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>
              <a:latin typeface="Helvetica" panose="020B0604020202030204"/>
              <a:cs typeface="Helvetica" panose="020B0604020202030204"/>
            </a:rPr>
            <a:t>Generation/ Creation</a:t>
          </a:r>
        </a:p>
      </dsp:txBody>
      <dsp:txXfrm>
        <a:off x="667082" y="57232"/>
        <a:ext cx="1984203" cy="1322802"/>
      </dsp:txXfrm>
    </dsp:sp>
    <dsp:sp modelId="{C97ED816-D4C0-461E-A9AE-A1B8148F064F}">
      <dsp:nvSpPr>
        <dsp:cNvPr id="0" name=""/>
        <dsp:cNvSpPr/>
      </dsp:nvSpPr>
      <dsp:spPr>
        <a:xfrm>
          <a:off x="2981985" y="57232"/>
          <a:ext cx="3307005" cy="1322802"/>
        </a:xfrm>
        <a:prstGeom prst="chevron">
          <a:avLst/>
        </a:prstGeom>
        <a:solidFill>
          <a:srgbClr val="43BE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>
              <a:latin typeface="Helvetica" panose="020B0604020202030204"/>
              <a:cs typeface="Helvetica" panose="020B0604020202030204"/>
            </a:rPr>
            <a:t>Ingestion</a:t>
          </a:r>
        </a:p>
      </dsp:txBody>
      <dsp:txXfrm>
        <a:off x="3643386" y="57232"/>
        <a:ext cx="1984203" cy="1322802"/>
      </dsp:txXfrm>
    </dsp:sp>
    <dsp:sp modelId="{B06774A2-ECA6-414D-A6CE-964AE58FBDA8}">
      <dsp:nvSpPr>
        <dsp:cNvPr id="0" name=""/>
        <dsp:cNvSpPr/>
      </dsp:nvSpPr>
      <dsp:spPr>
        <a:xfrm>
          <a:off x="5958290" y="57232"/>
          <a:ext cx="3307005" cy="1322802"/>
        </a:xfrm>
        <a:prstGeom prst="chevron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>
              <a:latin typeface="Helvetica" panose="020B0604020202030204"/>
              <a:cs typeface="Helvetica" panose="020B0604020202030204"/>
            </a:rPr>
            <a:t>Processing</a:t>
          </a:r>
        </a:p>
      </dsp:txBody>
      <dsp:txXfrm>
        <a:off x="6619691" y="57232"/>
        <a:ext cx="1984203" cy="1322802"/>
      </dsp:txXfrm>
    </dsp:sp>
    <dsp:sp modelId="{54AACEF6-7F13-4390-B797-D23778F48114}">
      <dsp:nvSpPr>
        <dsp:cNvPr id="0" name=""/>
        <dsp:cNvSpPr/>
      </dsp:nvSpPr>
      <dsp:spPr>
        <a:xfrm>
          <a:off x="8934595" y="57232"/>
          <a:ext cx="3307005" cy="1322802"/>
        </a:xfrm>
        <a:prstGeom prst="chevron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>
              <a:latin typeface="Helvetica" panose="020B0604020202030204"/>
              <a:cs typeface="Helvetica" panose="020B0604020202030204"/>
            </a:rPr>
            <a:t>Post – Processing</a:t>
          </a:r>
        </a:p>
      </dsp:txBody>
      <dsp:txXfrm>
        <a:off x="9595996" y="57232"/>
        <a:ext cx="1984203" cy="1322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B1DED4-035E-4548-AB9E-F9B1FE638F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97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 sz="1400"/>
          </a:p>
        </p:txBody>
      </p:sp>
      <p:sp>
        <p:nvSpPr>
          <p:cNvPr id="27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29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pic>
        <p:nvPicPr>
          <p:cNvPr id="30" name="Picture 10" descr="Picture 10"/>
          <p:cNvPicPr>
            <a:picLocks noChangeAspect="1"/>
          </p:cNvPicPr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101600" y="3352800"/>
            <a:ext cx="27432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8"/>
          <p:cNvSpPr txBox="1"/>
          <p:nvPr/>
        </p:nvSpPr>
        <p:spPr>
          <a:xfrm>
            <a:off x="-40642" y="5257801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 dirty="0"/>
              <a:t>BITS</a:t>
            </a:r>
            <a:r>
              <a:rPr sz="2900" b="0" dirty="0"/>
              <a:t> </a:t>
            </a:r>
            <a:r>
              <a:rPr sz="2900" b="0" dirty="0" err="1"/>
              <a:t>Pilani</a:t>
            </a:r>
            <a:endParaRPr sz="2900" b="0" dirty="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566889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2"/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pic>
        <p:nvPicPr>
          <p:cNvPr id="44" name="Picture 8" descr="Picture 8"/>
          <p:cNvPicPr>
            <a:picLocks noChangeAspect="1"/>
          </p:cNvPicPr>
          <p:nvPr/>
        </p:nvPicPr>
        <p:blipFill>
          <a:blip r:embed="rId3"/>
          <a:srcRect t="2677" b="2677"/>
          <a:stretch>
            <a:fillRect/>
          </a:stretch>
        </p:blipFill>
        <p:spPr>
          <a:xfrm>
            <a:off x="8839201" y="0"/>
            <a:ext cx="2925233" cy="69215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4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6" name="Rectangle 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7" name="Rectangle 6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8" name="TextBox 7"/>
          <p:cNvSpPr txBox="1"/>
          <p:nvPr/>
        </p:nvSpPr>
        <p:spPr>
          <a:xfrm>
            <a:off x="9204959" y="762001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/>
              <a:t>BITS</a:t>
            </a:r>
            <a:r>
              <a:rPr sz="2900" b="0"/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6400" y="4648200"/>
            <a:ext cx="112776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772820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  <p:sldLayoutId id="2147483741" r:id="rId4"/>
    <p:sldLayoutId id="2147483742" r:id="rId5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ibm.com/thought-leadership/institute-business-value/c-suite-study/ce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hyperlink" Target="https://research.ibm.com/projects/metadata-management" TargetMode="Externa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opics/encryption" TargetMode="External"/><Relationship Id="rId2" Type="http://schemas.openxmlformats.org/officeDocument/2006/relationships/hyperlink" Target="https://www.ibm.com/think/topics/data-securit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platform.cloud.ibm.com/docs/content/wsj/governance/masking-data.html?context=cpdaas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in-en/topics/data-management" TargetMode="External"/><Relationship Id="rId2" Type="http://schemas.openxmlformats.org/officeDocument/2006/relationships/hyperlink" Target="https://www.trellance.com/data-management-framework-7-essential-componen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icaro_vazquez/what-is-a-data-platform-081549a2cef6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 algn="r"/>
            <a:r>
              <a:rPr lang="en-IN" dirty="0"/>
              <a:t>Data Management for Machine Learning</a:t>
            </a:r>
            <a:endParaRPr dirty="0"/>
          </a:p>
        </p:txBody>
      </p:sp>
      <p:sp>
        <p:nvSpPr>
          <p:cNvPr id="351" name="Content Placeholder 5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886968">
              <a:lnSpc>
                <a:spcPts val="1700"/>
              </a:lnSpc>
              <a:defRPr sz="1746"/>
            </a:pPr>
            <a:r>
              <a:rPr lang="en-US" dirty="0" smtClean="0"/>
              <a:t>Sunil </a:t>
            </a:r>
            <a:r>
              <a:rPr lang="en-US" dirty="0" err="1" smtClean="0"/>
              <a:t>Bhutada</a:t>
            </a:r>
            <a:endParaRPr dirty="0"/>
          </a:p>
          <a:p>
            <a:pPr defTabSz="886968">
              <a:lnSpc>
                <a:spcPts val="1700"/>
              </a:lnSpc>
              <a:defRPr sz="1746"/>
            </a:pPr>
            <a:r>
              <a:rPr lang="en-US" dirty="0" smtClean="0"/>
              <a:t>Guest Faculty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846468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/>
          <p:cNvSpPr txBox="1">
            <a:spLocks noGrp="1"/>
          </p:cNvSpPr>
          <p:nvPr>
            <p:ph type="body" sz="half" idx="1"/>
          </p:nvPr>
        </p:nvSpPr>
        <p:spPr>
          <a:xfrm>
            <a:off x="406400" y="4433455"/>
            <a:ext cx="11277600" cy="181494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200"/>
            </a:pPr>
            <a:r>
              <a:rPr lang="en-IN" dirty="0" smtClean="0"/>
              <a:t>Course </a:t>
            </a:r>
            <a:r>
              <a:rPr lang="en-IN" dirty="0"/>
              <a:t>Number </a:t>
            </a:r>
            <a:r>
              <a:rPr lang="en-IN" dirty="0" smtClean="0"/>
              <a:t> DSE</a:t>
            </a:r>
            <a:r>
              <a:rPr lang="en-IN" dirty="0"/>
              <a:t>* ZG529 / AIML* ZG529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defRPr spc="-200"/>
            </a:pPr>
            <a:r>
              <a:rPr lang="en-IN" dirty="0"/>
              <a:t>Course Title </a:t>
            </a:r>
            <a:r>
              <a:rPr lang="en-IN" dirty="0" smtClean="0"/>
              <a:t>Data  Management </a:t>
            </a:r>
            <a:r>
              <a:rPr lang="en-IN" dirty="0"/>
              <a:t>for Machine </a:t>
            </a:r>
            <a:r>
              <a:rPr lang="en-IN" dirty="0" smtClean="0"/>
              <a:t>Learning</a:t>
            </a:r>
            <a:endParaRPr dirty="0"/>
          </a:p>
          <a:p>
            <a:pPr>
              <a:defRPr spc="-200"/>
            </a:pPr>
            <a:r>
              <a:rPr dirty="0"/>
              <a:t>Lecture No</a:t>
            </a:r>
            <a:r>
              <a:rPr dirty="0" smtClean="0"/>
              <a:t>.</a:t>
            </a:r>
            <a:r>
              <a:rPr lang="en-US" dirty="0" smtClean="0"/>
              <a:t> </a:t>
            </a:r>
            <a:r>
              <a:rPr lang="en-US" smtClean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289726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SzPts val="1800"/>
            </a:pPr>
            <a:r>
              <a:rPr lang="en-US" sz="4600" dirty="0" smtClean="0"/>
              <a:t>CS – </a:t>
            </a:r>
            <a:r>
              <a:rPr lang="en-US" sz="4600" dirty="0" smtClean="0"/>
              <a:t>2 </a:t>
            </a:r>
            <a:r>
              <a:rPr lang="en-US" sz="4600" dirty="0" smtClean="0"/>
              <a:t>Data </a:t>
            </a:r>
            <a:r>
              <a:rPr lang="en-US" sz="4600" smtClean="0"/>
              <a:t>Management Fundamentals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429289984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90600" y="1371600"/>
            <a:ext cx="4495800" cy="4495800"/>
          </a:xfrm>
        </p:spPr>
        <p:txBody>
          <a:bodyPr>
            <a:normAutofit fontScale="92500" lnSpcReduction="10000"/>
          </a:bodyPr>
          <a:lstStyle/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US" dirty="0"/>
              <a:t>Principles of Data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US" dirty="0" smtClean="0"/>
              <a:t>Data </a:t>
            </a:r>
            <a:r>
              <a:rPr lang="en-US" dirty="0"/>
              <a:t>Management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US" dirty="0" smtClean="0"/>
              <a:t>Data </a:t>
            </a:r>
            <a:r>
              <a:rPr lang="en-US" dirty="0"/>
              <a:t>Platform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US" dirty="0" smtClean="0"/>
              <a:t>DM </a:t>
            </a:r>
            <a:r>
              <a:rPr lang="en-US" dirty="0"/>
              <a:t>Components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US" dirty="0" smtClean="0"/>
              <a:t>Phase </a:t>
            </a:r>
            <a:r>
              <a:rPr lang="en-US" dirty="0"/>
              <a:t>of data life cycle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US" dirty="0" smtClean="0"/>
              <a:t>DM </a:t>
            </a:r>
            <a:r>
              <a:rPr lang="en-US" dirty="0"/>
              <a:t>Roles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US" dirty="0" smtClean="0"/>
              <a:t>Connecting </a:t>
            </a:r>
            <a:r>
              <a:rPr lang="en-US" dirty="0"/>
              <a:t>Dots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34C2-4939-3DB3-5D39-DDDDFAAE4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Principles of Data</a:t>
            </a:r>
          </a:p>
        </p:txBody>
      </p:sp>
    </p:spTree>
    <p:extLst>
      <p:ext uri="{BB962C8B-B14F-4D97-AF65-F5344CB8AC3E}">
        <p14:creationId xmlns:p14="http://schemas.microsoft.com/office/powerpoint/2010/main" val="57868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C45F-13C0-BB12-7E6A-EC07D18B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As Asset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EAB49-4F93-C1C0-3D27-C32069656970}"/>
              </a:ext>
            </a:extLst>
          </p:cNvPr>
          <p:cNvSpPr/>
          <p:nvPr/>
        </p:nvSpPr>
        <p:spPr>
          <a:xfrm>
            <a:off x="2805947" y="924932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616CD-3136-311C-CBA3-7D77F9A9C041}"/>
              </a:ext>
            </a:extLst>
          </p:cNvPr>
          <p:cNvSpPr/>
          <p:nvPr/>
        </p:nvSpPr>
        <p:spPr>
          <a:xfrm>
            <a:off x="4410630" y="924932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89D47-F1AC-563E-B290-EA5614505F0D}"/>
              </a:ext>
            </a:extLst>
          </p:cNvPr>
          <p:cNvSpPr/>
          <p:nvPr/>
        </p:nvSpPr>
        <p:spPr>
          <a:xfrm>
            <a:off x="6078065" y="926377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D93C8-D1C4-48DF-BF8D-C5D9DDEFD17A}"/>
              </a:ext>
            </a:extLst>
          </p:cNvPr>
          <p:cNvSpPr/>
          <p:nvPr/>
        </p:nvSpPr>
        <p:spPr>
          <a:xfrm>
            <a:off x="9681877" y="924933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88D9F0E-BD22-9854-68F8-84FF8C8F08DC}"/>
              </a:ext>
            </a:extLst>
          </p:cNvPr>
          <p:cNvSpPr/>
          <p:nvPr/>
        </p:nvSpPr>
        <p:spPr>
          <a:xfrm>
            <a:off x="3460374" y="1398494"/>
            <a:ext cx="179291" cy="286872"/>
          </a:xfrm>
          <a:prstGeom prst="triangle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090FA8-0585-E588-AF5E-C5151320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61" y="1846729"/>
            <a:ext cx="6486452" cy="43747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FA469E-5F10-E3EB-6B1B-ED3EB7964DBD}"/>
              </a:ext>
            </a:extLst>
          </p:cNvPr>
          <p:cNvSpPr txBox="1"/>
          <p:nvPr/>
        </p:nvSpPr>
        <p:spPr>
          <a:xfrm>
            <a:off x="7028329" y="1460200"/>
            <a:ext cx="509194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What this graph says? Your views?</a:t>
            </a:r>
          </a:p>
          <a:p>
            <a:pPr algn="just"/>
            <a:endParaRPr lang="en-US" b="1" u="sng" dirty="0"/>
          </a:p>
          <a:p>
            <a:pPr algn="just"/>
            <a:r>
              <a:rPr lang="en-US" sz="1600" dirty="0"/>
              <a:t>The graph shows the relationship between data size (on a log scale) and two metrics:</a:t>
            </a:r>
          </a:p>
          <a:p>
            <a:pPr algn="just"/>
            <a:endParaRPr lang="en-US" sz="1600" dirty="0"/>
          </a:p>
          <a:p>
            <a:pPr marL="342900" indent="-342900" algn="just">
              <a:buAutoNum type="arabicPeriod"/>
            </a:pPr>
            <a:r>
              <a:rPr lang="en-US" sz="1600" dirty="0"/>
              <a:t>Model Error Rate </a:t>
            </a:r>
            <a:r>
              <a:rPr lang="en-US" sz="1600" b="1" dirty="0">
                <a:solidFill>
                  <a:schemeClr val="tx2"/>
                </a:solidFill>
              </a:rPr>
              <a:t>(Blue Line)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/>
              <a:t>– it decreases sharply as data size increases, indicating that larger datasets generally improve model accuracy and reduce errors.</a:t>
            </a:r>
          </a:p>
          <a:p>
            <a:pPr marL="342900" indent="-342900" algn="just">
              <a:buAutoNum type="arabicPeriod"/>
            </a:pPr>
            <a:endParaRPr lang="en-US" sz="1600" dirty="0"/>
          </a:p>
          <a:p>
            <a:pPr marL="342900" indent="-342900" algn="just">
              <a:buAutoNum type="arabicPeriod"/>
            </a:pPr>
            <a:r>
              <a:rPr lang="en-US" sz="1600" dirty="0"/>
              <a:t>Likelihood of Data Issues or Problems </a:t>
            </a:r>
            <a:r>
              <a:rPr lang="en-US" sz="1600" b="1" dirty="0">
                <a:solidFill>
                  <a:srgbClr val="C00000"/>
                </a:solidFill>
              </a:rPr>
              <a:t>(Red Line)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/>
              <a:t>– it starts low but rises with very large data sizes, meaning bigger datasets increase the chance of data quality problems (e.g., noise, inconsistencies).</a:t>
            </a:r>
          </a:p>
          <a:p>
            <a:pPr marL="342900" indent="-342900" algn="just">
              <a:buAutoNum type="arabicPeriod"/>
            </a:pPr>
            <a:endParaRPr lang="en-US" sz="1600" dirty="0"/>
          </a:p>
          <a:p>
            <a:pPr marL="342900" indent="-342900" algn="just">
              <a:buAutoNum type="arabicPeriod"/>
            </a:pPr>
            <a:r>
              <a:rPr lang="en-US" sz="1600" dirty="0"/>
              <a:t>In short, the chart illustrates a trade‑off: while more data improves model performance, it also raises the risk of data‑related issues that need management</a:t>
            </a:r>
            <a:endParaRPr lang="en-US" sz="1600" dirty="0">
              <a:solidFill>
                <a:srgbClr val="221F1F"/>
              </a:solidFill>
              <a:latin typeface="NetflixSans"/>
            </a:endParaRPr>
          </a:p>
        </p:txBody>
      </p:sp>
    </p:spTree>
    <p:extLst>
      <p:ext uri="{BB962C8B-B14F-4D97-AF65-F5344CB8AC3E}">
        <p14:creationId xmlns:p14="http://schemas.microsoft.com/office/powerpoint/2010/main" val="165534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C45F-13C0-BB12-7E6A-EC07D18B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As Asset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EAB49-4F93-C1C0-3D27-C32069656970}"/>
              </a:ext>
            </a:extLst>
          </p:cNvPr>
          <p:cNvSpPr/>
          <p:nvPr/>
        </p:nvSpPr>
        <p:spPr>
          <a:xfrm>
            <a:off x="2805947" y="924932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616CD-3136-311C-CBA3-7D77F9A9C041}"/>
              </a:ext>
            </a:extLst>
          </p:cNvPr>
          <p:cNvSpPr/>
          <p:nvPr/>
        </p:nvSpPr>
        <p:spPr>
          <a:xfrm>
            <a:off x="4410630" y="924932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89D47-F1AC-563E-B290-EA5614505F0D}"/>
              </a:ext>
            </a:extLst>
          </p:cNvPr>
          <p:cNvSpPr/>
          <p:nvPr/>
        </p:nvSpPr>
        <p:spPr>
          <a:xfrm>
            <a:off x="6078065" y="926377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D93C8-D1C4-48DF-BF8D-C5D9DDEFD17A}"/>
              </a:ext>
            </a:extLst>
          </p:cNvPr>
          <p:cNvSpPr/>
          <p:nvPr/>
        </p:nvSpPr>
        <p:spPr>
          <a:xfrm>
            <a:off x="9681877" y="924933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88D9F0E-BD22-9854-68F8-84FF8C8F08DC}"/>
              </a:ext>
            </a:extLst>
          </p:cNvPr>
          <p:cNvSpPr/>
          <p:nvPr/>
        </p:nvSpPr>
        <p:spPr>
          <a:xfrm>
            <a:off x="3460374" y="1398494"/>
            <a:ext cx="179291" cy="286872"/>
          </a:xfrm>
          <a:prstGeom prst="triangle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090FA8-0585-E588-AF5E-C5151320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61" y="1846729"/>
            <a:ext cx="6486452" cy="43747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FA469E-5F10-E3EB-6B1B-ED3EB7964DBD}"/>
              </a:ext>
            </a:extLst>
          </p:cNvPr>
          <p:cNvSpPr txBox="1"/>
          <p:nvPr/>
        </p:nvSpPr>
        <p:spPr>
          <a:xfrm>
            <a:off x="7028329" y="1460200"/>
            <a:ext cx="509194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Can </a:t>
            </a:r>
            <a:r>
              <a:rPr lang="en-US" dirty="0"/>
              <a:t>you imagine a ML system without data?</a:t>
            </a:r>
          </a:p>
          <a:p>
            <a:pPr algn="just"/>
            <a:endParaRPr lang="en-US" b="1" u="sng" dirty="0"/>
          </a:p>
          <a:p>
            <a:pPr algn="just"/>
            <a:r>
              <a:rPr lang="en-US" b="1" u="sng" dirty="0"/>
              <a:t>Case Study: Netflix</a:t>
            </a:r>
          </a:p>
          <a:p>
            <a:pPr algn="just"/>
            <a:r>
              <a:rPr lang="en-US" sz="1400" b="1" u="sng" dirty="0">
                <a:solidFill>
                  <a:schemeClr val="accent1"/>
                </a:solidFill>
              </a:rPr>
              <a:t>(https://research.netflix.com/research-area/analytics)</a:t>
            </a:r>
          </a:p>
          <a:p>
            <a:pPr algn="just"/>
            <a:endParaRPr lang="en-US" dirty="0"/>
          </a:p>
          <a:p>
            <a:pPr algn="just"/>
            <a:r>
              <a:rPr lang="en-US" sz="1600" dirty="0" smtClean="0"/>
              <a:t>“</a:t>
            </a:r>
            <a:r>
              <a:rPr lang="en-US" sz="1600" b="0" i="0" dirty="0" smtClean="0">
                <a:solidFill>
                  <a:srgbClr val="221F1F"/>
                </a:solidFill>
                <a:effectLst/>
                <a:latin typeface="NetflixSans"/>
              </a:rPr>
              <a:t>We </a:t>
            </a:r>
            <a:r>
              <a:rPr lang="en-US" sz="1600" b="0" i="0" dirty="0">
                <a:solidFill>
                  <a:srgbClr val="221F1F"/>
                </a:solidFill>
                <a:effectLst/>
                <a:latin typeface="NetflixSans"/>
              </a:rPr>
              <a:t>are able to provide efficient and actionable data-informed perspectives that help Netflix think critically and differently about its business and ultimately improve our service”</a:t>
            </a:r>
          </a:p>
          <a:p>
            <a:pPr algn="just"/>
            <a:endParaRPr lang="en-US" sz="1600" dirty="0">
              <a:solidFill>
                <a:srgbClr val="221F1F"/>
              </a:solidFill>
              <a:latin typeface="NetflixSans"/>
            </a:endParaRPr>
          </a:p>
          <a:p>
            <a:pPr algn="just"/>
            <a:r>
              <a:rPr lang="en-US" sz="1600" dirty="0">
                <a:solidFill>
                  <a:srgbClr val="221F1F"/>
                </a:solidFill>
                <a:latin typeface="NetflixSans"/>
              </a:rPr>
              <a:t>What this implies?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1F1F"/>
                </a:solidFill>
                <a:latin typeface="NetflixSans"/>
              </a:rPr>
              <a:t>Data is an important asset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1F1F"/>
                </a:solidFill>
                <a:latin typeface="NetflixSans"/>
              </a:rPr>
              <a:t>For a successful business model, data is key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1F1F"/>
                </a:solidFill>
                <a:latin typeface="NetflixSans"/>
              </a:rPr>
              <a:t>Transform data to value for successful business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1F1F"/>
              </a:solidFill>
              <a:latin typeface="NetflixSans"/>
            </a:endParaRPr>
          </a:p>
          <a:p>
            <a:pPr algn="just"/>
            <a:r>
              <a:rPr lang="en-US" sz="1600" b="1" dirty="0">
                <a:solidFill>
                  <a:srgbClr val="221F1F"/>
                </a:solidFill>
                <a:latin typeface="NetflixSans"/>
              </a:rPr>
              <a:t>Truthful Pain: </a:t>
            </a:r>
            <a:r>
              <a:rPr lang="en-US" sz="1600" dirty="0">
                <a:solidFill>
                  <a:srgbClr val="221F1F"/>
                </a:solidFill>
                <a:latin typeface="NetflixSans"/>
              </a:rPr>
              <a:t>It is not easy to collect </a:t>
            </a:r>
            <a:r>
              <a:rPr lang="en-US" sz="1600" b="1" dirty="0">
                <a:solidFill>
                  <a:srgbClr val="221F1F"/>
                </a:solidFill>
                <a:latin typeface="NetflixSans"/>
              </a:rPr>
              <a:t>relevant</a:t>
            </a:r>
            <a:r>
              <a:rPr lang="en-US" sz="1600" dirty="0">
                <a:solidFill>
                  <a:srgbClr val="221F1F"/>
                </a:solidFill>
                <a:latin typeface="NetflixSans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75257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76EA9-5ABE-36AB-CB28-59C86826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B8FF-12EE-7575-698F-4FF16A7E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As Liability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7D9AE69-65A8-D042-8F40-EB394181705B}"/>
              </a:ext>
            </a:extLst>
          </p:cNvPr>
          <p:cNvSpPr/>
          <p:nvPr/>
        </p:nvSpPr>
        <p:spPr>
          <a:xfrm>
            <a:off x="5047132" y="1398493"/>
            <a:ext cx="179291" cy="286872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EAC38-EA43-A965-3331-08ACDCECE3B9}"/>
              </a:ext>
            </a:extLst>
          </p:cNvPr>
          <p:cNvSpPr txBox="1"/>
          <p:nvPr/>
        </p:nvSpPr>
        <p:spPr>
          <a:xfrm>
            <a:off x="233864" y="1738063"/>
            <a:ext cx="356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Very Basics of Data Management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E54349C-5169-F57F-E493-D8F74412D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6767848"/>
              </p:ext>
            </p:extLst>
          </p:nvPr>
        </p:nvGraphicFramePr>
        <p:xfrm>
          <a:off x="3992277" y="1717735"/>
          <a:ext cx="8128000" cy="673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9B10E76-6BD2-A6DB-1AC9-481BFEE70ED5}"/>
              </a:ext>
            </a:extLst>
          </p:cNvPr>
          <p:cNvSpPr txBox="1"/>
          <p:nvPr/>
        </p:nvSpPr>
        <p:spPr>
          <a:xfrm>
            <a:off x="228600" y="2238698"/>
            <a:ext cx="1173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One man’s food is other man’s poison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Similarly anything can be an asset or </a:t>
            </a:r>
            <a:r>
              <a:rPr lang="en-US" b="1" dirty="0"/>
              <a:t>liability </a:t>
            </a:r>
            <a:r>
              <a:rPr lang="en-US" dirty="0"/>
              <a:t> basis the circumstances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Holds good for data as well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b="1" dirty="0"/>
              <a:t>How Data can become liability?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Exposure to unexpected </a:t>
            </a:r>
            <a:r>
              <a:rPr lang="en-US" dirty="0" smtClean="0"/>
              <a:t>shades </a:t>
            </a:r>
            <a:r>
              <a:rPr lang="en-US" dirty="0"/>
              <a:t>of collected data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Not considering this can harm us as well as end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b="1" dirty="0"/>
              <a:t>Example: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Medical records – can be an asset or liability if exposed unnecessarily</a:t>
            </a:r>
          </a:p>
          <a:p>
            <a:pPr algn="just"/>
            <a:r>
              <a:rPr lang="en-US" dirty="0"/>
              <a:t>“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In the context of healthcare, the potential legal and ethical risks associated with storing and managing sensitive patient medical records, where a breach or misuse of this data could lead to significant consequences for the healthcare provider, including lawsuits and reputational damage; essentially, the sensitive nature of medical information means that mishandling it can create legal liability for the entity responsible for its storage and access. ”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CC8A64-69E4-D222-A883-5C6C24B22A2C}"/>
              </a:ext>
            </a:extLst>
          </p:cNvPr>
          <p:cNvSpPr/>
          <p:nvPr/>
        </p:nvSpPr>
        <p:spPr>
          <a:xfrm>
            <a:off x="2958347" y="933900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1A9250-6298-E299-CF4B-CC35DB14D55B}"/>
              </a:ext>
            </a:extLst>
          </p:cNvPr>
          <p:cNvSpPr/>
          <p:nvPr/>
        </p:nvSpPr>
        <p:spPr>
          <a:xfrm>
            <a:off x="4563030" y="933900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B7D3F-2D7A-F3AB-BA55-FBF32FE8AE41}"/>
              </a:ext>
            </a:extLst>
          </p:cNvPr>
          <p:cNvSpPr/>
          <p:nvPr/>
        </p:nvSpPr>
        <p:spPr>
          <a:xfrm>
            <a:off x="6230465" y="935345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3862BC-B8D4-7A6E-0C7C-9CFEC696C950}"/>
              </a:ext>
            </a:extLst>
          </p:cNvPr>
          <p:cNvSpPr/>
          <p:nvPr/>
        </p:nvSpPr>
        <p:spPr>
          <a:xfrm>
            <a:off x="9834277" y="933901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318658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4" grpId="0">
        <p:bldAsOne/>
      </p:bldGraphic>
      <p:bldP spid="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4A67A-28B6-F3CE-17FA-8C3D9CB2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071E4D6-4ABB-3579-A3D1-897B05E713C4}"/>
              </a:ext>
            </a:extLst>
          </p:cNvPr>
          <p:cNvSpPr/>
          <p:nvPr/>
        </p:nvSpPr>
        <p:spPr>
          <a:xfrm>
            <a:off x="5047132" y="1398493"/>
            <a:ext cx="179291" cy="286872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C0138-A71D-8CE1-071F-E61A1B520626}"/>
              </a:ext>
            </a:extLst>
          </p:cNvPr>
          <p:cNvSpPr txBox="1"/>
          <p:nvPr/>
        </p:nvSpPr>
        <p:spPr>
          <a:xfrm>
            <a:off x="1721223" y="1854804"/>
            <a:ext cx="2271053" cy="369332"/>
          </a:xfrm>
          <a:prstGeom prst="rect">
            <a:avLst/>
          </a:prstGeom>
          <a:solidFill>
            <a:srgbClr val="FFB7B7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Challenges at Phase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05B9C0E-228B-39FE-5784-F674E6206765}"/>
              </a:ext>
            </a:extLst>
          </p:cNvPr>
          <p:cNvGraphicFramePr/>
          <p:nvPr/>
        </p:nvGraphicFramePr>
        <p:xfrm>
          <a:off x="3992277" y="1717735"/>
          <a:ext cx="8128000" cy="673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9D8E197C-0535-27EB-1CDC-D69C0D693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5" y="2994426"/>
            <a:ext cx="3729310" cy="27250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775950-402B-6DC9-7417-BB02A7820141}"/>
              </a:ext>
            </a:extLst>
          </p:cNvPr>
          <p:cNvSpPr txBox="1"/>
          <p:nvPr/>
        </p:nvSpPr>
        <p:spPr>
          <a:xfrm>
            <a:off x="71726" y="2308017"/>
            <a:ext cx="4062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would have seen this, when applying for loans/credit cards,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F038EF-6189-5B7C-FE15-F305DBF87066}"/>
              </a:ext>
            </a:extLst>
          </p:cNvPr>
          <p:cNvSpPr txBox="1"/>
          <p:nvPr/>
        </p:nvSpPr>
        <p:spPr>
          <a:xfrm>
            <a:off x="29846" y="936828"/>
            <a:ext cx="2508643" cy="92333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The biggest Myth</a:t>
            </a:r>
          </a:p>
          <a:p>
            <a:pPr algn="ctr"/>
            <a:r>
              <a:rPr lang="en-US" dirty="0"/>
              <a:t>More data == better</a:t>
            </a:r>
          </a:p>
          <a:p>
            <a:pPr algn="ctr"/>
            <a:r>
              <a:rPr lang="en-US" dirty="0"/>
              <a:t>This stuff is easy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5F0EF2-372C-3597-4352-680158A98930}"/>
              </a:ext>
            </a:extLst>
          </p:cNvPr>
          <p:cNvSpPr/>
          <p:nvPr/>
        </p:nvSpPr>
        <p:spPr>
          <a:xfrm rot="16200000">
            <a:off x="2440045" y="4236654"/>
            <a:ext cx="4271484" cy="650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Restrictions In Data Collection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88546-A80C-CFF1-3F5E-C86C47D1A5A6}"/>
              </a:ext>
            </a:extLst>
          </p:cNvPr>
          <p:cNvSpPr txBox="1"/>
          <p:nvPr/>
        </p:nvSpPr>
        <p:spPr>
          <a:xfrm>
            <a:off x="71726" y="5759559"/>
            <a:ext cx="4062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A Classic example of collecting PII(Personally Identifiable Information)  - Per law, this needs an explicit consent along with deletion criteria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8DF38E-4FFF-74B0-EF1D-AA1B1F5EF605}"/>
              </a:ext>
            </a:extLst>
          </p:cNvPr>
          <p:cNvSpPr txBox="1"/>
          <p:nvPr/>
        </p:nvSpPr>
        <p:spPr>
          <a:xfrm>
            <a:off x="4995935" y="2424027"/>
            <a:ext cx="712433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Compliances: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Location of organization ( </a:t>
            </a:r>
            <a:r>
              <a:rPr lang="en-US" sz="1600" dirty="0" err="1"/>
              <a:t>Eg</a:t>
            </a:r>
            <a:r>
              <a:rPr lang="en-US" sz="1600" dirty="0"/>
              <a:t>: In employer can store employees’ data in In servers)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Location of data origin(</a:t>
            </a:r>
            <a:r>
              <a:rPr lang="en-US" sz="1600" dirty="0" err="1"/>
              <a:t>Eg</a:t>
            </a:r>
            <a:r>
              <a:rPr lang="en-US" sz="1600" dirty="0"/>
              <a:t>: European Union data cannot exit the region)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Organization policies (</a:t>
            </a:r>
            <a:r>
              <a:rPr lang="en-US" sz="1600" dirty="0" err="1"/>
              <a:t>Eg</a:t>
            </a:r>
            <a:r>
              <a:rPr lang="en-US" sz="1600" dirty="0"/>
              <a:t>: Confidential data of the organization)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000" dirty="0"/>
          </a:p>
          <a:p>
            <a:pPr algn="just"/>
            <a:r>
              <a:rPr lang="en-US" sz="1600" b="1" dirty="0"/>
              <a:t>Restrictions: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Data about people(PII?)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Permission to store data(how?)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Storage(how?)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Retrieval of permission(how?)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Access to the data provider(how?, when? and why?)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000" dirty="0"/>
          </a:p>
          <a:p>
            <a:pPr algn="just"/>
            <a:r>
              <a:rPr lang="en-US" sz="1600" b="1" dirty="0"/>
              <a:t>Sources of restrictions: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Governing laws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Industry practices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Insurance regulations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Corporate governance policies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452073DB-D323-9BE7-CECC-8CBA9039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As Liability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7C2734-FEF0-9E29-7950-F785966F2D9B}"/>
              </a:ext>
            </a:extLst>
          </p:cNvPr>
          <p:cNvSpPr/>
          <p:nvPr/>
        </p:nvSpPr>
        <p:spPr>
          <a:xfrm>
            <a:off x="2886631" y="933900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AB8C6-FF7F-F060-B6B7-0832D4B48E4B}"/>
              </a:ext>
            </a:extLst>
          </p:cNvPr>
          <p:cNvSpPr/>
          <p:nvPr/>
        </p:nvSpPr>
        <p:spPr>
          <a:xfrm>
            <a:off x="4491314" y="933900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318FE-3454-1C9F-E0C9-64DEAAED1515}"/>
              </a:ext>
            </a:extLst>
          </p:cNvPr>
          <p:cNvSpPr/>
          <p:nvPr/>
        </p:nvSpPr>
        <p:spPr>
          <a:xfrm>
            <a:off x="6158749" y="935345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C3031-576A-5D6E-39D4-727FB4A92FC3}"/>
              </a:ext>
            </a:extLst>
          </p:cNvPr>
          <p:cNvSpPr/>
          <p:nvPr/>
        </p:nvSpPr>
        <p:spPr>
          <a:xfrm>
            <a:off x="9762561" y="933901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150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4" grpId="0">
        <p:bldAsOne/>
      </p:bldGraphic>
      <p:bldP spid="15" grpId="0"/>
      <p:bldP spid="16" grpId="0" animBg="1"/>
      <p:bldP spid="17" grpId="0" animBg="1"/>
      <p:bldP spid="18" grpId="0"/>
      <p:bldP spid="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C16D-9D59-B125-8890-E8E6CE58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A5C0-5CD2-E581-0E66-6375CB4B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08" y="231961"/>
            <a:ext cx="8954480" cy="572311"/>
          </a:xfrm>
        </p:spPr>
        <p:txBody>
          <a:bodyPr>
            <a:normAutofit/>
          </a:bodyPr>
          <a:lstStyle/>
          <a:p>
            <a:r>
              <a:rPr lang="en-US" dirty="0"/>
              <a:t>Data As Liability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82AEC3-28D0-8767-FCFF-A2F3B502D5EE}"/>
              </a:ext>
            </a:extLst>
          </p:cNvPr>
          <p:cNvSpPr/>
          <p:nvPr/>
        </p:nvSpPr>
        <p:spPr>
          <a:xfrm>
            <a:off x="5047132" y="1398493"/>
            <a:ext cx="179291" cy="286872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A0906-B224-E671-3925-79D14B668575}"/>
              </a:ext>
            </a:extLst>
          </p:cNvPr>
          <p:cNvSpPr txBox="1"/>
          <p:nvPr/>
        </p:nvSpPr>
        <p:spPr>
          <a:xfrm>
            <a:off x="1721223" y="1854804"/>
            <a:ext cx="2271053" cy="369332"/>
          </a:xfrm>
          <a:prstGeom prst="rect">
            <a:avLst/>
          </a:prstGeom>
          <a:solidFill>
            <a:srgbClr val="FFB7B7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Challenges at Phase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61E8ADE-B333-B643-CC9A-CB05C73EF61E}"/>
              </a:ext>
            </a:extLst>
          </p:cNvPr>
          <p:cNvGraphicFramePr/>
          <p:nvPr/>
        </p:nvGraphicFramePr>
        <p:xfrm>
          <a:off x="3992277" y="1717735"/>
          <a:ext cx="8128000" cy="673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6EF13D1-B650-0394-F0D6-242E1C6956B9}"/>
              </a:ext>
            </a:extLst>
          </p:cNvPr>
          <p:cNvSpPr txBox="1"/>
          <p:nvPr/>
        </p:nvSpPr>
        <p:spPr>
          <a:xfrm>
            <a:off x="29846" y="936828"/>
            <a:ext cx="2508643" cy="92333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The biggest Myth</a:t>
            </a:r>
          </a:p>
          <a:p>
            <a:pPr algn="ctr"/>
            <a:r>
              <a:rPr lang="en-US" dirty="0"/>
              <a:t>More data == better</a:t>
            </a:r>
          </a:p>
          <a:p>
            <a:pPr algn="ctr"/>
            <a:r>
              <a:rPr lang="en-US" dirty="0"/>
              <a:t>This stuff is easy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3CBF29-325A-6C4A-CC3D-C0DF20927427}"/>
              </a:ext>
            </a:extLst>
          </p:cNvPr>
          <p:cNvSpPr/>
          <p:nvPr/>
        </p:nvSpPr>
        <p:spPr>
          <a:xfrm>
            <a:off x="98611" y="2450823"/>
            <a:ext cx="3325907" cy="417521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/>
              <a:t>Approach 1 : Access Restriction</a:t>
            </a:r>
          </a:p>
          <a:p>
            <a:pPr algn="just"/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Access restrictions(external and internal</a:t>
            </a:r>
            <a:r>
              <a:rPr lang="en-US" dirty="0" smtClean="0"/>
              <a:t>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Restrict even employees accessing or modifying the private user data. If needed then,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Impose granular </a:t>
            </a:r>
            <a:r>
              <a:rPr lang="en-US" dirty="0" smtClean="0"/>
              <a:t>restrictions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Enable detailed logging to trace 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A53BE9-8E72-6E0E-CB17-185C876B32D4}"/>
              </a:ext>
            </a:extLst>
          </p:cNvPr>
          <p:cNvSpPr/>
          <p:nvPr/>
        </p:nvSpPr>
        <p:spPr>
          <a:xfrm>
            <a:off x="3639664" y="2459640"/>
            <a:ext cx="4999317" cy="417521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/>
              <a:t>Approach 2 : Anonymization of Data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To reduce the data access and auditing surface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i="1" u="sng" dirty="0"/>
              <a:t>Pseudonymization</a:t>
            </a:r>
          </a:p>
          <a:p>
            <a:pPr algn="just"/>
            <a:r>
              <a:rPr lang="en-US" dirty="0" err="1" smtClean="0"/>
              <a:t>Eg</a:t>
            </a:r>
            <a:r>
              <a:rPr lang="en-US" dirty="0"/>
              <a:t>: Postcode. For weather predictions, a diff post </a:t>
            </a:r>
            <a:r>
              <a:rPr lang="en-US" dirty="0" smtClean="0"/>
              <a:t>  code </a:t>
            </a:r>
            <a:r>
              <a:rPr lang="en-US" dirty="0"/>
              <a:t>from the same locality can be given.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Replace private identifiers with others in a reversible fashion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Reversing needs access to additional data or systems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Protects data from casual inspection by engineers along the pipeline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Preserves the properties of data that are relevant to the model(</a:t>
            </a:r>
            <a:r>
              <a:rPr lang="en-US" dirty="0" err="1"/>
              <a:t>Eg</a:t>
            </a:r>
            <a:r>
              <a:rPr lang="en-US" dirty="0"/>
              <a:t>: Postcode from same locality)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CE07F8-5610-6624-3140-27D3A58D55DA}"/>
              </a:ext>
            </a:extLst>
          </p:cNvPr>
          <p:cNvSpPr/>
          <p:nvPr/>
        </p:nvSpPr>
        <p:spPr>
          <a:xfrm>
            <a:off x="8751029" y="2459640"/>
            <a:ext cx="3325907" cy="417521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Approach 3 (Recommended) : Connection Removal</a:t>
            </a:r>
          </a:p>
          <a:p>
            <a:pPr algn="ctr"/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Remove connection between private data(PII) and model </a:t>
            </a:r>
            <a:r>
              <a:rPr lang="en-US" dirty="0" smtClean="0"/>
              <a:t>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Reduces the </a:t>
            </a:r>
            <a:r>
              <a:rPr lang="en-US" dirty="0" smtClean="0"/>
              <a:t>risk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Harder than it </a:t>
            </a:r>
            <a:r>
              <a:rPr lang="en-US" dirty="0" smtClean="0"/>
              <a:t>seems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Not trivially reversible but still valuable can be difficult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A0580E-3261-67ED-8C9C-D59C28EFEB4D}"/>
              </a:ext>
            </a:extLst>
          </p:cNvPr>
          <p:cNvSpPr/>
          <p:nvPr/>
        </p:nvSpPr>
        <p:spPr>
          <a:xfrm>
            <a:off x="2886631" y="933900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23DB20-3916-40CA-9738-23D5A39D5C1A}"/>
              </a:ext>
            </a:extLst>
          </p:cNvPr>
          <p:cNvSpPr/>
          <p:nvPr/>
        </p:nvSpPr>
        <p:spPr>
          <a:xfrm>
            <a:off x="4491314" y="933900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61DDA-A7F1-FCD2-4092-071826083537}"/>
              </a:ext>
            </a:extLst>
          </p:cNvPr>
          <p:cNvSpPr/>
          <p:nvPr/>
        </p:nvSpPr>
        <p:spPr>
          <a:xfrm>
            <a:off x="6158749" y="935345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4BF48-1F4B-1EAE-320F-FE1E671E0C40}"/>
              </a:ext>
            </a:extLst>
          </p:cNvPr>
          <p:cNvSpPr/>
          <p:nvPr/>
        </p:nvSpPr>
        <p:spPr>
          <a:xfrm>
            <a:off x="9762561" y="933901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292812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4" grpId="0">
        <p:bldAsOne/>
      </p:bldGraphic>
      <p:bldP spid="12" grpId="0" build="p" animBg="1"/>
      <p:bldP spid="13" grpId="0" build="p" animBg="1"/>
      <p:bldP spid="20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9190-EAB6-0D73-E71A-A93BB94C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9FE8-7B00-120E-4B1B-1A932FA2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4068"/>
            <a:ext cx="8954480" cy="572311"/>
          </a:xfrm>
        </p:spPr>
        <p:txBody>
          <a:bodyPr>
            <a:normAutofit/>
          </a:bodyPr>
          <a:lstStyle/>
          <a:p>
            <a:r>
              <a:rPr lang="en-US" dirty="0"/>
              <a:t>Data As Liability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D7A0B727-8B59-A56D-FE4E-2B0B45A60E31}"/>
              </a:ext>
            </a:extLst>
          </p:cNvPr>
          <p:cNvSpPr/>
          <p:nvPr/>
        </p:nvSpPr>
        <p:spPr>
          <a:xfrm>
            <a:off x="5047132" y="1398493"/>
            <a:ext cx="179291" cy="286872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8C76B-566D-54D8-99F5-2E0C2C89337E}"/>
              </a:ext>
            </a:extLst>
          </p:cNvPr>
          <p:cNvSpPr txBox="1"/>
          <p:nvPr/>
        </p:nvSpPr>
        <p:spPr>
          <a:xfrm>
            <a:off x="1721223" y="1854804"/>
            <a:ext cx="2271053" cy="369332"/>
          </a:xfrm>
          <a:prstGeom prst="rect">
            <a:avLst/>
          </a:prstGeom>
          <a:solidFill>
            <a:srgbClr val="FFB7B7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Challenges at Phase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B7117D-FBF0-6467-5236-E7851154E3EA}"/>
              </a:ext>
            </a:extLst>
          </p:cNvPr>
          <p:cNvGraphicFramePr/>
          <p:nvPr/>
        </p:nvGraphicFramePr>
        <p:xfrm>
          <a:off x="3992277" y="1717735"/>
          <a:ext cx="8128000" cy="673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5685DAC-7C62-503F-DC5D-F00DCEDABA4F}"/>
              </a:ext>
            </a:extLst>
          </p:cNvPr>
          <p:cNvSpPr txBox="1"/>
          <p:nvPr/>
        </p:nvSpPr>
        <p:spPr>
          <a:xfrm>
            <a:off x="29846" y="936828"/>
            <a:ext cx="2508643" cy="92333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The biggest Myth</a:t>
            </a:r>
          </a:p>
          <a:p>
            <a:pPr algn="ctr"/>
            <a:r>
              <a:rPr lang="en-US" dirty="0"/>
              <a:t>More data == better</a:t>
            </a:r>
          </a:p>
          <a:p>
            <a:pPr algn="ctr"/>
            <a:r>
              <a:rPr lang="en-US" dirty="0"/>
              <a:t>This stuff is easy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58499-47FE-1FAF-17D3-3FC04D4C716E}"/>
              </a:ext>
            </a:extLst>
          </p:cNvPr>
          <p:cNvSpPr txBox="1"/>
          <p:nvPr/>
        </p:nvSpPr>
        <p:spPr>
          <a:xfrm>
            <a:off x="5862913" y="2686588"/>
            <a:ext cx="6113934" cy="369331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Harder than we speak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When you say </a:t>
            </a:r>
            <a:r>
              <a:rPr lang="en-US" dirty="0" err="1"/>
              <a:t>Shift+Del</a:t>
            </a:r>
            <a:r>
              <a:rPr lang="en-US" dirty="0"/>
              <a:t> – what happens the actual data 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How the recovery </a:t>
            </a:r>
            <a:r>
              <a:rPr lang="en-US" dirty="0" smtClean="0"/>
              <a:t>software's </a:t>
            </a:r>
            <a:r>
              <a:rPr lang="en-US" dirty="0"/>
              <a:t>can restore the data in any device?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err="1"/>
              <a:t>Eg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Consider a system where data is written on to tape drive for archival purpose. Now deleting data in primary system is possible, but how will you delete data from tapes?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94D7F-DC16-453B-4D8D-FE49E29E8113}"/>
              </a:ext>
            </a:extLst>
          </p:cNvPr>
          <p:cNvSpPr txBox="1"/>
          <p:nvPr/>
        </p:nvSpPr>
        <p:spPr>
          <a:xfrm>
            <a:off x="0" y="2528726"/>
            <a:ext cx="5378824" cy="424731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When will you delete data?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When the user mentions a specific time period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When the org no longer need that data</a:t>
            </a:r>
          </a:p>
          <a:p>
            <a:pPr lvl="1" algn="just"/>
            <a:r>
              <a:rPr lang="en-US" dirty="0" err="1"/>
              <a:t>Eg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Have you noticed companies’ job portals which says that your data/profile details will be retained for 6 months only?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After that you have to recreate your profile in the companies’ job portal.</a:t>
            </a:r>
          </a:p>
          <a:p>
            <a:pPr lvl="1" algn="just"/>
            <a:endParaRPr lang="en-US" dirty="0"/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 When the governing policies sets a cut off(</a:t>
            </a:r>
            <a:r>
              <a:rPr lang="en-US" dirty="0" err="1"/>
              <a:t>Eg</a:t>
            </a:r>
            <a:r>
              <a:rPr lang="en-US" dirty="0"/>
              <a:t>: GDPR)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endParaRPr lang="en-US" dirty="0"/>
          </a:p>
          <a:p>
            <a:pPr lvl="1" algn="just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9F0A77-B335-339E-79A2-81C89F3668B7}"/>
              </a:ext>
            </a:extLst>
          </p:cNvPr>
          <p:cNvSpPr/>
          <p:nvPr/>
        </p:nvSpPr>
        <p:spPr>
          <a:xfrm>
            <a:off x="2886631" y="933900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4BBFF7-68A7-2610-ED0E-CAE8736C72AE}"/>
              </a:ext>
            </a:extLst>
          </p:cNvPr>
          <p:cNvSpPr/>
          <p:nvPr/>
        </p:nvSpPr>
        <p:spPr>
          <a:xfrm>
            <a:off x="4491314" y="933900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81E8F9-8C36-387E-1F6E-5A78EF6ABA60}"/>
              </a:ext>
            </a:extLst>
          </p:cNvPr>
          <p:cNvSpPr/>
          <p:nvPr/>
        </p:nvSpPr>
        <p:spPr>
          <a:xfrm>
            <a:off x="6158749" y="935345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11CECF-E3E4-A529-5EE8-92897BC0417C}"/>
              </a:ext>
            </a:extLst>
          </p:cNvPr>
          <p:cNvSpPr/>
          <p:nvPr/>
        </p:nvSpPr>
        <p:spPr>
          <a:xfrm>
            <a:off x="9762561" y="933901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86562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4" grpId="0">
        <p:bldAsOne/>
      </p:bldGraphic>
      <p:bldP spid="10" grpId="0" build="p" animBg="1"/>
      <p:bldP spid="11" grpId="0" build="p" bldLvl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8436-8437-9DCD-8DC9-2ED58753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9264-C042-344C-6B23-6909C57D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latin typeface="Helvetica" panose="020B0604020202030204"/>
                <a:cs typeface="Helvetica" panose="020B0604020202030204"/>
              </a:rPr>
              <a:t>Data Sensitivity of ML Pipelines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EFC861A-EEC2-EE91-79CE-3F14FD9CC4A2}"/>
              </a:ext>
            </a:extLst>
          </p:cNvPr>
          <p:cNvSpPr/>
          <p:nvPr/>
        </p:nvSpPr>
        <p:spPr>
          <a:xfrm>
            <a:off x="7790321" y="1470212"/>
            <a:ext cx="179291" cy="286872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54787-22E3-3684-8611-7B6C0ECE3281}"/>
              </a:ext>
            </a:extLst>
          </p:cNvPr>
          <p:cNvSpPr/>
          <p:nvPr/>
        </p:nvSpPr>
        <p:spPr>
          <a:xfrm>
            <a:off x="1" y="1828801"/>
            <a:ext cx="4473381" cy="4868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Scenario: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ecommerce company wants to predict the new year eve sales,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ie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sales on Dec 31st, from all the countries, region or language. 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They also want to study some trend based on the language.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Now due to some technical or human error, they lost data from a particular country or region or language. 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data pipeline was still executing normally while ML pipeline was behaving so differently.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 you reason out why?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16391-441C-116F-1E43-26B2D3DA6E26}"/>
              </a:ext>
            </a:extLst>
          </p:cNvPr>
          <p:cNvSpPr/>
          <p:nvPr/>
        </p:nvSpPr>
        <p:spPr>
          <a:xfrm>
            <a:off x="4554066" y="1828801"/>
            <a:ext cx="7561734" cy="494034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Data pipeline is not predicting anything, so it can work as usual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But ML pipeline includes the model as </a:t>
            </a:r>
            <a:r>
              <a:rPr lang="en-US" dirty="0" smtClean="0"/>
              <a:t>well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So if the right data is not supplied then ML pipelines behave abnormally bringing down the performance as well as the accuracy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Now in the scenario, any of the omission can result in incorrect prediction and impact the sales and reputation of the ecommerce company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Normal data pipelines are sensitive to 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Volume of input data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Correctness of input data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ML Pipelines are sensitive to 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Changes to distribution of data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Volume of input data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/>
              <a:t>Correctness of input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30E5E2-E681-6A41-F1A9-8BB335BBDF2C}"/>
              </a:ext>
            </a:extLst>
          </p:cNvPr>
          <p:cNvSpPr/>
          <p:nvPr/>
        </p:nvSpPr>
        <p:spPr>
          <a:xfrm>
            <a:off x="2886631" y="933900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92A88-1697-C418-ACB9-46EA6BCEADEA}"/>
              </a:ext>
            </a:extLst>
          </p:cNvPr>
          <p:cNvSpPr/>
          <p:nvPr/>
        </p:nvSpPr>
        <p:spPr>
          <a:xfrm>
            <a:off x="4491314" y="933900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DCE0A8-F5C7-BA05-ACAF-B33DCC2608A0}"/>
              </a:ext>
            </a:extLst>
          </p:cNvPr>
          <p:cNvSpPr/>
          <p:nvPr/>
        </p:nvSpPr>
        <p:spPr>
          <a:xfrm>
            <a:off x="6158749" y="935345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1133F3-3F17-8780-82A1-E37BDF3CFAA7}"/>
              </a:ext>
            </a:extLst>
          </p:cNvPr>
          <p:cNvSpPr/>
          <p:nvPr/>
        </p:nvSpPr>
        <p:spPr>
          <a:xfrm>
            <a:off x="9762561" y="933901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49179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4772-A6A6-5FDB-03AC-A191CFAC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59506-D807-9C3F-CE14-B96B2DD0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48" y="228599"/>
            <a:ext cx="3352800" cy="670479"/>
          </a:xfrm>
        </p:spPr>
        <p:txBody>
          <a:bodyPr/>
          <a:lstStyle/>
          <a:p>
            <a:r>
              <a:rPr lang="en-US" dirty="0"/>
              <a:t>Data Reliability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BCB7FD3-A8B8-CACD-A332-B7CA318BF28A}"/>
              </a:ext>
            </a:extLst>
          </p:cNvPr>
          <p:cNvSpPr/>
          <p:nvPr/>
        </p:nvSpPr>
        <p:spPr>
          <a:xfrm>
            <a:off x="10721786" y="1470211"/>
            <a:ext cx="179291" cy="286872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D216A4-3319-E30F-3311-272D9CD95B07}"/>
              </a:ext>
            </a:extLst>
          </p:cNvPr>
          <p:cNvSpPr/>
          <p:nvPr/>
        </p:nvSpPr>
        <p:spPr>
          <a:xfrm>
            <a:off x="233082" y="1828801"/>
            <a:ext cx="11743765" cy="4721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In the growing distributed environment, what are the minimum characteristics expected from data?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E6036-A676-040B-8C40-788672C58B2B}"/>
              </a:ext>
            </a:extLst>
          </p:cNvPr>
          <p:cNvSpPr/>
          <p:nvPr/>
        </p:nvSpPr>
        <p:spPr>
          <a:xfrm>
            <a:off x="39599" y="2453392"/>
            <a:ext cx="6078065" cy="472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After some time, what will happen if the needed data is lost?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1F0231-56E7-9149-7CCA-B4A7F8C5ABD9}"/>
              </a:ext>
            </a:extLst>
          </p:cNvPr>
          <p:cNvSpPr/>
          <p:nvPr/>
        </p:nvSpPr>
        <p:spPr>
          <a:xfrm>
            <a:off x="26899" y="3293131"/>
            <a:ext cx="6078065" cy="472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Are we not supposed to get same data from all its copies?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98027-5BA7-014D-0CD1-E331E5DF6D40}"/>
              </a:ext>
            </a:extLst>
          </p:cNvPr>
          <p:cNvSpPr/>
          <p:nvPr/>
        </p:nvSpPr>
        <p:spPr>
          <a:xfrm>
            <a:off x="26899" y="4149402"/>
            <a:ext cx="6078065" cy="472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 a team, where the data changes frequently, don’t we want to time travel?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6D0FE4-ACCD-84BF-7A3D-D38F184FF206}"/>
              </a:ext>
            </a:extLst>
          </p:cNvPr>
          <p:cNvSpPr/>
          <p:nvPr/>
        </p:nvSpPr>
        <p:spPr>
          <a:xfrm>
            <a:off x="17935" y="4939761"/>
            <a:ext cx="6078065" cy="472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fast the data should be available to get accurate answers?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D79DAB-C006-5B7E-C76D-EAE7869B6889}"/>
              </a:ext>
            </a:extLst>
          </p:cNvPr>
          <p:cNvSpPr/>
          <p:nvPr/>
        </p:nvSpPr>
        <p:spPr>
          <a:xfrm>
            <a:off x="17934" y="5796032"/>
            <a:ext cx="6078065" cy="472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 and when we need is the data available?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F4F6A0-1147-9E63-35A1-A28A14AE8173}"/>
              </a:ext>
            </a:extLst>
          </p:cNvPr>
          <p:cNvSpPr/>
          <p:nvPr/>
        </p:nvSpPr>
        <p:spPr>
          <a:xfrm rot="16200000">
            <a:off x="4699211" y="4105876"/>
            <a:ext cx="4026969" cy="4721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Leads to the character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1DD2C0-E302-36DF-79F6-B89926C1B3EE}"/>
              </a:ext>
            </a:extLst>
          </p:cNvPr>
          <p:cNvSpPr/>
          <p:nvPr/>
        </p:nvSpPr>
        <p:spPr>
          <a:xfrm>
            <a:off x="7422776" y="2453392"/>
            <a:ext cx="4554071" cy="47211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Durability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09440C-3C74-E0D9-D562-33F97DD5CCE3}"/>
              </a:ext>
            </a:extLst>
          </p:cNvPr>
          <p:cNvSpPr/>
          <p:nvPr/>
        </p:nvSpPr>
        <p:spPr>
          <a:xfrm>
            <a:off x="7440703" y="3266137"/>
            <a:ext cx="4554071" cy="47211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Consistency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7F6BAE-626D-A2FF-2280-44A7CC983610}"/>
              </a:ext>
            </a:extLst>
          </p:cNvPr>
          <p:cNvSpPr/>
          <p:nvPr/>
        </p:nvSpPr>
        <p:spPr>
          <a:xfrm>
            <a:off x="7458630" y="4078882"/>
            <a:ext cx="4554071" cy="47211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Version 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33DEC2-5770-654C-89C6-6DE339366B41}"/>
              </a:ext>
            </a:extLst>
          </p:cNvPr>
          <p:cNvSpPr/>
          <p:nvPr/>
        </p:nvSpPr>
        <p:spPr>
          <a:xfrm>
            <a:off x="7476560" y="4863276"/>
            <a:ext cx="4554071" cy="47211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Performance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E284F-D311-BDAC-12C5-5F82726DF3D2}"/>
              </a:ext>
            </a:extLst>
          </p:cNvPr>
          <p:cNvSpPr/>
          <p:nvPr/>
        </p:nvSpPr>
        <p:spPr>
          <a:xfrm>
            <a:off x="7458628" y="5647671"/>
            <a:ext cx="4554071" cy="47211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Availability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4076F7-0218-EE8A-9E0B-F5174714C996}"/>
              </a:ext>
            </a:extLst>
          </p:cNvPr>
          <p:cNvSpPr/>
          <p:nvPr/>
        </p:nvSpPr>
        <p:spPr>
          <a:xfrm>
            <a:off x="3881715" y="6338220"/>
            <a:ext cx="8157880" cy="47211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 Work: Find out why integrity is not there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9CAC738-9854-C09E-5718-D5C72E263FE7}"/>
              </a:ext>
            </a:extLst>
          </p:cNvPr>
          <p:cNvCxnSpPr>
            <a:stCxn id="10" idx="3"/>
            <a:endCxn id="17" idx="1"/>
          </p:cNvCxnSpPr>
          <p:nvPr/>
        </p:nvCxnSpPr>
        <p:spPr>
          <a:xfrm>
            <a:off x="6117664" y="2689451"/>
            <a:ext cx="130511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7253DD-300A-D6FD-E0FB-A691A5489583}"/>
              </a:ext>
            </a:extLst>
          </p:cNvPr>
          <p:cNvCxnSpPr/>
          <p:nvPr/>
        </p:nvCxnSpPr>
        <p:spPr>
          <a:xfrm>
            <a:off x="6078065" y="3455933"/>
            <a:ext cx="130511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E85D7F-4352-C3AB-DFC6-98969E5FAD90}"/>
              </a:ext>
            </a:extLst>
          </p:cNvPr>
          <p:cNvCxnSpPr/>
          <p:nvPr/>
        </p:nvCxnSpPr>
        <p:spPr>
          <a:xfrm>
            <a:off x="6171448" y="4343439"/>
            <a:ext cx="130511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2F548F-AB60-A029-3FA5-05F96A697AAD}"/>
              </a:ext>
            </a:extLst>
          </p:cNvPr>
          <p:cNvCxnSpPr/>
          <p:nvPr/>
        </p:nvCxnSpPr>
        <p:spPr>
          <a:xfrm>
            <a:off x="6153516" y="5186121"/>
            <a:ext cx="130511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1156EC-90FB-77B2-851F-79E55404AA1B}"/>
              </a:ext>
            </a:extLst>
          </p:cNvPr>
          <p:cNvCxnSpPr/>
          <p:nvPr/>
        </p:nvCxnSpPr>
        <p:spPr>
          <a:xfrm>
            <a:off x="6171448" y="5992945"/>
            <a:ext cx="130511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3BA2A75-506A-E7E7-717C-C766B225D84A}"/>
              </a:ext>
            </a:extLst>
          </p:cNvPr>
          <p:cNvSpPr/>
          <p:nvPr/>
        </p:nvSpPr>
        <p:spPr>
          <a:xfrm>
            <a:off x="2886631" y="933900"/>
            <a:ext cx="1667435" cy="473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Asset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B1C780-9625-58AA-4DD5-59B5BE903E4A}"/>
              </a:ext>
            </a:extLst>
          </p:cNvPr>
          <p:cNvSpPr/>
          <p:nvPr/>
        </p:nvSpPr>
        <p:spPr>
          <a:xfrm>
            <a:off x="4491314" y="933900"/>
            <a:ext cx="1667435" cy="473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as Liability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42D6CF-FA06-F174-1B9B-1317FD5778F0}"/>
              </a:ext>
            </a:extLst>
          </p:cNvPr>
          <p:cNvSpPr/>
          <p:nvPr/>
        </p:nvSpPr>
        <p:spPr>
          <a:xfrm>
            <a:off x="6158749" y="935345"/>
            <a:ext cx="3603812" cy="4721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Data Sensitivity of ML Pipelines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451931-E0B4-9072-4E56-871BA318D8B0}"/>
              </a:ext>
            </a:extLst>
          </p:cNvPr>
          <p:cNvSpPr/>
          <p:nvPr/>
        </p:nvSpPr>
        <p:spPr>
          <a:xfrm>
            <a:off x="9762561" y="933901"/>
            <a:ext cx="2438400" cy="473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93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ADED-0762-64D3-1D64-4A4B68B7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01DB-788D-64A9-26B5-948D727B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3785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73C7-6493-1ABE-8DBD-15AE71C0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smtClean="0"/>
              <a:t>Study </a:t>
            </a:r>
            <a:r>
              <a:rPr lang="en-US" dirty="0"/>
              <a:t>by IBM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9B677-0B0F-F681-5D91-705A4ED3B669}"/>
              </a:ext>
            </a:extLst>
          </p:cNvPr>
          <p:cNvSpPr txBox="1"/>
          <p:nvPr/>
        </p:nvSpPr>
        <p:spPr>
          <a:xfrm>
            <a:off x="5378824" y="1066799"/>
            <a:ext cx="6607828" cy="3000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72% of top-performing CEOs agree that competitive advantage depends on who has the 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most advanced generative AI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this conveys to us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 order to take advantage of artificial intelligence (AI), organizations must first organize their information architecture to make their data accessible and usable.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6CC39E-A9C4-3903-83AD-F6E09FF23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9" y="2732667"/>
            <a:ext cx="5342965" cy="3954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6CD2BF-C9CB-7148-5EC4-36E2325F1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71" y="1066799"/>
            <a:ext cx="5007629" cy="16658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A29E09-4182-8A8C-0C77-6CB38BFE8153}"/>
              </a:ext>
            </a:extLst>
          </p:cNvPr>
          <p:cNvSpPr txBox="1"/>
          <p:nvPr/>
        </p:nvSpPr>
        <p:spPr>
          <a:xfrm>
            <a:off x="5432612" y="4506698"/>
            <a:ext cx="6607828" cy="21185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Challenges for effective DM?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Volume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silos across multiple locations &amp; cloud environments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types and data formats(documents, images, videos)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Datasets – complex and inconsistent ones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BAE7B-817F-7778-7466-4F81B4CEE890}"/>
              </a:ext>
            </a:extLst>
          </p:cNvPr>
          <p:cNvSpPr txBox="1"/>
          <p:nvPr/>
        </p:nvSpPr>
        <p:spPr>
          <a:xfrm>
            <a:off x="1752600" y="2257328"/>
            <a:ext cx="303551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Top priorities of CEOs</a:t>
            </a:r>
          </a:p>
        </p:txBody>
      </p:sp>
    </p:spTree>
    <p:extLst>
      <p:ext uri="{BB962C8B-B14F-4D97-AF65-F5344CB8AC3E}">
        <p14:creationId xmlns:p14="http://schemas.microsoft.com/office/powerpoint/2010/main" val="335107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12" grpId="0" build="p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D7F9-BC6D-8B84-3E1E-982BDA9F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Data Management?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2818B-7663-8057-4BF2-9BC171D1F8A0}"/>
              </a:ext>
            </a:extLst>
          </p:cNvPr>
          <p:cNvSpPr txBox="1"/>
          <p:nvPr/>
        </p:nvSpPr>
        <p:spPr>
          <a:xfrm>
            <a:off x="421341" y="1101167"/>
            <a:ext cx="11201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As we already discussed, Data management is the practice of collecting, processing and using data securely and efficiently for better business outcomes.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 strong data management strategy typically implements the following components to streamline their strategy and operations throughout an organization: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00050" indent="-400050" algn="just" fontAlgn="base">
              <a:lnSpc>
                <a:spcPct val="150000"/>
              </a:lnSpc>
              <a:buFont typeface="+mj-lt"/>
              <a:buAutoNum type="romanU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integration and processing</a:t>
            </a:r>
          </a:p>
          <a:p>
            <a:pPr marL="400050" indent="-40005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Storage</a:t>
            </a:r>
          </a:p>
          <a:p>
            <a:pPr marL="400050" indent="-40005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governance</a:t>
            </a:r>
          </a:p>
          <a:p>
            <a:pPr marL="400050" indent="-400050" algn="just" fontAlgn="base">
              <a:lnSpc>
                <a:spcPct val="150000"/>
              </a:lnSpc>
              <a:buFont typeface="+mj-lt"/>
              <a:buAutoNum type="romanU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security</a:t>
            </a:r>
          </a:p>
        </p:txBody>
      </p:sp>
    </p:spTree>
    <p:extLst>
      <p:ext uri="{BB962C8B-B14F-4D97-AF65-F5344CB8AC3E}">
        <p14:creationId xmlns:p14="http://schemas.microsoft.com/office/powerpoint/2010/main" val="96715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3FF2E-0779-7124-74D8-A38E719B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66" y="189209"/>
            <a:ext cx="6934200" cy="764364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 . Data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Integration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Processing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2C8FD-2CCA-FB0E-B5C4-00AB10442C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295" y="924933"/>
            <a:ext cx="4724400" cy="319513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Step 1  of data management life-cycle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Raw data ingestion from sources like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Web APIs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Mobile Apps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IOT devices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Forms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Surveys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Once ingested, what next to be done?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Can we use the data as such?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6D186D-B92E-F91A-7E24-74840249E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519319"/>
            <a:ext cx="6477000" cy="24003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26E757-8CD2-84F5-298A-AF9B1B9F84EF}"/>
              </a:ext>
            </a:extLst>
          </p:cNvPr>
          <p:cNvSpPr txBox="1"/>
          <p:nvPr/>
        </p:nvSpPr>
        <p:spPr>
          <a:xfrm>
            <a:off x="4953000" y="995866"/>
            <a:ext cx="6477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What is this?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0FEA19-4F2D-E946-469D-95CB75D92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71" y="4186318"/>
            <a:ext cx="6858000" cy="2497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4859749-64BD-D2CF-C35D-F6FF4CF4D886}"/>
              </a:ext>
            </a:extLst>
          </p:cNvPr>
          <p:cNvSpPr/>
          <p:nvPr/>
        </p:nvSpPr>
        <p:spPr>
          <a:xfrm>
            <a:off x="7391400" y="4186318"/>
            <a:ext cx="4572000" cy="2400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Historically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been the standard method to integrate and organize data across different datasets</a:t>
            </a:r>
          </a:p>
        </p:txBody>
      </p:sp>
    </p:spTree>
    <p:extLst>
      <p:ext uri="{BB962C8B-B14F-4D97-AF65-F5344CB8AC3E}">
        <p14:creationId xmlns:p14="http://schemas.microsoft.com/office/powerpoint/2010/main" val="325745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7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572B-DA8F-0C3E-7409-33F33CA95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4A7A-080C-5587-FD10-AC3FFC7E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11" y="141783"/>
            <a:ext cx="8458200" cy="764364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I. Data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Integration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Processing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contd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6078F-D91C-2134-AE10-A00573F84E24}"/>
              </a:ext>
            </a:extLst>
          </p:cNvPr>
          <p:cNvSpPr txBox="1"/>
          <p:nvPr/>
        </p:nvSpPr>
        <p:spPr>
          <a:xfrm>
            <a:off x="304800" y="1219200"/>
            <a:ext cx="10756296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Now what is the problem with ETL?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With growing trends in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6A93CD-6E30-03F4-CB21-BB0F4FCEE8FB}"/>
              </a:ext>
            </a:extLst>
          </p:cNvPr>
          <p:cNvSpPr/>
          <p:nvPr/>
        </p:nvSpPr>
        <p:spPr>
          <a:xfrm>
            <a:off x="152399" y="2121216"/>
            <a:ext cx="8257499" cy="7324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Are our data always structured? YES / 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03803B-D1EC-5641-8594-143BA11C7582}"/>
              </a:ext>
            </a:extLst>
          </p:cNvPr>
          <p:cNvSpPr/>
          <p:nvPr/>
        </p:nvSpPr>
        <p:spPr>
          <a:xfrm>
            <a:off x="8868597" y="2070855"/>
            <a:ext cx="2734723" cy="732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NO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9F3C8C-C679-14DE-AEEC-CCD2DF9E3AF4}"/>
              </a:ext>
            </a:extLst>
          </p:cNvPr>
          <p:cNvSpPr/>
          <p:nvPr/>
        </p:nvSpPr>
        <p:spPr>
          <a:xfrm>
            <a:off x="152399" y="2866072"/>
            <a:ext cx="8257499" cy="7324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ETL cater to the growing velocity? YES / NO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909A7A-3201-60F5-F3DD-DB1FF0CE7686}"/>
              </a:ext>
            </a:extLst>
          </p:cNvPr>
          <p:cNvSpPr/>
          <p:nvPr/>
        </p:nvSpPr>
        <p:spPr>
          <a:xfrm>
            <a:off x="8868597" y="2815711"/>
            <a:ext cx="2734723" cy="732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NO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4C493B-65F2-3A53-75CE-A6D5E9FD882D}"/>
              </a:ext>
            </a:extLst>
          </p:cNvPr>
          <p:cNvSpPr/>
          <p:nvPr/>
        </p:nvSpPr>
        <p:spPr>
          <a:xfrm>
            <a:off x="152399" y="3610928"/>
            <a:ext cx="8257499" cy="7324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it work for real-time data flow? YES / 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55BF28-4BC9-3083-7083-3331758B10CC}"/>
              </a:ext>
            </a:extLst>
          </p:cNvPr>
          <p:cNvSpPr/>
          <p:nvPr/>
        </p:nvSpPr>
        <p:spPr>
          <a:xfrm>
            <a:off x="8868597" y="3578496"/>
            <a:ext cx="2734723" cy="732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NO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116493E-F11D-0417-5C89-276D73E92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2" y="4382074"/>
            <a:ext cx="5910549" cy="22839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0275E2C-999D-FF1B-F166-27EA33EAD25F}"/>
              </a:ext>
            </a:extLst>
          </p:cNvPr>
          <p:cNvSpPr txBox="1"/>
          <p:nvPr/>
        </p:nvSpPr>
        <p:spPr>
          <a:xfrm rot="19899049">
            <a:off x="6881169" y="5339837"/>
            <a:ext cx="3974858" cy="338554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SOLUTION to ETL short comings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827AC3-A824-E187-C817-6DB579854864}"/>
              </a:ext>
            </a:extLst>
          </p:cNvPr>
          <p:cNvSpPr txBox="1"/>
          <p:nvPr/>
        </p:nvSpPr>
        <p:spPr>
          <a:xfrm>
            <a:off x="152399" y="5038635"/>
            <a:ext cx="4816023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Popular because of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Advancement in cloud infrastructure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Need for real-time data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31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2" grpId="0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A1C3-737B-188C-F5F5-ACF5F863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22C5-0284-AC5C-D9F8-0FCC009E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201056"/>
            <a:ext cx="9321800" cy="764364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I. Data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Integration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Processing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contd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8C98F-5C73-7859-21F9-600CA9599CB1}"/>
              </a:ext>
            </a:extLst>
          </p:cNvPr>
          <p:cNvSpPr/>
          <p:nvPr/>
        </p:nvSpPr>
        <p:spPr>
          <a:xfrm>
            <a:off x="152399" y="1040961"/>
            <a:ext cx="8716197" cy="7324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we directly consume the extracted data? YES/NO – still the question is not answered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5344C4-55C1-EE44-DAB7-2FDA11EB9D9A}"/>
              </a:ext>
            </a:extLst>
          </p:cNvPr>
          <p:cNvSpPr/>
          <p:nvPr/>
        </p:nvSpPr>
        <p:spPr>
          <a:xfrm>
            <a:off x="8868597" y="990600"/>
            <a:ext cx="2886635" cy="7324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NO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C52A1-93E3-ACAC-451F-A7F689FBB4A4}"/>
              </a:ext>
            </a:extLst>
          </p:cNvPr>
          <p:cNvSpPr txBox="1"/>
          <p:nvPr/>
        </p:nvSpPr>
        <p:spPr>
          <a:xfrm>
            <a:off x="443753" y="1997839"/>
            <a:ext cx="10972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Next Steps to be done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Filtered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Merged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Aggregated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For what 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For the applications that can range from a business intelligence dashboard to a predictive machine learning algorithm</a:t>
            </a:r>
          </a:p>
        </p:txBody>
      </p:sp>
    </p:spTree>
    <p:extLst>
      <p:ext uri="{BB962C8B-B14F-4D97-AF65-F5344CB8AC3E}">
        <p14:creationId xmlns:p14="http://schemas.microsoft.com/office/powerpoint/2010/main" val="105916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9DC5-DF84-E1C3-B52D-5EB78F2A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09" y="132262"/>
            <a:ext cx="9321800" cy="764364"/>
          </a:xfrm>
        </p:spPr>
        <p:txBody>
          <a:bodyPr/>
          <a:lstStyle/>
          <a:p>
            <a:r>
              <a:rPr lang="en-US" dirty="0"/>
              <a:t>II. Data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92752-95B1-8292-4711-D0941DD0B183}"/>
              </a:ext>
            </a:extLst>
          </p:cNvPr>
          <p:cNvSpPr txBox="1"/>
          <p:nvPr/>
        </p:nvSpPr>
        <p:spPr>
          <a:xfrm>
            <a:off x="143434" y="1016178"/>
            <a:ext cx="11353800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9A845-9A30-3EC8-1E49-987E912050C8}"/>
              </a:ext>
            </a:extLst>
          </p:cNvPr>
          <p:cNvSpPr/>
          <p:nvPr/>
        </p:nvSpPr>
        <p:spPr>
          <a:xfrm>
            <a:off x="26894" y="1016178"/>
            <a:ext cx="1766048" cy="7324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When?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C90FDC-F49C-4EB5-BAC1-0E7D1A0AD71C}"/>
              </a:ext>
            </a:extLst>
          </p:cNvPr>
          <p:cNvSpPr/>
          <p:nvPr/>
        </p:nvSpPr>
        <p:spPr>
          <a:xfrm>
            <a:off x="1801907" y="1016178"/>
            <a:ext cx="10139081" cy="732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should / can be stored before / after data 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FD3E8A-5BA8-8D05-E002-54172176144F}"/>
              </a:ext>
            </a:extLst>
          </p:cNvPr>
          <p:cNvSpPr/>
          <p:nvPr/>
        </p:nvSpPr>
        <p:spPr>
          <a:xfrm>
            <a:off x="26894" y="1748650"/>
            <a:ext cx="1766048" cy="7324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Deciders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84DECC-9DAD-80B3-D594-6C14352B2E76}"/>
              </a:ext>
            </a:extLst>
          </p:cNvPr>
          <p:cNvSpPr/>
          <p:nvPr/>
        </p:nvSpPr>
        <p:spPr>
          <a:xfrm>
            <a:off x="1801907" y="1748650"/>
            <a:ext cx="10139081" cy="732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Type &amp; Purpose of the data</a:t>
            </a:r>
          </a:p>
        </p:txBody>
      </p:sp>
      <p:pic>
        <p:nvPicPr>
          <p:cNvPr id="2050" name="Picture 2" descr="Small Warehouse Logistics Business ...">
            <a:extLst>
              <a:ext uri="{FF2B5EF4-FFF2-40B4-BE49-F238E27FC236}">
                <a16:creationId xmlns:a16="http://schemas.microsoft.com/office/drawing/2014/main" id="{C3776369-6FE7-69D0-7E5F-9D3CACC1D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421" y="2982856"/>
            <a:ext cx="2857500" cy="15577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world's most beautiful lakes">
            <a:extLst>
              <a:ext uri="{FF2B5EF4-FFF2-40B4-BE49-F238E27FC236}">
                <a16:creationId xmlns:a16="http://schemas.microsoft.com/office/drawing/2014/main" id="{CE39238E-AC0B-6922-C945-35FFA1DDA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982856"/>
            <a:ext cx="2857500" cy="15577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62A01E-47C1-7B8D-DBC5-361E6A7A801A}"/>
              </a:ext>
            </a:extLst>
          </p:cNvPr>
          <p:cNvSpPr txBox="1"/>
          <p:nvPr/>
        </p:nvSpPr>
        <p:spPr>
          <a:xfrm>
            <a:off x="2632263" y="4171300"/>
            <a:ext cx="221428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Warehouse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C12C5-CFCF-5E82-C983-3479ABF30260}"/>
              </a:ext>
            </a:extLst>
          </p:cNvPr>
          <p:cNvSpPr txBox="1"/>
          <p:nvPr/>
        </p:nvSpPr>
        <p:spPr>
          <a:xfrm>
            <a:off x="7355542" y="4177874"/>
            <a:ext cx="221428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Lake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A4B8-5F3F-BB2E-871C-05C3A1010E47}"/>
              </a:ext>
            </a:extLst>
          </p:cNvPr>
          <p:cNvSpPr/>
          <p:nvPr/>
        </p:nvSpPr>
        <p:spPr>
          <a:xfrm>
            <a:off x="1335741" y="5015919"/>
            <a:ext cx="10139081" cy="13345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do you infer?</a:t>
            </a:r>
          </a:p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Which is structured and which is unstructured here?</a:t>
            </a:r>
          </a:p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Where will you use these?</a:t>
            </a:r>
          </a:p>
        </p:txBody>
      </p:sp>
    </p:spTree>
    <p:extLst>
      <p:ext uri="{BB962C8B-B14F-4D97-AF65-F5344CB8AC3E}">
        <p14:creationId xmlns:p14="http://schemas.microsoft.com/office/powerpoint/2010/main" val="154552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FC0C-E036-79CC-392C-C4D52BA4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Data Storage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4562D4-F24B-E261-D5CF-E2E3B96B7F4D}"/>
              </a:ext>
            </a:extLst>
          </p:cNvPr>
          <p:cNvCxnSpPr>
            <a:cxnSpLocks/>
          </p:cNvCxnSpPr>
          <p:nvPr/>
        </p:nvCxnSpPr>
        <p:spPr>
          <a:xfrm>
            <a:off x="5715000" y="924933"/>
            <a:ext cx="0" cy="43328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8A99698-FEAD-C143-E869-5FE0D7CAD778}"/>
              </a:ext>
            </a:extLst>
          </p:cNvPr>
          <p:cNvSpPr/>
          <p:nvPr/>
        </p:nvSpPr>
        <p:spPr>
          <a:xfrm>
            <a:off x="1219200" y="1066800"/>
            <a:ext cx="3276599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Warehouse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78A35-3E56-81C2-9035-342DE40C5907}"/>
              </a:ext>
            </a:extLst>
          </p:cNvPr>
          <p:cNvSpPr/>
          <p:nvPr/>
        </p:nvSpPr>
        <p:spPr>
          <a:xfrm>
            <a:off x="7315200" y="1066800"/>
            <a:ext cx="3276599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Lake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A5ADA-52BD-CC31-E853-3086F11AEDBC}"/>
              </a:ext>
            </a:extLst>
          </p:cNvPr>
          <p:cNvSpPr txBox="1"/>
          <p:nvPr/>
        </p:nvSpPr>
        <p:spPr>
          <a:xfrm>
            <a:off x="114300" y="1918447"/>
            <a:ext cx="5486398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Required a defined schema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Mostly Relational system or RDBMS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Optimized for high performance analytics or structured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 cases: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analytics dashboards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Business intelligence tasks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visualization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0129F-EF8E-D0B7-8FD5-08D85C73FCE0}"/>
              </a:ext>
            </a:extLst>
          </p:cNvPr>
          <p:cNvSpPr txBox="1"/>
          <p:nvPr/>
        </p:nvSpPr>
        <p:spPr>
          <a:xfrm>
            <a:off x="6492690" y="1818267"/>
            <a:ext cx="5486398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No defined schema.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Comes handy for semi-structured &amp; unstructured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Optimized for costs and multi – type sources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 cases: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Analytics at a scale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Sandbox for innovative data projects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44E6D-8ABC-77BF-71C1-D58A1041444C}"/>
              </a:ext>
            </a:extLst>
          </p:cNvPr>
          <p:cNvSpPr/>
          <p:nvPr/>
        </p:nvSpPr>
        <p:spPr>
          <a:xfrm>
            <a:off x="5082987" y="2664636"/>
            <a:ext cx="1317813" cy="7643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A60270-5DFE-B4EE-C4D5-EA6E4969BABC}"/>
              </a:ext>
            </a:extLst>
          </p:cNvPr>
          <p:cNvSpPr/>
          <p:nvPr/>
        </p:nvSpPr>
        <p:spPr>
          <a:xfrm>
            <a:off x="5029200" y="4873523"/>
            <a:ext cx="1371600" cy="7643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=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65D0B-5976-DD8B-A4C4-1274282F038E}"/>
              </a:ext>
            </a:extLst>
          </p:cNvPr>
          <p:cNvSpPr/>
          <p:nvPr/>
        </p:nvSpPr>
        <p:spPr>
          <a:xfrm>
            <a:off x="3553382" y="6017974"/>
            <a:ext cx="5057215" cy="7643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Lakehouse</a:t>
            </a:r>
          </a:p>
        </p:txBody>
      </p:sp>
    </p:spTree>
    <p:extLst>
      <p:ext uri="{BB962C8B-B14F-4D97-AF65-F5344CB8AC3E}">
        <p14:creationId xmlns:p14="http://schemas.microsoft.com/office/powerpoint/2010/main" val="220491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build="p"/>
      <p:bldP spid="10" grpId="0" build="p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4576-D89F-BF80-4275-3516A4D2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374E-C084-A577-034D-6B21F6D5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Data Governance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B476C2-3598-3EE4-D956-A1E631EA86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3798464"/>
              </p:ext>
            </p:extLst>
          </p:nvPr>
        </p:nvGraphicFramePr>
        <p:xfrm>
          <a:off x="-457200" y="960792"/>
          <a:ext cx="7924800" cy="5897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5000D3-CB6A-32CA-7DB9-636CAC378639}"/>
              </a:ext>
            </a:extLst>
          </p:cNvPr>
          <p:cNvSpPr txBox="1"/>
          <p:nvPr/>
        </p:nvSpPr>
        <p:spPr>
          <a:xfrm>
            <a:off x="7086600" y="902521"/>
            <a:ext cx="48006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Who does all these?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Governance Councils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Sample activities of data governance councils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They align taxonomies to help ensure that 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7"/>
              </a:rPr>
              <a:t>metadata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 is added consistently across various data sources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metadata?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about data. </a:t>
            </a:r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Define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roles and responsibilities to help ensure that data access is provided appropriately</a:t>
            </a:r>
          </a:p>
        </p:txBody>
      </p:sp>
    </p:spTree>
    <p:extLst>
      <p:ext uri="{BB962C8B-B14F-4D97-AF65-F5344CB8AC3E}">
        <p14:creationId xmlns:p14="http://schemas.microsoft.com/office/powerpoint/2010/main" val="239334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BBB5C8-7561-4636-969A-CC3088E12D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D7AB9F-B0C9-4BDF-A6FD-D3A0528238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76C1A-7973-4708-8A60-6BF63F0935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C05837-BCC3-4C69-9216-D22382C32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7C9B91-DB90-4361-B41A-DEF27D1B56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42E36CB-B7C0-4358-8F32-3F0D5F722B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980815-374D-4D9B-803F-EAA2B1E8F4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3A7F50-4D8E-4D1E-A70C-314E2B387E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5F7C-FFF8-D03D-1271-DC2AEF84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08E1D-61EC-49E9-A328-4FFFF9B2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Data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DBFA0-22A0-483F-1BE2-876C512ADEE3}"/>
              </a:ext>
            </a:extLst>
          </p:cNvPr>
          <p:cNvSpPr txBox="1"/>
          <p:nvPr/>
        </p:nvSpPr>
        <p:spPr>
          <a:xfrm>
            <a:off x="228600" y="1066800"/>
            <a:ext cx="5702300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Define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roles and responsibilities to help ensure that data access is provided appropriately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What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does this means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Can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you see the salary slip of your colleague?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Can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you see the medical reports of a fellow patient?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This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means </a:t>
            </a:r>
            <a:r>
              <a:rPr lang="en-U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 controlled access is particularly important to maintain data privacy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Data security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 sets guardrails in place to protect digital information from unauthorized access, corruption or theft</a:t>
            </a:r>
          </a:p>
          <a:p>
            <a:pPr algn="just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376EE-32CC-40AE-9701-B3A2831444F2}"/>
              </a:ext>
            </a:extLst>
          </p:cNvPr>
          <p:cNvSpPr txBox="1"/>
          <p:nvPr/>
        </p:nvSpPr>
        <p:spPr>
          <a:xfrm>
            <a:off x="6096000" y="1066800"/>
            <a:ext cx="5702300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Why?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To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help protect customer data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from cybercriminals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or to help prevent incidents that need disaster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recovery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Data Loss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be devastating to any business, data breaches, in particular, can result in costly consequences from both a financial and brand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standpoint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How?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More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scrutiny is placed upon the security practices of modern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businesses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Secure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their data by using 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encryption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 and 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4"/>
              </a:rPr>
              <a:t>data masking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 within their data security strategy</a:t>
            </a:r>
          </a:p>
        </p:txBody>
      </p:sp>
    </p:spTree>
    <p:extLst>
      <p:ext uri="{BB962C8B-B14F-4D97-AF65-F5344CB8AC3E}">
        <p14:creationId xmlns:p14="http://schemas.microsoft.com/office/powerpoint/2010/main" val="295739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EC56-DCD0-8B74-F0D8-DF610FF1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2D57-51F5-7ABD-49F7-6999568B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Data Platform</a:t>
            </a:r>
          </a:p>
        </p:txBody>
      </p:sp>
    </p:spTree>
    <p:extLst>
      <p:ext uri="{BB962C8B-B14F-4D97-AF65-F5344CB8AC3E}">
        <p14:creationId xmlns:p14="http://schemas.microsoft.com/office/powerpoint/2010/main" val="101360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89F1-2282-08BD-0D96-A0708687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9EA0-D1DA-4AE9-F144-BA10890D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372293-D1D1-F12E-D1E5-A45A175575D2}"/>
              </a:ext>
            </a:extLst>
          </p:cNvPr>
          <p:cNvSpPr/>
          <p:nvPr/>
        </p:nvSpPr>
        <p:spPr>
          <a:xfrm>
            <a:off x="228600" y="924932"/>
            <a:ext cx="11734800" cy="593306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Definitions: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 software suite that enables organizations to process and manage large amounts of data quickly and efficiently. It manages data collection, normalization, transformation, and application for a given data product.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central repository and processing house for all the organization’s data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 collection of data pipelines that ingest data, store it, transform it, and deliver it to a variety of destinations so the data can be consumed by different enterprise groups for their purposes.</a:t>
            </a:r>
          </a:p>
          <a:p>
            <a:pPr algn="just"/>
            <a:endParaRPr lang="en-US" sz="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r>
              <a:rPr lang="en-U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Why: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management tools require a robust data and computing infrastructure that scales to meet business demand without impacting performance</a:t>
            </a:r>
          </a:p>
          <a:p>
            <a:pPr algn="just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r>
              <a:rPr lang="en-U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To achieve: </a:t>
            </a:r>
          </a:p>
          <a:p>
            <a:pPr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environments require </a:t>
            </a:r>
          </a:p>
          <a:p>
            <a:pPr lvl="1" algn="just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Fast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query processing</a:t>
            </a:r>
          </a:p>
          <a:p>
            <a:pPr lvl="1" algn="just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Large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storage capacity</a:t>
            </a:r>
          </a:p>
          <a:p>
            <a:pPr lvl="1" algn="just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Elastic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computing</a:t>
            </a:r>
          </a:p>
          <a:p>
            <a:pPr lvl="1"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In-memory caches</a:t>
            </a:r>
          </a:p>
          <a:p>
            <a:pPr lvl="1" algn="just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Massively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parallel query processing</a:t>
            </a:r>
          </a:p>
          <a:p>
            <a:pPr lvl="1" algn="just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Columnar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storage</a:t>
            </a:r>
          </a:p>
          <a:p>
            <a:pPr lvl="1"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Large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in-memory data grids and computing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clusters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02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B6FCB-1BD6-B292-23E1-3CC59B9E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9628A-7848-B06F-55A0-124B1646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DM Components</a:t>
            </a:r>
          </a:p>
        </p:txBody>
      </p:sp>
    </p:spTree>
    <p:extLst>
      <p:ext uri="{BB962C8B-B14F-4D97-AF65-F5344CB8AC3E}">
        <p14:creationId xmlns:p14="http://schemas.microsoft.com/office/powerpoint/2010/main" val="369766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BBEA-1A8F-EE8A-E009-8DDF53C2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40FF-3043-68D0-1FE0-684F9E30A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24" y="178260"/>
            <a:ext cx="2667000" cy="764364"/>
          </a:xfrm>
        </p:spPr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7D5A26-181D-87B3-9EE7-674D04FA9387}"/>
              </a:ext>
            </a:extLst>
          </p:cNvPr>
          <p:cNvSpPr/>
          <p:nvPr/>
        </p:nvSpPr>
        <p:spPr>
          <a:xfrm>
            <a:off x="4708712" y="3048000"/>
            <a:ext cx="2324100" cy="174866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Management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360AF5-648F-20C3-EBB5-BAEBD6509291}"/>
              </a:ext>
            </a:extLst>
          </p:cNvPr>
          <p:cNvSpPr/>
          <p:nvPr/>
        </p:nvSpPr>
        <p:spPr>
          <a:xfrm>
            <a:off x="4708712" y="1066800"/>
            <a:ext cx="2152650" cy="15051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Governance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2B04E-C512-A975-D47F-D8C63D8560E1}"/>
              </a:ext>
            </a:extLst>
          </p:cNvPr>
          <p:cNvSpPr txBox="1"/>
          <p:nvPr/>
        </p:nvSpPr>
        <p:spPr>
          <a:xfrm>
            <a:off x="6477000" y="965045"/>
            <a:ext cx="48768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Provides 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the overarching support to data management through stewardship, policies, processes, standards, and adherence to leading practices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AAD36B-0D6D-8927-88EF-16FCC15785F9}"/>
              </a:ext>
            </a:extLst>
          </p:cNvPr>
          <p:cNvSpPr/>
          <p:nvPr/>
        </p:nvSpPr>
        <p:spPr>
          <a:xfrm>
            <a:off x="7032812" y="2074038"/>
            <a:ext cx="2152650" cy="15051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18394-68A0-F2CC-A116-05D231113F1E}"/>
              </a:ext>
            </a:extLst>
          </p:cNvPr>
          <p:cNvSpPr txBox="1"/>
          <p:nvPr/>
        </p:nvSpPr>
        <p:spPr>
          <a:xfrm>
            <a:off x="8464550" y="1981200"/>
            <a:ext cx="339090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400" dirty="0" smtClean="0"/>
              <a:t>Provides </a:t>
            </a:r>
            <a:r>
              <a:rPr lang="en-US" sz="1400" dirty="0"/>
              <a:t>the infrastructure for the storage, integration, and use of data throughout the organization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E0C50B-239D-FC56-5B10-5E748E0C8641}"/>
              </a:ext>
            </a:extLst>
          </p:cNvPr>
          <p:cNvSpPr/>
          <p:nvPr/>
        </p:nvSpPr>
        <p:spPr>
          <a:xfrm>
            <a:off x="7032812" y="3750438"/>
            <a:ext cx="2152650" cy="15051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MetaData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EA95A-2F3F-8E27-F5A0-256E0186E088}"/>
              </a:ext>
            </a:extLst>
          </p:cNvPr>
          <p:cNvSpPr txBox="1"/>
          <p:nvPr/>
        </p:nvSpPr>
        <p:spPr>
          <a:xfrm>
            <a:off x="8464550" y="3657600"/>
            <a:ext cx="339090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400" dirty="0" smtClean="0"/>
              <a:t>Allows </a:t>
            </a:r>
            <a:r>
              <a:rPr lang="en-US" sz="1400" dirty="0"/>
              <a:t>to use data more efficiently by providing critical information about data attributes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C63F06-E066-9DA0-0CD7-7C48FDAB63BE}"/>
              </a:ext>
            </a:extLst>
          </p:cNvPr>
          <p:cNvSpPr/>
          <p:nvPr/>
        </p:nvSpPr>
        <p:spPr>
          <a:xfrm>
            <a:off x="6060515" y="5172949"/>
            <a:ext cx="2152650" cy="15051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Quality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8A040-DF78-7C41-ABDA-01DE7F47F1C8}"/>
              </a:ext>
            </a:extLst>
          </p:cNvPr>
          <p:cNvSpPr txBox="1"/>
          <p:nvPr/>
        </p:nvSpPr>
        <p:spPr>
          <a:xfrm>
            <a:off x="7962900" y="5951098"/>
            <a:ext cx="339090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400" dirty="0" smtClean="0"/>
              <a:t>Provides </a:t>
            </a:r>
            <a:r>
              <a:rPr lang="en-US" sz="1400" dirty="0"/>
              <a:t>the structure necessary to have data that fulfills the needs of the business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1309F0-5087-DC34-FEF8-30149B5FE342}"/>
              </a:ext>
            </a:extLst>
          </p:cNvPr>
          <p:cNvSpPr/>
          <p:nvPr/>
        </p:nvSpPr>
        <p:spPr>
          <a:xfrm>
            <a:off x="3327307" y="4991513"/>
            <a:ext cx="2152650" cy="15051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LifeCycle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08454-73F3-7483-0046-E9388132EB1D}"/>
              </a:ext>
            </a:extLst>
          </p:cNvPr>
          <p:cNvSpPr txBox="1"/>
          <p:nvPr/>
        </p:nvSpPr>
        <p:spPr>
          <a:xfrm>
            <a:off x="373297" y="5402655"/>
            <a:ext cx="3390900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400" dirty="0"/>
              <a:t>Allows the data throughout the company, providing integrity from the initial introduction into the company through the final deletion from the company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07B10F-4563-E399-616E-4BC1D0FAC613}"/>
              </a:ext>
            </a:extLst>
          </p:cNvPr>
          <p:cNvSpPr/>
          <p:nvPr/>
        </p:nvSpPr>
        <p:spPr>
          <a:xfrm>
            <a:off x="2068747" y="3682957"/>
            <a:ext cx="2152650" cy="15051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Analytics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AB7280-1C66-DA9B-777B-5818A1D4D6C0}"/>
              </a:ext>
            </a:extLst>
          </p:cNvPr>
          <p:cNvSpPr txBox="1"/>
          <p:nvPr/>
        </p:nvSpPr>
        <p:spPr>
          <a:xfrm>
            <a:off x="101413" y="3268184"/>
            <a:ext cx="33909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400" dirty="0"/>
              <a:t>Applies statistical and visualization techniques that lead to valuable insights that can help the company make better business decisions.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02E16D-7F3B-1255-46F9-45A01F628985}"/>
              </a:ext>
            </a:extLst>
          </p:cNvPr>
          <p:cNvSpPr/>
          <p:nvPr/>
        </p:nvSpPr>
        <p:spPr>
          <a:xfrm>
            <a:off x="2415988" y="1593490"/>
            <a:ext cx="2152650" cy="15051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Privacy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94D55C-0057-9A43-343E-F3C2E90DF80F}"/>
              </a:ext>
            </a:extLst>
          </p:cNvPr>
          <p:cNvSpPr txBox="1"/>
          <p:nvPr/>
        </p:nvSpPr>
        <p:spPr>
          <a:xfrm>
            <a:off x="315024" y="1215201"/>
            <a:ext cx="33909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US" sz="1400" dirty="0" smtClean="0"/>
              <a:t>Supports </a:t>
            </a:r>
            <a:r>
              <a:rPr lang="en-US" sz="1400" dirty="0"/>
              <a:t>the needs of the business to share data internally and externally.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6028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818E-C3A9-3D43-F5CD-7D927AE6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6CD6-9B81-B0E3-BDDF-58AF2BAE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Phases in Data Life-cycle</a:t>
            </a:r>
          </a:p>
        </p:txBody>
      </p:sp>
    </p:spTree>
    <p:extLst>
      <p:ext uri="{BB962C8B-B14F-4D97-AF65-F5344CB8AC3E}">
        <p14:creationId xmlns:p14="http://schemas.microsoft.com/office/powerpoint/2010/main" val="150758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CEFB-D905-35CB-6089-ED493925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D8289-14CC-4C54-23DF-E5E97EFC5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11125200" cy="505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6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A265-B05E-9FC9-02D9-5A69A6854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5444-FDC4-4652-E55D-3862BD49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68E9D2-6EB3-CAE3-69BC-6CE7DB248795}"/>
              </a:ext>
            </a:extLst>
          </p:cNvPr>
          <p:cNvGraphicFramePr/>
          <p:nvPr/>
        </p:nvGraphicFramePr>
        <p:xfrm>
          <a:off x="-55282" y="1981200"/>
          <a:ext cx="12247282" cy="1437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074A39-735E-3E4E-2F9E-024F7F0156AC}"/>
              </a:ext>
            </a:extLst>
          </p:cNvPr>
          <p:cNvSpPr txBox="1"/>
          <p:nvPr/>
        </p:nvSpPr>
        <p:spPr>
          <a:xfrm>
            <a:off x="0" y="3276600"/>
            <a:ext cx="2600138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Various sources of data – devices, audio, text, images, 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30204"/>
              <a:cs typeface="Helvetica" panose="020B0604020202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Creation / availability of data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3436F-9761-6B59-E6C8-AF71176546D8}"/>
              </a:ext>
            </a:extLst>
          </p:cNvPr>
          <p:cNvSpPr txBox="1"/>
          <p:nvPr/>
        </p:nvSpPr>
        <p:spPr>
          <a:xfrm>
            <a:off x="2898962" y="3276600"/>
            <a:ext cx="2717052" cy="1754326"/>
          </a:xfrm>
          <a:prstGeom prst="rect">
            <a:avLst/>
          </a:prstGeom>
          <a:ln>
            <a:solidFill>
              <a:srgbClr val="43BEB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Collecting the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30204"/>
              <a:cs typeface="Helvetica" panose="020B0604020202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Sampling, filtering, selecting and validation</a:t>
            </a:r>
          </a:p>
          <a:p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81CA01-19FF-E4DB-16BC-E47B75AC93AE}"/>
              </a:ext>
            </a:extLst>
          </p:cNvPr>
          <p:cNvSpPr txBox="1"/>
          <p:nvPr/>
        </p:nvSpPr>
        <p:spPr>
          <a:xfrm>
            <a:off x="5893548" y="3276600"/>
            <a:ext cx="2717052" cy="1754326"/>
          </a:xfrm>
          <a:prstGeom prst="rect">
            <a:avLst/>
          </a:prstGeom>
          <a:ln>
            <a:solidFill>
              <a:srgbClr val="45B66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30204"/>
              <a:cs typeface="Helvetica" panose="020B0604020202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30204"/>
              <a:cs typeface="Helvetica" panose="020B0604020202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Enrichment</a:t>
            </a:r>
          </a:p>
          <a:p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475E6F-A774-539B-2B42-528511489C24}"/>
              </a:ext>
            </a:extLst>
          </p:cNvPr>
          <p:cNvSpPr txBox="1"/>
          <p:nvPr/>
        </p:nvSpPr>
        <p:spPr>
          <a:xfrm>
            <a:off x="8888134" y="3276600"/>
            <a:ext cx="2717052" cy="1754326"/>
          </a:xfrm>
          <a:prstGeom prst="rect">
            <a:avLst/>
          </a:prstGeom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30204"/>
              <a:cs typeface="Helvetica" panose="020B0604020202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30204"/>
              <a:cs typeface="Helvetica" panose="020B0604020202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Machine Learning</a:t>
            </a:r>
          </a:p>
          <a:p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</p:spTree>
    <p:extLst>
      <p:ext uri="{BB962C8B-B14F-4D97-AF65-F5344CB8AC3E}">
        <p14:creationId xmlns:p14="http://schemas.microsoft.com/office/powerpoint/2010/main" val="311903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430D2DE-37E6-4EE3-BD04-A412CAEC1B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97ED816-D4C0-461E-A9AE-A1B8148F0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06774A2-ECA6-414D-A6CE-964AE58FBD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4AACEF6-7F13-4390-B797-D23778F48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P spid="4" grpId="0" build="p" animBg="1"/>
      <p:bldP spid="9" grpId="0" build="p" animBg="1"/>
      <p:bldP spid="20" grpId="0" build="p" animBg="1"/>
      <p:bldP spid="21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F-B46E-F25F-E782-7EC732A1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/ Creation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853A9-6A8B-E12E-ED03-A332BCED78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935466"/>
            <a:ext cx="11734800" cy="577249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From where the data comes?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700" dirty="0"/>
              <a:t>Datasets are all created at some point via some process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What is data generation or creation?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700" b="1" u="sng" dirty="0"/>
              <a:t>The process of generating or capturing the data in some data storage system but not our data storage system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Examples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dirty="0" smtClean="0"/>
              <a:t>Logs </a:t>
            </a:r>
            <a:r>
              <a:rPr lang="en-US" sz="1700" dirty="0"/>
              <a:t>from serving systems, large collections of images captured from an event, diagnostic data from medical </a:t>
            </a:r>
            <a:r>
              <a:rPr lang="en-US" sz="1700" dirty="0" smtClean="0"/>
              <a:t>procedures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700" dirty="0"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700" dirty="0"/>
              <a:t>Some datasets work well when they are static (or at least don’t change quickly), &amp; others are useful when frequently updated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700" dirty="0"/>
              <a:t>A photo-recognition dataset, may be usable for many months, as long as it is suitably representative of the types of photos would like to recognize with model. </a:t>
            </a:r>
            <a:endParaRPr lang="en-US" sz="1700" dirty="0" smtClean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700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700" dirty="0"/>
              <a:t>On the other hand, if the outside photos represent only winter environments from a temperate climate, the distribution of the photo set will be significantly diversified</a:t>
            </a:r>
          </a:p>
        </p:txBody>
      </p:sp>
    </p:spTree>
    <p:extLst>
      <p:ext uri="{BB962C8B-B14F-4D97-AF65-F5344CB8AC3E}">
        <p14:creationId xmlns:p14="http://schemas.microsoft.com/office/powerpoint/2010/main" val="22271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0D13-6967-B4D6-AE7E-0FAD50E4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456E-6EEC-94EA-2185-CAFF4CD7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D8B14-8F9F-FA27-9805-1326F132D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959638"/>
            <a:ext cx="11811000" cy="5534137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7400" dirty="0"/>
              <a:t>The data needs to be received into the system and written to storage for further processing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7200" dirty="0"/>
              <a:t>Can we take all data that was created / generated at source?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7200" dirty="0" smtClean="0"/>
              <a:t>A </a:t>
            </a:r>
            <a:r>
              <a:rPr lang="en-US" sz="7200" dirty="0"/>
              <a:t>filtering and selection step necessarily occurs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7200" b="1" u="sng" dirty="0"/>
              <a:t>Sampling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7200" dirty="0"/>
              <a:t>may also simply sample at this stage if have so much data which can not be processed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7200" dirty="0"/>
              <a:t>an effective way to save money on intermediate processing and training costs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7200" dirty="0"/>
              <a:t>important to measure the quality cost f sampling and compare that to the savings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7200" dirty="0"/>
              <a:t>is likely to occasionally loose some detail for some events – unavoidable!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7200" dirty="0"/>
              <a:t>In general, ML training systems perform better with more data. Any reduction in data may well impact quality at the same time as reducing costs.</a:t>
            </a:r>
            <a:endParaRPr lang="en-IN" sz="7200" dirty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7200" b="1" u="sng" dirty="0"/>
              <a:t>How?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7000" dirty="0"/>
              <a:t>Depending on the volume of data and the complexity of our service in the ingestion phase 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7000" dirty="0"/>
              <a:t>APIs /  Remote Procedure Calls that gives data in required format and also confirm the data lineage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7000" dirty="0"/>
              <a:t>Reliability concerns during the ingestion phase typically focus on correctness and throughput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0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6B40-9F44-7D71-AD95-319B962F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0429F-BDB1-1014-D1F8-4A16B18466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1066800"/>
            <a:ext cx="11734800" cy="55341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What will happen to ML if we have bad data?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Solution : </a:t>
            </a:r>
            <a:r>
              <a:rPr lang="en-US" dirty="0"/>
              <a:t>Validate the incoming data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Data ingested from external sources might have a lot of errors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extremely important to validate the incoming data especially when there is a well-defined schema and/or an ability to compare against the last known valid feed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performed against a common definition of the field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What will happen if the data has missing fields, duplicates, misclassifications, or even encoding errors?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Solution: </a:t>
            </a:r>
            <a:r>
              <a:rPr lang="en-US" dirty="0"/>
              <a:t>Clean them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What if the data is not consistent?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Solution: </a:t>
            </a:r>
            <a:r>
              <a:rPr lang="en-US" dirty="0"/>
              <a:t>Normalize the data or bucket the data(map a range of data into a much smaller set of groups that represent the same range</a:t>
            </a:r>
            <a:r>
              <a:rPr lang="en-IN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u="sng" dirty="0"/>
              <a:t>What if you think the data is not rich enough but available?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u="sng" dirty="0"/>
              <a:t>Solution </a:t>
            </a:r>
            <a:r>
              <a:rPr lang="en-IN" dirty="0"/>
              <a:t>: Enrich &amp; extend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Combine with data from other sources – Enrich and Join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Identify given event or record – through Labels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95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B0D9B-EC7D-D3ED-0CA4-C15C1D52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5FA8-DE4D-F2BB-F407-C80B1654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-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77CB0-EFF2-25C4-07A7-D3041FE161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55656" y="1312934"/>
            <a:ext cx="6054912" cy="441344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Should store the processed data somewhere. </a:t>
            </a:r>
          </a:p>
          <a:p>
            <a:pPr marL="0" indent="0">
              <a:buNone/>
            </a:pPr>
            <a:r>
              <a:rPr lang="en-US" b="1" u="sng" dirty="0"/>
              <a:t>How to decide that?</a:t>
            </a:r>
          </a:p>
          <a:p>
            <a:pPr marL="0" indent="0">
              <a:buNone/>
            </a:pPr>
            <a:r>
              <a:rPr lang="en-US" b="1" u="sng" dirty="0"/>
              <a:t>Efficiency of the storage systems</a:t>
            </a:r>
          </a:p>
          <a:p>
            <a:pPr marL="0" indent="0">
              <a:buNone/>
            </a:pPr>
            <a:r>
              <a:rPr lang="en-US" dirty="0"/>
              <a:t>driven by access patterns that are driven by the model structure, team structure, and training process</a:t>
            </a:r>
          </a:p>
          <a:p>
            <a:pPr marL="0" indent="0">
              <a:buNone/>
            </a:pPr>
            <a:r>
              <a:rPr lang="en-US" b="1" u="sng" dirty="0"/>
              <a:t>Metadata - helps humans interact with the storage</a:t>
            </a:r>
            <a:endParaRPr lang="en-US" sz="1600" b="1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When multiple people work on building models on the same data (or when the same person works on this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over time), metadata about the stored features provides huge value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</a:t>
            </a:r>
            <a:r>
              <a:rPr lang="en-US" sz="1800" dirty="0"/>
              <a:t>ow much importance do you give to detail on metadata?</a:t>
            </a:r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C84CE1E-A16B-4046-CF14-0B454ECC304A}"/>
              </a:ext>
            </a:extLst>
          </p:cNvPr>
          <p:cNvSpPr txBox="1">
            <a:spLocks/>
          </p:cNvSpPr>
          <p:nvPr/>
        </p:nvSpPr>
        <p:spPr>
          <a:xfrm>
            <a:off x="6096000" y="923366"/>
            <a:ext cx="6096000" cy="3518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Visualization: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39D02E9-00EC-D585-5B27-7AA2783B83F4}"/>
              </a:ext>
            </a:extLst>
          </p:cNvPr>
          <p:cNvSpPr txBox="1">
            <a:spLocks/>
          </p:cNvSpPr>
          <p:nvPr/>
        </p:nvSpPr>
        <p:spPr>
          <a:xfrm>
            <a:off x="6096000" y="1295400"/>
            <a:ext cx="6096000" cy="44134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Process of transforming large amounts of data into an easy-to-navigate representation using statistical and/or graphical techniques and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Not enough just to show a pie chart or bar graph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Need to provide the human reader an explanation of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what each record in the dataset means,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how it is linked with the records in other datasets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and whether it is clean and safe to use for training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Why is this needed?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How many times we really go through the data in detail and rather depends on a data story board!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CF06601-6B78-21E0-B501-C800CED9C188}"/>
              </a:ext>
            </a:extLst>
          </p:cNvPr>
          <p:cNvSpPr txBox="1">
            <a:spLocks/>
          </p:cNvSpPr>
          <p:nvPr/>
        </p:nvSpPr>
        <p:spPr>
          <a:xfrm>
            <a:off x="-35860" y="914400"/>
            <a:ext cx="6035115" cy="3985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Storage: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04FB5F4-C224-879B-EF23-DADF6F4CA641}"/>
              </a:ext>
            </a:extLst>
          </p:cNvPr>
          <p:cNvSpPr txBox="1">
            <a:spLocks/>
          </p:cNvSpPr>
          <p:nvPr/>
        </p:nvSpPr>
        <p:spPr>
          <a:xfrm>
            <a:off x="6096000" y="5961527"/>
            <a:ext cx="6096000" cy="8483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Using the data for future growth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Acting cautiously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BA11922-6126-299B-F350-DC13C850C847}"/>
              </a:ext>
            </a:extLst>
          </p:cNvPr>
          <p:cNvSpPr txBox="1">
            <a:spLocks/>
          </p:cNvSpPr>
          <p:nvPr/>
        </p:nvSpPr>
        <p:spPr>
          <a:xfrm>
            <a:off x="304800" y="5961528"/>
            <a:ext cx="5791200" cy="381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Machine Learning:</a:t>
            </a:r>
          </a:p>
        </p:txBody>
      </p:sp>
    </p:spTree>
    <p:extLst>
      <p:ext uri="{BB962C8B-B14F-4D97-AF65-F5344CB8AC3E}">
        <p14:creationId xmlns:p14="http://schemas.microsoft.com/office/powerpoint/2010/main" val="216435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build="p" bldLvl="2" animBg="1"/>
      <p:bldP spid="6" grpId="0" animBg="1"/>
      <p:bldP spid="7" grpId="0" build="p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2F6B-B63D-4EC3-8E33-976604E6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EC84-5F99-5F37-C9FA-A960E7D5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Data Roles</a:t>
            </a:r>
          </a:p>
        </p:txBody>
      </p:sp>
    </p:spTree>
    <p:extLst>
      <p:ext uri="{BB962C8B-B14F-4D97-AF65-F5344CB8AC3E}">
        <p14:creationId xmlns:p14="http://schemas.microsoft.com/office/powerpoint/2010/main" val="210740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68AC-E6C6-A618-D77B-90365D96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Roles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E1102CC-B793-8379-6C2F-7FEECCE4CDE2}"/>
              </a:ext>
            </a:extLst>
          </p:cNvPr>
          <p:cNvSpPr/>
          <p:nvPr/>
        </p:nvSpPr>
        <p:spPr>
          <a:xfrm>
            <a:off x="4474463" y="977469"/>
            <a:ext cx="7412737" cy="764734"/>
          </a:xfrm>
          <a:custGeom>
            <a:avLst/>
            <a:gdLst>
              <a:gd name="connsiteX0" fmla="*/ 127458 w 764733"/>
              <a:gd name="connsiteY0" fmla="*/ 0 h 7412736"/>
              <a:gd name="connsiteX1" fmla="*/ 637275 w 764733"/>
              <a:gd name="connsiteY1" fmla="*/ 0 h 7412736"/>
              <a:gd name="connsiteX2" fmla="*/ 764733 w 764733"/>
              <a:gd name="connsiteY2" fmla="*/ 127458 h 7412736"/>
              <a:gd name="connsiteX3" fmla="*/ 764733 w 764733"/>
              <a:gd name="connsiteY3" fmla="*/ 7412736 h 7412736"/>
              <a:gd name="connsiteX4" fmla="*/ 764733 w 764733"/>
              <a:gd name="connsiteY4" fmla="*/ 7412736 h 7412736"/>
              <a:gd name="connsiteX5" fmla="*/ 0 w 764733"/>
              <a:gd name="connsiteY5" fmla="*/ 7412736 h 7412736"/>
              <a:gd name="connsiteX6" fmla="*/ 0 w 764733"/>
              <a:gd name="connsiteY6" fmla="*/ 7412736 h 7412736"/>
              <a:gd name="connsiteX7" fmla="*/ 0 w 764733"/>
              <a:gd name="connsiteY7" fmla="*/ 127458 h 7412736"/>
              <a:gd name="connsiteX8" fmla="*/ 127458 w 764733"/>
              <a:gd name="connsiteY8" fmla="*/ 0 h 7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733" h="7412736">
                <a:moveTo>
                  <a:pt x="764733" y="1235483"/>
                </a:moveTo>
                <a:lnTo>
                  <a:pt x="764733" y="6177253"/>
                </a:lnTo>
                <a:cubicBezTo>
                  <a:pt x="764733" y="6859587"/>
                  <a:pt x="758846" y="7412731"/>
                  <a:pt x="751584" y="7412731"/>
                </a:cubicBezTo>
                <a:lnTo>
                  <a:pt x="0" y="7412731"/>
                </a:lnTo>
                <a:lnTo>
                  <a:pt x="0" y="7412731"/>
                </a:lnTo>
                <a:lnTo>
                  <a:pt x="0" y="5"/>
                </a:lnTo>
                <a:lnTo>
                  <a:pt x="0" y="5"/>
                </a:lnTo>
                <a:lnTo>
                  <a:pt x="751584" y="5"/>
                </a:lnTo>
                <a:cubicBezTo>
                  <a:pt x="758846" y="5"/>
                  <a:pt x="764733" y="553149"/>
                  <a:pt x="764733" y="1235483"/>
                </a:cubicBez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1156" rIns="284981" bIns="161157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Collect, clean data from various sources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Exploratory analysis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Report Preparation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2FBBB1-FFB3-C9CC-AE2E-BFEA4CE05800}"/>
              </a:ext>
            </a:extLst>
          </p:cNvPr>
          <p:cNvSpPr/>
          <p:nvPr/>
        </p:nvSpPr>
        <p:spPr>
          <a:xfrm>
            <a:off x="304800" y="881876"/>
            <a:ext cx="4169664" cy="955917"/>
          </a:xfrm>
          <a:custGeom>
            <a:avLst/>
            <a:gdLst>
              <a:gd name="connsiteX0" fmla="*/ 0 w 4169664"/>
              <a:gd name="connsiteY0" fmla="*/ 159323 h 955917"/>
              <a:gd name="connsiteX1" fmla="*/ 159323 w 4169664"/>
              <a:gd name="connsiteY1" fmla="*/ 0 h 955917"/>
              <a:gd name="connsiteX2" fmla="*/ 4010341 w 4169664"/>
              <a:gd name="connsiteY2" fmla="*/ 0 h 955917"/>
              <a:gd name="connsiteX3" fmla="*/ 4169664 w 4169664"/>
              <a:gd name="connsiteY3" fmla="*/ 159323 h 955917"/>
              <a:gd name="connsiteX4" fmla="*/ 4169664 w 4169664"/>
              <a:gd name="connsiteY4" fmla="*/ 796594 h 955917"/>
              <a:gd name="connsiteX5" fmla="*/ 4010341 w 4169664"/>
              <a:gd name="connsiteY5" fmla="*/ 955917 h 955917"/>
              <a:gd name="connsiteX6" fmla="*/ 159323 w 4169664"/>
              <a:gd name="connsiteY6" fmla="*/ 955917 h 955917"/>
              <a:gd name="connsiteX7" fmla="*/ 0 w 4169664"/>
              <a:gd name="connsiteY7" fmla="*/ 796594 h 955917"/>
              <a:gd name="connsiteX8" fmla="*/ 0 w 4169664"/>
              <a:gd name="connsiteY8" fmla="*/ 159323 h 955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9664" h="955917">
                <a:moveTo>
                  <a:pt x="0" y="159323"/>
                </a:moveTo>
                <a:cubicBezTo>
                  <a:pt x="0" y="71331"/>
                  <a:pt x="71331" y="0"/>
                  <a:pt x="159323" y="0"/>
                </a:cubicBezTo>
                <a:lnTo>
                  <a:pt x="4010341" y="0"/>
                </a:lnTo>
                <a:cubicBezTo>
                  <a:pt x="4098333" y="0"/>
                  <a:pt x="4169664" y="71331"/>
                  <a:pt x="4169664" y="159323"/>
                </a:cubicBezTo>
                <a:lnTo>
                  <a:pt x="4169664" y="796594"/>
                </a:lnTo>
                <a:cubicBezTo>
                  <a:pt x="4169664" y="884586"/>
                  <a:pt x="4098333" y="955917"/>
                  <a:pt x="4010341" y="955917"/>
                </a:cubicBezTo>
                <a:lnTo>
                  <a:pt x="159323" y="955917"/>
                </a:lnTo>
                <a:cubicBezTo>
                  <a:pt x="71331" y="955917"/>
                  <a:pt x="0" y="884586"/>
                  <a:pt x="0" y="796594"/>
                </a:cubicBezTo>
                <a:lnTo>
                  <a:pt x="0" y="159323"/>
                </a:lnTo>
                <a:close/>
              </a:path>
            </a:pathLst>
          </a:cu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0" vert="horz" wrap="square" lIns="218114" tIns="132389" rIns="218114" bIns="132389" numCol="1" spcCol="1270" anchor="ctr" anchorCtr="0">
            <a:noAutofit/>
          </a:bodyPr>
          <a:lstStyle/>
          <a:p>
            <a:pPr marL="0" lvl="0" indent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Data Analyst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80A33A-1FEF-6F6F-5451-D130B3AAD4BD}"/>
              </a:ext>
            </a:extLst>
          </p:cNvPr>
          <p:cNvSpPr/>
          <p:nvPr/>
        </p:nvSpPr>
        <p:spPr>
          <a:xfrm>
            <a:off x="4474463" y="1981182"/>
            <a:ext cx="7412737" cy="764734"/>
          </a:xfrm>
          <a:custGeom>
            <a:avLst/>
            <a:gdLst>
              <a:gd name="connsiteX0" fmla="*/ 127458 w 764733"/>
              <a:gd name="connsiteY0" fmla="*/ 0 h 7412736"/>
              <a:gd name="connsiteX1" fmla="*/ 637275 w 764733"/>
              <a:gd name="connsiteY1" fmla="*/ 0 h 7412736"/>
              <a:gd name="connsiteX2" fmla="*/ 764733 w 764733"/>
              <a:gd name="connsiteY2" fmla="*/ 127458 h 7412736"/>
              <a:gd name="connsiteX3" fmla="*/ 764733 w 764733"/>
              <a:gd name="connsiteY3" fmla="*/ 7412736 h 7412736"/>
              <a:gd name="connsiteX4" fmla="*/ 764733 w 764733"/>
              <a:gd name="connsiteY4" fmla="*/ 7412736 h 7412736"/>
              <a:gd name="connsiteX5" fmla="*/ 0 w 764733"/>
              <a:gd name="connsiteY5" fmla="*/ 7412736 h 7412736"/>
              <a:gd name="connsiteX6" fmla="*/ 0 w 764733"/>
              <a:gd name="connsiteY6" fmla="*/ 7412736 h 7412736"/>
              <a:gd name="connsiteX7" fmla="*/ 0 w 764733"/>
              <a:gd name="connsiteY7" fmla="*/ 127458 h 7412736"/>
              <a:gd name="connsiteX8" fmla="*/ 127458 w 764733"/>
              <a:gd name="connsiteY8" fmla="*/ 0 h 7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733" h="7412736">
                <a:moveTo>
                  <a:pt x="764733" y="1235483"/>
                </a:moveTo>
                <a:lnTo>
                  <a:pt x="764733" y="6177253"/>
                </a:lnTo>
                <a:cubicBezTo>
                  <a:pt x="764733" y="6859587"/>
                  <a:pt x="758846" y="7412731"/>
                  <a:pt x="751584" y="7412731"/>
                </a:cubicBezTo>
                <a:lnTo>
                  <a:pt x="0" y="7412731"/>
                </a:lnTo>
                <a:lnTo>
                  <a:pt x="0" y="7412731"/>
                </a:lnTo>
                <a:lnTo>
                  <a:pt x="0" y="5"/>
                </a:lnTo>
                <a:lnTo>
                  <a:pt x="0" y="5"/>
                </a:lnTo>
                <a:lnTo>
                  <a:pt x="751584" y="5"/>
                </a:lnTo>
                <a:cubicBezTo>
                  <a:pt x="758846" y="5"/>
                  <a:pt x="764733" y="553149"/>
                  <a:pt x="764733" y="1235483"/>
                </a:cubicBez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lnRef>
          <a:fillRef idx="1"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fillRef>
          <a:effectRef idx="0"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1156" rIns="284981" bIns="161157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Manage DBMS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Develop &amp; maintain data pipelines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D50A6B-E934-2BC8-C93D-3F7AA918E5BF}"/>
              </a:ext>
            </a:extLst>
          </p:cNvPr>
          <p:cNvSpPr/>
          <p:nvPr/>
        </p:nvSpPr>
        <p:spPr>
          <a:xfrm>
            <a:off x="304799" y="1829494"/>
            <a:ext cx="4169664" cy="955917"/>
          </a:xfrm>
          <a:custGeom>
            <a:avLst/>
            <a:gdLst>
              <a:gd name="connsiteX0" fmla="*/ 0 w 4169664"/>
              <a:gd name="connsiteY0" fmla="*/ 159323 h 955917"/>
              <a:gd name="connsiteX1" fmla="*/ 159323 w 4169664"/>
              <a:gd name="connsiteY1" fmla="*/ 0 h 955917"/>
              <a:gd name="connsiteX2" fmla="*/ 4010341 w 4169664"/>
              <a:gd name="connsiteY2" fmla="*/ 0 h 955917"/>
              <a:gd name="connsiteX3" fmla="*/ 4169664 w 4169664"/>
              <a:gd name="connsiteY3" fmla="*/ 159323 h 955917"/>
              <a:gd name="connsiteX4" fmla="*/ 4169664 w 4169664"/>
              <a:gd name="connsiteY4" fmla="*/ 796594 h 955917"/>
              <a:gd name="connsiteX5" fmla="*/ 4010341 w 4169664"/>
              <a:gd name="connsiteY5" fmla="*/ 955917 h 955917"/>
              <a:gd name="connsiteX6" fmla="*/ 159323 w 4169664"/>
              <a:gd name="connsiteY6" fmla="*/ 955917 h 955917"/>
              <a:gd name="connsiteX7" fmla="*/ 0 w 4169664"/>
              <a:gd name="connsiteY7" fmla="*/ 796594 h 955917"/>
              <a:gd name="connsiteX8" fmla="*/ 0 w 4169664"/>
              <a:gd name="connsiteY8" fmla="*/ 159323 h 955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9664" h="955917">
                <a:moveTo>
                  <a:pt x="0" y="159323"/>
                </a:moveTo>
                <a:cubicBezTo>
                  <a:pt x="0" y="71331"/>
                  <a:pt x="71331" y="0"/>
                  <a:pt x="159323" y="0"/>
                </a:cubicBezTo>
                <a:lnTo>
                  <a:pt x="4010341" y="0"/>
                </a:lnTo>
                <a:cubicBezTo>
                  <a:pt x="4098333" y="0"/>
                  <a:pt x="4169664" y="71331"/>
                  <a:pt x="4169664" y="159323"/>
                </a:cubicBezTo>
                <a:lnTo>
                  <a:pt x="4169664" y="796594"/>
                </a:lnTo>
                <a:cubicBezTo>
                  <a:pt x="4169664" y="884586"/>
                  <a:pt x="4098333" y="955917"/>
                  <a:pt x="4010341" y="955917"/>
                </a:cubicBezTo>
                <a:lnTo>
                  <a:pt x="159323" y="955917"/>
                </a:lnTo>
                <a:cubicBezTo>
                  <a:pt x="71331" y="955917"/>
                  <a:pt x="0" y="884586"/>
                  <a:pt x="0" y="796594"/>
                </a:cubicBezTo>
                <a:lnTo>
                  <a:pt x="0" y="159323"/>
                </a:lnTo>
                <a:close/>
              </a:path>
            </a:pathLst>
          </a:cu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218114" tIns="132389" rIns="218114" bIns="132389" numCol="1" spcCol="1270" anchor="ctr" anchorCtr="0">
            <a:noAutofit/>
          </a:bodyPr>
          <a:lstStyle/>
          <a:p>
            <a:pPr marL="0" lvl="0" indent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b="0" i="0" kern="1200" dirty="0">
                <a:latin typeface="Helvetica" panose="020B0604020202020204" pitchFamily="34" charset="0"/>
                <a:cs typeface="Helvetica" panose="020B0604020202020204" pitchFamily="34" charset="0"/>
              </a:rPr>
              <a:t>Data Engineer</a:t>
            </a:r>
            <a:endParaRPr lang="en-US" sz="3500" kern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AC5E91-66DC-2BE2-1796-E95A61E4449C}"/>
              </a:ext>
            </a:extLst>
          </p:cNvPr>
          <p:cNvSpPr/>
          <p:nvPr/>
        </p:nvSpPr>
        <p:spPr>
          <a:xfrm>
            <a:off x="4474463" y="2984895"/>
            <a:ext cx="7412737" cy="764734"/>
          </a:xfrm>
          <a:custGeom>
            <a:avLst/>
            <a:gdLst>
              <a:gd name="connsiteX0" fmla="*/ 127458 w 764733"/>
              <a:gd name="connsiteY0" fmla="*/ 0 h 7412736"/>
              <a:gd name="connsiteX1" fmla="*/ 637275 w 764733"/>
              <a:gd name="connsiteY1" fmla="*/ 0 h 7412736"/>
              <a:gd name="connsiteX2" fmla="*/ 764733 w 764733"/>
              <a:gd name="connsiteY2" fmla="*/ 127458 h 7412736"/>
              <a:gd name="connsiteX3" fmla="*/ 764733 w 764733"/>
              <a:gd name="connsiteY3" fmla="*/ 7412736 h 7412736"/>
              <a:gd name="connsiteX4" fmla="*/ 764733 w 764733"/>
              <a:gd name="connsiteY4" fmla="*/ 7412736 h 7412736"/>
              <a:gd name="connsiteX5" fmla="*/ 0 w 764733"/>
              <a:gd name="connsiteY5" fmla="*/ 7412736 h 7412736"/>
              <a:gd name="connsiteX6" fmla="*/ 0 w 764733"/>
              <a:gd name="connsiteY6" fmla="*/ 7412736 h 7412736"/>
              <a:gd name="connsiteX7" fmla="*/ 0 w 764733"/>
              <a:gd name="connsiteY7" fmla="*/ 127458 h 7412736"/>
              <a:gd name="connsiteX8" fmla="*/ 127458 w 764733"/>
              <a:gd name="connsiteY8" fmla="*/ 0 h 7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733" h="7412736">
                <a:moveTo>
                  <a:pt x="764733" y="1235483"/>
                </a:moveTo>
                <a:lnTo>
                  <a:pt x="764733" y="6177253"/>
                </a:lnTo>
                <a:cubicBezTo>
                  <a:pt x="764733" y="6859587"/>
                  <a:pt x="758846" y="7412731"/>
                  <a:pt x="751584" y="7412731"/>
                </a:cubicBezTo>
                <a:lnTo>
                  <a:pt x="0" y="7412731"/>
                </a:lnTo>
                <a:lnTo>
                  <a:pt x="0" y="7412731"/>
                </a:lnTo>
                <a:lnTo>
                  <a:pt x="0" y="5"/>
                </a:lnTo>
                <a:lnTo>
                  <a:pt x="0" y="5"/>
                </a:lnTo>
                <a:lnTo>
                  <a:pt x="751584" y="5"/>
                </a:lnTo>
                <a:cubicBezTo>
                  <a:pt x="758846" y="5"/>
                  <a:pt x="764733" y="553149"/>
                  <a:pt x="764733" y="1235483"/>
                </a:cubicBez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lnRef>
          <a:fillRef idx="1"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fillRef>
          <a:effectRef idx="0"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1156" rIns="284981" bIns="161157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Develop &amp; maintain statistical &amp; ML Models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>
                <a:latin typeface="Helvetica" panose="020B0604020202020204" pitchFamily="34" charset="0"/>
                <a:cs typeface="Helvetica" panose="020B0604020202020204" pitchFamily="34" charset="0"/>
              </a:rPr>
              <a:t>Conduct analysis for deep insights</a:t>
            </a:r>
            <a:endParaRPr lang="en-US" sz="1800" kern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5F19A56-113F-DC70-3840-03E9147F83A6}"/>
              </a:ext>
            </a:extLst>
          </p:cNvPr>
          <p:cNvSpPr/>
          <p:nvPr/>
        </p:nvSpPr>
        <p:spPr>
          <a:xfrm>
            <a:off x="304800" y="2889302"/>
            <a:ext cx="4169664" cy="955917"/>
          </a:xfrm>
          <a:custGeom>
            <a:avLst/>
            <a:gdLst>
              <a:gd name="connsiteX0" fmla="*/ 0 w 4169664"/>
              <a:gd name="connsiteY0" fmla="*/ 159323 h 955917"/>
              <a:gd name="connsiteX1" fmla="*/ 159323 w 4169664"/>
              <a:gd name="connsiteY1" fmla="*/ 0 h 955917"/>
              <a:gd name="connsiteX2" fmla="*/ 4010341 w 4169664"/>
              <a:gd name="connsiteY2" fmla="*/ 0 h 955917"/>
              <a:gd name="connsiteX3" fmla="*/ 4169664 w 4169664"/>
              <a:gd name="connsiteY3" fmla="*/ 159323 h 955917"/>
              <a:gd name="connsiteX4" fmla="*/ 4169664 w 4169664"/>
              <a:gd name="connsiteY4" fmla="*/ 796594 h 955917"/>
              <a:gd name="connsiteX5" fmla="*/ 4010341 w 4169664"/>
              <a:gd name="connsiteY5" fmla="*/ 955917 h 955917"/>
              <a:gd name="connsiteX6" fmla="*/ 159323 w 4169664"/>
              <a:gd name="connsiteY6" fmla="*/ 955917 h 955917"/>
              <a:gd name="connsiteX7" fmla="*/ 0 w 4169664"/>
              <a:gd name="connsiteY7" fmla="*/ 796594 h 955917"/>
              <a:gd name="connsiteX8" fmla="*/ 0 w 4169664"/>
              <a:gd name="connsiteY8" fmla="*/ 159323 h 955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9664" h="955917">
                <a:moveTo>
                  <a:pt x="0" y="159323"/>
                </a:moveTo>
                <a:cubicBezTo>
                  <a:pt x="0" y="71331"/>
                  <a:pt x="71331" y="0"/>
                  <a:pt x="159323" y="0"/>
                </a:cubicBezTo>
                <a:lnTo>
                  <a:pt x="4010341" y="0"/>
                </a:lnTo>
                <a:cubicBezTo>
                  <a:pt x="4098333" y="0"/>
                  <a:pt x="4169664" y="71331"/>
                  <a:pt x="4169664" y="159323"/>
                </a:cubicBezTo>
                <a:lnTo>
                  <a:pt x="4169664" y="796594"/>
                </a:lnTo>
                <a:cubicBezTo>
                  <a:pt x="4169664" y="884586"/>
                  <a:pt x="4098333" y="955917"/>
                  <a:pt x="4010341" y="955917"/>
                </a:cubicBezTo>
                <a:lnTo>
                  <a:pt x="159323" y="955917"/>
                </a:lnTo>
                <a:cubicBezTo>
                  <a:pt x="71331" y="955917"/>
                  <a:pt x="0" y="884586"/>
                  <a:pt x="0" y="796594"/>
                </a:cubicBezTo>
                <a:lnTo>
                  <a:pt x="0" y="159323"/>
                </a:lnTo>
                <a:close/>
              </a:path>
            </a:pathLst>
          </a:cu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218114" tIns="132389" rIns="218114" bIns="132389" numCol="1" spcCol="1270" anchor="ctr" anchorCtr="0">
            <a:noAutofit/>
          </a:bodyPr>
          <a:lstStyle/>
          <a:p>
            <a:pPr marL="0" lvl="0" indent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Data Scientist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B04C35B-FCEC-D2CA-66BA-FC8E412D1311}"/>
              </a:ext>
            </a:extLst>
          </p:cNvPr>
          <p:cNvSpPr/>
          <p:nvPr/>
        </p:nvSpPr>
        <p:spPr>
          <a:xfrm>
            <a:off x="4474463" y="3988607"/>
            <a:ext cx="7412737" cy="764734"/>
          </a:xfrm>
          <a:custGeom>
            <a:avLst/>
            <a:gdLst>
              <a:gd name="connsiteX0" fmla="*/ 127458 w 764733"/>
              <a:gd name="connsiteY0" fmla="*/ 0 h 7412736"/>
              <a:gd name="connsiteX1" fmla="*/ 637275 w 764733"/>
              <a:gd name="connsiteY1" fmla="*/ 0 h 7412736"/>
              <a:gd name="connsiteX2" fmla="*/ 764733 w 764733"/>
              <a:gd name="connsiteY2" fmla="*/ 127458 h 7412736"/>
              <a:gd name="connsiteX3" fmla="*/ 764733 w 764733"/>
              <a:gd name="connsiteY3" fmla="*/ 7412736 h 7412736"/>
              <a:gd name="connsiteX4" fmla="*/ 764733 w 764733"/>
              <a:gd name="connsiteY4" fmla="*/ 7412736 h 7412736"/>
              <a:gd name="connsiteX5" fmla="*/ 0 w 764733"/>
              <a:gd name="connsiteY5" fmla="*/ 7412736 h 7412736"/>
              <a:gd name="connsiteX6" fmla="*/ 0 w 764733"/>
              <a:gd name="connsiteY6" fmla="*/ 7412736 h 7412736"/>
              <a:gd name="connsiteX7" fmla="*/ 0 w 764733"/>
              <a:gd name="connsiteY7" fmla="*/ 127458 h 7412736"/>
              <a:gd name="connsiteX8" fmla="*/ 127458 w 764733"/>
              <a:gd name="connsiteY8" fmla="*/ 0 h 7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733" h="7412736">
                <a:moveTo>
                  <a:pt x="764733" y="1235483"/>
                </a:moveTo>
                <a:lnTo>
                  <a:pt x="764733" y="6177253"/>
                </a:lnTo>
                <a:cubicBezTo>
                  <a:pt x="764733" y="6859587"/>
                  <a:pt x="758846" y="7412731"/>
                  <a:pt x="751584" y="7412731"/>
                </a:cubicBezTo>
                <a:lnTo>
                  <a:pt x="0" y="7412731"/>
                </a:lnTo>
                <a:lnTo>
                  <a:pt x="0" y="7412731"/>
                </a:lnTo>
                <a:lnTo>
                  <a:pt x="0" y="5"/>
                </a:lnTo>
                <a:lnTo>
                  <a:pt x="0" y="5"/>
                </a:lnTo>
                <a:lnTo>
                  <a:pt x="751584" y="5"/>
                </a:lnTo>
                <a:cubicBezTo>
                  <a:pt x="758846" y="5"/>
                  <a:pt x="764733" y="553149"/>
                  <a:pt x="764733" y="1235483"/>
                </a:cubicBez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-4435053"/>
              <a:satOff val="-7690"/>
              <a:lumOff val="-773"/>
              <a:alphaOff val="0"/>
            </a:schemeClr>
          </a:lnRef>
          <a:fillRef idx="1">
            <a:schemeClr val="accent5">
              <a:tint val="40000"/>
              <a:alpha val="90000"/>
              <a:hueOff val="-4435053"/>
              <a:satOff val="-7690"/>
              <a:lumOff val="-773"/>
              <a:alphaOff val="0"/>
            </a:schemeClr>
          </a:fillRef>
          <a:effectRef idx="0">
            <a:schemeClr val="accent5">
              <a:tint val="40000"/>
              <a:alpha val="90000"/>
              <a:hueOff val="-4435053"/>
              <a:satOff val="-7690"/>
              <a:lumOff val="-773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1156" rIns="284981" bIns="161157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>
                <a:latin typeface="Helvetica" panose="020B0604020202020204" pitchFamily="34" charset="0"/>
                <a:cs typeface="Helvetica" panose="020B0604020202020204" pitchFamily="34" charset="0"/>
              </a:rPr>
              <a:t>Create &amp; maintain organisations data blueprint and data systems</a:t>
            </a:r>
            <a:endParaRPr lang="en-US" sz="1800" kern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724AC7-0B64-D0CD-634F-2BC73A351738}"/>
              </a:ext>
            </a:extLst>
          </p:cNvPr>
          <p:cNvSpPr/>
          <p:nvPr/>
        </p:nvSpPr>
        <p:spPr>
          <a:xfrm>
            <a:off x="304800" y="3893015"/>
            <a:ext cx="4169664" cy="955917"/>
          </a:xfrm>
          <a:custGeom>
            <a:avLst/>
            <a:gdLst>
              <a:gd name="connsiteX0" fmla="*/ 0 w 4169664"/>
              <a:gd name="connsiteY0" fmla="*/ 159323 h 955917"/>
              <a:gd name="connsiteX1" fmla="*/ 159323 w 4169664"/>
              <a:gd name="connsiteY1" fmla="*/ 0 h 955917"/>
              <a:gd name="connsiteX2" fmla="*/ 4010341 w 4169664"/>
              <a:gd name="connsiteY2" fmla="*/ 0 h 955917"/>
              <a:gd name="connsiteX3" fmla="*/ 4169664 w 4169664"/>
              <a:gd name="connsiteY3" fmla="*/ 159323 h 955917"/>
              <a:gd name="connsiteX4" fmla="*/ 4169664 w 4169664"/>
              <a:gd name="connsiteY4" fmla="*/ 796594 h 955917"/>
              <a:gd name="connsiteX5" fmla="*/ 4010341 w 4169664"/>
              <a:gd name="connsiteY5" fmla="*/ 955917 h 955917"/>
              <a:gd name="connsiteX6" fmla="*/ 159323 w 4169664"/>
              <a:gd name="connsiteY6" fmla="*/ 955917 h 955917"/>
              <a:gd name="connsiteX7" fmla="*/ 0 w 4169664"/>
              <a:gd name="connsiteY7" fmla="*/ 796594 h 955917"/>
              <a:gd name="connsiteX8" fmla="*/ 0 w 4169664"/>
              <a:gd name="connsiteY8" fmla="*/ 159323 h 955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9664" h="955917">
                <a:moveTo>
                  <a:pt x="0" y="159323"/>
                </a:moveTo>
                <a:cubicBezTo>
                  <a:pt x="0" y="71331"/>
                  <a:pt x="71331" y="0"/>
                  <a:pt x="159323" y="0"/>
                </a:cubicBezTo>
                <a:lnTo>
                  <a:pt x="4010341" y="0"/>
                </a:lnTo>
                <a:cubicBezTo>
                  <a:pt x="4098333" y="0"/>
                  <a:pt x="4169664" y="71331"/>
                  <a:pt x="4169664" y="159323"/>
                </a:cubicBezTo>
                <a:lnTo>
                  <a:pt x="4169664" y="796594"/>
                </a:lnTo>
                <a:cubicBezTo>
                  <a:pt x="4169664" y="884586"/>
                  <a:pt x="4098333" y="955917"/>
                  <a:pt x="4010341" y="955917"/>
                </a:cubicBezTo>
                <a:lnTo>
                  <a:pt x="159323" y="955917"/>
                </a:lnTo>
                <a:cubicBezTo>
                  <a:pt x="71331" y="955917"/>
                  <a:pt x="0" y="884586"/>
                  <a:pt x="0" y="796594"/>
                </a:cubicBezTo>
                <a:lnTo>
                  <a:pt x="0" y="159323"/>
                </a:lnTo>
                <a:close/>
              </a:path>
            </a:pathLst>
          </a:cu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218114" tIns="132389" rIns="218114" bIns="132389" numCol="1" spcCol="1270" anchor="ctr" anchorCtr="0">
            <a:noAutofit/>
          </a:bodyPr>
          <a:lstStyle/>
          <a:p>
            <a:pPr marL="0" lvl="0" indent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Data Architect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828332-4527-A1BA-CE8B-7ABD99A1DBEE}"/>
              </a:ext>
            </a:extLst>
          </p:cNvPr>
          <p:cNvSpPr/>
          <p:nvPr/>
        </p:nvSpPr>
        <p:spPr>
          <a:xfrm>
            <a:off x="4474463" y="4992319"/>
            <a:ext cx="7412737" cy="764734"/>
          </a:xfrm>
          <a:custGeom>
            <a:avLst/>
            <a:gdLst>
              <a:gd name="connsiteX0" fmla="*/ 127458 w 764733"/>
              <a:gd name="connsiteY0" fmla="*/ 0 h 7412736"/>
              <a:gd name="connsiteX1" fmla="*/ 637275 w 764733"/>
              <a:gd name="connsiteY1" fmla="*/ 0 h 7412736"/>
              <a:gd name="connsiteX2" fmla="*/ 764733 w 764733"/>
              <a:gd name="connsiteY2" fmla="*/ 127458 h 7412736"/>
              <a:gd name="connsiteX3" fmla="*/ 764733 w 764733"/>
              <a:gd name="connsiteY3" fmla="*/ 7412736 h 7412736"/>
              <a:gd name="connsiteX4" fmla="*/ 764733 w 764733"/>
              <a:gd name="connsiteY4" fmla="*/ 7412736 h 7412736"/>
              <a:gd name="connsiteX5" fmla="*/ 0 w 764733"/>
              <a:gd name="connsiteY5" fmla="*/ 7412736 h 7412736"/>
              <a:gd name="connsiteX6" fmla="*/ 0 w 764733"/>
              <a:gd name="connsiteY6" fmla="*/ 7412736 h 7412736"/>
              <a:gd name="connsiteX7" fmla="*/ 0 w 764733"/>
              <a:gd name="connsiteY7" fmla="*/ 127458 h 7412736"/>
              <a:gd name="connsiteX8" fmla="*/ 127458 w 764733"/>
              <a:gd name="connsiteY8" fmla="*/ 0 h 7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733" h="7412736">
                <a:moveTo>
                  <a:pt x="764733" y="1235483"/>
                </a:moveTo>
                <a:lnTo>
                  <a:pt x="764733" y="6177253"/>
                </a:lnTo>
                <a:cubicBezTo>
                  <a:pt x="764733" y="6859587"/>
                  <a:pt x="758846" y="7412731"/>
                  <a:pt x="751584" y="7412731"/>
                </a:cubicBezTo>
                <a:lnTo>
                  <a:pt x="0" y="7412731"/>
                </a:lnTo>
                <a:lnTo>
                  <a:pt x="0" y="7412731"/>
                </a:lnTo>
                <a:lnTo>
                  <a:pt x="0" y="5"/>
                </a:lnTo>
                <a:lnTo>
                  <a:pt x="0" y="5"/>
                </a:lnTo>
                <a:lnTo>
                  <a:pt x="751584" y="5"/>
                </a:lnTo>
                <a:cubicBezTo>
                  <a:pt x="758846" y="5"/>
                  <a:pt x="764733" y="553149"/>
                  <a:pt x="764733" y="1235483"/>
                </a:cubicBez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-5913404"/>
              <a:satOff val="-10253"/>
              <a:lumOff val="-1031"/>
              <a:alphaOff val="0"/>
            </a:schemeClr>
          </a:lnRef>
          <a:fillRef idx="1">
            <a:schemeClr val="accent5">
              <a:tint val="40000"/>
              <a:alpha val="90000"/>
              <a:hueOff val="-5913404"/>
              <a:satOff val="-10253"/>
              <a:lumOff val="-1031"/>
              <a:alphaOff val="0"/>
            </a:schemeClr>
          </a:fillRef>
          <a:effectRef idx="0">
            <a:schemeClr val="accent5">
              <a:tint val="40000"/>
              <a:alpha val="90000"/>
              <a:hueOff val="-5913404"/>
              <a:satOff val="-10253"/>
              <a:lumOff val="-1031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1157" rIns="284981" bIns="161156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>
                <a:latin typeface="Helvetica" panose="020B0604020202020204" pitchFamily="34" charset="0"/>
                <a:cs typeface="Helvetica" panose="020B0604020202020204" pitchFamily="34" charset="0"/>
              </a:rPr>
              <a:t>Install &amp; manage DB systems on infra</a:t>
            </a:r>
            <a:endParaRPr lang="en-US" sz="1800" kern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821DA83-7656-E3A5-3DFE-B64234275AAA}"/>
              </a:ext>
            </a:extLst>
          </p:cNvPr>
          <p:cNvSpPr/>
          <p:nvPr/>
        </p:nvSpPr>
        <p:spPr>
          <a:xfrm>
            <a:off x="304800" y="4896728"/>
            <a:ext cx="4169664" cy="955917"/>
          </a:xfrm>
          <a:custGeom>
            <a:avLst/>
            <a:gdLst>
              <a:gd name="connsiteX0" fmla="*/ 0 w 4169664"/>
              <a:gd name="connsiteY0" fmla="*/ 159323 h 955917"/>
              <a:gd name="connsiteX1" fmla="*/ 159323 w 4169664"/>
              <a:gd name="connsiteY1" fmla="*/ 0 h 955917"/>
              <a:gd name="connsiteX2" fmla="*/ 4010341 w 4169664"/>
              <a:gd name="connsiteY2" fmla="*/ 0 h 955917"/>
              <a:gd name="connsiteX3" fmla="*/ 4169664 w 4169664"/>
              <a:gd name="connsiteY3" fmla="*/ 159323 h 955917"/>
              <a:gd name="connsiteX4" fmla="*/ 4169664 w 4169664"/>
              <a:gd name="connsiteY4" fmla="*/ 796594 h 955917"/>
              <a:gd name="connsiteX5" fmla="*/ 4010341 w 4169664"/>
              <a:gd name="connsiteY5" fmla="*/ 955917 h 955917"/>
              <a:gd name="connsiteX6" fmla="*/ 159323 w 4169664"/>
              <a:gd name="connsiteY6" fmla="*/ 955917 h 955917"/>
              <a:gd name="connsiteX7" fmla="*/ 0 w 4169664"/>
              <a:gd name="connsiteY7" fmla="*/ 796594 h 955917"/>
              <a:gd name="connsiteX8" fmla="*/ 0 w 4169664"/>
              <a:gd name="connsiteY8" fmla="*/ 159323 h 955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9664" h="955917">
                <a:moveTo>
                  <a:pt x="0" y="159323"/>
                </a:moveTo>
                <a:cubicBezTo>
                  <a:pt x="0" y="71331"/>
                  <a:pt x="71331" y="0"/>
                  <a:pt x="159323" y="0"/>
                </a:cubicBezTo>
                <a:lnTo>
                  <a:pt x="4010341" y="0"/>
                </a:lnTo>
                <a:cubicBezTo>
                  <a:pt x="4098333" y="0"/>
                  <a:pt x="4169664" y="71331"/>
                  <a:pt x="4169664" y="159323"/>
                </a:cubicBezTo>
                <a:lnTo>
                  <a:pt x="4169664" y="796594"/>
                </a:lnTo>
                <a:cubicBezTo>
                  <a:pt x="4169664" y="884586"/>
                  <a:pt x="4098333" y="955917"/>
                  <a:pt x="4010341" y="955917"/>
                </a:cubicBezTo>
                <a:lnTo>
                  <a:pt x="159323" y="955917"/>
                </a:lnTo>
                <a:cubicBezTo>
                  <a:pt x="71331" y="955917"/>
                  <a:pt x="0" y="884586"/>
                  <a:pt x="0" y="796594"/>
                </a:cubicBezTo>
                <a:lnTo>
                  <a:pt x="0" y="159323"/>
                </a:lnTo>
                <a:close/>
              </a:path>
            </a:pathLst>
          </a:custGeom>
          <a:ln>
            <a:solidFill>
              <a:srgbClr val="46AD4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218114" tIns="132389" rIns="218114" bIns="132389" numCol="1" spcCol="1270" anchor="ctr" anchorCtr="0">
            <a:noAutofit/>
          </a:bodyPr>
          <a:lstStyle/>
          <a:p>
            <a:pPr marL="0" lvl="0" indent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DB Admin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17E2608-0C85-8716-C726-BC11838C63FF}"/>
              </a:ext>
            </a:extLst>
          </p:cNvPr>
          <p:cNvSpPr/>
          <p:nvPr/>
        </p:nvSpPr>
        <p:spPr>
          <a:xfrm>
            <a:off x="4474463" y="5996032"/>
            <a:ext cx="7412737" cy="764734"/>
          </a:xfrm>
          <a:custGeom>
            <a:avLst/>
            <a:gdLst>
              <a:gd name="connsiteX0" fmla="*/ 127458 w 764733"/>
              <a:gd name="connsiteY0" fmla="*/ 0 h 7412736"/>
              <a:gd name="connsiteX1" fmla="*/ 637275 w 764733"/>
              <a:gd name="connsiteY1" fmla="*/ 0 h 7412736"/>
              <a:gd name="connsiteX2" fmla="*/ 764733 w 764733"/>
              <a:gd name="connsiteY2" fmla="*/ 127458 h 7412736"/>
              <a:gd name="connsiteX3" fmla="*/ 764733 w 764733"/>
              <a:gd name="connsiteY3" fmla="*/ 7412736 h 7412736"/>
              <a:gd name="connsiteX4" fmla="*/ 764733 w 764733"/>
              <a:gd name="connsiteY4" fmla="*/ 7412736 h 7412736"/>
              <a:gd name="connsiteX5" fmla="*/ 0 w 764733"/>
              <a:gd name="connsiteY5" fmla="*/ 7412736 h 7412736"/>
              <a:gd name="connsiteX6" fmla="*/ 0 w 764733"/>
              <a:gd name="connsiteY6" fmla="*/ 7412736 h 7412736"/>
              <a:gd name="connsiteX7" fmla="*/ 0 w 764733"/>
              <a:gd name="connsiteY7" fmla="*/ 127458 h 7412736"/>
              <a:gd name="connsiteX8" fmla="*/ 127458 w 764733"/>
              <a:gd name="connsiteY8" fmla="*/ 0 h 7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733" h="7412736">
                <a:moveTo>
                  <a:pt x="764733" y="1235483"/>
                </a:moveTo>
                <a:lnTo>
                  <a:pt x="764733" y="6177253"/>
                </a:lnTo>
                <a:cubicBezTo>
                  <a:pt x="764733" y="6859587"/>
                  <a:pt x="758846" y="7412731"/>
                  <a:pt x="751584" y="7412731"/>
                </a:cubicBezTo>
                <a:lnTo>
                  <a:pt x="0" y="7412731"/>
                </a:lnTo>
                <a:lnTo>
                  <a:pt x="0" y="7412731"/>
                </a:lnTo>
                <a:lnTo>
                  <a:pt x="0" y="5"/>
                </a:lnTo>
                <a:lnTo>
                  <a:pt x="0" y="5"/>
                </a:lnTo>
                <a:lnTo>
                  <a:pt x="751584" y="5"/>
                </a:lnTo>
                <a:cubicBezTo>
                  <a:pt x="758846" y="5"/>
                  <a:pt x="764733" y="553149"/>
                  <a:pt x="764733" y="1235483"/>
                </a:cubicBezTo>
                <a:close/>
              </a:path>
            </a:pathLst>
          </a:custGeom>
        </p:spPr>
        <p:style>
          <a:lnRef idx="2"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lnRef>
          <a:fillRef idx="1"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fillRef>
          <a:effectRef idx="0"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161157" rIns="284981" bIns="161156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Focus on business insights and reporting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3B83936-431E-98B4-75EA-D8D73FC332D3}"/>
              </a:ext>
            </a:extLst>
          </p:cNvPr>
          <p:cNvSpPr/>
          <p:nvPr/>
        </p:nvSpPr>
        <p:spPr>
          <a:xfrm>
            <a:off x="304800" y="5900441"/>
            <a:ext cx="4169664" cy="955917"/>
          </a:xfrm>
          <a:custGeom>
            <a:avLst/>
            <a:gdLst>
              <a:gd name="connsiteX0" fmla="*/ 0 w 4169664"/>
              <a:gd name="connsiteY0" fmla="*/ 159323 h 955917"/>
              <a:gd name="connsiteX1" fmla="*/ 159323 w 4169664"/>
              <a:gd name="connsiteY1" fmla="*/ 0 h 955917"/>
              <a:gd name="connsiteX2" fmla="*/ 4010341 w 4169664"/>
              <a:gd name="connsiteY2" fmla="*/ 0 h 955917"/>
              <a:gd name="connsiteX3" fmla="*/ 4169664 w 4169664"/>
              <a:gd name="connsiteY3" fmla="*/ 159323 h 955917"/>
              <a:gd name="connsiteX4" fmla="*/ 4169664 w 4169664"/>
              <a:gd name="connsiteY4" fmla="*/ 796594 h 955917"/>
              <a:gd name="connsiteX5" fmla="*/ 4010341 w 4169664"/>
              <a:gd name="connsiteY5" fmla="*/ 955917 h 955917"/>
              <a:gd name="connsiteX6" fmla="*/ 159323 w 4169664"/>
              <a:gd name="connsiteY6" fmla="*/ 955917 h 955917"/>
              <a:gd name="connsiteX7" fmla="*/ 0 w 4169664"/>
              <a:gd name="connsiteY7" fmla="*/ 796594 h 955917"/>
              <a:gd name="connsiteX8" fmla="*/ 0 w 4169664"/>
              <a:gd name="connsiteY8" fmla="*/ 159323 h 955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9664" h="955917">
                <a:moveTo>
                  <a:pt x="0" y="159323"/>
                </a:moveTo>
                <a:cubicBezTo>
                  <a:pt x="0" y="71331"/>
                  <a:pt x="71331" y="0"/>
                  <a:pt x="159323" y="0"/>
                </a:cubicBezTo>
                <a:lnTo>
                  <a:pt x="4010341" y="0"/>
                </a:lnTo>
                <a:cubicBezTo>
                  <a:pt x="4098333" y="0"/>
                  <a:pt x="4169664" y="71331"/>
                  <a:pt x="4169664" y="159323"/>
                </a:cubicBezTo>
                <a:lnTo>
                  <a:pt x="4169664" y="796594"/>
                </a:lnTo>
                <a:cubicBezTo>
                  <a:pt x="4169664" y="884586"/>
                  <a:pt x="4098333" y="955917"/>
                  <a:pt x="4010341" y="955917"/>
                </a:cubicBezTo>
                <a:lnTo>
                  <a:pt x="159323" y="955917"/>
                </a:lnTo>
                <a:cubicBezTo>
                  <a:pt x="71331" y="955917"/>
                  <a:pt x="0" y="884586"/>
                  <a:pt x="0" y="796594"/>
                </a:cubicBezTo>
                <a:lnTo>
                  <a:pt x="0" y="159323"/>
                </a:lnTo>
                <a:close/>
              </a:path>
            </a:pathLst>
          </a:custGeom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218114" tIns="132389" rIns="218114" bIns="132389" numCol="1" spcCol="1270" anchor="ctr" anchorCtr="0">
            <a:noAutofit/>
          </a:bodyPr>
          <a:lstStyle/>
          <a:p>
            <a:pPr marL="0" lvl="0" indent="0" algn="ctr" defTabSz="2000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dirty="0">
                <a:latin typeface="Helvetica" panose="020B0604020202020204" pitchFamily="34" charset="0"/>
                <a:cs typeface="Helvetica" panose="020B0604020202020204" pitchFamily="34" charset="0"/>
              </a:rPr>
              <a:t>BI Analysts</a:t>
            </a:r>
          </a:p>
        </p:txBody>
      </p:sp>
    </p:spTree>
    <p:extLst>
      <p:ext uri="{BB962C8B-B14F-4D97-AF65-F5344CB8AC3E}">
        <p14:creationId xmlns:p14="http://schemas.microsoft.com/office/powerpoint/2010/main" val="404468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FDB4-BBC5-9EC9-F367-291B386D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89BB-76C9-9C09-0045-C1CF3C4B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Connecting Dots</a:t>
            </a:r>
          </a:p>
        </p:txBody>
      </p:sp>
    </p:spTree>
    <p:extLst>
      <p:ext uri="{BB962C8B-B14F-4D97-AF65-F5344CB8AC3E}">
        <p14:creationId xmlns:p14="http://schemas.microsoft.com/office/powerpoint/2010/main" val="225059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C45F-13C0-BB12-7E6A-EC07D18B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30204"/>
                <a:cs typeface="Helvetica" panose="020B0604020202030204"/>
              </a:rPr>
              <a:t>Data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1D846-34E7-123E-3711-CD0EDD0A603A}"/>
              </a:ext>
            </a:extLst>
          </p:cNvPr>
          <p:cNvSpPr txBox="1"/>
          <p:nvPr/>
        </p:nvSpPr>
        <p:spPr>
          <a:xfrm>
            <a:off x="455333" y="1109455"/>
            <a:ext cx="1066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From our primary understanding of data management – this is the first concept that we need to understand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Helvetica" panose="020B0604020202030204"/>
              <a:cs typeface="Helvetica" panose="020B0604020202030204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Helvetica" panose="020B0604020202030204"/>
                <a:cs typeface="Helvetica" panose="020B0604020202030204"/>
              </a:rPr>
              <a:t>Let us reiterate what we do here?</a:t>
            </a:r>
          </a:p>
          <a:p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E336AC-DEF7-9786-C03E-3F66A2FF2218}"/>
              </a:ext>
            </a:extLst>
          </p:cNvPr>
          <p:cNvSpPr/>
          <p:nvPr/>
        </p:nvSpPr>
        <p:spPr>
          <a:xfrm>
            <a:off x="419474" y="2392278"/>
            <a:ext cx="2284436" cy="990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BC71C-B407-FCAB-3A10-D3D2EBDAD153}"/>
              </a:ext>
            </a:extLst>
          </p:cNvPr>
          <p:cNvSpPr/>
          <p:nvPr/>
        </p:nvSpPr>
        <p:spPr>
          <a:xfrm>
            <a:off x="455333" y="3826452"/>
            <a:ext cx="2254623" cy="990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Build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26E8C8-8626-4529-34FA-D8A8F696E8C4}"/>
              </a:ext>
            </a:extLst>
          </p:cNvPr>
          <p:cNvSpPr/>
          <p:nvPr/>
        </p:nvSpPr>
        <p:spPr>
          <a:xfrm>
            <a:off x="419474" y="5229251"/>
            <a:ext cx="2284436" cy="990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Maintain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B69B95F-9076-EF18-2B0F-9CFDA8B0092E}"/>
              </a:ext>
            </a:extLst>
          </p:cNvPr>
          <p:cNvSpPr/>
          <p:nvPr/>
        </p:nvSpPr>
        <p:spPr>
          <a:xfrm>
            <a:off x="2822692" y="2459546"/>
            <a:ext cx="1290918" cy="3755499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4522BF-9F17-E683-D27B-B1343CF399A1}"/>
              </a:ext>
            </a:extLst>
          </p:cNvPr>
          <p:cNvSpPr txBox="1"/>
          <p:nvPr/>
        </p:nvSpPr>
        <p:spPr>
          <a:xfrm>
            <a:off x="3190757" y="4423917"/>
            <a:ext cx="16278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dirty="0">
                <a:latin typeface="Helvetica" panose="020B0604020202030204"/>
                <a:cs typeface="Helvetica" panose="020B0604020202030204"/>
              </a:rPr>
              <a:t>For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5E9497-1610-204C-0DB9-CE5F8947D3FC}"/>
              </a:ext>
            </a:extLst>
          </p:cNvPr>
          <p:cNvSpPr/>
          <p:nvPr/>
        </p:nvSpPr>
        <p:spPr>
          <a:xfrm>
            <a:off x="4600460" y="2459546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anose="020B0604020202030204"/>
                <a:cs typeface="Helvetica" panose="020B0604020202030204"/>
              </a:rPr>
              <a:t>Collect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541E31-B215-1D58-6726-2CC24E563DB4}"/>
              </a:ext>
            </a:extLst>
          </p:cNvPr>
          <p:cNvSpPr/>
          <p:nvPr/>
        </p:nvSpPr>
        <p:spPr>
          <a:xfrm>
            <a:off x="4600460" y="3826452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anose="020B0604020202030204"/>
                <a:cs typeface="Helvetica" panose="020B0604020202030204"/>
              </a:rPr>
              <a:t>Transform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5555C-EFE1-1D76-4EEE-8CFCF2FD48A6}"/>
              </a:ext>
            </a:extLst>
          </p:cNvPr>
          <p:cNvSpPr/>
          <p:nvPr/>
        </p:nvSpPr>
        <p:spPr>
          <a:xfrm>
            <a:off x="4600459" y="5274075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" panose="020B0604020202030204"/>
                <a:cs typeface="Helvetica" panose="020B0604020202030204"/>
              </a:rPr>
              <a:t>Store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7DB1EFEC-8C04-5681-A739-53FE9F8497DA}"/>
              </a:ext>
            </a:extLst>
          </p:cNvPr>
          <p:cNvSpPr/>
          <p:nvPr/>
        </p:nvSpPr>
        <p:spPr>
          <a:xfrm>
            <a:off x="7358156" y="2431953"/>
            <a:ext cx="1290918" cy="3755499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6F5CB-13B9-2C8B-6289-C43850B38EFC}"/>
              </a:ext>
            </a:extLst>
          </p:cNvPr>
          <p:cNvSpPr txBox="1"/>
          <p:nvPr/>
        </p:nvSpPr>
        <p:spPr>
          <a:xfrm>
            <a:off x="7744759" y="4300039"/>
            <a:ext cx="16278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dirty="0">
                <a:latin typeface="Helvetica" panose="020B0604020202030204"/>
                <a:cs typeface="Helvetica" panose="020B0604020202030204"/>
              </a:rPr>
              <a:t>For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C87423-0090-5869-BB0A-76C5B4B95C6A}"/>
              </a:ext>
            </a:extLst>
          </p:cNvPr>
          <p:cNvSpPr/>
          <p:nvPr/>
        </p:nvSpPr>
        <p:spPr>
          <a:xfrm>
            <a:off x="9479498" y="2531588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Analytics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A9E0DB-9607-2DD2-1DCD-86A70262BCA0}"/>
              </a:ext>
            </a:extLst>
          </p:cNvPr>
          <p:cNvSpPr/>
          <p:nvPr/>
        </p:nvSpPr>
        <p:spPr>
          <a:xfrm>
            <a:off x="9448122" y="3970666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Data Science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35F54E-F882-4A93-86D2-9A541CF4EED9}"/>
              </a:ext>
            </a:extLst>
          </p:cNvPr>
          <p:cNvSpPr/>
          <p:nvPr/>
        </p:nvSpPr>
        <p:spPr>
          <a:xfrm>
            <a:off x="9407781" y="5298648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24181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C45F-13C0-BB12-7E6A-EC07D18B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30204"/>
                <a:cs typeface="Helvetica" panose="020B0604020202030204"/>
              </a:rPr>
              <a:t>Data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1D846-34E7-123E-3711-CD0EDD0A603A}"/>
              </a:ext>
            </a:extLst>
          </p:cNvPr>
          <p:cNvSpPr txBox="1"/>
          <p:nvPr/>
        </p:nvSpPr>
        <p:spPr>
          <a:xfrm>
            <a:off x="455333" y="1109455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" panose="020B0604020202030204"/>
                <a:cs typeface="Helvetica" panose="020B0604020202030204"/>
              </a:rPr>
              <a:t>Think of it like building a car</a:t>
            </a:r>
            <a:endParaRPr lang="en-US" dirty="0">
              <a:latin typeface="Helvetica" panose="020B0604020202030204"/>
              <a:cs typeface="Helvetica" panose="020B0604020202030204"/>
            </a:endParaRPr>
          </a:p>
          <a:p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E336AC-DEF7-9786-C03E-3F66A2FF2218}"/>
              </a:ext>
            </a:extLst>
          </p:cNvPr>
          <p:cNvSpPr/>
          <p:nvPr/>
        </p:nvSpPr>
        <p:spPr>
          <a:xfrm>
            <a:off x="419474" y="2392278"/>
            <a:ext cx="2284436" cy="990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" panose="020B0604020202030204"/>
                <a:cs typeface="Helvetica" panose="020B0604020202030204"/>
              </a:rPr>
              <a:t>Design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  <a:latin typeface="Helvetica" panose="020B0604020202030204"/>
                <a:cs typeface="Helvetica" panose="020B0604020202030204"/>
              </a:rPr>
              <a:t>Plan the car’s structure</a:t>
            </a:r>
            <a:endParaRPr lang="en-US" dirty="0">
              <a:solidFill>
                <a:srgbClr val="FF0000"/>
              </a:solidFill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BC71C-B407-FCAB-3A10-D3D2EBDAD153}"/>
              </a:ext>
            </a:extLst>
          </p:cNvPr>
          <p:cNvSpPr/>
          <p:nvPr/>
        </p:nvSpPr>
        <p:spPr>
          <a:xfrm>
            <a:off x="455333" y="3826452"/>
            <a:ext cx="2254623" cy="990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Helvetica" panose="020B0604020202030204"/>
              <a:cs typeface="Helvetica" panose="020B0604020202030204"/>
            </a:endParaRPr>
          </a:p>
          <a:p>
            <a:pPr algn="ctr"/>
            <a:r>
              <a:rPr lang="en-US" dirty="0" smtClean="0">
                <a:latin typeface="Helvetica" panose="020B0604020202030204"/>
                <a:cs typeface="Helvetica" panose="020B0604020202030204"/>
              </a:rPr>
              <a:t>Build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  <a:latin typeface="Helvetica" panose="020B0604020202030204"/>
                <a:cs typeface="Helvetica" panose="020B0604020202030204"/>
              </a:rPr>
              <a:t>Assemble the parts</a:t>
            </a:r>
            <a:endParaRPr lang="en-US" dirty="0">
              <a:solidFill>
                <a:srgbClr val="FF0000"/>
              </a:solidFill>
              <a:latin typeface="Helvetica" panose="020B0604020202030204"/>
              <a:cs typeface="Helvetica" panose="020B0604020202030204"/>
            </a:endParaRPr>
          </a:p>
          <a:p>
            <a:pPr algn="ctr"/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26E8C8-8626-4529-34FA-D8A8F696E8C4}"/>
              </a:ext>
            </a:extLst>
          </p:cNvPr>
          <p:cNvSpPr/>
          <p:nvPr/>
        </p:nvSpPr>
        <p:spPr>
          <a:xfrm>
            <a:off x="419474" y="5229251"/>
            <a:ext cx="2284436" cy="990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" panose="020B0604020202030204"/>
                <a:cs typeface="Helvetica" panose="020B0604020202030204"/>
              </a:rPr>
              <a:t>Maintain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  <a:latin typeface="Helvetica" panose="020B0604020202030204"/>
                <a:cs typeface="Helvetica" panose="020B0604020202030204"/>
              </a:rPr>
              <a:t>Fix issues and upgrade as needed</a:t>
            </a:r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B69B95F-9076-EF18-2B0F-9CFDA8B0092E}"/>
              </a:ext>
            </a:extLst>
          </p:cNvPr>
          <p:cNvSpPr/>
          <p:nvPr/>
        </p:nvSpPr>
        <p:spPr>
          <a:xfrm>
            <a:off x="2822692" y="2459546"/>
            <a:ext cx="1290918" cy="3755499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4522BF-9F17-E683-D27B-B1343CF399A1}"/>
              </a:ext>
            </a:extLst>
          </p:cNvPr>
          <p:cNvSpPr txBox="1"/>
          <p:nvPr/>
        </p:nvSpPr>
        <p:spPr>
          <a:xfrm>
            <a:off x="3190757" y="4423917"/>
            <a:ext cx="16278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dirty="0">
                <a:latin typeface="Helvetica" panose="020B0604020202030204"/>
                <a:cs typeface="Helvetica" panose="020B0604020202030204"/>
              </a:rPr>
              <a:t>For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5E9497-1610-204C-0DB9-CE5F8947D3FC}"/>
              </a:ext>
            </a:extLst>
          </p:cNvPr>
          <p:cNvSpPr/>
          <p:nvPr/>
        </p:nvSpPr>
        <p:spPr>
          <a:xfrm>
            <a:off x="4600460" y="2459546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Helvetica" panose="020B0604020202030204"/>
                <a:cs typeface="Helvetica" panose="020B0604020202030204"/>
              </a:rPr>
              <a:t>Collect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  <a:latin typeface="Helvetica" panose="020B0604020202030204"/>
                <a:cs typeface="Helvetica" panose="020B0604020202030204"/>
              </a:rPr>
              <a:t>Fueling the car</a:t>
            </a:r>
            <a:endParaRPr lang="en-US" dirty="0">
              <a:solidFill>
                <a:srgbClr val="FF0000"/>
              </a:solidFill>
              <a:latin typeface="Helvetica" panose="020B0604020202030204"/>
              <a:cs typeface="Helvetica" panose="020B0604020202030204"/>
            </a:endParaRPr>
          </a:p>
          <a:p>
            <a:pPr algn="ctr"/>
            <a:endParaRPr lang="en-US" dirty="0">
              <a:solidFill>
                <a:schemeClr val="tx1"/>
              </a:solidFill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541E31-B215-1D58-6726-2CC24E563DB4}"/>
              </a:ext>
            </a:extLst>
          </p:cNvPr>
          <p:cNvSpPr/>
          <p:nvPr/>
        </p:nvSpPr>
        <p:spPr>
          <a:xfrm>
            <a:off x="4600460" y="3826452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Helvetica" panose="020B0604020202030204"/>
                <a:cs typeface="Helvetica" panose="020B0604020202030204"/>
              </a:rPr>
              <a:t>Transform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  <a:latin typeface="Helvetica" panose="020B0604020202030204"/>
                <a:cs typeface="Helvetica" panose="020B0604020202030204"/>
              </a:rPr>
              <a:t>Burning Fuel to power the engine</a:t>
            </a:r>
            <a:endParaRPr lang="en-US" dirty="0">
              <a:solidFill>
                <a:schemeClr val="tx1"/>
              </a:solidFill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5555C-EFE1-1D76-4EEE-8CFCF2FD48A6}"/>
              </a:ext>
            </a:extLst>
          </p:cNvPr>
          <p:cNvSpPr/>
          <p:nvPr/>
        </p:nvSpPr>
        <p:spPr>
          <a:xfrm>
            <a:off x="4600459" y="5274075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Helvetica" panose="020B0604020202030204"/>
                <a:cs typeface="Helvetica" panose="020B0604020202030204"/>
              </a:rPr>
              <a:t>Store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  <a:latin typeface="Helvetica" panose="020B0604020202030204"/>
                <a:cs typeface="Helvetica" panose="020B0604020202030204"/>
              </a:rPr>
              <a:t>Parking the car into a garage</a:t>
            </a:r>
            <a:endParaRPr lang="en-US" dirty="0">
              <a:solidFill>
                <a:schemeClr val="tx1"/>
              </a:solidFill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7DB1EFEC-8C04-5681-A739-53FE9F8497DA}"/>
              </a:ext>
            </a:extLst>
          </p:cNvPr>
          <p:cNvSpPr/>
          <p:nvPr/>
        </p:nvSpPr>
        <p:spPr>
          <a:xfrm>
            <a:off x="7358156" y="2431953"/>
            <a:ext cx="1290918" cy="3755499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6F5CB-13B9-2C8B-6289-C43850B38EFC}"/>
              </a:ext>
            </a:extLst>
          </p:cNvPr>
          <p:cNvSpPr txBox="1"/>
          <p:nvPr/>
        </p:nvSpPr>
        <p:spPr>
          <a:xfrm>
            <a:off x="7744759" y="4300039"/>
            <a:ext cx="16278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dirty="0">
                <a:latin typeface="Helvetica" panose="020B0604020202030204"/>
                <a:cs typeface="Helvetica" panose="020B0604020202030204"/>
              </a:rPr>
              <a:t>For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C87423-0090-5869-BB0A-76C5B4B95C6A}"/>
              </a:ext>
            </a:extLst>
          </p:cNvPr>
          <p:cNvSpPr/>
          <p:nvPr/>
        </p:nvSpPr>
        <p:spPr>
          <a:xfrm>
            <a:off x="9479498" y="2531588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" panose="020B0604020202030204"/>
                <a:cs typeface="Helvetica" panose="020B0604020202030204"/>
              </a:rPr>
              <a:t>Analytics</a:t>
            </a:r>
          </a:p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Helvetica" panose="020B0604020202030204"/>
                <a:cs typeface="Helvetica" panose="020B0604020202030204"/>
              </a:rPr>
              <a:t>Monitor Car Status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Helvetica" panose="020B0604020202030204"/>
              <a:cs typeface="Helvetica" panose="020B0604020202030204"/>
            </a:endParaRPr>
          </a:p>
          <a:p>
            <a:pPr algn="ctr"/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A9E0DB-9607-2DD2-1DCD-86A70262BCA0}"/>
              </a:ext>
            </a:extLst>
          </p:cNvPr>
          <p:cNvSpPr/>
          <p:nvPr/>
        </p:nvSpPr>
        <p:spPr>
          <a:xfrm>
            <a:off x="9448122" y="3970666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Data </a:t>
            </a:r>
            <a:r>
              <a:rPr lang="en-US" dirty="0" smtClean="0">
                <a:latin typeface="Helvetica" panose="020B0604020202030204"/>
                <a:cs typeface="Helvetica" panose="020B0604020202030204"/>
              </a:rPr>
              <a:t>Science</a:t>
            </a:r>
          </a:p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Helvetica" panose="020B0604020202030204"/>
                <a:cs typeface="Helvetica" panose="020B0604020202030204"/>
              </a:rPr>
              <a:t>Study past data to make better decisions</a:t>
            </a:r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35F54E-F882-4A93-86D2-9A541CF4EED9}"/>
              </a:ext>
            </a:extLst>
          </p:cNvPr>
          <p:cNvSpPr/>
          <p:nvPr/>
        </p:nvSpPr>
        <p:spPr>
          <a:xfrm>
            <a:off x="9407781" y="5298648"/>
            <a:ext cx="2629578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" panose="020B0604020202030204"/>
                <a:cs typeface="Helvetica" panose="020B0604020202030204"/>
              </a:rPr>
              <a:t>Machine </a:t>
            </a:r>
            <a:r>
              <a:rPr lang="en-US" dirty="0" smtClean="0">
                <a:latin typeface="Helvetica" panose="020B0604020202030204"/>
                <a:cs typeface="Helvetica" panose="020B0604020202030204"/>
              </a:rPr>
              <a:t>Learning</a:t>
            </a:r>
          </a:p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Helvetica" panose="020B0604020202030204"/>
                <a:cs typeface="Helvetica" panose="020B0604020202030204"/>
              </a:rPr>
              <a:t>Teach the car to drive smarter on its own</a:t>
            </a:r>
            <a:endParaRPr lang="en-US" dirty="0">
              <a:latin typeface="Helvetica" panose="020B0604020202030204"/>
              <a:cs typeface="Helvetica" panose="020B0604020202030204"/>
            </a:endParaRPr>
          </a:p>
        </p:txBody>
      </p:sp>
    </p:spTree>
    <p:extLst>
      <p:ext uri="{BB962C8B-B14F-4D97-AF65-F5344CB8AC3E}">
        <p14:creationId xmlns:p14="http://schemas.microsoft.com/office/powerpoint/2010/main" val="56405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0E45-E0B5-9B20-8344-DF0D323C7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CCC9B-B9E0-8828-0AC0-7A2C4ED3B2BA}"/>
              </a:ext>
            </a:extLst>
          </p:cNvPr>
          <p:cNvSpPr txBox="1"/>
          <p:nvPr/>
        </p:nvSpPr>
        <p:spPr>
          <a:xfrm>
            <a:off x="152400" y="933898"/>
            <a:ext cx="1143000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Consider an ecommerce company which wants to understand the customers’ shopping interest and want to implement personalized recommendation engine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you say how will you start and what will you do in </a:t>
            </a:r>
            <a:r>
              <a:rPr lang="en-US">
                <a:latin typeface="Helvetica" panose="020B0604020202020204" pitchFamily="34" charset="0"/>
                <a:cs typeface="Helvetica" panose="020B0604020202020204" pitchFamily="34" charset="0"/>
              </a:rPr>
              <a:t>this scenario?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9DC77F-2790-DDFB-E618-88CAB67745B2}"/>
              </a:ext>
            </a:extLst>
          </p:cNvPr>
          <p:cNvSpPr/>
          <p:nvPr/>
        </p:nvSpPr>
        <p:spPr>
          <a:xfrm>
            <a:off x="183776" y="2362200"/>
            <a:ext cx="5378824" cy="762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Engineering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FAB7C-4BE6-18C7-F4E9-475B8D90C7E5}"/>
              </a:ext>
            </a:extLst>
          </p:cNvPr>
          <p:cNvSpPr/>
          <p:nvPr/>
        </p:nvSpPr>
        <p:spPr>
          <a:xfrm>
            <a:off x="272676" y="2895600"/>
            <a:ext cx="5226424" cy="1905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Look into data sources, cleaning logic, storage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Schedulers to collect the data and feed the data to the recommendation engine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Maintain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Raise alarms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Work on CRs if there are any changes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CAC03ACC-D2C7-888E-91B0-9BCB2CC8CDB7}"/>
              </a:ext>
            </a:extLst>
          </p:cNvPr>
          <p:cNvSpPr/>
          <p:nvPr/>
        </p:nvSpPr>
        <p:spPr>
          <a:xfrm>
            <a:off x="4419600" y="2134226"/>
            <a:ext cx="3352800" cy="533401"/>
          </a:xfrm>
          <a:prstGeom prst="wedgeRoundRectCallout">
            <a:avLst>
              <a:gd name="adj1" fmla="val -34068"/>
              <a:gd name="adj2" fmla="val 334682"/>
              <a:gd name="adj3" fmla="val 16667"/>
            </a:avLst>
          </a:prstGeom>
          <a:solidFill>
            <a:schemeClr val="lt1">
              <a:alpha val="82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is/are  missing here?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C6EA91-4800-198D-E336-AE584F56DBF9}"/>
              </a:ext>
            </a:extLst>
          </p:cNvPr>
          <p:cNvSpPr/>
          <p:nvPr/>
        </p:nvSpPr>
        <p:spPr>
          <a:xfrm>
            <a:off x="6203576" y="4647573"/>
            <a:ext cx="5378824" cy="762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9F496-222F-4C37-CB80-DB0002A81ABA}"/>
              </a:ext>
            </a:extLst>
          </p:cNvPr>
          <p:cNvSpPr/>
          <p:nvPr/>
        </p:nvSpPr>
        <p:spPr>
          <a:xfrm>
            <a:off x="6338047" y="2904878"/>
            <a:ext cx="5226424" cy="18957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Business acumen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Data models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Holistic 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Design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Orchestration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Overall data platform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1CEED6CB-A8C7-561A-D03C-2F0679C61375}"/>
              </a:ext>
            </a:extLst>
          </p:cNvPr>
          <p:cNvSpPr/>
          <p:nvPr/>
        </p:nvSpPr>
        <p:spPr>
          <a:xfrm>
            <a:off x="8857129" y="2104777"/>
            <a:ext cx="3352800" cy="533401"/>
          </a:xfrm>
          <a:prstGeom prst="wedgeRoundRectCallout">
            <a:avLst>
              <a:gd name="adj1" fmla="val -34068"/>
              <a:gd name="adj2" fmla="val 334682"/>
              <a:gd name="adj3" fmla="val 16667"/>
            </a:avLst>
          </a:prstGeom>
          <a:solidFill>
            <a:schemeClr val="lt1">
              <a:alpha val="82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is/are  missing here?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01CBF1-9905-ABBE-B015-E11FA13415E7}"/>
              </a:ext>
            </a:extLst>
          </p:cNvPr>
          <p:cNvSpPr/>
          <p:nvPr/>
        </p:nvSpPr>
        <p:spPr>
          <a:xfrm rot="5400000">
            <a:off x="4244198" y="5442529"/>
            <a:ext cx="1747804" cy="762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867ED0-DFCB-8CF5-9FFE-A1F57A11A968}"/>
              </a:ext>
            </a:extLst>
          </p:cNvPr>
          <p:cNvSpPr/>
          <p:nvPr/>
        </p:nvSpPr>
        <p:spPr>
          <a:xfrm>
            <a:off x="2012577" y="5285366"/>
            <a:ext cx="2755900" cy="12774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Privacy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Security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Monitoring &amp; logging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Lifecycle </a:t>
            </a:r>
          </a:p>
        </p:txBody>
      </p:sp>
    </p:spTree>
    <p:extLst>
      <p:ext uri="{BB962C8B-B14F-4D97-AF65-F5344CB8AC3E}">
        <p14:creationId xmlns:p14="http://schemas.microsoft.com/office/powerpoint/2010/main" val="279497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 animBg="1"/>
      <p:bldP spid="9" grpId="0" animBg="1"/>
      <p:bldP spid="10" grpId="0" animBg="1"/>
      <p:bldP spid="11" grpId="0" build="p" animBg="1"/>
      <p:bldP spid="12" grpId="0" animBg="1"/>
      <p:bldP spid="13" grpId="0" animBg="1"/>
      <p:bldP spid="14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1E90-88B8-78DD-DAB1-1AA03640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Relationship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4F9264-7C68-F5C0-1C48-BBAA31B3C0E0}"/>
              </a:ext>
            </a:extLst>
          </p:cNvPr>
          <p:cNvSpPr/>
          <p:nvPr/>
        </p:nvSpPr>
        <p:spPr>
          <a:xfrm>
            <a:off x="1066800" y="1837765"/>
            <a:ext cx="6217920" cy="3200400"/>
          </a:xfrm>
          <a:prstGeom prst="ellipse">
            <a:avLst/>
          </a:prstGeom>
          <a:solidFill>
            <a:schemeClr val="lt1">
              <a:alpha val="51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u="sng" dirty="0"/>
              <a:t>Data Architecture</a:t>
            </a:r>
          </a:p>
          <a:p>
            <a:r>
              <a:rPr lang="en-US" dirty="0"/>
              <a:t>Blueprints, Standards, </a:t>
            </a:r>
          </a:p>
          <a:p>
            <a:r>
              <a:rPr lang="en-US" dirty="0"/>
              <a:t>Data Models, </a:t>
            </a:r>
          </a:p>
          <a:p>
            <a:r>
              <a:rPr lang="en-US" dirty="0"/>
              <a:t>Integration Flows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972973-ABDD-3151-48CE-6B8A831F0742}"/>
              </a:ext>
            </a:extLst>
          </p:cNvPr>
          <p:cNvSpPr/>
          <p:nvPr/>
        </p:nvSpPr>
        <p:spPr>
          <a:xfrm>
            <a:off x="4495800" y="1828800"/>
            <a:ext cx="6217920" cy="3200400"/>
          </a:xfrm>
          <a:prstGeom prst="ellipse">
            <a:avLst/>
          </a:prstGeom>
          <a:solidFill>
            <a:schemeClr val="lt1">
              <a:alpha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u="sng" dirty="0"/>
              <a:t>Data  Engineering</a:t>
            </a:r>
            <a:endParaRPr lang="en-US" dirty="0"/>
          </a:p>
          <a:p>
            <a:pPr algn="r"/>
            <a:r>
              <a:rPr lang="en-US" dirty="0"/>
              <a:t>Pipelines, </a:t>
            </a:r>
          </a:p>
          <a:p>
            <a:pPr algn="r"/>
            <a:r>
              <a:rPr lang="en-US" dirty="0"/>
              <a:t>ETL/ELT, APIs, </a:t>
            </a:r>
          </a:p>
          <a:p>
            <a:pPr algn="r"/>
            <a:r>
              <a:rPr lang="en-US" dirty="0"/>
              <a:t>Streaming, Orchestration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47ADF-8A2B-CF97-EB90-ABCCCB8D9335}"/>
              </a:ext>
            </a:extLst>
          </p:cNvPr>
          <p:cNvSpPr txBox="1"/>
          <p:nvPr/>
        </p:nvSpPr>
        <p:spPr>
          <a:xfrm>
            <a:off x="5029200" y="2447365"/>
            <a:ext cx="1371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Big Data</a:t>
            </a:r>
          </a:p>
          <a:p>
            <a:r>
              <a:rPr lang="en-US" dirty="0"/>
              <a:t>Volume, Velocity, Variety, Distributed Ecosystems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884231-2776-787D-1361-B497E325C437}"/>
              </a:ext>
            </a:extLst>
          </p:cNvPr>
          <p:cNvSpPr/>
          <p:nvPr/>
        </p:nvSpPr>
        <p:spPr>
          <a:xfrm>
            <a:off x="1066800" y="5038165"/>
            <a:ext cx="9906000" cy="113403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Data Governance</a:t>
            </a:r>
          </a:p>
          <a:p>
            <a:pPr algn="ctr"/>
            <a:r>
              <a:rPr lang="en-US" dirty="0"/>
              <a:t>Quality, Compliance, Metadata, Stewardship, Security</a:t>
            </a:r>
          </a:p>
        </p:txBody>
      </p:sp>
    </p:spTree>
    <p:extLst>
      <p:ext uri="{BB962C8B-B14F-4D97-AF65-F5344CB8AC3E}">
        <p14:creationId xmlns:p14="http://schemas.microsoft.com/office/powerpoint/2010/main" val="273389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C736-48AF-F9D5-AE8B-550E4D7C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F7771-506F-AA5E-D539-3C3CF0998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1143001"/>
            <a:ext cx="10160000" cy="14478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Source : </a:t>
            </a:r>
            <a:r>
              <a:rPr lang="en-US" dirty="0" err="1">
                <a:hlinkClick r:id="rId2"/>
              </a:rPr>
              <a:t>trellance</a:t>
            </a:r>
            <a:endParaRPr lang="en-US" dirty="0"/>
          </a:p>
          <a:p>
            <a:r>
              <a:rPr lang="en-US" dirty="0">
                <a:hlinkClick r:id="rId3"/>
              </a:rPr>
              <a:t>https://www.ibm.com/in-en/topics/data-management</a:t>
            </a:r>
            <a:endParaRPr lang="en-US" dirty="0"/>
          </a:p>
          <a:p>
            <a:r>
              <a:rPr lang="en-US" dirty="0">
                <a:hlinkClick r:id="rId4"/>
              </a:rPr>
              <a:t>https://medium.com/@icaro_vazquez/what-is-a-data-platform-081549a2cef6</a:t>
            </a:r>
            <a:r>
              <a:rPr lang="en-US" dirty="0"/>
              <a:t> </a:t>
            </a:r>
          </a:p>
          <a:p>
            <a:r>
              <a:rPr lang="en-US" dirty="0"/>
              <a:t>DMBOK</a:t>
            </a:r>
          </a:p>
          <a:p>
            <a:r>
              <a:rPr lang="en-US" dirty="0"/>
              <a:t>Reliable Machine Learning By Chen, Murphy, Sculley, Underwood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6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5281</TotalTime>
  <Words>3199</Words>
  <Application>Microsoft Office PowerPoint</Application>
  <PresentationFormat>Widescreen</PresentationFormat>
  <Paragraphs>584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Calibri Light</vt:lpstr>
      <vt:lpstr>Google Sans</vt:lpstr>
      <vt:lpstr>Helvetica</vt:lpstr>
      <vt:lpstr>Helvetica Light</vt:lpstr>
      <vt:lpstr>NetflixSans</vt:lpstr>
      <vt:lpstr>Wingdings</vt:lpstr>
      <vt:lpstr>Office Theme</vt:lpstr>
      <vt:lpstr>Data Management for Machine Learning</vt:lpstr>
      <vt:lpstr>PowerPoint Presentation</vt:lpstr>
      <vt:lpstr>PowerPoint Presentation</vt:lpstr>
      <vt:lpstr>Agenda</vt:lpstr>
      <vt:lpstr>Principles of Data</vt:lpstr>
      <vt:lpstr>Data As Asset</vt:lpstr>
      <vt:lpstr>Data As Asset</vt:lpstr>
      <vt:lpstr>Data As Liability</vt:lpstr>
      <vt:lpstr>Data As Liability </vt:lpstr>
      <vt:lpstr>Data As Liability</vt:lpstr>
      <vt:lpstr>Data As Liability</vt:lpstr>
      <vt:lpstr>Data Sensitivity of ML Pipelines</vt:lpstr>
      <vt:lpstr>Data Reliability</vt:lpstr>
      <vt:lpstr>Data Management</vt:lpstr>
      <vt:lpstr>A Study by IBM</vt:lpstr>
      <vt:lpstr>What is Data Management?</vt:lpstr>
      <vt:lpstr>I . Data Integration and Processing</vt:lpstr>
      <vt:lpstr>I. Data Integration and Processing - contd</vt:lpstr>
      <vt:lpstr>I. Data Integration and Processing - contd</vt:lpstr>
      <vt:lpstr>II. Data Storage</vt:lpstr>
      <vt:lpstr>II. Data Storage</vt:lpstr>
      <vt:lpstr>III. Data Governance</vt:lpstr>
      <vt:lpstr>IV. Data Security</vt:lpstr>
      <vt:lpstr>Data Platform</vt:lpstr>
      <vt:lpstr>Data Platform</vt:lpstr>
      <vt:lpstr>DM Components</vt:lpstr>
      <vt:lpstr>Framework</vt:lpstr>
      <vt:lpstr>Phases in Data Life-cycle</vt:lpstr>
      <vt:lpstr>Phases</vt:lpstr>
      <vt:lpstr>Phases</vt:lpstr>
      <vt:lpstr>Generation / Creation</vt:lpstr>
      <vt:lpstr>Ingestion</vt:lpstr>
      <vt:lpstr>Processing</vt:lpstr>
      <vt:lpstr>Post - processing</vt:lpstr>
      <vt:lpstr>Data Roles</vt:lpstr>
      <vt:lpstr>Key Roles</vt:lpstr>
      <vt:lpstr>Connecting Dots</vt:lpstr>
      <vt:lpstr>Data Engineering</vt:lpstr>
      <vt:lpstr>Data Engineering</vt:lpstr>
      <vt:lpstr>Case Study</vt:lpstr>
      <vt:lpstr>Conceptual Relationship</vt:lpstr>
      <vt:lpstr>References: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Admin</cp:lastModifiedBy>
  <cp:revision>447</cp:revision>
  <dcterms:created xsi:type="dcterms:W3CDTF">2018-10-16T06:13:57Z</dcterms:created>
  <dcterms:modified xsi:type="dcterms:W3CDTF">2026-01-22T05:56:59Z</dcterms:modified>
</cp:coreProperties>
</file>