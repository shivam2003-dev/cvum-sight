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6" r:id="rId1"/>
  </p:sldMasterIdLst>
  <p:notesMasterIdLst>
    <p:notesMasterId r:id="rId55"/>
  </p:notesMasterIdLst>
  <p:sldIdLst>
    <p:sldId id="266" r:id="rId2"/>
    <p:sldId id="284" r:id="rId3"/>
    <p:sldId id="344" r:id="rId4"/>
    <p:sldId id="398" r:id="rId5"/>
    <p:sldId id="400" r:id="rId6"/>
    <p:sldId id="401" r:id="rId7"/>
    <p:sldId id="302" r:id="rId8"/>
    <p:sldId id="343" r:id="rId9"/>
    <p:sldId id="357" r:id="rId10"/>
    <p:sldId id="345" r:id="rId11"/>
    <p:sldId id="346" r:id="rId12"/>
    <p:sldId id="347" r:id="rId13"/>
    <p:sldId id="403" r:id="rId14"/>
    <p:sldId id="359" r:id="rId15"/>
    <p:sldId id="350" r:id="rId16"/>
    <p:sldId id="368" r:id="rId17"/>
    <p:sldId id="370" r:id="rId18"/>
    <p:sldId id="371" r:id="rId19"/>
    <p:sldId id="372" r:id="rId20"/>
    <p:sldId id="373" r:id="rId21"/>
    <p:sldId id="354" r:id="rId22"/>
    <p:sldId id="355" r:id="rId23"/>
    <p:sldId id="351" r:id="rId24"/>
    <p:sldId id="352" r:id="rId25"/>
    <p:sldId id="353" r:id="rId26"/>
    <p:sldId id="364" r:id="rId27"/>
    <p:sldId id="365" r:id="rId28"/>
    <p:sldId id="366" r:id="rId29"/>
    <p:sldId id="367" r:id="rId30"/>
    <p:sldId id="360" r:id="rId31"/>
    <p:sldId id="356" r:id="rId32"/>
    <p:sldId id="361" r:id="rId33"/>
    <p:sldId id="362" r:id="rId34"/>
    <p:sldId id="382" r:id="rId35"/>
    <p:sldId id="383" r:id="rId36"/>
    <p:sldId id="384" r:id="rId37"/>
    <p:sldId id="385" r:id="rId38"/>
    <p:sldId id="387" r:id="rId39"/>
    <p:sldId id="386" r:id="rId40"/>
    <p:sldId id="389" r:id="rId41"/>
    <p:sldId id="390" r:id="rId42"/>
    <p:sldId id="288" r:id="rId43"/>
    <p:sldId id="289" r:id="rId44"/>
    <p:sldId id="402" r:id="rId45"/>
    <p:sldId id="391" r:id="rId46"/>
    <p:sldId id="392" r:id="rId47"/>
    <p:sldId id="393" r:id="rId48"/>
    <p:sldId id="394" r:id="rId49"/>
    <p:sldId id="396" r:id="rId50"/>
    <p:sldId id="395" r:id="rId51"/>
    <p:sldId id="397" r:id="rId52"/>
    <p:sldId id="342" r:id="rId53"/>
    <p:sldId id="268"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8"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0AD47"/>
    <a:srgbClr val="46AD46"/>
    <a:srgbClr val="1E2F64"/>
    <a:srgbClr val="150860"/>
    <a:srgbClr val="1C1573"/>
    <a:srgbClr val="283E84"/>
    <a:srgbClr val="211D71"/>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305" autoAdjust="0"/>
  </p:normalViewPr>
  <p:slideViewPr>
    <p:cSldViewPr>
      <p:cViewPr varScale="1">
        <p:scale>
          <a:sx n="106" d="100"/>
          <a:sy n="106" d="100"/>
        </p:scale>
        <p:origin x="672" y="114"/>
      </p:cViewPr>
      <p:guideLst>
        <p:guide orient="horz" pos="2208"/>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diagrams/_rels/data2.xml.rels><?xml version="1.0" encoding="UTF-8" standalone="yes"?>
<Relationships xmlns="http://schemas.openxmlformats.org/package/2006/relationships"><Relationship Id="rId1" Type="http://schemas.openxmlformats.org/officeDocument/2006/relationships/hyperlink" Target="https://www.ibm.com/topics/internet-of-things" TargetMode="External"/></Relationships>
</file>

<file path=ppt/diagrams/_rels/drawing2.xml.rels><?xml version="1.0" encoding="UTF-8" standalone="yes"?>
<Relationships xmlns="http://schemas.openxmlformats.org/package/2006/relationships"><Relationship Id="rId1" Type="http://schemas.openxmlformats.org/officeDocument/2006/relationships/hyperlink" Target="https://www.ibm.com/topics/internet-of-things" TargetMode="Externa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A0920E9-C5F4-4618-95B6-2F9A9FCBE6D5}" type="doc">
      <dgm:prSet loTypeId="urn:microsoft.com/office/officeart/2005/8/layout/orgChart1" loCatId="hierarchy" qsTypeId="urn:microsoft.com/office/officeart/2005/8/quickstyle/simple1" qsCatId="simple" csTypeId="urn:microsoft.com/office/officeart/2005/8/colors/colorful1" csCatId="colorful" phldr="1"/>
      <dgm:spPr/>
      <dgm:t>
        <a:bodyPr/>
        <a:lstStyle/>
        <a:p>
          <a:endParaRPr lang="en-US"/>
        </a:p>
      </dgm:t>
    </dgm:pt>
    <dgm:pt modelId="{371576C0-A829-40EA-BC24-62ABC43174CF}">
      <dgm:prSet phldrT="[Text]" phldr="0"/>
      <dgm:spPr/>
      <dgm:t>
        <a:bodyPr/>
        <a:lstStyle/>
        <a:p>
          <a:r>
            <a:rPr lang="en-US" dirty="0"/>
            <a:t>Data Architectures</a:t>
          </a:r>
        </a:p>
      </dgm:t>
    </dgm:pt>
    <dgm:pt modelId="{E95AB9D9-4DE7-43BF-91E0-D0724C7C04B2}" type="parTrans" cxnId="{2D4EE591-EE4B-4B7A-92D3-6FAF9A7A9DC4}">
      <dgm:prSet/>
      <dgm:spPr/>
      <dgm:t>
        <a:bodyPr/>
        <a:lstStyle/>
        <a:p>
          <a:endParaRPr lang="en-US"/>
        </a:p>
      </dgm:t>
    </dgm:pt>
    <dgm:pt modelId="{F93317D3-B1F8-49C7-A235-6A450C166508}" type="sibTrans" cxnId="{2D4EE591-EE4B-4B7A-92D3-6FAF9A7A9DC4}">
      <dgm:prSet/>
      <dgm:spPr/>
      <dgm:t>
        <a:bodyPr/>
        <a:lstStyle/>
        <a:p>
          <a:endParaRPr lang="en-US"/>
        </a:p>
      </dgm:t>
    </dgm:pt>
    <dgm:pt modelId="{AB7CA487-C139-4654-8BEB-9C52A84C6F7D}">
      <dgm:prSet phldrT="[Text]" phldr="0"/>
      <dgm:spPr/>
      <dgm:t>
        <a:bodyPr/>
        <a:lstStyle/>
        <a:p>
          <a:r>
            <a:rPr lang="en-US" dirty="0"/>
            <a:t>By Centralization</a:t>
          </a:r>
        </a:p>
      </dgm:t>
    </dgm:pt>
    <dgm:pt modelId="{97C91760-477A-4355-9C53-F13B9B1F3DDA}" type="parTrans" cxnId="{D9773243-06BD-477F-9A9C-CB4DFDEC6BEA}">
      <dgm:prSet/>
      <dgm:spPr/>
      <dgm:t>
        <a:bodyPr/>
        <a:lstStyle/>
        <a:p>
          <a:endParaRPr lang="en-US"/>
        </a:p>
      </dgm:t>
    </dgm:pt>
    <dgm:pt modelId="{8347E3E7-8EB1-4DB0-B254-10CED5A205F8}" type="sibTrans" cxnId="{D9773243-06BD-477F-9A9C-CB4DFDEC6BEA}">
      <dgm:prSet/>
      <dgm:spPr/>
      <dgm:t>
        <a:bodyPr/>
        <a:lstStyle/>
        <a:p>
          <a:endParaRPr lang="en-US"/>
        </a:p>
      </dgm:t>
    </dgm:pt>
    <dgm:pt modelId="{790D1992-C652-4D45-AF8D-8A466D13E68C}">
      <dgm:prSet phldrT="[Text]" phldr="0"/>
      <dgm:spPr/>
      <dgm:t>
        <a:bodyPr/>
        <a:lstStyle/>
        <a:p>
          <a:r>
            <a:rPr lang="en-US" dirty="0"/>
            <a:t>Centralized</a:t>
          </a:r>
        </a:p>
      </dgm:t>
    </dgm:pt>
    <dgm:pt modelId="{3AACA1B9-F156-4603-8FA7-4254BCDCFBC8}" type="parTrans" cxnId="{A21C3FCF-3FDA-4964-939B-304C6FCADE11}">
      <dgm:prSet/>
      <dgm:spPr/>
      <dgm:t>
        <a:bodyPr/>
        <a:lstStyle/>
        <a:p>
          <a:endParaRPr lang="en-US"/>
        </a:p>
      </dgm:t>
    </dgm:pt>
    <dgm:pt modelId="{D780DCC3-3DAF-4B33-B069-FC5C98DE42B3}" type="sibTrans" cxnId="{A21C3FCF-3FDA-4964-939B-304C6FCADE11}">
      <dgm:prSet/>
      <dgm:spPr/>
      <dgm:t>
        <a:bodyPr/>
        <a:lstStyle/>
        <a:p>
          <a:endParaRPr lang="en-US"/>
        </a:p>
      </dgm:t>
    </dgm:pt>
    <dgm:pt modelId="{6C8D3564-EF13-4864-AA2C-93EF932EDBA3}">
      <dgm:prSet phldrT="[Text]" phldr="0"/>
      <dgm:spPr/>
      <dgm:t>
        <a:bodyPr/>
        <a:lstStyle/>
        <a:p>
          <a:r>
            <a:rPr lang="en-US" dirty="0"/>
            <a:t>Distributed</a:t>
          </a:r>
        </a:p>
      </dgm:t>
    </dgm:pt>
    <dgm:pt modelId="{5FD8EF43-C2D1-4FAC-B032-BF065EA30846}" type="parTrans" cxnId="{27B1FD36-A6AB-4723-BFA1-830E74C0CDC8}">
      <dgm:prSet/>
      <dgm:spPr/>
      <dgm:t>
        <a:bodyPr/>
        <a:lstStyle/>
        <a:p>
          <a:endParaRPr lang="en-US"/>
        </a:p>
      </dgm:t>
    </dgm:pt>
    <dgm:pt modelId="{208BBC5D-BBBC-4287-9D89-30631ADCB362}" type="sibTrans" cxnId="{27B1FD36-A6AB-4723-BFA1-830E74C0CDC8}">
      <dgm:prSet/>
      <dgm:spPr/>
      <dgm:t>
        <a:bodyPr/>
        <a:lstStyle/>
        <a:p>
          <a:endParaRPr lang="en-US"/>
        </a:p>
      </dgm:t>
    </dgm:pt>
    <dgm:pt modelId="{444D6DA7-2121-4FCC-961B-BEE1E246F586}">
      <dgm:prSet phldrT="[Text]" phldr="0"/>
      <dgm:spPr/>
      <dgm:t>
        <a:bodyPr/>
        <a:lstStyle/>
        <a:p>
          <a:r>
            <a:rPr lang="en-US" dirty="0"/>
            <a:t>By Storage</a:t>
          </a:r>
        </a:p>
      </dgm:t>
    </dgm:pt>
    <dgm:pt modelId="{3B812519-E986-42B3-9E53-E5B576F633C8}" type="parTrans" cxnId="{CF615D3C-30C4-4BA5-828A-6DFD1884C48A}">
      <dgm:prSet/>
      <dgm:spPr/>
      <dgm:t>
        <a:bodyPr/>
        <a:lstStyle/>
        <a:p>
          <a:endParaRPr lang="en-US"/>
        </a:p>
      </dgm:t>
    </dgm:pt>
    <dgm:pt modelId="{AAD7298B-5091-4A51-AF7F-035CB0E02E93}" type="sibTrans" cxnId="{CF615D3C-30C4-4BA5-828A-6DFD1884C48A}">
      <dgm:prSet/>
      <dgm:spPr/>
      <dgm:t>
        <a:bodyPr/>
        <a:lstStyle/>
        <a:p>
          <a:endParaRPr lang="en-US"/>
        </a:p>
      </dgm:t>
    </dgm:pt>
    <dgm:pt modelId="{F4D77B9F-D119-4766-9B5B-ABC56E0D9C31}">
      <dgm:prSet phldrT="[Text]" phldr="0"/>
      <dgm:spPr/>
      <dgm:t>
        <a:bodyPr/>
        <a:lstStyle/>
        <a:p>
          <a:r>
            <a:rPr lang="en-US" dirty="0"/>
            <a:t>Datawarehouse</a:t>
          </a:r>
        </a:p>
      </dgm:t>
    </dgm:pt>
    <dgm:pt modelId="{012B6E6D-DE2F-4663-BD72-D0EB92415686}" type="parTrans" cxnId="{72D3BA5D-07A9-468D-B126-6B46BCFE5931}">
      <dgm:prSet/>
      <dgm:spPr/>
      <dgm:t>
        <a:bodyPr/>
        <a:lstStyle/>
        <a:p>
          <a:endParaRPr lang="en-US"/>
        </a:p>
      </dgm:t>
    </dgm:pt>
    <dgm:pt modelId="{041F8FB3-E6FB-4059-8BD9-305F4299CE01}" type="sibTrans" cxnId="{72D3BA5D-07A9-468D-B126-6B46BCFE5931}">
      <dgm:prSet/>
      <dgm:spPr/>
      <dgm:t>
        <a:bodyPr/>
        <a:lstStyle/>
        <a:p>
          <a:endParaRPr lang="en-US"/>
        </a:p>
      </dgm:t>
    </dgm:pt>
    <dgm:pt modelId="{634235F2-4C9F-4092-8174-E081CEB61646}">
      <dgm:prSet phldrT="[Text]" phldr="0"/>
      <dgm:spPr/>
      <dgm:t>
        <a:bodyPr/>
        <a:lstStyle/>
        <a:p>
          <a:r>
            <a:rPr lang="en-US"/>
            <a:t>By Governance</a:t>
          </a:r>
          <a:endParaRPr lang="en-US" dirty="0"/>
        </a:p>
      </dgm:t>
    </dgm:pt>
    <dgm:pt modelId="{AFD61C2C-1F1E-4744-8FA5-63E8B175B2F0}" type="parTrans" cxnId="{A314DF29-30FC-48AB-A5EA-59DF09A6AE08}">
      <dgm:prSet/>
      <dgm:spPr/>
      <dgm:t>
        <a:bodyPr/>
        <a:lstStyle/>
        <a:p>
          <a:endParaRPr lang="en-US"/>
        </a:p>
      </dgm:t>
    </dgm:pt>
    <dgm:pt modelId="{1120B429-24DB-47B6-83B1-DE1505EE83B5}" type="sibTrans" cxnId="{A314DF29-30FC-48AB-A5EA-59DF09A6AE08}">
      <dgm:prSet/>
      <dgm:spPr/>
      <dgm:t>
        <a:bodyPr/>
        <a:lstStyle/>
        <a:p>
          <a:endParaRPr lang="en-US"/>
        </a:p>
      </dgm:t>
    </dgm:pt>
    <dgm:pt modelId="{DB15D140-A54D-4F9C-917B-598BB933A4AD}">
      <dgm:prSet phldrT="[Text]" phldr="0"/>
      <dgm:spPr/>
      <dgm:t>
        <a:bodyPr/>
        <a:lstStyle/>
        <a:p>
          <a:r>
            <a:rPr lang="en-US" dirty="0" err="1"/>
            <a:t>DataMesh</a:t>
          </a:r>
          <a:endParaRPr lang="en-US" dirty="0"/>
        </a:p>
      </dgm:t>
    </dgm:pt>
    <dgm:pt modelId="{004BEA21-CC06-4543-894B-34C7201D8DCF}" type="parTrans" cxnId="{EAFE61C5-078D-4113-A253-B30577B4A7EC}">
      <dgm:prSet/>
      <dgm:spPr/>
      <dgm:t>
        <a:bodyPr/>
        <a:lstStyle/>
        <a:p>
          <a:endParaRPr lang="en-US"/>
        </a:p>
      </dgm:t>
    </dgm:pt>
    <dgm:pt modelId="{96DE0CF4-6DC3-4905-8E69-8A1B7DA82E45}" type="sibTrans" cxnId="{EAFE61C5-078D-4113-A253-B30577B4A7EC}">
      <dgm:prSet/>
      <dgm:spPr/>
      <dgm:t>
        <a:bodyPr/>
        <a:lstStyle/>
        <a:p>
          <a:endParaRPr lang="en-US"/>
        </a:p>
      </dgm:t>
    </dgm:pt>
    <dgm:pt modelId="{2432DF63-A213-4E2B-944D-5B0B158CF3BA}">
      <dgm:prSet phldrT="[Text]" phldr="0"/>
      <dgm:spPr/>
      <dgm:t>
        <a:bodyPr/>
        <a:lstStyle/>
        <a:p>
          <a:r>
            <a:rPr lang="en-US" dirty="0" err="1"/>
            <a:t>DataFabric</a:t>
          </a:r>
          <a:endParaRPr lang="en-US" dirty="0"/>
        </a:p>
      </dgm:t>
    </dgm:pt>
    <dgm:pt modelId="{C5C7A8C7-09DC-45EE-B5C0-938E7F850021}" type="parTrans" cxnId="{6EA05A45-22AE-472A-BD82-2AEDB14A7D1E}">
      <dgm:prSet/>
      <dgm:spPr/>
      <dgm:t>
        <a:bodyPr/>
        <a:lstStyle/>
        <a:p>
          <a:endParaRPr lang="en-US"/>
        </a:p>
      </dgm:t>
    </dgm:pt>
    <dgm:pt modelId="{9F551FC5-A487-4C56-A663-0AC5A36A562B}" type="sibTrans" cxnId="{6EA05A45-22AE-472A-BD82-2AEDB14A7D1E}">
      <dgm:prSet/>
      <dgm:spPr/>
      <dgm:t>
        <a:bodyPr/>
        <a:lstStyle/>
        <a:p>
          <a:endParaRPr lang="en-US"/>
        </a:p>
      </dgm:t>
    </dgm:pt>
    <dgm:pt modelId="{6F0735C6-AC7F-4B12-87D5-45C8F38F8749}">
      <dgm:prSet phldrT="[Text]" phldr="0"/>
      <dgm:spPr/>
      <dgm:t>
        <a:bodyPr/>
        <a:lstStyle/>
        <a:p>
          <a:r>
            <a:rPr lang="en-US" dirty="0"/>
            <a:t>Data Lakehouse</a:t>
          </a:r>
        </a:p>
      </dgm:t>
    </dgm:pt>
    <dgm:pt modelId="{04D380EE-2F24-4532-B903-FD3E8975ED36}" type="parTrans" cxnId="{55B5A4C0-6126-4DEA-A4A9-3E8C27CE986B}">
      <dgm:prSet/>
      <dgm:spPr/>
      <dgm:t>
        <a:bodyPr/>
        <a:lstStyle/>
        <a:p>
          <a:endParaRPr lang="en-US"/>
        </a:p>
      </dgm:t>
    </dgm:pt>
    <dgm:pt modelId="{56A2E685-C363-4118-8761-5677FA502950}" type="sibTrans" cxnId="{55B5A4C0-6126-4DEA-A4A9-3E8C27CE986B}">
      <dgm:prSet/>
      <dgm:spPr/>
      <dgm:t>
        <a:bodyPr/>
        <a:lstStyle/>
        <a:p>
          <a:endParaRPr lang="en-US"/>
        </a:p>
      </dgm:t>
    </dgm:pt>
    <dgm:pt modelId="{CFD05267-3909-44BA-8DE6-B2A7AE888152}">
      <dgm:prSet phldrT="[Text]" phldr="0"/>
      <dgm:spPr/>
      <dgm:t>
        <a:bodyPr/>
        <a:lstStyle/>
        <a:p>
          <a:r>
            <a:rPr lang="en-US" dirty="0"/>
            <a:t>Hybrid</a:t>
          </a:r>
        </a:p>
      </dgm:t>
    </dgm:pt>
    <dgm:pt modelId="{376E1801-6DBA-461F-89BA-07B02FD0CE84}" type="parTrans" cxnId="{086BFB52-E6AA-45E2-872A-4AFE7415E604}">
      <dgm:prSet/>
      <dgm:spPr/>
      <dgm:t>
        <a:bodyPr/>
        <a:lstStyle/>
        <a:p>
          <a:endParaRPr lang="en-US"/>
        </a:p>
      </dgm:t>
    </dgm:pt>
    <dgm:pt modelId="{C86EBA65-02BA-4F3E-82B5-C80B24FA1E1A}" type="sibTrans" cxnId="{086BFB52-E6AA-45E2-872A-4AFE7415E604}">
      <dgm:prSet/>
      <dgm:spPr/>
      <dgm:t>
        <a:bodyPr/>
        <a:lstStyle/>
        <a:p>
          <a:endParaRPr lang="en-US"/>
        </a:p>
      </dgm:t>
    </dgm:pt>
    <dgm:pt modelId="{23248CDE-92F4-424F-88B7-0002046E7F61}">
      <dgm:prSet phldrT="[Text]" phldr="0"/>
      <dgm:spPr/>
      <dgm:t>
        <a:bodyPr/>
        <a:lstStyle/>
        <a:p>
          <a:r>
            <a:rPr lang="en-US" dirty="0"/>
            <a:t>Data Lake</a:t>
          </a:r>
        </a:p>
      </dgm:t>
    </dgm:pt>
    <dgm:pt modelId="{7C43701B-5AF9-45DE-8EC8-24A6D11C84EF}" type="parTrans" cxnId="{03437A2C-DA1C-4422-BB52-970708A4DE05}">
      <dgm:prSet/>
      <dgm:spPr/>
      <dgm:t>
        <a:bodyPr/>
        <a:lstStyle/>
        <a:p>
          <a:endParaRPr lang="en-US"/>
        </a:p>
      </dgm:t>
    </dgm:pt>
    <dgm:pt modelId="{44E9982B-495D-450F-B8E2-9ED1A6A9EBED}" type="sibTrans" cxnId="{03437A2C-DA1C-4422-BB52-970708A4DE05}">
      <dgm:prSet/>
      <dgm:spPr/>
      <dgm:t>
        <a:bodyPr/>
        <a:lstStyle/>
        <a:p>
          <a:endParaRPr lang="en-US"/>
        </a:p>
      </dgm:t>
    </dgm:pt>
    <dgm:pt modelId="{31A667F4-56E3-40EF-B1CD-79FE790C7BAB}">
      <dgm:prSet phldrT="[Text]" phldr="0"/>
      <dgm:spPr/>
      <dgm:t>
        <a:bodyPr/>
        <a:lstStyle/>
        <a:p>
          <a:r>
            <a:rPr lang="en-US" dirty="0"/>
            <a:t>DataMart</a:t>
          </a:r>
        </a:p>
      </dgm:t>
    </dgm:pt>
    <dgm:pt modelId="{D9D692BB-6944-41F7-8027-517D5079C2F6}" type="parTrans" cxnId="{8BC5053B-8514-4D1F-8D26-84A651BDF3D6}">
      <dgm:prSet/>
      <dgm:spPr/>
      <dgm:t>
        <a:bodyPr/>
        <a:lstStyle/>
        <a:p>
          <a:endParaRPr lang="en-US"/>
        </a:p>
      </dgm:t>
    </dgm:pt>
    <dgm:pt modelId="{260041AD-57F5-471A-BED9-D71756CD7650}" type="sibTrans" cxnId="{8BC5053B-8514-4D1F-8D26-84A651BDF3D6}">
      <dgm:prSet/>
      <dgm:spPr/>
      <dgm:t>
        <a:bodyPr/>
        <a:lstStyle/>
        <a:p>
          <a:endParaRPr lang="en-US"/>
        </a:p>
      </dgm:t>
    </dgm:pt>
    <dgm:pt modelId="{A13F15C0-8BCB-4247-88D9-2F89EBFC6459}">
      <dgm:prSet phldrT="[Text]" phldr="0"/>
      <dgm:spPr/>
      <dgm:t>
        <a:bodyPr/>
        <a:lstStyle/>
        <a:p>
          <a:r>
            <a:rPr lang="en-US" dirty="0"/>
            <a:t>By Processing</a:t>
          </a:r>
        </a:p>
      </dgm:t>
    </dgm:pt>
    <dgm:pt modelId="{A7436693-55ED-4F5A-B7D4-599BD6047370}" type="parTrans" cxnId="{6380DAFC-72B7-4260-A052-3E7ACA18B4EA}">
      <dgm:prSet/>
      <dgm:spPr/>
      <dgm:t>
        <a:bodyPr/>
        <a:lstStyle/>
        <a:p>
          <a:endParaRPr lang="en-US"/>
        </a:p>
      </dgm:t>
    </dgm:pt>
    <dgm:pt modelId="{67A148D0-A019-4D34-8A5D-0B1876699D93}" type="sibTrans" cxnId="{6380DAFC-72B7-4260-A052-3E7ACA18B4EA}">
      <dgm:prSet/>
      <dgm:spPr/>
      <dgm:t>
        <a:bodyPr/>
        <a:lstStyle/>
        <a:p>
          <a:endParaRPr lang="en-US"/>
        </a:p>
      </dgm:t>
    </dgm:pt>
    <dgm:pt modelId="{DCCD37BF-BCE3-4481-9E57-F7AE69D5E532}">
      <dgm:prSet phldrT="[Text]" phldr="0"/>
      <dgm:spPr/>
      <dgm:t>
        <a:bodyPr/>
        <a:lstStyle/>
        <a:p>
          <a:r>
            <a:rPr lang="en-US" dirty="0"/>
            <a:t>Lambda</a:t>
          </a:r>
        </a:p>
      </dgm:t>
    </dgm:pt>
    <dgm:pt modelId="{0FFD68C8-6C87-4250-8090-A41A24564BD6}" type="parTrans" cxnId="{C3BEAE55-6C40-43F1-9378-5B6E9C8658D2}">
      <dgm:prSet/>
      <dgm:spPr/>
      <dgm:t>
        <a:bodyPr/>
        <a:lstStyle/>
        <a:p>
          <a:endParaRPr lang="en-US"/>
        </a:p>
      </dgm:t>
    </dgm:pt>
    <dgm:pt modelId="{06143BA2-2A98-4110-8FC1-F39ED9AE2E0A}" type="sibTrans" cxnId="{C3BEAE55-6C40-43F1-9378-5B6E9C8658D2}">
      <dgm:prSet/>
      <dgm:spPr/>
      <dgm:t>
        <a:bodyPr/>
        <a:lstStyle/>
        <a:p>
          <a:endParaRPr lang="en-US"/>
        </a:p>
      </dgm:t>
    </dgm:pt>
    <dgm:pt modelId="{57EE41EB-CCC3-4212-8D08-93D1305B4A4E}">
      <dgm:prSet phldrT="[Text]" phldr="0"/>
      <dgm:spPr/>
      <dgm:t>
        <a:bodyPr/>
        <a:lstStyle/>
        <a:p>
          <a:r>
            <a:rPr lang="en-US" dirty="0"/>
            <a:t>Kappa</a:t>
          </a:r>
        </a:p>
      </dgm:t>
    </dgm:pt>
    <dgm:pt modelId="{9896CFBB-A5F3-48BD-8464-721AA00680AE}" type="parTrans" cxnId="{FFF4CAA8-E504-406C-95D7-C0BF90850F0F}">
      <dgm:prSet/>
      <dgm:spPr/>
      <dgm:t>
        <a:bodyPr/>
        <a:lstStyle/>
        <a:p>
          <a:endParaRPr lang="en-US"/>
        </a:p>
      </dgm:t>
    </dgm:pt>
    <dgm:pt modelId="{D0B3CC6F-9FDA-4169-B9B4-3B51C33F3E58}" type="sibTrans" cxnId="{FFF4CAA8-E504-406C-95D7-C0BF90850F0F}">
      <dgm:prSet/>
      <dgm:spPr/>
      <dgm:t>
        <a:bodyPr/>
        <a:lstStyle/>
        <a:p>
          <a:endParaRPr lang="en-US"/>
        </a:p>
      </dgm:t>
    </dgm:pt>
    <dgm:pt modelId="{405C4608-D2A1-473D-8D10-2A5F7287D7A2}" type="pres">
      <dgm:prSet presAssocID="{5A0920E9-C5F4-4618-95B6-2F9A9FCBE6D5}" presName="hierChild1" presStyleCnt="0">
        <dgm:presLayoutVars>
          <dgm:orgChart val="1"/>
          <dgm:chPref val="1"/>
          <dgm:dir/>
          <dgm:animOne val="branch"/>
          <dgm:animLvl val="lvl"/>
          <dgm:resizeHandles/>
        </dgm:presLayoutVars>
      </dgm:prSet>
      <dgm:spPr/>
      <dgm:t>
        <a:bodyPr/>
        <a:lstStyle/>
        <a:p>
          <a:endParaRPr lang="en-US"/>
        </a:p>
      </dgm:t>
    </dgm:pt>
    <dgm:pt modelId="{28BC99D3-3FB9-404F-8BAB-59B784050457}" type="pres">
      <dgm:prSet presAssocID="{371576C0-A829-40EA-BC24-62ABC43174CF}" presName="hierRoot1" presStyleCnt="0">
        <dgm:presLayoutVars>
          <dgm:hierBranch val="init"/>
        </dgm:presLayoutVars>
      </dgm:prSet>
      <dgm:spPr/>
    </dgm:pt>
    <dgm:pt modelId="{3D147E6C-795D-411F-B03D-D92962422F41}" type="pres">
      <dgm:prSet presAssocID="{371576C0-A829-40EA-BC24-62ABC43174CF}" presName="rootComposite1" presStyleCnt="0"/>
      <dgm:spPr/>
    </dgm:pt>
    <dgm:pt modelId="{A8796F04-5966-45A5-A58F-0F0BED8EF529}" type="pres">
      <dgm:prSet presAssocID="{371576C0-A829-40EA-BC24-62ABC43174CF}" presName="rootText1" presStyleLbl="node0" presStyleIdx="0" presStyleCnt="1">
        <dgm:presLayoutVars>
          <dgm:chPref val="3"/>
        </dgm:presLayoutVars>
      </dgm:prSet>
      <dgm:spPr/>
      <dgm:t>
        <a:bodyPr/>
        <a:lstStyle/>
        <a:p>
          <a:endParaRPr lang="en-US"/>
        </a:p>
      </dgm:t>
    </dgm:pt>
    <dgm:pt modelId="{A7D5281F-BD1C-42F2-9A52-E01A19F27CBD}" type="pres">
      <dgm:prSet presAssocID="{371576C0-A829-40EA-BC24-62ABC43174CF}" presName="rootConnector1" presStyleLbl="node1" presStyleIdx="0" presStyleCnt="0"/>
      <dgm:spPr/>
      <dgm:t>
        <a:bodyPr/>
        <a:lstStyle/>
        <a:p>
          <a:endParaRPr lang="en-US"/>
        </a:p>
      </dgm:t>
    </dgm:pt>
    <dgm:pt modelId="{7FF9F5ED-0CA4-48CF-AD4F-AF4E4B592551}" type="pres">
      <dgm:prSet presAssocID="{371576C0-A829-40EA-BC24-62ABC43174CF}" presName="hierChild2" presStyleCnt="0"/>
      <dgm:spPr/>
    </dgm:pt>
    <dgm:pt modelId="{E5EACDED-5B87-4D19-83AD-60D8A05E1AB9}" type="pres">
      <dgm:prSet presAssocID="{97C91760-477A-4355-9C53-F13B9B1F3DDA}" presName="Name37" presStyleLbl="parChTrans1D2" presStyleIdx="0" presStyleCnt="4"/>
      <dgm:spPr/>
      <dgm:t>
        <a:bodyPr/>
        <a:lstStyle/>
        <a:p>
          <a:endParaRPr lang="en-US"/>
        </a:p>
      </dgm:t>
    </dgm:pt>
    <dgm:pt modelId="{15250F27-0EDF-4400-9E29-A6FEA2AB96A0}" type="pres">
      <dgm:prSet presAssocID="{AB7CA487-C139-4654-8BEB-9C52A84C6F7D}" presName="hierRoot2" presStyleCnt="0">
        <dgm:presLayoutVars>
          <dgm:hierBranch val="init"/>
        </dgm:presLayoutVars>
      </dgm:prSet>
      <dgm:spPr/>
    </dgm:pt>
    <dgm:pt modelId="{BBE40BC2-66FA-4B40-BD1E-0C5A9A8A528D}" type="pres">
      <dgm:prSet presAssocID="{AB7CA487-C139-4654-8BEB-9C52A84C6F7D}" presName="rootComposite" presStyleCnt="0"/>
      <dgm:spPr/>
    </dgm:pt>
    <dgm:pt modelId="{EF434CFC-C746-4C85-B2B3-7F739CC45EFA}" type="pres">
      <dgm:prSet presAssocID="{AB7CA487-C139-4654-8BEB-9C52A84C6F7D}" presName="rootText" presStyleLbl="node2" presStyleIdx="0" presStyleCnt="4">
        <dgm:presLayoutVars>
          <dgm:chPref val="3"/>
        </dgm:presLayoutVars>
      </dgm:prSet>
      <dgm:spPr/>
      <dgm:t>
        <a:bodyPr/>
        <a:lstStyle/>
        <a:p>
          <a:endParaRPr lang="en-US"/>
        </a:p>
      </dgm:t>
    </dgm:pt>
    <dgm:pt modelId="{65C88D2F-6D38-42B3-8F57-DE3594BA3E25}" type="pres">
      <dgm:prSet presAssocID="{AB7CA487-C139-4654-8BEB-9C52A84C6F7D}" presName="rootConnector" presStyleLbl="node2" presStyleIdx="0" presStyleCnt="4"/>
      <dgm:spPr/>
      <dgm:t>
        <a:bodyPr/>
        <a:lstStyle/>
        <a:p>
          <a:endParaRPr lang="en-US"/>
        </a:p>
      </dgm:t>
    </dgm:pt>
    <dgm:pt modelId="{0000C93A-DFA1-43A6-887D-B96481DC8683}" type="pres">
      <dgm:prSet presAssocID="{AB7CA487-C139-4654-8BEB-9C52A84C6F7D}" presName="hierChild4" presStyleCnt="0"/>
      <dgm:spPr/>
    </dgm:pt>
    <dgm:pt modelId="{EE1C2F6C-597E-429F-87C2-124C957CBD31}" type="pres">
      <dgm:prSet presAssocID="{3AACA1B9-F156-4603-8FA7-4254BCDCFBC8}" presName="Name37" presStyleLbl="parChTrans1D3" presStyleIdx="0" presStyleCnt="11"/>
      <dgm:spPr/>
      <dgm:t>
        <a:bodyPr/>
        <a:lstStyle/>
        <a:p>
          <a:endParaRPr lang="en-US"/>
        </a:p>
      </dgm:t>
    </dgm:pt>
    <dgm:pt modelId="{F1B32F02-CF36-4236-A1AD-F403CBC04BD3}" type="pres">
      <dgm:prSet presAssocID="{790D1992-C652-4D45-AF8D-8A466D13E68C}" presName="hierRoot2" presStyleCnt="0">
        <dgm:presLayoutVars>
          <dgm:hierBranch val="init"/>
        </dgm:presLayoutVars>
      </dgm:prSet>
      <dgm:spPr/>
    </dgm:pt>
    <dgm:pt modelId="{8D13F6F6-EA84-4E93-B216-9565156DF825}" type="pres">
      <dgm:prSet presAssocID="{790D1992-C652-4D45-AF8D-8A466D13E68C}" presName="rootComposite" presStyleCnt="0"/>
      <dgm:spPr/>
    </dgm:pt>
    <dgm:pt modelId="{46B0E45A-E484-418A-9FB7-381022164C1D}" type="pres">
      <dgm:prSet presAssocID="{790D1992-C652-4D45-AF8D-8A466D13E68C}" presName="rootText" presStyleLbl="node3" presStyleIdx="0" presStyleCnt="11">
        <dgm:presLayoutVars>
          <dgm:chPref val="3"/>
        </dgm:presLayoutVars>
      </dgm:prSet>
      <dgm:spPr/>
      <dgm:t>
        <a:bodyPr/>
        <a:lstStyle/>
        <a:p>
          <a:endParaRPr lang="en-US"/>
        </a:p>
      </dgm:t>
    </dgm:pt>
    <dgm:pt modelId="{6AB9095A-1FE7-4679-94B9-EDF3F92835A0}" type="pres">
      <dgm:prSet presAssocID="{790D1992-C652-4D45-AF8D-8A466D13E68C}" presName="rootConnector" presStyleLbl="node3" presStyleIdx="0" presStyleCnt="11"/>
      <dgm:spPr/>
      <dgm:t>
        <a:bodyPr/>
        <a:lstStyle/>
        <a:p>
          <a:endParaRPr lang="en-US"/>
        </a:p>
      </dgm:t>
    </dgm:pt>
    <dgm:pt modelId="{2A898C08-F274-4B7A-890F-A58CB4E26A45}" type="pres">
      <dgm:prSet presAssocID="{790D1992-C652-4D45-AF8D-8A466D13E68C}" presName="hierChild4" presStyleCnt="0"/>
      <dgm:spPr/>
    </dgm:pt>
    <dgm:pt modelId="{431EB638-3B01-41E7-BFFC-88CDF81145FA}" type="pres">
      <dgm:prSet presAssocID="{790D1992-C652-4D45-AF8D-8A466D13E68C}" presName="hierChild5" presStyleCnt="0"/>
      <dgm:spPr/>
    </dgm:pt>
    <dgm:pt modelId="{F96E40B0-3346-44C0-96F9-142CC92F114B}" type="pres">
      <dgm:prSet presAssocID="{5FD8EF43-C2D1-4FAC-B032-BF065EA30846}" presName="Name37" presStyleLbl="parChTrans1D3" presStyleIdx="1" presStyleCnt="11"/>
      <dgm:spPr/>
      <dgm:t>
        <a:bodyPr/>
        <a:lstStyle/>
        <a:p>
          <a:endParaRPr lang="en-US"/>
        </a:p>
      </dgm:t>
    </dgm:pt>
    <dgm:pt modelId="{02E7B9D0-65BE-4BF2-A889-EE1E386AFEF6}" type="pres">
      <dgm:prSet presAssocID="{6C8D3564-EF13-4864-AA2C-93EF932EDBA3}" presName="hierRoot2" presStyleCnt="0">
        <dgm:presLayoutVars>
          <dgm:hierBranch val="init"/>
        </dgm:presLayoutVars>
      </dgm:prSet>
      <dgm:spPr/>
    </dgm:pt>
    <dgm:pt modelId="{1B4770DD-9436-410F-9CD1-B90DD408F4B5}" type="pres">
      <dgm:prSet presAssocID="{6C8D3564-EF13-4864-AA2C-93EF932EDBA3}" presName="rootComposite" presStyleCnt="0"/>
      <dgm:spPr/>
    </dgm:pt>
    <dgm:pt modelId="{285DAC41-5F61-42BE-AD0C-A24E1773D4B3}" type="pres">
      <dgm:prSet presAssocID="{6C8D3564-EF13-4864-AA2C-93EF932EDBA3}" presName="rootText" presStyleLbl="node3" presStyleIdx="1" presStyleCnt="11">
        <dgm:presLayoutVars>
          <dgm:chPref val="3"/>
        </dgm:presLayoutVars>
      </dgm:prSet>
      <dgm:spPr/>
      <dgm:t>
        <a:bodyPr/>
        <a:lstStyle/>
        <a:p>
          <a:endParaRPr lang="en-US"/>
        </a:p>
      </dgm:t>
    </dgm:pt>
    <dgm:pt modelId="{8AB8AB44-3D4D-4783-963D-BA8707D4640E}" type="pres">
      <dgm:prSet presAssocID="{6C8D3564-EF13-4864-AA2C-93EF932EDBA3}" presName="rootConnector" presStyleLbl="node3" presStyleIdx="1" presStyleCnt="11"/>
      <dgm:spPr/>
      <dgm:t>
        <a:bodyPr/>
        <a:lstStyle/>
        <a:p>
          <a:endParaRPr lang="en-US"/>
        </a:p>
      </dgm:t>
    </dgm:pt>
    <dgm:pt modelId="{4C0D8B34-DB5B-4CE5-9828-934D11B6C388}" type="pres">
      <dgm:prSet presAssocID="{6C8D3564-EF13-4864-AA2C-93EF932EDBA3}" presName="hierChild4" presStyleCnt="0"/>
      <dgm:spPr/>
    </dgm:pt>
    <dgm:pt modelId="{6EB41B93-F3EA-4152-97AB-D4B80C081898}" type="pres">
      <dgm:prSet presAssocID="{6C8D3564-EF13-4864-AA2C-93EF932EDBA3}" presName="hierChild5" presStyleCnt="0"/>
      <dgm:spPr/>
    </dgm:pt>
    <dgm:pt modelId="{C5FBAAAF-65BA-462F-8D4B-463A496B06B3}" type="pres">
      <dgm:prSet presAssocID="{376E1801-6DBA-461F-89BA-07B02FD0CE84}" presName="Name37" presStyleLbl="parChTrans1D3" presStyleIdx="2" presStyleCnt="11"/>
      <dgm:spPr/>
      <dgm:t>
        <a:bodyPr/>
        <a:lstStyle/>
        <a:p>
          <a:endParaRPr lang="en-US"/>
        </a:p>
      </dgm:t>
    </dgm:pt>
    <dgm:pt modelId="{B9B99D3E-9340-4B01-87EA-72CBE803C5A3}" type="pres">
      <dgm:prSet presAssocID="{CFD05267-3909-44BA-8DE6-B2A7AE888152}" presName="hierRoot2" presStyleCnt="0">
        <dgm:presLayoutVars>
          <dgm:hierBranch val="init"/>
        </dgm:presLayoutVars>
      </dgm:prSet>
      <dgm:spPr/>
    </dgm:pt>
    <dgm:pt modelId="{52C78E3B-17F5-4769-BC83-93E6AD892748}" type="pres">
      <dgm:prSet presAssocID="{CFD05267-3909-44BA-8DE6-B2A7AE888152}" presName="rootComposite" presStyleCnt="0"/>
      <dgm:spPr/>
    </dgm:pt>
    <dgm:pt modelId="{BF4ED96C-EF1D-4A65-ABA9-5872DD43BF87}" type="pres">
      <dgm:prSet presAssocID="{CFD05267-3909-44BA-8DE6-B2A7AE888152}" presName="rootText" presStyleLbl="node3" presStyleIdx="2" presStyleCnt="11">
        <dgm:presLayoutVars>
          <dgm:chPref val="3"/>
        </dgm:presLayoutVars>
      </dgm:prSet>
      <dgm:spPr/>
      <dgm:t>
        <a:bodyPr/>
        <a:lstStyle/>
        <a:p>
          <a:endParaRPr lang="en-US"/>
        </a:p>
      </dgm:t>
    </dgm:pt>
    <dgm:pt modelId="{2692C735-8FE7-4FF4-9A5F-7518AA5CFC41}" type="pres">
      <dgm:prSet presAssocID="{CFD05267-3909-44BA-8DE6-B2A7AE888152}" presName="rootConnector" presStyleLbl="node3" presStyleIdx="2" presStyleCnt="11"/>
      <dgm:spPr/>
      <dgm:t>
        <a:bodyPr/>
        <a:lstStyle/>
        <a:p>
          <a:endParaRPr lang="en-US"/>
        </a:p>
      </dgm:t>
    </dgm:pt>
    <dgm:pt modelId="{6195BB8F-6866-4987-9289-9E42A1DD1D4E}" type="pres">
      <dgm:prSet presAssocID="{CFD05267-3909-44BA-8DE6-B2A7AE888152}" presName="hierChild4" presStyleCnt="0"/>
      <dgm:spPr/>
    </dgm:pt>
    <dgm:pt modelId="{C968F2C7-BCA6-494C-A9F0-19466872C742}" type="pres">
      <dgm:prSet presAssocID="{CFD05267-3909-44BA-8DE6-B2A7AE888152}" presName="hierChild5" presStyleCnt="0"/>
      <dgm:spPr/>
    </dgm:pt>
    <dgm:pt modelId="{F9A10D2B-C82B-4645-A901-3339125EBDA5}" type="pres">
      <dgm:prSet presAssocID="{AB7CA487-C139-4654-8BEB-9C52A84C6F7D}" presName="hierChild5" presStyleCnt="0"/>
      <dgm:spPr/>
    </dgm:pt>
    <dgm:pt modelId="{127AA98D-A90A-4BE2-8413-44DFA7D41E07}" type="pres">
      <dgm:prSet presAssocID="{3B812519-E986-42B3-9E53-E5B576F633C8}" presName="Name37" presStyleLbl="parChTrans1D2" presStyleIdx="1" presStyleCnt="4"/>
      <dgm:spPr/>
      <dgm:t>
        <a:bodyPr/>
        <a:lstStyle/>
        <a:p>
          <a:endParaRPr lang="en-US"/>
        </a:p>
      </dgm:t>
    </dgm:pt>
    <dgm:pt modelId="{9608267B-46A0-4DDD-9FF9-394BA67DC327}" type="pres">
      <dgm:prSet presAssocID="{444D6DA7-2121-4FCC-961B-BEE1E246F586}" presName="hierRoot2" presStyleCnt="0">
        <dgm:presLayoutVars>
          <dgm:hierBranch val="init"/>
        </dgm:presLayoutVars>
      </dgm:prSet>
      <dgm:spPr/>
    </dgm:pt>
    <dgm:pt modelId="{AE9DD9D8-F51A-478C-8886-802350B4F349}" type="pres">
      <dgm:prSet presAssocID="{444D6DA7-2121-4FCC-961B-BEE1E246F586}" presName="rootComposite" presStyleCnt="0"/>
      <dgm:spPr/>
    </dgm:pt>
    <dgm:pt modelId="{8EDD8FDF-E255-4ED8-8530-79C9A4CD34D5}" type="pres">
      <dgm:prSet presAssocID="{444D6DA7-2121-4FCC-961B-BEE1E246F586}" presName="rootText" presStyleLbl="node2" presStyleIdx="1" presStyleCnt="4">
        <dgm:presLayoutVars>
          <dgm:chPref val="3"/>
        </dgm:presLayoutVars>
      </dgm:prSet>
      <dgm:spPr/>
      <dgm:t>
        <a:bodyPr/>
        <a:lstStyle/>
        <a:p>
          <a:endParaRPr lang="en-US"/>
        </a:p>
      </dgm:t>
    </dgm:pt>
    <dgm:pt modelId="{DC565B9D-575A-460A-9711-D71E3880DA68}" type="pres">
      <dgm:prSet presAssocID="{444D6DA7-2121-4FCC-961B-BEE1E246F586}" presName="rootConnector" presStyleLbl="node2" presStyleIdx="1" presStyleCnt="4"/>
      <dgm:spPr/>
      <dgm:t>
        <a:bodyPr/>
        <a:lstStyle/>
        <a:p>
          <a:endParaRPr lang="en-US"/>
        </a:p>
      </dgm:t>
    </dgm:pt>
    <dgm:pt modelId="{4618ED0E-657C-4580-B2BC-AE8D8756A75D}" type="pres">
      <dgm:prSet presAssocID="{444D6DA7-2121-4FCC-961B-BEE1E246F586}" presName="hierChild4" presStyleCnt="0"/>
      <dgm:spPr/>
    </dgm:pt>
    <dgm:pt modelId="{AD6B0F62-9192-4055-ABA5-8085B2B7A629}" type="pres">
      <dgm:prSet presAssocID="{012B6E6D-DE2F-4663-BD72-D0EB92415686}" presName="Name37" presStyleLbl="parChTrans1D3" presStyleIdx="3" presStyleCnt="11"/>
      <dgm:spPr/>
      <dgm:t>
        <a:bodyPr/>
        <a:lstStyle/>
        <a:p>
          <a:endParaRPr lang="en-US"/>
        </a:p>
      </dgm:t>
    </dgm:pt>
    <dgm:pt modelId="{2ECE341B-7962-406E-83CA-25EE555E9B51}" type="pres">
      <dgm:prSet presAssocID="{F4D77B9F-D119-4766-9B5B-ABC56E0D9C31}" presName="hierRoot2" presStyleCnt="0">
        <dgm:presLayoutVars>
          <dgm:hierBranch val="init"/>
        </dgm:presLayoutVars>
      </dgm:prSet>
      <dgm:spPr/>
    </dgm:pt>
    <dgm:pt modelId="{D190A26C-5DAE-4A21-B0E4-B36984C6DA83}" type="pres">
      <dgm:prSet presAssocID="{F4D77B9F-D119-4766-9B5B-ABC56E0D9C31}" presName="rootComposite" presStyleCnt="0"/>
      <dgm:spPr/>
    </dgm:pt>
    <dgm:pt modelId="{653B3501-E141-46FE-AE02-6922F4D8215F}" type="pres">
      <dgm:prSet presAssocID="{F4D77B9F-D119-4766-9B5B-ABC56E0D9C31}" presName="rootText" presStyleLbl="node3" presStyleIdx="3" presStyleCnt="11" custLinFactNeighborX="-7634" custLinFactNeighborY="-34837">
        <dgm:presLayoutVars>
          <dgm:chPref val="3"/>
        </dgm:presLayoutVars>
      </dgm:prSet>
      <dgm:spPr/>
      <dgm:t>
        <a:bodyPr/>
        <a:lstStyle/>
        <a:p>
          <a:endParaRPr lang="en-US"/>
        </a:p>
      </dgm:t>
    </dgm:pt>
    <dgm:pt modelId="{59862EEB-33F6-44B6-AEE7-A6175EAB13C1}" type="pres">
      <dgm:prSet presAssocID="{F4D77B9F-D119-4766-9B5B-ABC56E0D9C31}" presName="rootConnector" presStyleLbl="node3" presStyleIdx="3" presStyleCnt="11"/>
      <dgm:spPr/>
      <dgm:t>
        <a:bodyPr/>
        <a:lstStyle/>
        <a:p>
          <a:endParaRPr lang="en-US"/>
        </a:p>
      </dgm:t>
    </dgm:pt>
    <dgm:pt modelId="{7470A53E-65AA-453A-9229-04064DE3E693}" type="pres">
      <dgm:prSet presAssocID="{F4D77B9F-D119-4766-9B5B-ABC56E0D9C31}" presName="hierChild4" presStyleCnt="0"/>
      <dgm:spPr/>
    </dgm:pt>
    <dgm:pt modelId="{C98A03FB-95C4-4F3C-BBEF-983EFE90C2E0}" type="pres">
      <dgm:prSet presAssocID="{F4D77B9F-D119-4766-9B5B-ABC56E0D9C31}" presName="hierChild5" presStyleCnt="0"/>
      <dgm:spPr/>
    </dgm:pt>
    <dgm:pt modelId="{5C25E37A-5F0E-4489-808A-344987007B0A}" type="pres">
      <dgm:prSet presAssocID="{7C43701B-5AF9-45DE-8EC8-24A6D11C84EF}" presName="Name37" presStyleLbl="parChTrans1D3" presStyleIdx="4" presStyleCnt="11"/>
      <dgm:spPr/>
      <dgm:t>
        <a:bodyPr/>
        <a:lstStyle/>
        <a:p>
          <a:endParaRPr lang="en-US"/>
        </a:p>
      </dgm:t>
    </dgm:pt>
    <dgm:pt modelId="{932EDC80-F109-41B3-ACF1-BF9776312EAA}" type="pres">
      <dgm:prSet presAssocID="{23248CDE-92F4-424F-88B7-0002046E7F61}" presName="hierRoot2" presStyleCnt="0">
        <dgm:presLayoutVars>
          <dgm:hierBranch val="init"/>
        </dgm:presLayoutVars>
      </dgm:prSet>
      <dgm:spPr/>
    </dgm:pt>
    <dgm:pt modelId="{53B79C16-10D2-4BDE-85C1-CE7EDE65BAB7}" type="pres">
      <dgm:prSet presAssocID="{23248CDE-92F4-424F-88B7-0002046E7F61}" presName="rootComposite" presStyleCnt="0"/>
      <dgm:spPr/>
    </dgm:pt>
    <dgm:pt modelId="{614DA188-499A-4C52-B914-AA985F4EB7DD}" type="pres">
      <dgm:prSet presAssocID="{23248CDE-92F4-424F-88B7-0002046E7F61}" presName="rootText" presStyleLbl="node3" presStyleIdx="4" presStyleCnt="11" custLinFactNeighborX="-9976" custLinFactNeighborY="95103">
        <dgm:presLayoutVars>
          <dgm:chPref val="3"/>
        </dgm:presLayoutVars>
      </dgm:prSet>
      <dgm:spPr/>
      <dgm:t>
        <a:bodyPr/>
        <a:lstStyle/>
        <a:p>
          <a:endParaRPr lang="en-US"/>
        </a:p>
      </dgm:t>
    </dgm:pt>
    <dgm:pt modelId="{DFB2DD2B-7084-4990-AC0E-80F0E1670BC8}" type="pres">
      <dgm:prSet presAssocID="{23248CDE-92F4-424F-88B7-0002046E7F61}" presName="rootConnector" presStyleLbl="node3" presStyleIdx="4" presStyleCnt="11"/>
      <dgm:spPr/>
      <dgm:t>
        <a:bodyPr/>
        <a:lstStyle/>
        <a:p>
          <a:endParaRPr lang="en-US"/>
        </a:p>
      </dgm:t>
    </dgm:pt>
    <dgm:pt modelId="{E761C5A2-A1BD-4D3C-9EFC-BAEB048243E5}" type="pres">
      <dgm:prSet presAssocID="{23248CDE-92F4-424F-88B7-0002046E7F61}" presName="hierChild4" presStyleCnt="0"/>
      <dgm:spPr/>
    </dgm:pt>
    <dgm:pt modelId="{BFA8997A-5772-4951-B045-27177A39414D}" type="pres">
      <dgm:prSet presAssocID="{23248CDE-92F4-424F-88B7-0002046E7F61}" presName="hierChild5" presStyleCnt="0"/>
      <dgm:spPr/>
    </dgm:pt>
    <dgm:pt modelId="{F2631E5A-3BB5-4140-A4FF-95C908C143B4}" type="pres">
      <dgm:prSet presAssocID="{04D380EE-2F24-4532-B903-FD3E8975ED36}" presName="Name37" presStyleLbl="parChTrans1D3" presStyleIdx="5" presStyleCnt="11"/>
      <dgm:spPr/>
      <dgm:t>
        <a:bodyPr/>
        <a:lstStyle/>
        <a:p>
          <a:endParaRPr lang="en-US"/>
        </a:p>
      </dgm:t>
    </dgm:pt>
    <dgm:pt modelId="{A461A672-9E5C-48E9-B9C8-A6689D5098EB}" type="pres">
      <dgm:prSet presAssocID="{6F0735C6-AC7F-4B12-87D5-45C8F38F8749}" presName="hierRoot2" presStyleCnt="0">
        <dgm:presLayoutVars>
          <dgm:hierBranch val="init"/>
        </dgm:presLayoutVars>
      </dgm:prSet>
      <dgm:spPr/>
    </dgm:pt>
    <dgm:pt modelId="{BDF9E0AA-C4A7-4F6B-A399-0BF56B8AEC52}" type="pres">
      <dgm:prSet presAssocID="{6F0735C6-AC7F-4B12-87D5-45C8F38F8749}" presName="rootComposite" presStyleCnt="0"/>
      <dgm:spPr/>
    </dgm:pt>
    <dgm:pt modelId="{F5D9E0CE-FCE1-4C0D-8E97-DFF578824BDA}" type="pres">
      <dgm:prSet presAssocID="{6F0735C6-AC7F-4B12-87D5-45C8F38F8749}" presName="rootText" presStyleLbl="node3" presStyleIdx="5" presStyleCnt="11" custLinFactNeighborX="-9976" custLinFactNeighborY="92260">
        <dgm:presLayoutVars>
          <dgm:chPref val="3"/>
        </dgm:presLayoutVars>
      </dgm:prSet>
      <dgm:spPr/>
      <dgm:t>
        <a:bodyPr/>
        <a:lstStyle/>
        <a:p>
          <a:endParaRPr lang="en-US"/>
        </a:p>
      </dgm:t>
    </dgm:pt>
    <dgm:pt modelId="{0564DA27-6650-41ED-B410-B893AA2EAB06}" type="pres">
      <dgm:prSet presAssocID="{6F0735C6-AC7F-4B12-87D5-45C8F38F8749}" presName="rootConnector" presStyleLbl="node3" presStyleIdx="5" presStyleCnt="11"/>
      <dgm:spPr/>
      <dgm:t>
        <a:bodyPr/>
        <a:lstStyle/>
        <a:p>
          <a:endParaRPr lang="en-US"/>
        </a:p>
      </dgm:t>
    </dgm:pt>
    <dgm:pt modelId="{35803479-A545-49B9-817C-960E0F6A5851}" type="pres">
      <dgm:prSet presAssocID="{6F0735C6-AC7F-4B12-87D5-45C8F38F8749}" presName="hierChild4" presStyleCnt="0"/>
      <dgm:spPr/>
    </dgm:pt>
    <dgm:pt modelId="{7B1486C1-513B-469A-AFF7-0E638C9CB69A}" type="pres">
      <dgm:prSet presAssocID="{6F0735C6-AC7F-4B12-87D5-45C8F38F8749}" presName="hierChild5" presStyleCnt="0"/>
      <dgm:spPr/>
    </dgm:pt>
    <dgm:pt modelId="{E0B42476-24AC-44EE-91F5-B4512B7F1F5A}" type="pres">
      <dgm:prSet presAssocID="{D9D692BB-6944-41F7-8027-517D5079C2F6}" presName="Name37" presStyleLbl="parChTrans1D3" presStyleIdx="6" presStyleCnt="11"/>
      <dgm:spPr/>
      <dgm:t>
        <a:bodyPr/>
        <a:lstStyle/>
        <a:p>
          <a:endParaRPr lang="en-US"/>
        </a:p>
      </dgm:t>
    </dgm:pt>
    <dgm:pt modelId="{CBDBBFB8-47D6-4CC9-A756-3F0EDFA811B7}" type="pres">
      <dgm:prSet presAssocID="{31A667F4-56E3-40EF-B1CD-79FE790C7BAB}" presName="hierRoot2" presStyleCnt="0">
        <dgm:presLayoutVars>
          <dgm:hierBranch val="init"/>
        </dgm:presLayoutVars>
      </dgm:prSet>
      <dgm:spPr/>
    </dgm:pt>
    <dgm:pt modelId="{88CF5F68-D2C2-4C05-98E5-1A08BCE7B77A}" type="pres">
      <dgm:prSet presAssocID="{31A667F4-56E3-40EF-B1CD-79FE790C7BAB}" presName="rootComposite" presStyleCnt="0"/>
      <dgm:spPr/>
    </dgm:pt>
    <dgm:pt modelId="{7C5DA751-DC3F-4DE0-8D5A-557F9B3F408C}" type="pres">
      <dgm:prSet presAssocID="{31A667F4-56E3-40EF-B1CD-79FE790C7BAB}" presName="rootText" presStyleLbl="node3" presStyleIdx="6" presStyleCnt="11" custLinFactY="-128054" custLinFactNeighborX="-7634" custLinFactNeighborY="-200000">
        <dgm:presLayoutVars>
          <dgm:chPref val="3"/>
        </dgm:presLayoutVars>
      </dgm:prSet>
      <dgm:spPr/>
      <dgm:t>
        <a:bodyPr/>
        <a:lstStyle/>
        <a:p>
          <a:endParaRPr lang="en-US"/>
        </a:p>
      </dgm:t>
    </dgm:pt>
    <dgm:pt modelId="{6976067C-D84B-4DE9-8C07-A78327EAC869}" type="pres">
      <dgm:prSet presAssocID="{31A667F4-56E3-40EF-B1CD-79FE790C7BAB}" presName="rootConnector" presStyleLbl="node3" presStyleIdx="6" presStyleCnt="11"/>
      <dgm:spPr/>
      <dgm:t>
        <a:bodyPr/>
        <a:lstStyle/>
        <a:p>
          <a:endParaRPr lang="en-US"/>
        </a:p>
      </dgm:t>
    </dgm:pt>
    <dgm:pt modelId="{CD34F757-A21C-4943-A7E9-3DAE3D668B00}" type="pres">
      <dgm:prSet presAssocID="{31A667F4-56E3-40EF-B1CD-79FE790C7BAB}" presName="hierChild4" presStyleCnt="0"/>
      <dgm:spPr/>
    </dgm:pt>
    <dgm:pt modelId="{789E2E5C-EFC6-47F3-BAB2-1946CA9BEFD2}" type="pres">
      <dgm:prSet presAssocID="{31A667F4-56E3-40EF-B1CD-79FE790C7BAB}" presName="hierChild5" presStyleCnt="0"/>
      <dgm:spPr/>
    </dgm:pt>
    <dgm:pt modelId="{EC787205-AEBF-4973-90D7-AF688930047A}" type="pres">
      <dgm:prSet presAssocID="{444D6DA7-2121-4FCC-961B-BEE1E246F586}" presName="hierChild5" presStyleCnt="0"/>
      <dgm:spPr/>
    </dgm:pt>
    <dgm:pt modelId="{B5BF5773-1D81-4B0E-A82A-57BD3312C40A}" type="pres">
      <dgm:prSet presAssocID="{AFD61C2C-1F1E-4744-8FA5-63E8B175B2F0}" presName="Name37" presStyleLbl="parChTrans1D2" presStyleIdx="2" presStyleCnt="4"/>
      <dgm:spPr/>
      <dgm:t>
        <a:bodyPr/>
        <a:lstStyle/>
        <a:p>
          <a:endParaRPr lang="en-US"/>
        </a:p>
      </dgm:t>
    </dgm:pt>
    <dgm:pt modelId="{4BA01DE1-A949-41E9-A1C6-B4777D0385E2}" type="pres">
      <dgm:prSet presAssocID="{634235F2-4C9F-4092-8174-E081CEB61646}" presName="hierRoot2" presStyleCnt="0">
        <dgm:presLayoutVars>
          <dgm:hierBranch val="init"/>
        </dgm:presLayoutVars>
      </dgm:prSet>
      <dgm:spPr/>
    </dgm:pt>
    <dgm:pt modelId="{2E2CCD41-3CD4-4649-A8D7-4991E6DE2706}" type="pres">
      <dgm:prSet presAssocID="{634235F2-4C9F-4092-8174-E081CEB61646}" presName="rootComposite" presStyleCnt="0"/>
      <dgm:spPr/>
    </dgm:pt>
    <dgm:pt modelId="{87C6C0AB-56DA-49E5-AB9B-FA16CD911141}" type="pres">
      <dgm:prSet presAssocID="{634235F2-4C9F-4092-8174-E081CEB61646}" presName="rootText" presStyleLbl="node2" presStyleIdx="2" presStyleCnt="4">
        <dgm:presLayoutVars>
          <dgm:chPref val="3"/>
        </dgm:presLayoutVars>
      </dgm:prSet>
      <dgm:spPr/>
      <dgm:t>
        <a:bodyPr/>
        <a:lstStyle/>
        <a:p>
          <a:endParaRPr lang="en-US"/>
        </a:p>
      </dgm:t>
    </dgm:pt>
    <dgm:pt modelId="{17B8C2A5-8772-453E-BA18-BAF856A5690D}" type="pres">
      <dgm:prSet presAssocID="{634235F2-4C9F-4092-8174-E081CEB61646}" presName="rootConnector" presStyleLbl="node2" presStyleIdx="2" presStyleCnt="4"/>
      <dgm:spPr/>
      <dgm:t>
        <a:bodyPr/>
        <a:lstStyle/>
        <a:p>
          <a:endParaRPr lang="en-US"/>
        </a:p>
      </dgm:t>
    </dgm:pt>
    <dgm:pt modelId="{358A2182-A89A-4846-86E1-2002EBDCDD09}" type="pres">
      <dgm:prSet presAssocID="{634235F2-4C9F-4092-8174-E081CEB61646}" presName="hierChild4" presStyleCnt="0"/>
      <dgm:spPr/>
    </dgm:pt>
    <dgm:pt modelId="{A3ED2CF7-808E-4CAE-A231-1EB7518FFEE7}" type="pres">
      <dgm:prSet presAssocID="{004BEA21-CC06-4543-894B-34C7201D8DCF}" presName="Name37" presStyleLbl="parChTrans1D3" presStyleIdx="7" presStyleCnt="11"/>
      <dgm:spPr/>
      <dgm:t>
        <a:bodyPr/>
        <a:lstStyle/>
        <a:p>
          <a:endParaRPr lang="en-US"/>
        </a:p>
      </dgm:t>
    </dgm:pt>
    <dgm:pt modelId="{FF423FF0-2ECB-4917-A76C-A1BE3E31F8EE}" type="pres">
      <dgm:prSet presAssocID="{DB15D140-A54D-4F9C-917B-598BB933A4AD}" presName="hierRoot2" presStyleCnt="0">
        <dgm:presLayoutVars>
          <dgm:hierBranch val="init"/>
        </dgm:presLayoutVars>
      </dgm:prSet>
      <dgm:spPr/>
    </dgm:pt>
    <dgm:pt modelId="{05ACDA9F-A756-479D-9D2B-5B9BF1B6ACFA}" type="pres">
      <dgm:prSet presAssocID="{DB15D140-A54D-4F9C-917B-598BB933A4AD}" presName="rootComposite" presStyleCnt="0"/>
      <dgm:spPr/>
    </dgm:pt>
    <dgm:pt modelId="{EA841742-A4BE-4467-AD2C-DFAF451EDB7A}" type="pres">
      <dgm:prSet presAssocID="{DB15D140-A54D-4F9C-917B-598BB933A4AD}" presName="rootText" presStyleLbl="node3" presStyleIdx="7" presStyleCnt="11">
        <dgm:presLayoutVars>
          <dgm:chPref val="3"/>
        </dgm:presLayoutVars>
      </dgm:prSet>
      <dgm:spPr/>
      <dgm:t>
        <a:bodyPr/>
        <a:lstStyle/>
        <a:p>
          <a:endParaRPr lang="en-US"/>
        </a:p>
      </dgm:t>
    </dgm:pt>
    <dgm:pt modelId="{FF3D833D-C5A2-445E-BCB6-5AE167B23E99}" type="pres">
      <dgm:prSet presAssocID="{DB15D140-A54D-4F9C-917B-598BB933A4AD}" presName="rootConnector" presStyleLbl="node3" presStyleIdx="7" presStyleCnt="11"/>
      <dgm:spPr/>
      <dgm:t>
        <a:bodyPr/>
        <a:lstStyle/>
        <a:p>
          <a:endParaRPr lang="en-US"/>
        </a:p>
      </dgm:t>
    </dgm:pt>
    <dgm:pt modelId="{5B632204-C4AF-48D2-A313-F0D8A4F4CE97}" type="pres">
      <dgm:prSet presAssocID="{DB15D140-A54D-4F9C-917B-598BB933A4AD}" presName="hierChild4" presStyleCnt="0"/>
      <dgm:spPr/>
    </dgm:pt>
    <dgm:pt modelId="{AA993794-04A8-4BD4-8B7D-2B364F627488}" type="pres">
      <dgm:prSet presAssocID="{DB15D140-A54D-4F9C-917B-598BB933A4AD}" presName="hierChild5" presStyleCnt="0"/>
      <dgm:spPr/>
    </dgm:pt>
    <dgm:pt modelId="{5055515B-6B78-47F6-A71A-9D75E4ED8E58}" type="pres">
      <dgm:prSet presAssocID="{C5C7A8C7-09DC-45EE-B5C0-938E7F850021}" presName="Name37" presStyleLbl="parChTrans1D3" presStyleIdx="8" presStyleCnt="11"/>
      <dgm:spPr/>
      <dgm:t>
        <a:bodyPr/>
        <a:lstStyle/>
        <a:p>
          <a:endParaRPr lang="en-US"/>
        </a:p>
      </dgm:t>
    </dgm:pt>
    <dgm:pt modelId="{70B1E918-4BD7-4A94-8D75-74692288D2BA}" type="pres">
      <dgm:prSet presAssocID="{2432DF63-A213-4E2B-944D-5B0B158CF3BA}" presName="hierRoot2" presStyleCnt="0">
        <dgm:presLayoutVars>
          <dgm:hierBranch val="init"/>
        </dgm:presLayoutVars>
      </dgm:prSet>
      <dgm:spPr/>
    </dgm:pt>
    <dgm:pt modelId="{C19105AC-FD53-48E9-A5AE-A55CBA303377}" type="pres">
      <dgm:prSet presAssocID="{2432DF63-A213-4E2B-944D-5B0B158CF3BA}" presName="rootComposite" presStyleCnt="0"/>
      <dgm:spPr/>
    </dgm:pt>
    <dgm:pt modelId="{A8692FEC-469A-40F4-8202-1E4222156258}" type="pres">
      <dgm:prSet presAssocID="{2432DF63-A213-4E2B-944D-5B0B158CF3BA}" presName="rootText" presStyleLbl="node3" presStyleIdx="8" presStyleCnt="11">
        <dgm:presLayoutVars>
          <dgm:chPref val="3"/>
        </dgm:presLayoutVars>
      </dgm:prSet>
      <dgm:spPr/>
      <dgm:t>
        <a:bodyPr/>
        <a:lstStyle/>
        <a:p>
          <a:endParaRPr lang="en-US"/>
        </a:p>
      </dgm:t>
    </dgm:pt>
    <dgm:pt modelId="{472FCE01-E5F6-4727-89FF-4F5211D19B01}" type="pres">
      <dgm:prSet presAssocID="{2432DF63-A213-4E2B-944D-5B0B158CF3BA}" presName="rootConnector" presStyleLbl="node3" presStyleIdx="8" presStyleCnt="11"/>
      <dgm:spPr/>
      <dgm:t>
        <a:bodyPr/>
        <a:lstStyle/>
        <a:p>
          <a:endParaRPr lang="en-US"/>
        </a:p>
      </dgm:t>
    </dgm:pt>
    <dgm:pt modelId="{42EA3F0B-08FC-4C5E-B9C5-1FDC5B427449}" type="pres">
      <dgm:prSet presAssocID="{2432DF63-A213-4E2B-944D-5B0B158CF3BA}" presName="hierChild4" presStyleCnt="0"/>
      <dgm:spPr/>
    </dgm:pt>
    <dgm:pt modelId="{C0D90E63-BDEF-4016-8FA0-AA3FD0D5441A}" type="pres">
      <dgm:prSet presAssocID="{2432DF63-A213-4E2B-944D-5B0B158CF3BA}" presName="hierChild5" presStyleCnt="0"/>
      <dgm:spPr/>
    </dgm:pt>
    <dgm:pt modelId="{52DC52C7-EDDC-40CD-8DC0-5E6801183EE2}" type="pres">
      <dgm:prSet presAssocID="{634235F2-4C9F-4092-8174-E081CEB61646}" presName="hierChild5" presStyleCnt="0"/>
      <dgm:spPr/>
    </dgm:pt>
    <dgm:pt modelId="{8E0FDC97-ADB8-4F51-B6E4-F28966C2B15F}" type="pres">
      <dgm:prSet presAssocID="{A7436693-55ED-4F5A-B7D4-599BD6047370}" presName="Name37" presStyleLbl="parChTrans1D2" presStyleIdx="3" presStyleCnt="4"/>
      <dgm:spPr/>
      <dgm:t>
        <a:bodyPr/>
        <a:lstStyle/>
        <a:p>
          <a:endParaRPr lang="en-US"/>
        </a:p>
      </dgm:t>
    </dgm:pt>
    <dgm:pt modelId="{9F34D0DE-C54F-40B5-A2BC-17A95730F01B}" type="pres">
      <dgm:prSet presAssocID="{A13F15C0-8BCB-4247-88D9-2F89EBFC6459}" presName="hierRoot2" presStyleCnt="0">
        <dgm:presLayoutVars>
          <dgm:hierBranch val="init"/>
        </dgm:presLayoutVars>
      </dgm:prSet>
      <dgm:spPr/>
    </dgm:pt>
    <dgm:pt modelId="{EA8A8B46-E468-455C-B6FE-B853C5631368}" type="pres">
      <dgm:prSet presAssocID="{A13F15C0-8BCB-4247-88D9-2F89EBFC6459}" presName="rootComposite" presStyleCnt="0"/>
      <dgm:spPr/>
    </dgm:pt>
    <dgm:pt modelId="{3D353114-AE61-4ED8-91A0-A893DABA534B}" type="pres">
      <dgm:prSet presAssocID="{A13F15C0-8BCB-4247-88D9-2F89EBFC6459}" presName="rootText" presStyleLbl="node2" presStyleIdx="3" presStyleCnt="4">
        <dgm:presLayoutVars>
          <dgm:chPref val="3"/>
        </dgm:presLayoutVars>
      </dgm:prSet>
      <dgm:spPr/>
      <dgm:t>
        <a:bodyPr/>
        <a:lstStyle/>
        <a:p>
          <a:endParaRPr lang="en-US"/>
        </a:p>
      </dgm:t>
    </dgm:pt>
    <dgm:pt modelId="{8D249C68-E98E-4D75-9A8A-0FC6505E81D4}" type="pres">
      <dgm:prSet presAssocID="{A13F15C0-8BCB-4247-88D9-2F89EBFC6459}" presName="rootConnector" presStyleLbl="node2" presStyleIdx="3" presStyleCnt="4"/>
      <dgm:spPr/>
      <dgm:t>
        <a:bodyPr/>
        <a:lstStyle/>
        <a:p>
          <a:endParaRPr lang="en-US"/>
        </a:p>
      </dgm:t>
    </dgm:pt>
    <dgm:pt modelId="{E63C564B-6856-4679-9CD7-5069B484C287}" type="pres">
      <dgm:prSet presAssocID="{A13F15C0-8BCB-4247-88D9-2F89EBFC6459}" presName="hierChild4" presStyleCnt="0"/>
      <dgm:spPr/>
    </dgm:pt>
    <dgm:pt modelId="{0D1BC607-DFE1-4FD7-A9FE-5B7F9DA2D6F1}" type="pres">
      <dgm:prSet presAssocID="{0FFD68C8-6C87-4250-8090-A41A24564BD6}" presName="Name37" presStyleLbl="parChTrans1D3" presStyleIdx="9" presStyleCnt="11"/>
      <dgm:spPr/>
      <dgm:t>
        <a:bodyPr/>
        <a:lstStyle/>
        <a:p>
          <a:endParaRPr lang="en-US"/>
        </a:p>
      </dgm:t>
    </dgm:pt>
    <dgm:pt modelId="{2FD60153-417D-436B-A089-436457A418B0}" type="pres">
      <dgm:prSet presAssocID="{DCCD37BF-BCE3-4481-9E57-F7AE69D5E532}" presName="hierRoot2" presStyleCnt="0">
        <dgm:presLayoutVars>
          <dgm:hierBranch val="init"/>
        </dgm:presLayoutVars>
      </dgm:prSet>
      <dgm:spPr/>
    </dgm:pt>
    <dgm:pt modelId="{CF4A6200-8140-46FF-B8AE-3D5CF82108C0}" type="pres">
      <dgm:prSet presAssocID="{DCCD37BF-BCE3-4481-9E57-F7AE69D5E532}" presName="rootComposite" presStyleCnt="0"/>
      <dgm:spPr/>
    </dgm:pt>
    <dgm:pt modelId="{B7A4BA2A-50B1-42BC-AFDB-53B2959DE149}" type="pres">
      <dgm:prSet presAssocID="{DCCD37BF-BCE3-4481-9E57-F7AE69D5E532}" presName="rootText" presStyleLbl="node3" presStyleIdx="9" presStyleCnt="11">
        <dgm:presLayoutVars>
          <dgm:chPref val="3"/>
        </dgm:presLayoutVars>
      </dgm:prSet>
      <dgm:spPr/>
      <dgm:t>
        <a:bodyPr/>
        <a:lstStyle/>
        <a:p>
          <a:endParaRPr lang="en-US"/>
        </a:p>
      </dgm:t>
    </dgm:pt>
    <dgm:pt modelId="{F0A38993-E493-4507-ABEB-05E8E1FB91FE}" type="pres">
      <dgm:prSet presAssocID="{DCCD37BF-BCE3-4481-9E57-F7AE69D5E532}" presName="rootConnector" presStyleLbl="node3" presStyleIdx="9" presStyleCnt="11"/>
      <dgm:spPr/>
      <dgm:t>
        <a:bodyPr/>
        <a:lstStyle/>
        <a:p>
          <a:endParaRPr lang="en-US"/>
        </a:p>
      </dgm:t>
    </dgm:pt>
    <dgm:pt modelId="{9ECEF2C1-BBC8-4A65-BE8B-DCDED6F520BE}" type="pres">
      <dgm:prSet presAssocID="{DCCD37BF-BCE3-4481-9E57-F7AE69D5E532}" presName="hierChild4" presStyleCnt="0"/>
      <dgm:spPr/>
    </dgm:pt>
    <dgm:pt modelId="{BBC08E10-B730-4A70-8A8C-3B6D200A0095}" type="pres">
      <dgm:prSet presAssocID="{DCCD37BF-BCE3-4481-9E57-F7AE69D5E532}" presName="hierChild5" presStyleCnt="0"/>
      <dgm:spPr/>
    </dgm:pt>
    <dgm:pt modelId="{B1CB6C06-7ADE-4022-B2E5-716014220E0A}" type="pres">
      <dgm:prSet presAssocID="{9896CFBB-A5F3-48BD-8464-721AA00680AE}" presName="Name37" presStyleLbl="parChTrans1D3" presStyleIdx="10" presStyleCnt="11"/>
      <dgm:spPr/>
      <dgm:t>
        <a:bodyPr/>
        <a:lstStyle/>
        <a:p>
          <a:endParaRPr lang="en-US"/>
        </a:p>
      </dgm:t>
    </dgm:pt>
    <dgm:pt modelId="{ECC779A9-C2F6-4A03-8151-7B62BD6F040C}" type="pres">
      <dgm:prSet presAssocID="{57EE41EB-CCC3-4212-8D08-93D1305B4A4E}" presName="hierRoot2" presStyleCnt="0">
        <dgm:presLayoutVars>
          <dgm:hierBranch val="init"/>
        </dgm:presLayoutVars>
      </dgm:prSet>
      <dgm:spPr/>
    </dgm:pt>
    <dgm:pt modelId="{E9E17F8F-E620-49BC-8BDD-4E6698E0951F}" type="pres">
      <dgm:prSet presAssocID="{57EE41EB-CCC3-4212-8D08-93D1305B4A4E}" presName="rootComposite" presStyleCnt="0"/>
      <dgm:spPr/>
    </dgm:pt>
    <dgm:pt modelId="{7359A961-558E-4102-83F1-FB09B3E375F0}" type="pres">
      <dgm:prSet presAssocID="{57EE41EB-CCC3-4212-8D08-93D1305B4A4E}" presName="rootText" presStyleLbl="node3" presStyleIdx="10" presStyleCnt="11">
        <dgm:presLayoutVars>
          <dgm:chPref val="3"/>
        </dgm:presLayoutVars>
      </dgm:prSet>
      <dgm:spPr/>
      <dgm:t>
        <a:bodyPr/>
        <a:lstStyle/>
        <a:p>
          <a:endParaRPr lang="en-US"/>
        </a:p>
      </dgm:t>
    </dgm:pt>
    <dgm:pt modelId="{97A4234B-54D5-4740-896E-70C17119FD8D}" type="pres">
      <dgm:prSet presAssocID="{57EE41EB-CCC3-4212-8D08-93D1305B4A4E}" presName="rootConnector" presStyleLbl="node3" presStyleIdx="10" presStyleCnt="11"/>
      <dgm:spPr/>
      <dgm:t>
        <a:bodyPr/>
        <a:lstStyle/>
        <a:p>
          <a:endParaRPr lang="en-US"/>
        </a:p>
      </dgm:t>
    </dgm:pt>
    <dgm:pt modelId="{DE158AB7-5422-49AF-A78A-9D86D0EE55B1}" type="pres">
      <dgm:prSet presAssocID="{57EE41EB-CCC3-4212-8D08-93D1305B4A4E}" presName="hierChild4" presStyleCnt="0"/>
      <dgm:spPr/>
    </dgm:pt>
    <dgm:pt modelId="{8D16E40E-6999-44A8-8686-5DCF1628BA98}" type="pres">
      <dgm:prSet presAssocID="{57EE41EB-CCC3-4212-8D08-93D1305B4A4E}" presName="hierChild5" presStyleCnt="0"/>
      <dgm:spPr/>
    </dgm:pt>
    <dgm:pt modelId="{26B3B6B7-555C-4040-AE7C-7187C12DE827}" type="pres">
      <dgm:prSet presAssocID="{A13F15C0-8BCB-4247-88D9-2F89EBFC6459}" presName="hierChild5" presStyleCnt="0"/>
      <dgm:spPr/>
    </dgm:pt>
    <dgm:pt modelId="{4191242B-0562-4C4D-BA1C-AB2FB7BBF094}" type="pres">
      <dgm:prSet presAssocID="{371576C0-A829-40EA-BC24-62ABC43174CF}" presName="hierChild3" presStyleCnt="0"/>
      <dgm:spPr/>
    </dgm:pt>
  </dgm:ptLst>
  <dgm:cxnLst>
    <dgm:cxn modelId="{D21E1632-811B-49C7-9A16-8396589A8B4E}" type="presOf" srcId="{371576C0-A829-40EA-BC24-62ABC43174CF}" destId="{A7D5281F-BD1C-42F2-9A52-E01A19F27CBD}" srcOrd="1" destOrd="0" presId="urn:microsoft.com/office/officeart/2005/8/layout/orgChart1"/>
    <dgm:cxn modelId="{0390161B-71EF-44FB-817D-C1E9ABA2A8B3}" type="presOf" srcId="{CFD05267-3909-44BA-8DE6-B2A7AE888152}" destId="{2692C735-8FE7-4FF4-9A5F-7518AA5CFC41}" srcOrd="1" destOrd="0" presId="urn:microsoft.com/office/officeart/2005/8/layout/orgChart1"/>
    <dgm:cxn modelId="{089FD4DF-DDD4-49D6-A4BE-340EC1996F01}" type="presOf" srcId="{AFD61C2C-1F1E-4744-8FA5-63E8B175B2F0}" destId="{B5BF5773-1D81-4B0E-A82A-57BD3312C40A}" srcOrd="0" destOrd="0" presId="urn:microsoft.com/office/officeart/2005/8/layout/orgChart1"/>
    <dgm:cxn modelId="{5EB311F0-A30B-46B8-97DD-E0352892A790}" type="presOf" srcId="{97C91760-477A-4355-9C53-F13B9B1F3DDA}" destId="{E5EACDED-5B87-4D19-83AD-60D8A05E1AB9}" srcOrd="0" destOrd="0" presId="urn:microsoft.com/office/officeart/2005/8/layout/orgChart1"/>
    <dgm:cxn modelId="{49064FD1-0258-41A8-97D1-7C05121538FE}" type="presOf" srcId="{6C8D3564-EF13-4864-AA2C-93EF932EDBA3}" destId="{8AB8AB44-3D4D-4783-963D-BA8707D4640E}" srcOrd="1" destOrd="0" presId="urn:microsoft.com/office/officeart/2005/8/layout/orgChart1"/>
    <dgm:cxn modelId="{73F3F12D-226A-4114-9E88-7B71C79DDAAD}" type="presOf" srcId="{A7436693-55ED-4F5A-B7D4-599BD6047370}" destId="{8E0FDC97-ADB8-4F51-B6E4-F28966C2B15F}" srcOrd="0" destOrd="0" presId="urn:microsoft.com/office/officeart/2005/8/layout/orgChart1"/>
    <dgm:cxn modelId="{D3138560-5581-42FE-913E-3FACCBC244E7}" type="presOf" srcId="{634235F2-4C9F-4092-8174-E081CEB61646}" destId="{17B8C2A5-8772-453E-BA18-BAF856A5690D}" srcOrd="1" destOrd="0" presId="urn:microsoft.com/office/officeart/2005/8/layout/orgChart1"/>
    <dgm:cxn modelId="{17F3B6D8-46EC-45AF-A94B-88B7E8B98264}" type="presOf" srcId="{004BEA21-CC06-4543-894B-34C7201D8DCF}" destId="{A3ED2CF7-808E-4CAE-A231-1EB7518FFEE7}" srcOrd="0" destOrd="0" presId="urn:microsoft.com/office/officeart/2005/8/layout/orgChart1"/>
    <dgm:cxn modelId="{FFF4CAA8-E504-406C-95D7-C0BF90850F0F}" srcId="{A13F15C0-8BCB-4247-88D9-2F89EBFC6459}" destId="{57EE41EB-CCC3-4212-8D08-93D1305B4A4E}" srcOrd="1" destOrd="0" parTransId="{9896CFBB-A5F3-48BD-8464-721AA00680AE}" sibTransId="{D0B3CC6F-9FDA-4169-B9B4-3B51C33F3E58}"/>
    <dgm:cxn modelId="{CFC2864E-83C5-413B-B1D2-C70093EDA8A8}" type="presOf" srcId="{3B812519-E986-42B3-9E53-E5B576F633C8}" destId="{127AA98D-A90A-4BE2-8413-44DFA7D41E07}" srcOrd="0" destOrd="0" presId="urn:microsoft.com/office/officeart/2005/8/layout/orgChart1"/>
    <dgm:cxn modelId="{92DAC5FB-31A9-4161-9A0E-AAD944BDC060}" type="presOf" srcId="{9896CFBB-A5F3-48BD-8464-721AA00680AE}" destId="{B1CB6C06-7ADE-4022-B2E5-716014220E0A}" srcOrd="0" destOrd="0" presId="urn:microsoft.com/office/officeart/2005/8/layout/orgChart1"/>
    <dgm:cxn modelId="{91CCA478-8E8B-4020-86BE-B900103BF9E5}" type="presOf" srcId="{DB15D140-A54D-4F9C-917B-598BB933A4AD}" destId="{EA841742-A4BE-4467-AD2C-DFAF451EDB7A}" srcOrd="0" destOrd="0" presId="urn:microsoft.com/office/officeart/2005/8/layout/orgChart1"/>
    <dgm:cxn modelId="{216D57D3-3AB4-4E4A-B0A5-46BC990DE9EC}" type="presOf" srcId="{F4D77B9F-D119-4766-9B5B-ABC56E0D9C31}" destId="{59862EEB-33F6-44B6-AEE7-A6175EAB13C1}" srcOrd="1" destOrd="0" presId="urn:microsoft.com/office/officeart/2005/8/layout/orgChart1"/>
    <dgm:cxn modelId="{0499B58A-894C-4752-8D78-095223704768}" type="presOf" srcId="{012B6E6D-DE2F-4663-BD72-D0EB92415686}" destId="{AD6B0F62-9192-4055-ABA5-8085B2B7A629}" srcOrd="0" destOrd="0" presId="urn:microsoft.com/office/officeart/2005/8/layout/orgChart1"/>
    <dgm:cxn modelId="{830370DD-A880-4344-BCEA-309443E3C655}" type="presOf" srcId="{A13F15C0-8BCB-4247-88D9-2F89EBFC6459}" destId="{8D249C68-E98E-4D75-9A8A-0FC6505E81D4}" srcOrd="1" destOrd="0" presId="urn:microsoft.com/office/officeart/2005/8/layout/orgChart1"/>
    <dgm:cxn modelId="{1656D390-9053-47D2-9313-198DD4865D06}" type="presOf" srcId="{634235F2-4C9F-4092-8174-E081CEB61646}" destId="{87C6C0AB-56DA-49E5-AB9B-FA16CD911141}" srcOrd="0" destOrd="0" presId="urn:microsoft.com/office/officeart/2005/8/layout/orgChart1"/>
    <dgm:cxn modelId="{8BC5053B-8514-4D1F-8D26-84A651BDF3D6}" srcId="{444D6DA7-2121-4FCC-961B-BEE1E246F586}" destId="{31A667F4-56E3-40EF-B1CD-79FE790C7BAB}" srcOrd="3" destOrd="0" parTransId="{D9D692BB-6944-41F7-8027-517D5079C2F6}" sibTransId="{260041AD-57F5-471A-BED9-D71756CD7650}"/>
    <dgm:cxn modelId="{537F2CC6-9FA8-4BDF-8E7A-7736D65BDBD3}" type="presOf" srcId="{371576C0-A829-40EA-BC24-62ABC43174CF}" destId="{A8796F04-5966-45A5-A58F-0F0BED8EF529}" srcOrd="0" destOrd="0" presId="urn:microsoft.com/office/officeart/2005/8/layout/orgChart1"/>
    <dgm:cxn modelId="{E6D7DC9B-CDA5-40D0-B559-8DA07F9BE6DE}" type="presOf" srcId="{7C43701B-5AF9-45DE-8EC8-24A6D11C84EF}" destId="{5C25E37A-5F0E-4489-808A-344987007B0A}" srcOrd="0" destOrd="0" presId="urn:microsoft.com/office/officeart/2005/8/layout/orgChart1"/>
    <dgm:cxn modelId="{086BFB52-E6AA-45E2-872A-4AFE7415E604}" srcId="{AB7CA487-C139-4654-8BEB-9C52A84C6F7D}" destId="{CFD05267-3909-44BA-8DE6-B2A7AE888152}" srcOrd="2" destOrd="0" parTransId="{376E1801-6DBA-461F-89BA-07B02FD0CE84}" sibTransId="{C86EBA65-02BA-4F3E-82B5-C80B24FA1E1A}"/>
    <dgm:cxn modelId="{98A5E3A3-CE4C-4A09-906C-6EBCAD2E264B}" type="presOf" srcId="{6F0735C6-AC7F-4B12-87D5-45C8F38F8749}" destId="{F5D9E0CE-FCE1-4C0D-8E97-DFF578824BDA}" srcOrd="0" destOrd="0" presId="urn:microsoft.com/office/officeart/2005/8/layout/orgChart1"/>
    <dgm:cxn modelId="{822F7130-47D4-452A-882F-7C3955336639}" type="presOf" srcId="{376E1801-6DBA-461F-89BA-07B02FD0CE84}" destId="{C5FBAAAF-65BA-462F-8D4B-463A496B06B3}" srcOrd="0" destOrd="0" presId="urn:microsoft.com/office/officeart/2005/8/layout/orgChart1"/>
    <dgm:cxn modelId="{CF615D3C-30C4-4BA5-828A-6DFD1884C48A}" srcId="{371576C0-A829-40EA-BC24-62ABC43174CF}" destId="{444D6DA7-2121-4FCC-961B-BEE1E246F586}" srcOrd="1" destOrd="0" parTransId="{3B812519-E986-42B3-9E53-E5B576F633C8}" sibTransId="{AAD7298B-5091-4A51-AF7F-035CB0E02E93}"/>
    <dgm:cxn modelId="{23F5877A-0C8D-48FE-915A-D8466FCFD005}" type="presOf" srcId="{57EE41EB-CCC3-4212-8D08-93D1305B4A4E}" destId="{97A4234B-54D5-4740-896E-70C17119FD8D}" srcOrd="1" destOrd="0" presId="urn:microsoft.com/office/officeart/2005/8/layout/orgChart1"/>
    <dgm:cxn modelId="{EAFE61C5-078D-4113-A253-B30577B4A7EC}" srcId="{634235F2-4C9F-4092-8174-E081CEB61646}" destId="{DB15D140-A54D-4F9C-917B-598BB933A4AD}" srcOrd="0" destOrd="0" parTransId="{004BEA21-CC06-4543-894B-34C7201D8DCF}" sibTransId="{96DE0CF4-6DC3-4905-8E69-8A1B7DA82E45}"/>
    <dgm:cxn modelId="{2D4EE591-EE4B-4B7A-92D3-6FAF9A7A9DC4}" srcId="{5A0920E9-C5F4-4618-95B6-2F9A9FCBE6D5}" destId="{371576C0-A829-40EA-BC24-62ABC43174CF}" srcOrd="0" destOrd="0" parTransId="{E95AB9D9-4DE7-43BF-91E0-D0724C7C04B2}" sibTransId="{F93317D3-B1F8-49C7-A235-6A450C166508}"/>
    <dgm:cxn modelId="{D42EC6ED-7905-4957-8163-BF06E1DD8307}" type="presOf" srcId="{31A667F4-56E3-40EF-B1CD-79FE790C7BAB}" destId="{6976067C-D84B-4DE9-8C07-A78327EAC869}" srcOrd="1" destOrd="0" presId="urn:microsoft.com/office/officeart/2005/8/layout/orgChart1"/>
    <dgm:cxn modelId="{8814AFEC-877F-4FEC-8B9F-8DD7E3AAB3C7}" type="presOf" srcId="{DCCD37BF-BCE3-4481-9E57-F7AE69D5E532}" destId="{B7A4BA2A-50B1-42BC-AFDB-53B2959DE149}" srcOrd="0" destOrd="0" presId="urn:microsoft.com/office/officeart/2005/8/layout/orgChart1"/>
    <dgm:cxn modelId="{0C1292EE-5C58-43F6-AFE6-19B387321D95}" type="presOf" srcId="{5FD8EF43-C2D1-4FAC-B032-BF065EA30846}" destId="{F96E40B0-3346-44C0-96F9-142CC92F114B}" srcOrd="0" destOrd="0" presId="urn:microsoft.com/office/officeart/2005/8/layout/orgChart1"/>
    <dgm:cxn modelId="{75C9E895-97BE-4259-9E69-1BEB0CED1BAA}" type="presOf" srcId="{0FFD68C8-6C87-4250-8090-A41A24564BD6}" destId="{0D1BC607-DFE1-4FD7-A9FE-5B7F9DA2D6F1}" srcOrd="0" destOrd="0" presId="urn:microsoft.com/office/officeart/2005/8/layout/orgChart1"/>
    <dgm:cxn modelId="{B58408E4-D37C-478D-BFD1-0950246AA1C3}" type="presOf" srcId="{790D1992-C652-4D45-AF8D-8A466D13E68C}" destId="{6AB9095A-1FE7-4679-94B9-EDF3F92835A0}" srcOrd="1" destOrd="0" presId="urn:microsoft.com/office/officeart/2005/8/layout/orgChart1"/>
    <dgm:cxn modelId="{3639A9BC-3ACB-4EF7-9441-7B9853262ED0}" type="presOf" srcId="{F4D77B9F-D119-4766-9B5B-ABC56E0D9C31}" destId="{653B3501-E141-46FE-AE02-6922F4D8215F}" srcOrd="0" destOrd="0" presId="urn:microsoft.com/office/officeart/2005/8/layout/orgChart1"/>
    <dgm:cxn modelId="{E229378D-320B-425F-9C00-FB520B210FAB}" type="presOf" srcId="{DB15D140-A54D-4F9C-917B-598BB933A4AD}" destId="{FF3D833D-C5A2-445E-BCB6-5AE167B23E99}" srcOrd="1" destOrd="0" presId="urn:microsoft.com/office/officeart/2005/8/layout/orgChart1"/>
    <dgm:cxn modelId="{2E1B737E-2ED3-446B-BFFF-0CD5537CBAE2}" type="presOf" srcId="{31A667F4-56E3-40EF-B1CD-79FE790C7BAB}" destId="{7C5DA751-DC3F-4DE0-8D5A-557F9B3F408C}" srcOrd="0" destOrd="0" presId="urn:microsoft.com/office/officeart/2005/8/layout/orgChart1"/>
    <dgm:cxn modelId="{2463E9F1-451B-4D61-9A86-6F12AE466ACE}" type="presOf" srcId="{444D6DA7-2121-4FCC-961B-BEE1E246F586}" destId="{DC565B9D-575A-460A-9711-D71E3880DA68}" srcOrd="1" destOrd="0" presId="urn:microsoft.com/office/officeart/2005/8/layout/orgChart1"/>
    <dgm:cxn modelId="{59338DE5-291D-4369-B67E-28E0F577F7D8}" type="presOf" srcId="{3AACA1B9-F156-4603-8FA7-4254BCDCFBC8}" destId="{EE1C2F6C-597E-429F-87C2-124C957CBD31}" srcOrd="0" destOrd="0" presId="urn:microsoft.com/office/officeart/2005/8/layout/orgChart1"/>
    <dgm:cxn modelId="{CD2547EE-26DA-4CE3-9DDC-818797BCDAE4}" type="presOf" srcId="{04D380EE-2F24-4532-B903-FD3E8975ED36}" destId="{F2631E5A-3BB5-4140-A4FF-95C908C143B4}" srcOrd="0" destOrd="0" presId="urn:microsoft.com/office/officeart/2005/8/layout/orgChart1"/>
    <dgm:cxn modelId="{F9E19E60-1A7A-4899-BBDD-998F86A3B736}" type="presOf" srcId="{6C8D3564-EF13-4864-AA2C-93EF932EDBA3}" destId="{285DAC41-5F61-42BE-AD0C-A24E1773D4B3}" srcOrd="0" destOrd="0" presId="urn:microsoft.com/office/officeart/2005/8/layout/orgChart1"/>
    <dgm:cxn modelId="{6380DAFC-72B7-4260-A052-3E7ACA18B4EA}" srcId="{371576C0-A829-40EA-BC24-62ABC43174CF}" destId="{A13F15C0-8BCB-4247-88D9-2F89EBFC6459}" srcOrd="3" destOrd="0" parTransId="{A7436693-55ED-4F5A-B7D4-599BD6047370}" sibTransId="{67A148D0-A019-4D34-8A5D-0B1876699D93}"/>
    <dgm:cxn modelId="{2EE0BA21-0868-4C71-8A24-6C42B338943F}" type="presOf" srcId="{2432DF63-A213-4E2B-944D-5B0B158CF3BA}" destId="{472FCE01-E5F6-4727-89FF-4F5211D19B01}" srcOrd="1" destOrd="0" presId="urn:microsoft.com/office/officeart/2005/8/layout/orgChart1"/>
    <dgm:cxn modelId="{EB44ED88-122A-49D1-8416-AFB9AF7666F0}" type="presOf" srcId="{790D1992-C652-4D45-AF8D-8A466D13E68C}" destId="{46B0E45A-E484-418A-9FB7-381022164C1D}" srcOrd="0" destOrd="0" presId="urn:microsoft.com/office/officeart/2005/8/layout/orgChart1"/>
    <dgm:cxn modelId="{C7C2D1E1-0758-419C-A1AE-0965EF6C340B}" type="presOf" srcId="{DCCD37BF-BCE3-4481-9E57-F7AE69D5E532}" destId="{F0A38993-E493-4507-ABEB-05E8E1FB91FE}" srcOrd="1" destOrd="0" presId="urn:microsoft.com/office/officeart/2005/8/layout/orgChart1"/>
    <dgm:cxn modelId="{A21C3FCF-3FDA-4964-939B-304C6FCADE11}" srcId="{AB7CA487-C139-4654-8BEB-9C52A84C6F7D}" destId="{790D1992-C652-4D45-AF8D-8A466D13E68C}" srcOrd="0" destOrd="0" parTransId="{3AACA1B9-F156-4603-8FA7-4254BCDCFBC8}" sibTransId="{D780DCC3-3DAF-4B33-B069-FC5C98DE42B3}"/>
    <dgm:cxn modelId="{A314DF29-30FC-48AB-A5EA-59DF09A6AE08}" srcId="{371576C0-A829-40EA-BC24-62ABC43174CF}" destId="{634235F2-4C9F-4092-8174-E081CEB61646}" srcOrd="2" destOrd="0" parTransId="{AFD61C2C-1F1E-4744-8FA5-63E8B175B2F0}" sibTransId="{1120B429-24DB-47B6-83B1-DE1505EE83B5}"/>
    <dgm:cxn modelId="{C3BEAE55-6C40-43F1-9378-5B6E9C8658D2}" srcId="{A13F15C0-8BCB-4247-88D9-2F89EBFC6459}" destId="{DCCD37BF-BCE3-4481-9E57-F7AE69D5E532}" srcOrd="0" destOrd="0" parTransId="{0FFD68C8-6C87-4250-8090-A41A24564BD6}" sibTransId="{06143BA2-2A98-4110-8FC1-F39ED9AE2E0A}"/>
    <dgm:cxn modelId="{3DB9B0D3-6B91-4F7B-B701-C61DA3725F25}" type="presOf" srcId="{D9D692BB-6944-41F7-8027-517D5079C2F6}" destId="{E0B42476-24AC-44EE-91F5-B4512B7F1F5A}" srcOrd="0" destOrd="0" presId="urn:microsoft.com/office/officeart/2005/8/layout/orgChart1"/>
    <dgm:cxn modelId="{72D3BA5D-07A9-468D-B126-6B46BCFE5931}" srcId="{444D6DA7-2121-4FCC-961B-BEE1E246F586}" destId="{F4D77B9F-D119-4766-9B5B-ABC56E0D9C31}" srcOrd="0" destOrd="0" parTransId="{012B6E6D-DE2F-4663-BD72-D0EB92415686}" sibTransId="{041F8FB3-E6FB-4059-8BD9-305F4299CE01}"/>
    <dgm:cxn modelId="{EC43C55B-3A3C-4CC4-B2CF-CDCE23C93E44}" type="presOf" srcId="{AB7CA487-C139-4654-8BEB-9C52A84C6F7D}" destId="{65C88D2F-6D38-42B3-8F57-DE3594BA3E25}" srcOrd="1" destOrd="0" presId="urn:microsoft.com/office/officeart/2005/8/layout/orgChart1"/>
    <dgm:cxn modelId="{6EA05A45-22AE-472A-BD82-2AEDB14A7D1E}" srcId="{634235F2-4C9F-4092-8174-E081CEB61646}" destId="{2432DF63-A213-4E2B-944D-5B0B158CF3BA}" srcOrd="1" destOrd="0" parTransId="{C5C7A8C7-09DC-45EE-B5C0-938E7F850021}" sibTransId="{9F551FC5-A487-4C56-A663-0AC5A36A562B}"/>
    <dgm:cxn modelId="{FC089611-CEB4-4FAA-92FA-D7896D9CC194}" type="presOf" srcId="{5A0920E9-C5F4-4618-95B6-2F9A9FCBE6D5}" destId="{405C4608-D2A1-473D-8D10-2A5F7287D7A2}" srcOrd="0" destOrd="0" presId="urn:microsoft.com/office/officeart/2005/8/layout/orgChart1"/>
    <dgm:cxn modelId="{DE03A93F-54A3-4189-ABB4-EC1F0AE8777D}" type="presOf" srcId="{23248CDE-92F4-424F-88B7-0002046E7F61}" destId="{614DA188-499A-4C52-B914-AA985F4EB7DD}" srcOrd="0" destOrd="0" presId="urn:microsoft.com/office/officeart/2005/8/layout/orgChart1"/>
    <dgm:cxn modelId="{AD1E94E4-DCEE-41A8-94D0-0D91FD27E5F6}" type="presOf" srcId="{57EE41EB-CCC3-4212-8D08-93D1305B4A4E}" destId="{7359A961-558E-4102-83F1-FB09B3E375F0}" srcOrd="0" destOrd="0" presId="urn:microsoft.com/office/officeart/2005/8/layout/orgChart1"/>
    <dgm:cxn modelId="{98CF5A68-5D54-4BE7-AEEB-F90896EE7D2B}" type="presOf" srcId="{AB7CA487-C139-4654-8BEB-9C52A84C6F7D}" destId="{EF434CFC-C746-4C85-B2B3-7F739CC45EFA}" srcOrd="0" destOrd="0" presId="urn:microsoft.com/office/officeart/2005/8/layout/orgChart1"/>
    <dgm:cxn modelId="{F4D2707A-3800-4F50-8BD2-F69745716679}" type="presOf" srcId="{444D6DA7-2121-4FCC-961B-BEE1E246F586}" destId="{8EDD8FDF-E255-4ED8-8530-79C9A4CD34D5}" srcOrd="0" destOrd="0" presId="urn:microsoft.com/office/officeart/2005/8/layout/orgChart1"/>
    <dgm:cxn modelId="{8AD1F86C-52E9-4727-A17C-8AAB1BF2F86C}" type="presOf" srcId="{C5C7A8C7-09DC-45EE-B5C0-938E7F850021}" destId="{5055515B-6B78-47F6-A71A-9D75E4ED8E58}" srcOrd="0" destOrd="0" presId="urn:microsoft.com/office/officeart/2005/8/layout/orgChart1"/>
    <dgm:cxn modelId="{03437A2C-DA1C-4422-BB52-970708A4DE05}" srcId="{444D6DA7-2121-4FCC-961B-BEE1E246F586}" destId="{23248CDE-92F4-424F-88B7-0002046E7F61}" srcOrd="1" destOrd="0" parTransId="{7C43701B-5AF9-45DE-8EC8-24A6D11C84EF}" sibTransId="{44E9982B-495D-450F-B8E2-9ED1A6A9EBED}"/>
    <dgm:cxn modelId="{AE28407D-F447-4499-A236-EBB65799EB38}" type="presOf" srcId="{CFD05267-3909-44BA-8DE6-B2A7AE888152}" destId="{BF4ED96C-EF1D-4A65-ABA9-5872DD43BF87}" srcOrd="0" destOrd="0" presId="urn:microsoft.com/office/officeart/2005/8/layout/orgChart1"/>
    <dgm:cxn modelId="{D9773243-06BD-477F-9A9C-CB4DFDEC6BEA}" srcId="{371576C0-A829-40EA-BC24-62ABC43174CF}" destId="{AB7CA487-C139-4654-8BEB-9C52A84C6F7D}" srcOrd="0" destOrd="0" parTransId="{97C91760-477A-4355-9C53-F13B9B1F3DDA}" sibTransId="{8347E3E7-8EB1-4DB0-B254-10CED5A205F8}"/>
    <dgm:cxn modelId="{A08C0B32-0323-465B-A44B-1619629AE8E6}" type="presOf" srcId="{2432DF63-A213-4E2B-944D-5B0B158CF3BA}" destId="{A8692FEC-469A-40F4-8202-1E4222156258}" srcOrd="0" destOrd="0" presId="urn:microsoft.com/office/officeart/2005/8/layout/orgChart1"/>
    <dgm:cxn modelId="{CB9FA970-8659-4E1D-932A-1D67882B4D80}" type="presOf" srcId="{6F0735C6-AC7F-4B12-87D5-45C8F38F8749}" destId="{0564DA27-6650-41ED-B410-B893AA2EAB06}" srcOrd="1" destOrd="0" presId="urn:microsoft.com/office/officeart/2005/8/layout/orgChart1"/>
    <dgm:cxn modelId="{EA42264B-DB85-4AD1-A8C8-B6ED26784C26}" type="presOf" srcId="{A13F15C0-8BCB-4247-88D9-2F89EBFC6459}" destId="{3D353114-AE61-4ED8-91A0-A893DABA534B}" srcOrd="0" destOrd="0" presId="urn:microsoft.com/office/officeart/2005/8/layout/orgChart1"/>
    <dgm:cxn modelId="{D6750C32-A38E-4476-ADB2-0AF4631A1AE8}" type="presOf" srcId="{23248CDE-92F4-424F-88B7-0002046E7F61}" destId="{DFB2DD2B-7084-4990-AC0E-80F0E1670BC8}" srcOrd="1" destOrd="0" presId="urn:microsoft.com/office/officeart/2005/8/layout/orgChart1"/>
    <dgm:cxn modelId="{55B5A4C0-6126-4DEA-A4A9-3E8C27CE986B}" srcId="{444D6DA7-2121-4FCC-961B-BEE1E246F586}" destId="{6F0735C6-AC7F-4B12-87D5-45C8F38F8749}" srcOrd="2" destOrd="0" parTransId="{04D380EE-2F24-4532-B903-FD3E8975ED36}" sibTransId="{56A2E685-C363-4118-8761-5677FA502950}"/>
    <dgm:cxn modelId="{27B1FD36-A6AB-4723-BFA1-830E74C0CDC8}" srcId="{AB7CA487-C139-4654-8BEB-9C52A84C6F7D}" destId="{6C8D3564-EF13-4864-AA2C-93EF932EDBA3}" srcOrd="1" destOrd="0" parTransId="{5FD8EF43-C2D1-4FAC-B032-BF065EA30846}" sibTransId="{208BBC5D-BBBC-4287-9D89-30631ADCB362}"/>
    <dgm:cxn modelId="{AA4EF6FA-67AF-48E8-A5EE-5CF4FBDD5769}" type="presParOf" srcId="{405C4608-D2A1-473D-8D10-2A5F7287D7A2}" destId="{28BC99D3-3FB9-404F-8BAB-59B784050457}" srcOrd="0" destOrd="0" presId="urn:microsoft.com/office/officeart/2005/8/layout/orgChart1"/>
    <dgm:cxn modelId="{D840C61E-00A5-4FF4-B13F-CD5F860E2F81}" type="presParOf" srcId="{28BC99D3-3FB9-404F-8BAB-59B784050457}" destId="{3D147E6C-795D-411F-B03D-D92962422F41}" srcOrd="0" destOrd="0" presId="urn:microsoft.com/office/officeart/2005/8/layout/orgChart1"/>
    <dgm:cxn modelId="{0872D479-9BA9-44CC-9055-089309ECA8F8}" type="presParOf" srcId="{3D147E6C-795D-411F-B03D-D92962422F41}" destId="{A8796F04-5966-45A5-A58F-0F0BED8EF529}" srcOrd="0" destOrd="0" presId="urn:microsoft.com/office/officeart/2005/8/layout/orgChart1"/>
    <dgm:cxn modelId="{4732CB12-192B-4756-8ABB-1AD2491F3D9A}" type="presParOf" srcId="{3D147E6C-795D-411F-B03D-D92962422F41}" destId="{A7D5281F-BD1C-42F2-9A52-E01A19F27CBD}" srcOrd="1" destOrd="0" presId="urn:microsoft.com/office/officeart/2005/8/layout/orgChart1"/>
    <dgm:cxn modelId="{0CB56F32-2A07-446F-9BD9-308E0ABED783}" type="presParOf" srcId="{28BC99D3-3FB9-404F-8BAB-59B784050457}" destId="{7FF9F5ED-0CA4-48CF-AD4F-AF4E4B592551}" srcOrd="1" destOrd="0" presId="urn:microsoft.com/office/officeart/2005/8/layout/orgChart1"/>
    <dgm:cxn modelId="{5B3DFB1A-D001-4132-A2ED-349E6067F3AD}" type="presParOf" srcId="{7FF9F5ED-0CA4-48CF-AD4F-AF4E4B592551}" destId="{E5EACDED-5B87-4D19-83AD-60D8A05E1AB9}" srcOrd="0" destOrd="0" presId="urn:microsoft.com/office/officeart/2005/8/layout/orgChart1"/>
    <dgm:cxn modelId="{7331CBA7-B003-4691-9589-CAFA0C28F417}" type="presParOf" srcId="{7FF9F5ED-0CA4-48CF-AD4F-AF4E4B592551}" destId="{15250F27-0EDF-4400-9E29-A6FEA2AB96A0}" srcOrd="1" destOrd="0" presId="urn:microsoft.com/office/officeart/2005/8/layout/orgChart1"/>
    <dgm:cxn modelId="{CFC2A0E0-EE31-4105-AEC8-2A61C807F127}" type="presParOf" srcId="{15250F27-0EDF-4400-9E29-A6FEA2AB96A0}" destId="{BBE40BC2-66FA-4B40-BD1E-0C5A9A8A528D}" srcOrd="0" destOrd="0" presId="urn:microsoft.com/office/officeart/2005/8/layout/orgChart1"/>
    <dgm:cxn modelId="{F7787177-5861-4BF2-9F43-01268529FD4F}" type="presParOf" srcId="{BBE40BC2-66FA-4B40-BD1E-0C5A9A8A528D}" destId="{EF434CFC-C746-4C85-B2B3-7F739CC45EFA}" srcOrd="0" destOrd="0" presId="urn:microsoft.com/office/officeart/2005/8/layout/orgChart1"/>
    <dgm:cxn modelId="{D2C44C06-B495-4772-A78F-E3F75F3471F8}" type="presParOf" srcId="{BBE40BC2-66FA-4B40-BD1E-0C5A9A8A528D}" destId="{65C88D2F-6D38-42B3-8F57-DE3594BA3E25}" srcOrd="1" destOrd="0" presId="urn:microsoft.com/office/officeart/2005/8/layout/orgChart1"/>
    <dgm:cxn modelId="{3FEAB43B-7EB9-445B-B151-3193CA6466E3}" type="presParOf" srcId="{15250F27-0EDF-4400-9E29-A6FEA2AB96A0}" destId="{0000C93A-DFA1-43A6-887D-B96481DC8683}" srcOrd="1" destOrd="0" presId="urn:microsoft.com/office/officeart/2005/8/layout/orgChart1"/>
    <dgm:cxn modelId="{3AA860DB-49C8-46A7-B50C-59B0C0C19BBD}" type="presParOf" srcId="{0000C93A-DFA1-43A6-887D-B96481DC8683}" destId="{EE1C2F6C-597E-429F-87C2-124C957CBD31}" srcOrd="0" destOrd="0" presId="urn:microsoft.com/office/officeart/2005/8/layout/orgChart1"/>
    <dgm:cxn modelId="{17A4E25F-E727-4037-8F4E-B274F1F4575C}" type="presParOf" srcId="{0000C93A-DFA1-43A6-887D-B96481DC8683}" destId="{F1B32F02-CF36-4236-A1AD-F403CBC04BD3}" srcOrd="1" destOrd="0" presId="urn:microsoft.com/office/officeart/2005/8/layout/orgChart1"/>
    <dgm:cxn modelId="{C36FC21A-4F07-410F-8738-0A0EEA9027BC}" type="presParOf" srcId="{F1B32F02-CF36-4236-A1AD-F403CBC04BD3}" destId="{8D13F6F6-EA84-4E93-B216-9565156DF825}" srcOrd="0" destOrd="0" presId="urn:microsoft.com/office/officeart/2005/8/layout/orgChart1"/>
    <dgm:cxn modelId="{2C6B5AFC-2FF8-4A83-8FBD-A60D3CF65995}" type="presParOf" srcId="{8D13F6F6-EA84-4E93-B216-9565156DF825}" destId="{46B0E45A-E484-418A-9FB7-381022164C1D}" srcOrd="0" destOrd="0" presId="urn:microsoft.com/office/officeart/2005/8/layout/orgChart1"/>
    <dgm:cxn modelId="{E2354C5E-47B4-4D11-A885-D12276A78DC6}" type="presParOf" srcId="{8D13F6F6-EA84-4E93-B216-9565156DF825}" destId="{6AB9095A-1FE7-4679-94B9-EDF3F92835A0}" srcOrd="1" destOrd="0" presId="urn:microsoft.com/office/officeart/2005/8/layout/orgChart1"/>
    <dgm:cxn modelId="{51CD2091-0AFC-4C1E-8E89-4C8E3D66B95E}" type="presParOf" srcId="{F1B32F02-CF36-4236-A1AD-F403CBC04BD3}" destId="{2A898C08-F274-4B7A-890F-A58CB4E26A45}" srcOrd="1" destOrd="0" presId="urn:microsoft.com/office/officeart/2005/8/layout/orgChart1"/>
    <dgm:cxn modelId="{FC4AFD1B-C310-4028-927F-F447E72FFFAC}" type="presParOf" srcId="{F1B32F02-CF36-4236-A1AD-F403CBC04BD3}" destId="{431EB638-3B01-41E7-BFFC-88CDF81145FA}" srcOrd="2" destOrd="0" presId="urn:microsoft.com/office/officeart/2005/8/layout/orgChart1"/>
    <dgm:cxn modelId="{D2297A80-9455-4E96-93EE-29CA5ECAC35C}" type="presParOf" srcId="{0000C93A-DFA1-43A6-887D-B96481DC8683}" destId="{F96E40B0-3346-44C0-96F9-142CC92F114B}" srcOrd="2" destOrd="0" presId="urn:microsoft.com/office/officeart/2005/8/layout/orgChart1"/>
    <dgm:cxn modelId="{9168F60C-58B4-436D-890B-BD40C5F3FE41}" type="presParOf" srcId="{0000C93A-DFA1-43A6-887D-B96481DC8683}" destId="{02E7B9D0-65BE-4BF2-A889-EE1E386AFEF6}" srcOrd="3" destOrd="0" presId="urn:microsoft.com/office/officeart/2005/8/layout/orgChart1"/>
    <dgm:cxn modelId="{1E30D3B0-0408-4E94-881F-F24699A19C1B}" type="presParOf" srcId="{02E7B9D0-65BE-4BF2-A889-EE1E386AFEF6}" destId="{1B4770DD-9436-410F-9CD1-B90DD408F4B5}" srcOrd="0" destOrd="0" presId="urn:microsoft.com/office/officeart/2005/8/layout/orgChart1"/>
    <dgm:cxn modelId="{358EE1F4-CD2B-49C7-8C09-F26D7212E804}" type="presParOf" srcId="{1B4770DD-9436-410F-9CD1-B90DD408F4B5}" destId="{285DAC41-5F61-42BE-AD0C-A24E1773D4B3}" srcOrd="0" destOrd="0" presId="urn:microsoft.com/office/officeart/2005/8/layout/orgChart1"/>
    <dgm:cxn modelId="{2E443486-1B4B-4464-AAF4-A330994BF805}" type="presParOf" srcId="{1B4770DD-9436-410F-9CD1-B90DD408F4B5}" destId="{8AB8AB44-3D4D-4783-963D-BA8707D4640E}" srcOrd="1" destOrd="0" presId="urn:microsoft.com/office/officeart/2005/8/layout/orgChart1"/>
    <dgm:cxn modelId="{CBA539C0-4DFF-49CA-911C-FBD12D5FE05F}" type="presParOf" srcId="{02E7B9D0-65BE-4BF2-A889-EE1E386AFEF6}" destId="{4C0D8B34-DB5B-4CE5-9828-934D11B6C388}" srcOrd="1" destOrd="0" presId="urn:microsoft.com/office/officeart/2005/8/layout/orgChart1"/>
    <dgm:cxn modelId="{A06724EE-1DEB-469F-95A6-71C8F0853B5D}" type="presParOf" srcId="{02E7B9D0-65BE-4BF2-A889-EE1E386AFEF6}" destId="{6EB41B93-F3EA-4152-97AB-D4B80C081898}" srcOrd="2" destOrd="0" presId="urn:microsoft.com/office/officeart/2005/8/layout/orgChart1"/>
    <dgm:cxn modelId="{C7AAA8D0-9877-40F3-A0BB-553106955C9F}" type="presParOf" srcId="{0000C93A-DFA1-43A6-887D-B96481DC8683}" destId="{C5FBAAAF-65BA-462F-8D4B-463A496B06B3}" srcOrd="4" destOrd="0" presId="urn:microsoft.com/office/officeart/2005/8/layout/orgChart1"/>
    <dgm:cxn modelId="{EE0BECC8-C9CB-48B8-B904-983996064B8C}" type="presParOf" srcId="{0000C93A-DFA1-43A6-887D-B96481DC8683}" destId="{B9B99D3E-9340-4B01-87EA-72CBE803C5A3}" srcOrd="5" destOrd="0" presId="urn:microsoft.com/office/officeart/2005/8/layout/orgChart1"/>
    <dgm:cxn modelId="{09D779BD-35AA-4F74-870F-BB03FDBBB928}" type="presParOf" srcId="{B9B99D3E-9340-4B01-87EA-72CBE803C5A3}" destId="{52C78E3B-17F5-4769-BC83-93E6AD892748}" srcOrd="0" destOrd="0" presId="urn:microsoft.com/office/officeart/2005/8/layout/orgChart1"/>
    <dgm:cxn modelId="{415B2EC7-3984-4372-B55D-5B420812ECB4}" type="presParOf" srcId="{52C78E3B-17F5-4769-BC83-93E6AD892748}" destId="{BF4ED96C-EF1D-4A65-ABA9-5872DD43BF87}" srcOrd="0" destOrd="0" presId="urn:microsoft.com/office/officeart/2005/8/layout/orgChart1"/>
    <dgm:cxn modelId="{D1529DA8-C0EA-4C3E-952B-28AE26CE5BCB}" type="presParOf" srcId="{52C78E3B-17F5-4769-BC83-93E6AD892748}" destId="{2692C735-8FE7-4FF4-9A5F-7518AA5CFC41}" srcOrd="1" destOrd="0" presId="urn:microsoft.com/office/officeart/2005/8/layout/orgChart1"/>
    <dgm:cxn modelId="{76DD13C6-6C9E-4288-B804-E47A6F3ED3B8}" type="presParOf" srcId="{B9B99D3E-9340-4B01-87EA-72CBE803C5A3}" destId="{6195BB8F-6866-4987-9289-9E42A1DD1D4E}" srcOrd="1" destOrd="0" presId="urn:microsoft.com/office/officeart/2005/8/layout/orgChart1"/>
    <dgm:cxn modelId="{535289D0-43E7-45B2-92D8-B8D3BDA431D9}" type="presParOf" srcId="{B9B99D3E-9340-4B01-87EA-72CBE803C5A3}" destId="{C968F2C7-BCA6-494C-A9F0-19466872C742}" srcOrd="2" destOrd="0" presId="urn:microsoft.com/office/officeart/2005/8/layout/orgChart1"/>
    <dgm:cxn modelId="{BBE27D2C-FA7B-4908-A3DD-44F21F35E2D0}" type="presParOf" srcId="{15250F27-0EDF-4400-9E29-A6FEA2AB96A0}" destId="{F9A10D2B-C82B-4645-A901-3339125EBDA5}" srcOrd="2" destOrd="0" presId="urn:microsoft.com/office/officeart/2005/8/layout/orgChart1"/>
    <dgm:cxn modelId="{F7B65CAA-BAB0-419F-A9E5-90AD6C8A804D}" type="presParOf" srcId="{7FF9F5ED-0CA4-48CF-AD4F-AF4E4B592551}" destId="{127AA98D-A90A-4BE2-8413-44DFA7D41E07}" srcOrd="2" destOrd="0" presId="urn:microsoft.com/office/officeart/2005/8/layout/orgChart1"/>
    <dgm:cxn modelId="{9C531019-ECB1-4478-80F4-9F8F021464ED}" type="presParOf" srcId="{7FF9F5ED-0CA4-48CF-AD4F-AF4E4B592551}" destId="{9608267B-46A0-4DDD-9FF9-394BA67DC327}" srcOrd="3" destOrd="0" presId="urn:microsoft.com/office/officeart/2005/8/layout/orgChart1"/>
    <dgm:cxn modelId="{063D4492-718C-4F8F-8905-908461636F71}" type="presParOf" srcId="{9608267B-46A0-4DDD-9FF9-394BA67DC327}" destId="{AE9DD9D8-F51A-478C-8886-802350B4F349}" srcOrd="0" destOrd="0" presId="urn:microsoft.com/office/officeart/2005/8/layout/orgChart1"/>
    <dgm:cxn modelId="{D3928DF8-C558-4DF5-8CE8-4EB437AB7260}" type="presParOf" srcId="{AE9DD9D8-F51A-478C-8886-802350B4F349}" destId="{8EDD8FDF-E255-4ED8-8530-79C9A4CD34D5}" srcOrd="0" destOrd="0" presId="urn:microsoft.com/office/officeart/2005/8/layout/orgChart1"/>
    <dgm:cxn modelId="{13280CC5-23A4-4C91-8B8A-A8C393A185EA}" type="presParOf" srcId="{AE9DD9D8-F51A-478C-8886-802350B4F349}" destId="{DC565B9D-575A-460A-9711-D71E3880DA68}" srcOrd="1" destOrd="0" presId="urn:microsoft.com/office/officeart/2005/8/layout/orgChart1"/>
    <dgm:cxn modelId="{BCCC7366-3D4F-4E87-9A80-E5C440F798AF}" type="presParOf" srcId="{9608267B-46A0-4DDD-9FF9-394BA67DC327}" destId="{4618ED0E-657C-4580-B2BC-AE8D8756A75D}" srcOrd="1" destOrd="0" presId="urn:microsoft.com/office/officeart/2005/8/layout/orgChart1"/>
    <dgm:cxn modelId="{55332F1D-5AC8-4DC4-914B-AAEF4597106F}" type="presParOf" srcId="{4618ED0E-657C-4580-B2BC-AE8D8756A75D}" destId="{AD6B0F62-9192-4055-ABA5-8085B2B7A629}" srcOrd="0" destOrd="0" presId="urn:microsoft.com/office/officeart/2005/8/layout/orgChart1"/>
    <dgm:cxn modelId="{E5364122-1605-4D68-A8C3-7A2628CE35FB}" type="presParOf" srcId="{4618ED0E-657C-4580-B2BC-AE8D8756A75D}" destId="{2ECE341B-7962-406E-83CA-25EE555E9B51}" srcOrd="1" destOrd="0" presId="urn:microsoft.com/office/officeart/2005/8/layout/orgChart1"/>
    <dgm:cxn modelId="{806860F3-5723-4BF8-A09F-70D1E00148F4}" type="presParOf" srcId="{2ECE341B-7962-406E-83CA-25EE555E9B51}" destId="{D190A26C-5DAE-4A21-B0E4-B36984C6DA83}" srcOrd="0" destOrd="0" presId="urn:microsoft.com/office/officeart/2005/8/layout/orgChart1"/>
    <dgm:cxn modelId="{E01DD924-A2E7-4ABD-825A-61D96C2832E9}" type="presParOf" srcId="{D190A26C-5DAE-4A21-B0E4-B36984C6DA83}" destId="{653B3501-E141-46FE-AE02-6922F4D8215F}" srcOrd="0" destOrd="0" presId="urn:microsoft.com/office/officeart/2005/8/layout/orgChart1"/>
    <dgm:cxn modelId="{361C9D54-F44A-4F98-A686-17BADD142456}" type="presParOf" srcId="{D190A26C-5DAE-4A21-B0E4-B36984C6DA83}" destId="{59862EEB-33F6-44B6-AEE7-A6175EAB13C1}" srcOrd="1" destOrd="0" presId="urn:microsoft.com/office/officeart/2005/8/layout/orgChart1"/>
    <dgm:cxn modelId="{0306E2DB-81B5-46F6-980F-D5B355ACEAC6}" type="presParOf" srcId="{2ECE341B-7962-406E-83CA-25EE555E9B51}" destId="{7470A53E-65AA-453A-9229-04064DE3E693}" srcOrd="1" destOrd="0" presId="urn:microsoft.com/office/officeart/2005/8/layout/orgChart1"/>
    <dgm:cxn modelId="{1C0026E9-96B2-494A-B75E-ABDBF8C16C60}" type="presParOf" srcId="{2ECE341B-7962-406E-83CA-25EE555E9B51}" destId="{C98A03FB-95C4-4F3C-BBEF-983EFE90C2E0}" srcOrd="2" destOrd="0" presId="urn:microsoft.com/office/officeart/2005/8/layout/orgChart1"/>
    <dgm:cxn modelId="{6D8ADA54-FD61-44FE-9752-4550EE9E96D7}" type="presParOf" srcId="{4618ED0E-657C-4580-B2BC-AE8D8756A75D}" destId="{5C25E37A-5F0E-4489-808A-344987007B0A}" srcOrd="2" destOrd="0" presId="urn:microsoft.com/office/officeart/2005/8/layout/orgChart1"/>
    <dgm:cxn modelId="{197659B4-3940-4598-BBE3-1AD6EF39C231}" type="presParOf" srcId="{4618ED0E-657C-4580-B2BC-AE8D8756A75D}" destId="{932EDC80-F109-41B3-ACF1-BF9776312EAA}" srcOrd="3" destOrd="0" presId="urn:microsoft.com/office/officeart/2005/8/layout/orgChart1"/>
    <dgm:cxn modelId="{BE54DFAA-9386-4C44-8703-3B4E678B0D1C}" type="presParOf" srcId="{932EDC80-F109-41B3-ACF1-BF9776312EAA}" destId="{53B79C16-10D2-4BDE-85C1-CE7EDE65BAB7}" srcOrd="0" destOrd="0" presId="urn:microsoft.com/office/officeart/2005/8/layout/orgChart1"/>
    <dgm:cxn modelId="{522E1809-B439-485E-98A7-FCED88BCAA54}" type="presParOf" srcId="{53B79C16-10D2-4BDE-85C1-CE7EDE65BAB7}" destId="{614DA188-499A-4C52-B914-AA985F4EB7DD}" srcOrd="0" destOrd="0" presId="urn:microsoft.com/office/officeart/2005/8/layout/orgChart1"/>
    <dgm:cxn modelId="{0CA85736-5395-41B4-B056-9D0F6C1EA7E0}" type="presParOf" srcId="{53B79C16-10D2-4BDE-85C1-CE7EDE65BAB7}" destId="{DFB2DD2B-7084-4990-AC0E-80F0E1670BC8}" srcOrd="1" destOrd="0" presId="urn:microsoft.com/office/officeart/2005/8/layout/orgChart1"/>
    <dgm:cxn modelId="{D265A183-5A45-422B-9055-6B8CEF360AF1}" type="presParOf" srcId="{932EDC80-F109-41B3-ACF1-BF9776312EAA}" destId="{E761C5A2-A1BD-4D3C-9EFC-BAEB048243E5}" srcOrd="1" destOrd="0" presId="urn:microsoft.com/office/officeart/2005/8/layout/orgChart1"/>
    <dgm:cxn modelId="{1319923B-A506-4012-A0B4-7202DCD07A3E}" type="presParOf" srcId="{932EDC80-F109-41B3-ACF1-BF9776312EAA}" destId="{BFA8997A-5772-4951-B045-27177A39414D}" srcOrd="2" destOrd="0" presId="urn:microsoft.com/office/officeart/2005/8/layout/orgChart1"/>
    <dgm:cxn modelId="{43A58CB0-8685-4B96-A970-954D507FDEAD}" type="presParOf" srcId="{4618ED0E-657C-4580-B2BC-AE8D8756A75D}" destId="{F2631E5A-3BB5-4140-A4FF-95C908C143B4}" srcOrd="4" destOrd="0" presId="urn:microsoft.com/office/officeart/2005/8/layout/orgChart1"/>
    <dgm:cxn modelId="{88C2E5FF-0F3B-48F7-A836-8102DCAC785C}" type="presParOf" srcId="{4618ED0E-657C-4580-B2BC-AE8D8756A75D}" destId="{A461A672-9E5C-48E9-B9C8-A6689D5098EB}" srcOrd="5" destOrd="0" presId="urn:microsoft.com/office/officeart/2005/8/layout/orgChart1"/>
    <dgm:cxn modelId="{F74D59F9-D693-4875-8B29-2D904B206694}" type="presParOf" srcId="{A461A672-9E5C-48E9-B9C8-A6689D5098EB}" destId="{BDF9E0AA-C4A7-4F6B-A399-0BF56B8AEC52}" srcOrd="0" destOrd="0" presId="urn:microsoft.com/office/officeart/2005/8/layout/orgChart1"/>
    <dgm:cxn modelId="{6BCE4FC9-75BE-4E26-9928-9D42D40417ED}" type="presParOf" srcId="{BDF9E0AA-C4A7-4F6B-A399-0BF56B8AEC52}" destId="{F5D9E0CE-FCE1-4C0D-8E97-DFF578824BDA}" srcOrd="0" destOrd="0" presId="urn:microsoft.com/office/officeart/2005/8/layout/orgChart1"/>
    <dgm:cxn modelId="{8197D5E9-4AC4-49AD-8861-6B98942E5BD5}" type="presParOf" srcId="{BDF9E0AA-C4A7-4F6B-A399-0BF56B8AEC52}" destId="{0564DA27-6650-41ED-B410-B893AA2EAB06}" srcOrd="1" destOrd="0" presId="urn:microsoft.com/office/officeart/2005/8/layout/orgChart1"/>
    <dgm:cxn modelId="{1ACDEC37-B639-42A1-AAC3-1C113FE34AF8}" type="presParOf" srcId="{A461A672-9E5C-48E9-B9C8-A6689D5098EB}" destId="{35803479-A545-49B9-817C-960E0F6A5851}" srcOrd="1" destOrd="0" presId="urn:microsoft.com/office/officeart/2005/8/layout/orgChart1"/>
    <dgm:cxn modelId="{C98ADD9B-336C-4051-93B4-A13C3D142594}" type="presParOf" srcId="{A461A672-9E5C-48E9-B9C8-A6689D5098EB}" destId="{7B1486C1-513B-469A-AFF7-0E638C9CB69A}" srcOrd="2" destOrd="0" presId="urn:microsoft.com/office/officeart/2005/8/layout/orgChart1"/>
    <dgm:cxn modelId="{2AA81BA9-904D-4CEE-B6FD-FFC732A52955}" type="presParOf" srcId="{4618ED0E-657C-4580-B2BC-AE8D8756A75D}" destId="{E0B42476-24AC-44EE-91F5-B4512B7F1F5A}" srcOrd="6" destOrd="0" presId="urn:microsoft.com/office/officeart/2005/8/layout/orgChart1"/>
    <dgm:cxn modelId="{1C3DD9DB-C48A-4E36-A96B-3BB9420709E6}" type="presParOf" srcId="{4618ED0E-657C-4580-B2BC-AE8D8756A75D}" destId="{CBDBBFB8-47D6-4CC9-A756-3F0EDFA811B7}" srcOrd="7" destOrd="0" presId="urn:microsoft.com/office/officeart/2005/8/layout/orgChart1"/>
    <dgm:cxn modelId="{08CE9E92-1624-4844-89F0-3BB002EC630B}" type="presParOf" srcId="{CBDBBFB8-47D6-4CC9-A756-3F0EDFA811B7}" destId="{88CF5F68-D2C2-4C05-98E5-1A08BCE7B77A}" srcOrd="0" destOrd="0" presId="urn:microsoft.com/office/officeart/2005/8/layout/orgChart1"/>
    <dgm:cxn modelId="{014D1233-9214-4677-82AB-9958A71BF4E3}" type="presParOf" srcId="{88CF5F68-D2C2-4C05-98E5-1A08BCE7B77A}" destId="{7C5DA751-DC3F-4DE0-8D5A-557F9B3F408C}" srcOrd="0" destOrd="0" presId="urn:microsoft.com/office/officeart/2005/8/layout/orgChart1"/>
    <dgm:cxn modelId="{A4902799-3B17-48ED-B928-C42684C6EA84}" type="presParOf" srcId="{88CF5F68-D2C2-4C05-98E5-1A08BCE7B77A}" destId="{6976067C-D84B-4DE9-8C07-A78327EAC869}" srcOrd="1" destOrd="0" presId="urn:microsoft.com/office/officeart/2005/8/layout/orgChart1"/>
    <dgm:cxn modelId="{2DEA007F-5332-45A4-A576-636E66915FD6}" type="presParOf" srcId="{CBDBBFB8-47D6-4CC9-A756-3F0EDFA811B7}" destId="{CD34F757-A21C-4943-A7E9-3DAE3D668B00}" srcOrd="1" destOrd="0" presId="urn:microsoft.com/office/officeart/2005/8/layout/orgChart1"/>
    <dgm:cxn modelId="{654957E4-3315-4721-9648-E8405D4EE656}" type="presParOf" srcId="{CBDBBFB8-47D6-4CC9-A756-3F0EDFA811B7}" destId="{789E2E5C-EFC6-47F3-BAB2-1946CA9BEFD2}" srcOrd="2" destOrd="0" presId="urn:microsoft.com/office/officeart/2005/8/layout/orgChart1"/>
    <dgm:cxn modelId="{A00C1736-5B0E-4B1F-9A81-BD9D1E06F12F}" type="presParOf" srcId="{9608267B-46A0-4DDD-9FF9-394BA67DC327}" destId="{EC787205-AEBF-4973-90D7-AF688930047A}" srcOrd="2" destOrd="0" presId="urn:microsoft.com/office/officeart/2005/8/layout/orgChart1"/>
    <dgm:cxn modelId="{CFB7DC26-A2CF-43B5-A020-71688F4139BB}" type="presParOf" srcId="{7FF9F5ED-0CA4-48CF-AD4F-AF4E4B592551}" destId="{B5BF5773-1D81-4B0E-A82A-57BD3312C40A}" srcOrd="4" destOrd="0" presId="urn:microsoft.com/office/officeart/2005/8/layout/orgChart1"/>
    <dgm:cxn modelId="{80A91BEE-A338-4B85-8945-35FE67EB8584}" type="presParOf" srcId="{7FF9F5ED-0CA4-48CF-AD4F-AF4E4B592551}" destId="{4BA01DE1-A949-41E9-A1C6-B4777D0385E2}" srcOrd="5" destOrd="0" presId="urn:microsoft.com/office/officeart/2005/8/layout/orgChart1"/>
    <dgm:cxn modelId="{DDEE2B7F-9E89-4093-96F2-390CDD7ABAA0}" type="presParOf" srcId="{4BA01DE1-A949-41E9-A1C6-B4777D0385E2}" destId="{2E2CCD41-3CD4-4649-A8D7-4991E6DE2706}" srcOrd="0" destOrd="0" presId="urn:microsoft.com/office/officeart/2005/8/layout/orgChart1"/>
    <dgm:cxn modelId="{C839CF64-5902-4007-914E-1760CBD5BF00}" type="presParOf" srcId="{2E2CCD41-3CD4-4649-A8D7-4991E6DE2706}" destId="{87C6C0AB-56DA-49E5-AB9B-FA16CD911141}" srcOrd="0" destOrd="0" presId="urn:microsoft.com/office/officeart/2005/8/layout/orgChart1"/>
    <dgm:cxn modelId="{4221B785-476A-4DD2-83A2-A3CA0612B951}" type="presParOf" srcId="{2E2CCD41-3CD4-4649-A8D7-4991E6DE2706}" destId="{17B8C2A5-8772-453E-BA18-BAF856A5690D}" srcOrd="1" destOrd="0" presId="urn:microsoft.com/office/officeart/2005/8/layout/orgChart1"/>
    <dgm:cxn modelId="{37D3BF13-0B23-4FB6-96A7-51BF05375C6A}" type="presParOf" srcId="{4BA01DE1-A949-41E9-A1C6-B4777D0385E2}" destId="{358A2182-A89A-4846-86E1-2002EBDCDD09}" srcOrd="1" destOrd="0" presId="urn:microsoft.com/office/officeart/2005/8/layout/orgChart1"/>
    <dgm:cxn modelId="{8B528137-7E6C-4975-9687-3584BE9CCDDA}" type="presParOf" srcId="{358A2182-A89A-4846-86E1-2002EBDCDD09}" destId="{A3ED2CF7-808E-4CAE-A231-1EB7518FFEE7}" srcOrd="0" destOrd="0" presId="urn:microsoft.com/office/officeart/2005/8/layout/orgChart1"/>
    <dgm:cxn modelId="{C70E6341-0A9D-4DC3-905B-28A82A337ED4}" type="presParOf" srcId="{358A2182-A89A-4846-86E1-2002EBDCDD09}" destId="{FF423FF0-2ECB-4917-A76C-A1BE3E31F8EE}" srcOrd="1" destOrd="0" presId="urn:microsoft.com/office/officeart/2005/8/layout/orgChart1"/>
    <dgm:cxn modelId="{776E81E5-B2BB-4BDE-8D1F-C6F828EDAEC2}" type="presParOf" srcId="{FF423FF0-2ECB-4917-A76C-A1BE3E31F8EE}" destId="{05ACDA9F-A756-479D-9D2B-5B9BF1B6ACFA}" srcOrd="0" destOrd="0" presId="urn:microsoft.com/office/officeart/2005/8/layout/orgChart1"/>
    <dgm:cxn modelId="{197811B4-3A81-40E2-A204-B8621787FCF4}" type="presParOf" srcId="{05ACDA9F-A756-479D-9D2B-5B9BF1B6ACFA}" destId="{EA841742-A4BE-4467-AD2C-DFAF451EDB7A}" srcOrd="0" destOrd="0" presId="urn:microsoft.com/office/officeart/2005/8/layout/orgChart1"/>
    <dgm:cxn modelId="{4AE5F466-7275-41DD-B273-36529DC0A2AD}" type="presParOf" srcId="{05ACDA9F-A756-479D-9D2B-5B9BF1B6ACFA}" destId="{FF3D833D-C5A2-445E-BCB6-5AE167B23E99}" srcOrd="1" destOrd="0" presId="urn:microsoft.com/office/officeart/2005/8/layout/orgChart1"/>
    <dgm:cxn modelId="{7A8196D0-E11A-4570-ACC6-05B12DC1F0AD}" type="presParOf" srcId="{FF423FF0-2ECB-4917-A76C-A1BE3E31F8EE}" destId="{5B632204-C4AF-48D2-A313-F0D8A4F4CE97}" srcOrd="1" destOrd="0" presId="urn:microsoft.com/office/officeart/2005/8/layout/orgChart1"/>
    <dgm:cxn modelId="{3E0F6AA9-53F2-4886-86E2-E07E23D55CCF}" type="presParOf" srcId="{FF423FF0-2ECB-4917-A76C-A1BE3E31F8EE}" destId="{AA993794-04A8-4BD4-8B7D-2B364F627488}" srcOrd="2" destOrd="0" presId="urn:microsoft.com/office/officeart/2005/8/layout/orgChart1"/>
    <dgm:cxn modelId="{B966FB3A-999F-4290-87E0-F701C53F2B44}" type="presParOf" srcId="{358A2182-A89A-4846-86E1-2002EBDCDD09}" destId="{5055515B-6B78-47F6-A71A-9D75E4ED8E58}" srcOrd="2" destOrd="0" presId="urn:microsoft.com/office/officeart/2005/8/layout/orgChart1"/>
    <dgm:cxn modelId="{D4F283D0-4415-4C5F-894E-DE5333BD8837}" type="presParOf" srcId="{358A2182-A89A-4846-86E1-2002EBDCDD09}" destId="{70B1E918-4BD7-4A94-8D75-74692288D2BA}" srcOrd="3" destOrd="0" presId="urn:microsoft.com/office/officeart/2005/8/layout/orgChart1"/>
    <dgm:cxn modelId="{29304F8D-A087-4BCA-A266-F38001A40662}" type="presParOf" srcId="{70B1E918-4BD7-4A94-8D75-74692288D2BA}" destId="{C19105AC-FD53-48E9-A5AE-A55CBA303377}" srcOrd="0" destOrd="0" presId="urn:microsoft.com/office/officeart/2005/8/layout/orgChart1"/>
    <dgm:cxn modelId="{8C8DAE32-5D89-48A4-A8F3-6DF399A3CABD}" type="presParOf" srcId="{C19105AC-FD53-48E9-A5AE-A55CBA303377}" destId="{A8692FEC-469A-40F4-8202-1E4222156258}" srcOrd="0" destOrd="0" presId="urn:microsoft.com/office/officeart/2005/8/layout/orgChart1"/>
    <dgm:cxn modelId="{2AABF103-9C15-406A-A951-D19E43536442}" type="presParOf" srcId="{C19105AC-FD53-48E9-A5AE-A55CBA303377}" destId="{472FCE01-E5F6-4727-89FF-4F5211D19B01}" srcOrd="1" destOrd="0" presId="urn:microsoft.com/office/officeart/2005/8/layout/orgChart1"/>
    <dgm:cxn modelId="{FB8B52BD-77E2-4440-B215-C8B6253833E3}" type="presParOf" srcId="{70B1E918-4BD7-4A94-8D75-74692288D2BA}" destId="{42EA3F0B-08FC-4C5E-B9C5-1FDC5B427449}" srcOrd="1" destOrd="0" presId="urn:microsoft.com/office/officeart/2005/8/layout/orgChart1"/>
    <dgm:cxn modelId="{AFDAD115-CDBE-4CEA-9D91-38938B52E4BD}" type="presParOf" srcId="{70B1E918-4BD7-4A94-8D75-74692288D2BA}" destId="{C0D90E63-BDEF-4016-8FA0-AA3FD0D5441A}" srcOrd="2" destOrd="0" presId="urn:microsoft.com/office/officeart/2005/8/layout/orgChart1"/>
    <dgm:cxn modelId="{36A72DD6-6CC9-45A8-97A3-156E48DCE0A2}" type="presParOf" srcId="{4BA01DE1-A949-41E9-A1C6-B4777D0385E2}" destId="{52DC52C7-EDDC-40CD-8DC0-5E6801183EE2}" srcOrd="2" destOrd="0" presId="urn:microsoft.com/office/officeart/2005/8/layout/orgChart1"/>
    <dgm:cxn modelId="{441FC581-A1B4-4652-BA9A-7ECB7F82CA39}" type="presParOf" srcId="{7FF9F5ED-0CA4-48CF-AD4F-AF4E4B592551}" destId="{8E0FDC97-ADB8-4F51-B6E4-F28966C2B15F}" srcOrd="6" destOrd="0" presId="urn:microsoft.com/office/officeart/2005/8/layout/orgChart1"/>
    <dgm:cxn modelId="{AEA13002-10D1-4A59-A124-0AC86479A005}" type="presParOf" srcId="{7FF9F5ED-0CA4-48CF-AD4F-AF4E4B592551}" destId="{9F34D0DE-C54F-40B5-A2BC-17A95730F01B}" srcOrd="7" destOrd="0" presId="urn:microsoft.com/office/officeart/2005/8/layout/orgChart1"/>
    <dgm:cxn modelId="{62689E27-F5B7-49FF-8BAD-45AE51479725}" type="presParOf" srcId="{9F34D0DE-C54F-40B5-A2BC-17A95730F01B}" destId="{EA8A8B46-E468-455C-B6FE-B853C5631368}" srcOrd="0" destOrd="0" presId="urn:microsoft.com/office/officeart/2005/8/layout/orgChart1"/>
    <dgm:cxn modelId="{2250A8EC-086C-4289-B811-88565ADE4E0D}" type="presParOf" srcId="{EA8A8B46-E468-455C-B6FE-B853C5631368}" destId="{3D353114-AE61-4ED8-91A0-A893DABA534B}" srcOrd="0" destOrd="0" presId="urn:microsoft.com/office/officeart/2005/8/layout/orgChart1"/>
    <dgm:cxn modelId="{7782EC31-8058-4954-BC09-A9A76E15DFEE}" type="presParOf" srcId="{EA8A8B46-E468-455C-B6FE-B853C5631368}" destId="{8D249C68-E98E-4D75-9A8A-0FC6505E81D4}" srcOrd="1" destOrd="0" presId="urn:microsoft.com/office/officeart/2005/8/layout/orgChart1"/>
    <dgm:cxn modelId="{B5030B9A-71B9-4EBC-BA5D-A431D897D726}" type="presParOf" srcId="{9F34D0DE-C54F-40B5-A2BC-17A95730F01B}" destId="{E63C564B-6856-4679-9CD7-5069B484C287}" srcOrd="1" destOrd="0" presId="urn:microsoft.com/office/officeart/2005/8/layout/orgChart1"/>
    <dgm:cxn modelId="{DD75D583-05CA-47B3-8ED9-1957C4DD007A}" type="presParOf" srcId="{E63C564B-6856-4679-9CD7-5069B484C287}" destId="{0D1BC607-DFE1-4FD7-A9FE-5B7F9DA2D6F1}" srcOrd="0" destOrd="0" presId="urn:microsoft.com/office/officeart/2005/8/layout/orgChart1"/>
    <dgm:cxn modelId="{B4176806-1C48-42CA-999B-5D68849D7C7D}" type="presParOf" srcId="{E63C564B-6856-4679-9CD7-5069B484C287}" destId="{2FD60153-417D-436B-A089-436457A418B0}" srcOrd="1" destOrd="0" presId="urn:microsoft.com/office/officeart/2005/8/layout/orgChart1"/>
    <dgm:cxn modelId="{E6F1E526-7019-4C0F-9410-27B800105713}" type="presParOf" srcId="{2FD60153-417D-436B-A089-436457A418B0}" destId="{CF4A6200-8140-46FF-B8AE-3D5CF82108C0}" srcOrd="0" destOrd="0" presId="urn:microsoft.com/office/officeart/2005/8/layout/orgChart1"/>
    <dgm:cxn modelId="{0C3B22B9-F713-452F-9DA7-A99B7EE15B82}" type="presParOf" srcId="{CF4A6200-8140-46FF-B8AE-3D5CF82108C0}" destId="{B7A4BA2A-50B1-42BC-AFDB-53B2959DE149}" srcOrd="0" destOrd="0" presId="urn:microsoft.com/office/officeart/2005/8/layout/orgChart1"/>
    <dgm:cxn modelId="{56448F56-3AA2-41DD-9464-96C71C4E3F0B}" type="presParOf" srcId="{CF4A6200-8140-46FF-B8AE-3D5CF82108C0}" destId="{F0A38993-E493-4507-ABEB-05E8E1FB91FE}" srcOrd="1" destOrd="0" presId="urn:microsoft.com/office/officeart/2005/8/layout/orgChart1"/>
    <dgm:cxn modelId="{3F9CF1E0-3351-4DF3-A732-DBA2645F9CDB}" type="presParOf" srcId="{2FD60153-417D-436B-A089-436457A418B0}" destId="{9ECEF2C1-BBC8-4A65-BE8B-DCDED6F520BE}" srcOrd="1" destOrd="0" presId="urn:microsoft.com/office/officeart/2005/8/layout/orgChart1"/>
    <dgm:cxn modelId="{0B785B26-03D6-47F0-8508-6758B3E59A48}" type="presParOf" srcId="{2FD60153-417D-436B-A089-436457A418B0}" destId="{BBC08E10-B730-4A70-8A8C-3B6D200A0095}" srcOrd="2" destOrd="0" presId="urn:microsoft.com/office/officeart/2005/8/layout/orgChart1"/>
    <dgm:cxn modelId="{833A6733-5713-43B1-98E7-7E4FE56A4F44}" type="presParOf" srcId="{E63C564B-6856-4679-9CD7-5069B484C287}" destId="{B1CB6C06-7ADE-4022-B2E5-716014220E0A}" srcOrd="2" destOrd="0" presId="urn:microsoft.com/office/officeart/2005/8/layout/orgChart1"/>
    <dgm:cxn modelId="{C51630D6-29C0-4D02-A4D6-1917660F55D6}" type="presParOf" srcId="{E63C564B-6856-4679-9CD7-5069B484C287}" destId="{ECC779A9-C2F6-4A03-8151-7B62BD6F040C}" srcOrd="3" destOrd="0" presId="urn:microsoft.com/office/officeart/2005/8/layout/orgChart1"/>
    <dgm:cxn modelId="{31AAA0DD-40FF-4954-A6B9-C04F1855BD90}" type="presParOf" srcId="{ECC779A9-C2F6-4A03-8151-7B62BD6F040C}" destId="{E9E17F8F-E620-49BC-8BDD-4E6698E0951F}" srcOrd="0" destOrd="0" presId="urn:microsoft.com/office/officeart/2005/8/layout/orgChart1"/>
    <dgm:cxn modelId="{591CDEDF-7320-47DA-BEE7-CA7D4E9D4ED6}" type="presParOf" srcId="{E9E17F8F-E620-49BC-8BDD-4E6698E0951F}" destId="{7359A961-558E-4102-83F1-FB09B3E375F0}" srcOrd="0" destOrd="0" presId="urn:microsoft.com/office/officeart/2005/8/layout/orgChart1"/>
    <dgm:cxn modelId="{12AD2F8B-8059-4FE4-9EFF-E02E53C633ED}" type="presParOf" srcId="{E9E17F8F-E620-49BC-8BDD-4E6698E0951F}" destId="{97A4234B-54D5-4740-896E-70C17119FD8D}" srcOrd="1" destOrd="0" presId="urn:microsoft.com/office/officeart/2005/8/layout/orgChart1"/>
    <dgm:cxn modelId="{C6AA8B41-14F9-4B9C-9EF0-070AF11BF1A5}" type="presParOf" srcId="{ECC779A9-C2F6-4A03-8151-7B62BD6F040C}" destId="{DE158AB7-5422-49AF-A78A-9D86D0EE55B1}" srcOrd="1" destOrd="0" presId="urn:microsoft.com/office/officeart/2005/8/layout/orgChart1"/>
    <dgm:cxn modelId="{5EC78BA8-EC56-4CDA-BD67-3BA6DD1767A2}" type="presParOf" srcId="{ECC779A9-C2F6-4A03-8151-7B62BD6F040C}" destId="{8D16E40E-6999-44A8-8686-5DCF1628BA98}" srcOrd="2" destOrd="0" presId="urn:microsoft.com/office/officeart/2005/8/layout/orgChart1"/>
    <dgm:cxn modelId="{5DE9B3BF-48AC-43FA-8772-0CD4A50540E3}" type="presParOf" srcId="{9F34D0DE-C54F-40B5-A2BC-17A95730F01B}" destId="{26B3B6B7-555C-4040-AE7C-7187C12DE827}" srcOrd="2" destOrd="0" presId="urn:microsoft.com/office/officeart/2005/8/layout/orgChart1"/>
    <dgm:cxn modelId="{3CD51D11-BA2C-4CFA-9204-9D2F022DF60F}" type="presParOf" srcId="{28BC99D3-3FB9-404F-8BAB-59B784050457}" destId="{4191242B-0562-4C4D-BA1C-AB2FB7BBF094}"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C363829-B730-42B9-A4DB-A0693CD11DED}" type="doc">
      <dgm:prSet loTypeId="urn:microsoft.com/office/officeart/2005/8/layout/chevron2" loCatId="list" qsTypeId="urn:microsoft.com/office/officeart/2005/8/quickstyle/simple1" qsCatId="simple" csTypeId="urn:microsoft.com/office/officeart/2005/8/colors/colorful2" csCatId="colorful" phldr="1"/>
      <dgm:spPr/>
      <dgm:t>
        <a:bodyPr/>
        <a:lstStyle/>
        <a:p>
          <a:endParaRPr lang="en-US"/>
        </a:p>
      </dgm:t>
    </dgm:pt>
    <dgm:pt modelId="{1510F659-9B8C-421D-82AB-40B2E272B8AD}">
      <dgm:prSet phldrT="[Text]" custT="1"/>
      <dgm:spPr/>
      <dgm:t>
        <a:bodyPr/>
        <a:lstStyle/>
        <a:p>
          <a:pPr>
            <a:lnSpc>
              <a:spcPct val="150000"/>
            </a:lnSpc>
            <a:buNone/>
          </a:pPr>
          <a:r>
            <a:rPr lang="en-US" sz="1500" b="0" i="0" u="sng" dirty="0">
              <a:latin typeface="Helvetica" panose="020B0604020202020204" pitchFamily="34" charset="0"/>
              <a:cs typeface="Helvetica" panose="020B0604020202020204" pitchFamily="34" charset="0"/>
            </a:rPr>
            <a:t>V</a:t>
          </a:r>
          <a:r>
            <a:rPr lang="en-US" sz="1500" b="0" i="0" dirty="0">
              <a:latin typeface="Helvetica" panose="020B0604020202020204" pitchFamily="34" charset="0"/>
              <a:cs typeface="Helvetica" panose="020B0604020202020204" pitchFamily="34" charset="0"/>
            </a:rPr>
            <a:t>olume</a:t>
          </a:r>
          <a:endParaRPr lang="en-US" sz="1500" dirty="0">
            <a:latin typeface="Helvetica" panose="020B0604020202020204" pitchFamily="34" charset="0"/>
            <a:cs typeface="Helvetica" panose="020B0604020202020204" pitchFamily="34" charset="0"/>
          </a:endParaRPr>
        </a:p>
      </dgm:t>
    </dgm:pt>
    <dgm:pt modelId="{E5859854-64A2-48C1-8170-5D794482E2EB}" type="parTrans" cxnId="{461FAF87-E033-441D-8FA6-3C6B9E0005EA}">
      <dgm:prSet/>
      <dgm:spPr/>
      <dgm:t>
        <a:bodyPr/>
        <a:lstStyle/>
        <a:p>
          <a:pPr>
            <a:lnSpc>
              <a:spcPct val="150000"/>
            </a:lnSpc>
          </a:pPr>
          <a:endParaRPr lang="en-US" sz="1500">
            <a:latin typeface="Helvetica" panose="020B0604020202020204" pitchFamily="34" charset="0"/>
            <a:cs typeface="Helvetica" panose="020B0604020202020204" pitchFamily="34" charset="0"/>
          </a:endParaRPr>
        </a:p>
      </dgm:t>
    </dgm:pt>
    <dgm:pt modelId="{10762044-D958-4555-A0FB-039704A91183}" type="sibTrans" cxnId="{461FAF87-E033-441D-8FA6-3C6B9E0005EA}">
      <dgm:prSet/>
      <dgm:spPr/>
      <dgm:t>
        <a:bodyPr/>
        <a:lstStyle/>
        <a:p>
          <a:pPr>
            <a:lnSpc>
              <a:spcPct val="150000"/>
            </a:lnSpc>
          </a:pPr>
          <a:endParaRPr lang="en-US" sz="1500">
            <a:latin typeface="Helvetica" panose="020B0604020202020204" pitchFamily="34" charset="0"/>
            <a:cs typeface="Helvetica" panose="020B0604020202020204" pitchFamily="34" charset="0"/>
          </a:endParaRPr>
        </a:p>
      </dgm:t>
    </dgm:pt>
    <dgm:pt modelId="{A8B3339D-5B58-45C2-A19B-5A19F092B479}">
      <dgm:prSet phldrT="[Text]" custT="1"/>
      <dgm:spPr/>
      <dgm:t>
        <a:bodyPr/>
        <a:lstStyle/>
        <a:p>
          <a:pPr marL="180975" indent="-180975" algn="just">
            <a:lnSpc>
              <a:spcPct val="100000"/>
            </a:lnSpc>
            <a:spcAft>
              <a:spcPts val="0"/>
            </a:spcAft>
            <a:buFont typeface="Wingdings" panose="05000000000000000000" pitchFamily="2" charset="2"/>
            <a:buChar char="Ø"/>
          </a:pPr>
          <a:r>
            <a:rPr lang="en-US" sz="1500" b="0" i="0" dirty="0">
              <a:latin typeface="Helvetica" panose="020B0604020202020204" pitchFamily="34" charset="0"/>
              <a:cs typeface="Helvetica" panose="020B0604020202020204" pitchFamily="34" charset="0"/>
            </a:rPr>
            <a:t>The massive amount of data generated today—from web apps, </a:t>
          </a:r>
          <a:r>
            <a:rPr lang="en-US" sz="1500" b="0" i="0" dirty="0">
              <a:latin typeface="Helvetica" panose="020B0604020202020204" pitchFamily="34" charset="0"/>
              <a:cs typeface="Helvetica" panose="020B0604020202020204" pitchFamily="34" charset="0"/>
              <a:hlinkClick xmlns:r="http://schemas.openxmlformats.org/officeDocument/2006/relationships" r:id="rId1"/>
            </a:rPr>
            <a:t>Internet of Things (IoT) </a:t>
          </a:r>
          <a:r>
            <a:rPr lang="en-US" sz="1500" b="0" i="0" dirty="0">
              <a:latin typeface="Helvetica" panose="020B0604020202020204" pitchFamily="34" charset="0"/>
              <a:cs typeface="Helvetica" panose="020B0604020202020204" pitchFamily="34" charset="0"/>
            </a:rPr>
            <a:t>devices, transaction records and </a:t>
          </a:r>
          <a:r>
            <a:rPr lang="en-US" sz="1500" b="0" i="0" dirty="0" smtClean="0">
              <a:latin typeface="Helvetica" panose="020B0604020202020204" pitchFamily="34" charset="0"/>
              <a:cs typeface="Helvetica" panose="020B0604020202020204" pitchFamily="34" charset="0"/>
            </a:rPr>
            <a:t> more—can </a:t>
          </a:r>
          <a:r>
            <a:rPr lang="en-US" sz="1500" b="0" i="0" dirty="0">
              <a:latin typeface="Helvetica" panose="020B0604020202020204" pitchFamily="34" charset="0"/>
              <a:cs typeface="Helvetica" panose="020B0604020202020204" pitchFamily="34" charset="0"/>
            </a:rPr>
            <a:t>be hard for any organization to manage. </a:t>
          </a:r>
          <a:endParaRPr lang="en-US" sz="1500" dirty="0">
            <a:latin typeface="Helvetica" panose="020B0604020202020204" pitchFamily="34" charset="0"/>
            <a:cs typeface="Helvetica" panose="020B0604020202020204" pitchFamily="34" charset="0"/>
          </a:endParaRPr>
        </a:p>
      </dgm:t>
    </dgm:pt>
    <dgm:pt modelId="{03D942DC-9A4E-41C1-AF6B-4221B97BFF8D}" type="parTrans" cxnId="{34FCFC8E-2A99-4F1F-BDB3-B93F135E1C71}">
      <dgm:prSet/>
      <dgm:spPr/>
      <dgm:t>
        <a:bodyPr/>
        <a:lstStyle/>
        <a:p>
          <a:pPr>
            <a:lnSpc>
              <a:spcPct val="150000"/>
            </a:lnSpc>
          </a:pPr>
          <a:endParaRPr lang="en-US" sz="1500">
            <a:latin typeface="Helvetica" panose="020B0604020202020204" pitchFamily="34" charset="0"/>
            <a:cs typeface="Helvetica" panose="020B0604020202020204" pitchFamily="34" charset="0"/>
          </a:endParaRPr>
        </a:p>
      </dgm:t>
    </dgm:pt>
    <dgm:pt modelId="{F5CD1091-7523-423D-BBD3-4C8829FD54F5}" type="sibTrans" cxnId="{34FCFC8E-2A99-4F1F-BDB3-B93F135E1C71}">
      <dgm:prSet/>
      <dgm:spPr/>
      <dgm:t>
        <a:bodyPr/>
        <a:lstStyle/>
        <a:p>
          <a:pPr>
            <a:lnSpc>
              <a:spcPct val="150000"/>
            </a:lnSpc>
          </a:pPr>
          <a:endParaRPr lang="en-US" sz="1500">
            <a:latin typeface="Helvetica" panose="020B0604020202020204" pitchFamily="34" charset="0"/>
            <a:cs typeface="Helvetica" panose="020B0604020202020204" pitchFamily="34" charset="0"/>
          </a:endParaRPr>
        </a:p>
      </dgm:t>
    </dgm:pt>
    <dgm:pt modelId="{149F9B19-DD95-400E-8463-E196C26BDE1B}">
      <dgm:prSet phldrT="[Text]" custT="1"/>
      <dgm:spPr/>
      <dgm:t>
        <a:bodyPr/>
        <a:lstStyle/>
        <a:p>
          <a:pPr marL="180975" indent="-180975" algn="just">
            <a:lnSpc>
              <a:spcPct val="150000"/>
            </a:lnSpc>
            <a:spcAft>
              <a:spcPct val="15000"/>
            </a:spcAft>
            <a:buFont typeface="Wingdings" panose="05000000000000000000" pitchFamily="2" charset="2"/>
            <a:buChar char="Ø"/>
          </a:pPr>
          <a:r>
            <a:rPr lang="en-US" sz="1500" b="0" i="0" dirty="0">
              <a:latin typeface="Helvetica" panose="020B0604020202020204" pitchFamily="34" charset="0"/>
              <a:cs typeface="Helvetica" panose="020B0604020202020204" pitchFamily="34" charset="0"/>
            </a:rPr>
            <a:t>Traditional data storage and processing systems often struggle to handle it at scale.</a:t>
          </a:r>
          <a:endParaRPr lang="en-US" sz="1500" dirty="0">
            <a:latin typeface="Helvetica" panose="020B0604020202020204" pitchFamily="34" charset="0"/>
            <a:cs typeface="Helvetica" panose="020B0604020202020204" pitchFamily="34" charset="0"/>
          </a:endParaRPr>
        </a:p>
      </dgm:t>
    </dgm:pt>
    <dgm:pt modelId="{B958CAA5-C421-4300-BA8E-07B63414152C}" type="parTrans" cxnId="{95320088-AD62-4B3F-B423-39AD722D5A27}">
      <dgm:prSet/>
      <dgm:spPr/>
      <dgm:t>
        <a:bodyPr/>
        <a:lstStyle/>
        <a:p>
          <a:pPr>
            <a:lnSpc>
              <a:spcPct val="150000"/>
            </a:lnSpc>
          </a:pPr>
          <a:endParaRPr lang="en-US" sz="1500">
            <a:latin typeface="Helvetica" panose="020B0604020202020204" pitchFamily="34" charset="0"/>
            <a:cs typeface="Helvetica" panose="020B0604020202020204" pitchFamily="34" charset="0"/>
          </a:endParaRPr>
        </a:p>
      </dgm:t>
    </dgm:pt>
    <dgm:pt modelId="{E3B3A105-31BE-4E23-8E73-44786F09186C}" type="sibTrans" cxnId="{95320088-AD62-4B3F-B423-39AD722D5A27}">
      <dgm:prSet/>
      <dgm:spPr/>
      <dgm:t>
        <a:bodyPr/>
        <a:lstStyle/>
        <a:p>
          <a:pPr>
            <a:lnSpc>
              <a:spcPct val="150000"/>
            </a:lnSpc>
          </a:pPr>
          <a:endParaRPr lang="en-US" sz="1500">
            <a:latin typeface="Helvetica" panose="020B0604020202020204" pitchFamily="34" charset="0"/>
            <a:cs typeface="Helvetica" panose="020B0604020202020204" pitchFamily="34" charset="0"/>
          </a:endParaRPr>
        </a:p>
      </dgm:t>
    </dgm:pt>
    <dgm:pt modelId="{1E182B32-EB7E-4E20-8DA4-402C610F7DC7}">
      <dgm:prSet phldrT="[Text]" custT="1"/>
      <dgm:spPr/>
      <dgm:t>
        <a:bodyPr/>
        <a:lstStyle/>
        <a:p>
          <a:pPr>
            <a:lnSpc>
              <a:spcPct val="150000"/>
            </a:lnSpc>
            <a:buNone/>
          </a:pPr>
          <a:r>
            <a:rPr lang="en-US" sz="1500" b="1" i="0" u="sng" dirty="0">
              <a:latin typeface="Helvetica" panose="020B0604020202020204" pitchFamily="34" charset="0"/>
              <a:cs typeface="Helvetica" panose="020B0604020202020204" pitchFamily="34" charset="0"/>
            </a:rPr>
            <a:t>V</a:t>
          </a:r>
          <a:r>
            <a:rPr lang="en-US" sz="1500" b="0" i="0" dirty="0">
              <a:latin typeface="Helvetica" panose="020B0604020202020204" pitchFamily="34" charset="0"/>
              <a:cs typeface="Helvetica" panose="020B0604020202020204" pitchFamily="34" charset="0"/>
            </a:rPr>
            <a:t>elocity</a:t>
          </a:r>
          <a:endParaRPr lang="en-US" sz="1500" dirty="0">
            <a:latin typeface="Helvetica" panose="020B0604020202020204" pitchFamily="34" charset="0"/>
            <a:cs typeface="Helvetica" panose="020B0604020202020204" pitchFamily="34" charset="0"/>
          </a:endParaRPr>
        </a:p>
      </dgm:t>
    </dgm:pt>
    <dgm:pt modelId="{6C5F91E7-F2C0-4EED-89D9-5DFA211FF8CA}" type="parTrans" cxnId="{000CE3C1-A162-4793-8A55-AC9AFC684AE0}">
      <dgm:prSet/>
      <dgm:spPr/>
      <dgm:t>
        <a:bodyPr/>
        <a:lstStyle/>
        <a:p>
          <a:pPr>
            <a:lnSpc>
              <a:spcPct val="150000"/>
            </a:lnSpc>
          </a:pPr>
          <a:endParaRPr lang="en-US" sz="1500">
            <a:latin typeface="Helvetica" panose="020B0604020202020204" pitchFamily="34" charset="0"/>
            <a:cs typeface="Helvetica" panose="020B0604020202020204" pitchFamily="34" charset="0"/>
          </a:endParaRPr>
        </a:p>
      </dgm:t>
    </dgm:pt>
    <dgm:pt modelId="{6ABABCB7-34F9-4976-AD7E-F4664800D740}" type="sibTrans" cxnId="{000CE3C1-A162-4793-8A55-AC9AFC684AE0}">
      <dgm:prSet/>
      <dgm:spPr/>
      <dgm:t>
        <a:bodyPr/>
        <a:lstStyle/>
        <a:p>
          <a:pPr>
            <a:lnSpc>
              <a:spcPct val="150000"/>
            </a:lnSpc>
          </a:pPr>
          <a:endParaRPr lang="en-US" sz="1500">
            <a:latin typeface="Helvetica" panose="020B0604020202020204" pitchFamily="34" charset="0"/>
            <a:cs typeface="Helvetica" panose="020B0604020202020204" pitchFamily="34" charset="0"/>
          </a:endParaRPr>
        </a:p>
      </dgm:t>
    </dgm:pt>
    <dgm:pt modelId="{A9B91FF6-B58D-4D2C-92ED-B45FCDA2FD66}">
      <dgm:prSet phldrT="[Text]" custT="1"/>
      <dgm:spPr/>
      <dgm:t>
        <a:bodyPr/>
        <a:lstStyle/>
        <a:p>
          <a:pPr>
            <a:lnSpc>
              <a:spcPct val="150000"/>
            </a:lnSpc>
            <a:buFont typeface="Wingdings" panose="05000000000000000000" pitchFamily="2" charset="2"/>
            <a:buChar char="Ø"/>
          </a:pPr>
          <a:r>
            <a:rPr lang="en-US" sz="1500" b="0" i="0" dirty="0" smtClean="0">
              <a:latin typeface="Helvetica" panose="020B0604020202020204" pitchFamily="34" charset="0"/>
              <a:cs typeface="Helvetica" panose="020B0604020202020204" pitchFamily="34" charset="0"/>
            </a:rPr>
            <a:t>The </a:t>
          </a:r>
          <a:r>
            <a:rPr lang="en-US" sz="1500" b="0" i="0" dirty="0">
              <a:latin typeface="Helvetica" panose="020B0604020202020204" pitchFamily="34" charset="0"/>
              <a:cs typeface="Helvetica" panose="020B0604020202020204" pitchFamily="34" charset="0"/>
            </a:rPr>
            <a:t>speed at which data flows into a system and big data moves quickly.</a:t>
          </a:r>
          <a:endParaRPr lang="en-US" sz="1500" dirty="0">
            <a:latin typeface="Helvetica" panose="020B0604020202020204" pitchFamily="34" charset="0"/>
            <a:cs typeface="Helvetica" panose="020B0604020202020204" pitchFamily="34" charset="0"/>
          </a:endParaRPr>
        </a:p>
      </dgm:t>
    </dgm:pt>
    <dgm:pt modelId="{984EC9CF-3F21-487D-98CB-9497DD6BBCBA}" type="parTrans" cxnId="{E253E919-0437-46F9-B16D-6A4AA00E8545}">
      <dgm:prSet/>
      <dgm:spPr/>
      <dgm:t>
        <a:bodyPr/>
        <a:lstStyle/>
        <a:p>
          <a:pPr>
            <a:lnSpc>
              <a:spcPct val="150000"/>
            </a:lnSpc>
          </a:pPr>
          <a:endParaRPr lang="en-US" sz="1500">
            <a:latin typeface="Helvetica" panose="020B0604020202020204" pitchFamily="34" charset="0"/>
            <a:cs typeface="Helvetica" panose="020B0604020202020204" pitchFamily="34" charset="0"/>
          </a:endParaRPr>
        </a:p>
      </dgm:t>
    </dgm:pt>
    <dgm:pt modelId="{9FF42A06-1750-41E7-8B98-8DA186DE7F5F}" type="sibTrans" cxnId="{E253E919-0437-46F9-B16D-6A4AA00E8545}">
      <dgm:prSet/>
      <dgm:spPr/>
      <dgm:t>
        <a:bodyPr/>
        <a:lstStyle/>
        <a:p>
          <a:pPr>
            <a:lnSpc>
              <a:spcPct val="150000"/>
            </a:lnSpc>
          </a:pPr>
          <a:endParaRPr lang="en-US" sz="1500">
            <a:latin typeface="Helvetica" panose="020B0604020202020204" pitchFamily="34" charset="0"/>
            <a:cs typeface="Helvetica" panose="020B0604020202020204" pitchFamily="34" charset="0"/>
          </a:endParaRPr>
        </a:p>
      </dgm:t>
    </dgm:pt>
    <dgm:pt modelId="{13E3406A-628D-4944-9449-88DD253F9427}">
      <dgm:prSet phldrT="[Text]" custT="1"/>
      <dgm:spPr/>
      <dgm:t>
        <a:bodyPr/>
        <a:lstStyle/>
        <a:p>
          <a:pPr>
            <a:lnSpc>
              <a:spcPct val="150000"/>
            </a:lnSpc>
            <a:buNone/>
          </a:pPr>
          <a:r>
            <a:rPr lang="en-US" sz="1500" b="1" i="0" u="sng" dirty="0">
              <a:latin typeface="Helvetica" panose="020B0604020202020204" pitchFamily="34" charset="0"/>
              <a:cs typeface="Helvetica" panose="020B0604020202020204" pitchFamily="34" charset="0"/>
            </a:rPr>
            <a:t>V</a:t>
          </a:r>
          <a:r>
            <a:rPr lang="en-US" sz="1500" b="0" i="0" dirty="0">
              <a:latin typeface="Helvetica" panose="020B0604020202020204" pitchFamily="34" charset="0"/>
              <a:cs typeface="Helvetica" panose="020B0604020202020204" pitchFamily="34" charset="0"/>
            </a:rPr>
            <a:t>ariety</a:t>
          </a:r>
          <a:endParaRPr lang="en-US" sz="1500" dirty="0">
            <a:latin typeface="Helvetica" panose="020B0604020202020204" pitchFamily="34" charset="0"/>
            <a:cs typeface="Helvetica" panose="020B0604020202020204" pitchFamily="34" charset="0"/>
          </a:endParaRPr>
        </a:p>
      </dgm:t>
    </dgm:pt>
    <dgm:pt modelId="{A73F2B7A-3942-4B9B-BC78-FDF46EA1414B}" type="parTrans" cxnId="{FFB66A8C-55AA-449A-88AF-A04EFFE1860E}">
      <dgm:prSet/>
      <dgm:spPr/>
      <dgm:t>
        <a:bodyPr/>
        <a:lstStyle/>
        <a:p>
          <a:pPr>
            <a:lnSpc>
              <a:spcPct val="150000"/>
            </a:lnSpc>
          </a:pPr>
          <a:endParaRPr lang="en-US" sz="1500">
            <a:latin typeface="Helvetica" panose="020B0604020202020204" pitchFamily="34" charset="0"/>
            <a:cs typeface="Helvetica" panose="020B0604020202020204" pitchFamily="34" charset="0"/>
          </a:endParaRPr>
        </a:p>
      </dgm:t>
    </dgm:pt>
    <dgm:pt modelId="{99467E94-E113-4FB1-8F40-699D4CF570C4}" type="sibTrans" cxnId="{FFB66A8C-55AA-449A-88AF-A04EFFE1860E}">
      <dgm:prSet/>
      <dgm:spPr/>
      <dgm:t>
        <a:bodyPr/>
        <a:lstStyle/>
        <a:p>
          <a:pPr>
            <a:lnSpc>
              <a:spcPct val="150000"/>
            </a:lnSpc>
          </a:pPr>
          <a:endParaRPr lang="en-US" sz="1500">
            <a:latin typeface="Helvetica" panose="020B0604020202020204" pitchFamily="34" charset="0"/>
            <a:cs typeface="Helvetica" panose="020B0604020202020204" pitchFamily="34" charset="0"/>
          </a:endParaRPr>
        </a:p>
      </dgm:t>
    </dgm:pt>
    <dgm:pt modelId="{A64ABA02-EF6F-4D8A-9C8A-723CB351E3A8}">
      <dgm:prSet phldrT="[Text]" custT="1"/>
      <dgm:spPr/>
      <dgm:t>
        <a:bodyPr/>
        <a:lstStyle/>
        <a:p>
          <a:pPr>
            <a:lnSpc>
              <a:spcPct val="150000"/>
            </a:lnSpc>
            <a:buFont typeface="Wingdings" panose="05000000000000000000" pitchFamily="2" charset="2"/>
            <a:buChar char="Ø"/>
          </a:pPr>
          <a:r>
            <a:rPr lang="en-US" sz="1500" b="0" i="0" dirty="0" smtClean="0">
              <a:latin typeface="Helvetica" panose="020B0604020202020204" pitchFamily="34" charset="0"/>
              <a:cs typeface="Helvetica" panose="020B0604020202020204" pitchFamily="34" charset="0"/>
            </a:rPr>
            <a:t>Refers </a:t>
          </a:r>
          <a:r>
            <a:rPr lang="en-US" sz="1500" b="0" i="0" dirty="0">
              <a:latin typeface="Helvetica" panose="020B0604020202020204" pitchFamily="34" charset="0"/>
              <a:cs typeface="Helvetica" panose="020B0604020202020204" pitchFamily="34" charset="0"/>
            </a:rPr>
            <a:t>to the many different formats that big data can take.</a:t>
          </a:r>
          <a:endParaRPr lang="en-US" sz="1500" dirty="0">
            <a:latin typeface="Helvetica" panose="020B0604020202020204" pitchFamily="34" charset="0"/>
            <a:cs typeface="Helvetica" panose="020B0604020202020204" pitchFamily="34" charset="0"/>
          </a:endParaRPr>
        </a:p>
      </dgm:t>
    </dgm:pt>
    <dgm:pt modelId="{0C4692D5-20EF-4C52-8A44-4B92463B9C82}" type="parTrans" cxnId="{13953A97-1EDC-4704-8C0E-1F6126C90D8F}">
      <dgm:prSet/>
      <dgm:spPr/>
      <dgm:t>
        <a:bodyPr/>
        <a:lstStyle/>
        <a:p>
          <a:pPr>
            <a:lnSpc>
              <a:spcPct val="150000"/>
            </a:lnSpc>
          </a:pPr>
          <a:endParaRPr lang="en-US" sz="1500">
            <a:latin typeface="Helvetica" panose="020B0604020202020204" pitchFamily="34" charset="0"/>
            <a:cs typeface="Helvetica" panose="020B0604020202020204" pitchFamily="34" charset="0"/>
          </a:endParaRPr>
        </a:p>
      </dgm:t>
    </dgm:pt>
    <dgm:pt modelId="{DCEB4B61-533E-47AE-B5E6-1CB1136463F3}" type="sibTrans" cxnId="{13953A97-1EDC-4704-8C0E-1F6126C90D8F}">
      <dgm:prSet/>
      <dgm:spPr/>
      <dgm:t>
        <a:bodyPr/>
        <a:lstStyle/>
        <a:p>
          <a:pPr>
            <a:lnSpc>
              <a:spcPct val="150000"/>
            </a:lnSpc>
          </a:pPr>
          <a:endParaRPr lang="en-US" sz="1500">
            <a:latin typeface="Helvetica" panose="020B0604020202020204" pitchFamily="34" charset="0"/>
            <a:cs typeface="Helvetica" panose="020B0604020202020204" pitchFamily="34" charset="0"/>
          </a:endParaRPr>
        </a:p>
      </dgm:t>
    </dgm:pt>
    <dgm:pt modelId="{B30CFD67-2B37-49F5-BB69-D5CAF36F96D8}">
      <dgm:prSet phldrT="[Text]" custT="1"/>
      <dgm:spPr/>
      <dgm:t>
        <a:bodyPr/>
        <a:lstStyle/>
        <a:p>
          <a:pPr>
            <a:lnSpc>
              <a:spcPct val="150000"/>
            </a:lnSpc>
            <a:buNone/>
          </a:pPr>
          <a:r>
            <a:rPr lang="en-US" sz="1500" b="1" i="0" u="sng" dirty="0">
              <a:latin typeface="Helvetica" panose="020B0604020202020204" pitchFamily="34" charset="0"/>
              <a:cs typeface="Helvetica" panose="020B0604020202020204" pitchFamily="34" charset="0"/>
            </a:rPr>
            <a:t>V</a:t>
          </a:r>
          <a:r>
            <a:rPr lang="en-US" sz="1500" b="0" i="0" dirty="0">
              <a:latin typeface="Helvetica" panose="020B0604020202020204" pitchFamily="34" charset="0"/>
              <a:cs typeface="Helvetica" panose="020B0604020202020204" pitchFamily="34" charset="0"/>
            </a:rPr>
            <a:t>eracity</a:t>
          </a:r>
          <a:endParaRPr lang="en-US" sz="1500" dirty="0">
            <a:latin typeface="Helvetica" panose="020B0604020202020204" pitchFamily="34" charset="0"/>
            <a:cs typeface="Helvetica" panose="020B0604020202020204" pitchFamily="34" charset="0"/>
          </a:endParaRPr>
        </a:p>
      </dgm:t>
    </dgm:pt>
    <dgm:pt modelId="{C523E943-323E-42AB-8B7C-6C0AE2A5EC8E}" type="parTrans" cxnId="{FB28CB90-98B9-4636-AC6A-0331B77BA346}">
      <dgm:prSet/>
      <dgm:spPr/>
      <dgm:t>
        <a:bodyPr/>
        <a:lstStyle/>
        <a:p>
          <a:pPr>
            <a:lnSpc>
              <a:spcPct val="150000"/>
            </a:lnSpc>
          </a:pPr>
          <a:endParaRPr lang="en-US" sz="1500">
            <a:latin typeface="Helvetica" panose="020B0604020202020204" pitchFamily="34" charset="0"/>
            <a:cs typeface="Helvetica" panose="020B0604020202020204" pitchFamily="34" charset="0"/>
          </a:endParaRPr>
        </a:p>
      </dgm:t>
    </dgm:pt>
    <dgm:pt modelId="{3A5B3D09-D56F-4A5C-8274-B7771240CC85}" type="sibTrans" cxnId="{FB28CB90-98B9-4636-AC6A-0331B77BA346}">
      <dgm:prSet/>
      <dgm:spPr/>
      <dgm:t>
        <a:bodyPr/>
        <a:lstStyle/>
        <a:p>
          <a:pPr>
            <a:lnSpc>
              <a:spcPct val="150000"/>
            </a:lnSpc>
          </a:pPr>
          <a:endParaRPr lang="en-US" sz="1500">
            <a:latin typeface="Helvetica" panose="020B0604020202020204" pitchFamily="34" charset="0"/>
            <a:cs typeface="Helvetica" panose="020B0604020202020204" pitchFamily="34" charset="0"/>
          </a:endParaRPr>
        </a:p>
      </dgm:t>
    </dgm:pt>
    <dgm:pt modelId="{3D50E7BC-88A2-4370-9F3F-C5691C445AA3}">
      <dgm:prSet phldrT="[Text]" custT="1"/>
      <dgm:spPr/>
      <dgm:t>
        <a:bodyPr/>
        <a:lstStyle/>
        <a:p>
          <a:pPr>
            <a:lnSpc>
              <a:spcPct val="150000"/>
            </a:lnSpc>
            <a:buFont typeface="Wingdings" panose="05000000000000000000" pitchFamily="2" charset="2"/>
            <a:buChar char="Ø"/>
          </a:pPr>
          <a:r>
            <a:rPr lang="en-US" sz="1500" b="0" i="0" dirty="0" smtClean="0">
              <a:latin typeface="Helvetica" panose="020B0604020202020204" pitchFamily="34" charset="0"/>
              <a:cs typeface="Helvetica" panose="020B0604020202020204" pitchFamily="34" charset="0"/>
            </a:rPr>
            <a:t>Refers </a:t>
          </a:r>
          <a:r>
            <a:rPr lang="en-US" sz="1500" b="0" i="0" dirty="0">
              <a:latin typeface="Helvetica" panose="020B0604020202020204" pitchFamily="34" charset="0"/>
              <a:cs typeface="Helvetica" panose="020B0604020202020204" pitchFamily="34" charset="0"/>
            </a:rPr>
            <a:t>to the accuracy and reliability of data.</a:t>
          </a:r>
          <a:endParaRPr lang="en-US" sz="1500" dirty="0">
            <a:latin typeface="Helvetica" panose="020B0604020202020204" pitchFamily="34" charset="0"/>
            <a:cs typeface="Helvetica" panose="020B0604020202020204" pitchFamily="34" charset="0"/>
          </a:endParaRPr>
        </a:p>
      </dgm:t>
    </dgm:pt>
    <dgm:pt modelId="{085574F2-85D3-49A7-A4CE-F0A97714FD8A}" type="parTrans" cxnId="{C7793829-C3D7-40CC-B806-E20431B7C78C}">
      <dgm:prSet/>
      <dgm:spPr/>
      <dgm:t>
        <a:bodyPr/>
        <a:lstStyle/>
        <a:p>
          <a:pPr>
            <a:lnSpc>
              <a:spcPct val="150000"/>
            </a:lnSpc>
          </a:pPr>
          <a:endParaRPr lang="en-US" sz="1500">
            <a:latin typeface="Helvetica" panose="020B0604020202020204" pitchFamily="34" charset="0"/>
            <a:cs typeface="Helvetica" panose="020B0604020202020204" pitchFamily="34" charset="0"/>
          </a:endParaRPr>
        </a:p>
      </dgm:t>
    </dgm:pt>
    <dgm:pt modelId="{82905D61-5797-43F0-86F9-95AEBAF74170}" type="sibTrans" cxnId="{C7793829-C3D7-40CC-B806-E20431B7C78C}">
      <dgm:prSet/>
      <dgm:spPr/>
      <dgm:t>
        <a:bodyPr/>
        <a:lstStyle/>
        <a:p>
          <a:pPr>
            <a:lnSpc>
              <a:spcPct val="150000"/>
            </a:lnSpc>
          </a:pPr>
          <a:endParaRPr lang="en-US" sz="1500">
            <a:latin typeface="Helvetica" panose="020B0604020202020204" pitchFamily="34" charset="0"/>
            <a:cs typeface="Helvetica" panose="020B0604020202020204" pitchFamily="34" charset="0"/>
          </a:endParaRPr>
        </a:p>
      </dgm:t>
    </dgm:pt>
    <dgm:pt modelId="{09A9842D-B262-47A8-805A-D2C711121F12}">
      <dgm:prSet phldrT="[Text]" custT="1"/>
      <dgm:spPr/>
      <dgm:t>
        <a:bodyPr/>
        <a:lstStyle/>
        <a:p>
          <a:pPr>
            <a:lnSpc>
              <a:spcPct val="100000"/>
            </a:lnSpc>
            <a:buFont typeface="Wingdings" panose="05000000000000000000" pitchFamily="2" charset="2"/>
            <a:buChar char="Ø"/>
          </a:pPr>
          <a:r>
            <a:rPr lang="en-US" sz="1500" b="0" i="0" dirty="0">
              <a:latin typeface="Helvetica" panose="020B0604020202020204" pitchFamily="34" charset="0"/>
              <a:cs typeface="Helvetica" panose="020B0604020202020204" pitchFamily="34" charset="0"/>
            </a:rPr>
            <a:t>Because big data comes in such great quantities and from various sources, it can contain noise or errors, which can lead to poor decision-making.</a:t>
          </a:r>
          <a:endParaRPr lang="en-US" sz="1500" dirty="0">
            <a:latin typeface="Helvetica" panose="020B0604020202020204" pitchFamily="34" charset="0"/>
            <a:cs typeface="Helvetica" panose="020B0604020202020204" pitchFamily="34" charset="0"/>
          </a:endParaRPr>
        </a:p>
      </dgm:t>
    </dgm:pt>
    <dgm:pt modelId="{A6535192-523B-410D-8D31-54AEA64A0E52}" type="parTrans" cxnId="{98C27D91-4686-4B53-906D-31D8CC424046}">
      <dgm:prSet/>
      <dgm:spPr/>
      <dgm:t>
        <a:bodyPr/>
        <a:lstStyle/>
        <a:p>
          <a:pPr>
            <a:lnSpc>
              <a:spcPct val="150000"/>
            </a:lnSpc>
          </a:pPr>
          <a:endParaRPr lang="en-US" sz="1500">
            <a:latin typeface="Helvetica" panose="020B0604020202020204" pitchFamily="34" charset="0"/>
            <a:cs typeface="Helvetica" panose="020B0604020202020204" pitchFamily="34" charset="0"/>
          </a:endParaRPr>
        </a:p>
      </dgm:t>
    </dgm:pt>
    <dgm:pt modelId="{7FA03484-9AD9-4050-B294-7BB3F2A77DBC}" type="sibTrans" cxnId="{98C27D91-4686-4B53-906D-31D8CC424046}">
      <dgm:prSet/>
      <dgm:spPr/>
      <dgm:t>
        <a:bodyPr/>
        <a:lstStyle/>
        <a:p>
          <a:pPr>
            <a:lnSpc>
              <a:spcPct val="150000"/>
            </a:lnSpc>
          </a:pPr>
          <a:endParaRPr lang="en-US" sz="1500">
            <a:latin typeface="Helvetica" panose="020B0604020202020204" pitchFamily="34" charset="0"/>
            <a:cs typeface="Helvetica" panose="020B0604020202020204" pitchFamily="34" charset="0"/>
          </a:endParaRPr>
        </a:p>
      </dgm:t>
    </dgm:pt>
    <dgm:pt modelId="{B9BBF632-5FEC-4915-9E00-682B3113C974}">
      <dgm:prSet phldrT="[Text]" custT="1"/>
      <dgm:spPr/>
      <dgm:t>
        <a:bodyPr/>
        <a:lstStyle/>
        <a:p>
          <a:pPr>
            <a:lnSpc>
              <a:spcPct val="150000"/>
            </a:lnSpc>
            <a:buNone/>
          </a:pPr>
          <a:r>
            <a:rPr lang="en-US" sz="1500" b="1" i="0" u="sng" dirty="0">
              <a:latin typeface="Helvetica" panose="020B0604020202020204" pitchFamily="34" charset="0"/>
              <a:cs typeface="Helvetica" panose="020B0604020202020204" pitchFamily="34" charset="0"/>
            </a:rPr>
            <a:t>V</a:t>
          </a:r>
          <a:r>
            <a:rPr lang="en-US" sz="1500" b="0" i="0" dirty="0">
              <a:latin typeface="Helvetica" panose="020B0604020202020204" pitchFamily="34" charset="0"/>
              <a:cs typeface="Helvetica" panose="020B0604020202020204" pitchFamily="34" charset="0"/>
            </a:rPr>
            <a:t>alue</a:t>
          </a:r>
          <a:endParaRPr lang="en-US" sz="1500" dirty="0">
            <a:latin typeface="Helvetica" panose="020B0604020202020204" pitchFamily="34" charset="0"/>
            <a:cs typeface="Helvetica" panose="020B0604020202020204" pitchFamily="34" charset="0"/>
          </a:endParaRPr>
        </a:p>
      </dgm:t>
    </dgm:pt>
    <dgm:pt modelId="{561DD3C4-D201-4584-8E72-CD87435391A0}" type="parTrans" cxnId="{F4788B89-142F-473A-A509-B262807EEF58}">
      <dgm:prSet/>
      <dgm:spPr/>
      <dgm:t>
        <a:bodyPr/>
        <a:lstStyle/>
        <a:p>
          <a:pPr>
            <a:lnSpc>
              <a:spcPct val="150000"/>
            </a:lnSpc>
          </a:pPr>
          <a:endParaRPr lang="en-US" sz="1500">
            <a:latin typeface="Helvetica" panose="020B0604020202020204" pitchFamily="34" charset="0"/>
            <a:cs typeface="Helvetica" panose="020B0604020202020204" pitchFamily="34" charset="0"/>
          </a:endParaRPr>
        </a:p>
      </dgm:t>
    </dgm:pt>
    <dgm:pt modelId="{8D05941F-357B-4C9B-B92E-0735ADEE6F0F}" type="sibTrans" cxnId="{F4788B89-142F-473A-A509-B262807EEF58}">
      <dgm:prSet/>
      <dgm:spPr/>
      <dgm:t>
        <a:bodyPr/>
        <a:lstStyle/>
        <a:p>
          <a:pPr>
            <a:lnSpc>
              <a:spcPct val="150000"/>
            </a:lnSpc>
          </a:pPr>
          <a:endParaRPr lang="en-US" sz="1500">
            <a:latin typeface="Helvetica" panose="020B0604020202020204" pitchFamily="34" charset="0"/>
            <a:cs typeface="Helvetica" panose="020B0604020202020204" pitchFamily="34" charset="0"/>
          </a:endParaRPr>
        </a:p>
      </dgm:t>
    </dgm:pt>
    <dgm:pt modelId="{6015B689-132E-45B3-9A36-910578BD578A}">
      <dgm:prSet phldrT="[Text]" custT="1"/>
      <dgm:spPr/>
      <dgm:t>
        <a:bodyPr/>
        <a:lstStyle/>
        <a:p>
          <a:pPr>
            <a:lnSpc>
              <a:spcPct val="150000"/>
            </a:lnSpc>
            <a:buFont typeface="Wingdings" panose="05000000000000000000" pitchFamily="2" charset="2"/>
            <a:buChar char="Ø"/>
          </a:pPr>
          <a:r>
            <a:rPr lang="en-US" sz="1500" b="0" i="0" dirty="0" smtClean="0">
              <a:latin typeface="Helvetica" panose="020B0604020202020204" pitchFamily="34" charset="0"/>
              <a:cs typeface="Helvetica" panose="020B0604020202020204" pitchFamily="34" charset="0"/>
            </a:rPr>
            <a:t>Refers </a:t>
          </a:r>
          <a:r>
            <a:rPr lang="en-US" sz="1500" b="0" i="0" dirty="0">
              <a:latin typeface="Helvetica" panose="020B0604020202020204" pitchFamily="34" charset="0"/>
              <a:cs typeface="Helvetica" panose="020B0604020202020204" pitchFamily="34" charset="0"/>
            </a:rPr>
            <a:t>to the real-world benefits organizations can get from big data.</a:t>
          </a:r>
          <a:endParaRPr lang="en-US" sz="1500" dirty="0">
            <a:latin typeface="Helvetica" panose="020B0604020202020204" pitchFamily="34" charset="0"/>
            <a:cs typeface="Helvetica" panose="020B0604020202020204" pitchFamily="34" charset="0"/>
          </a:endParaRPr>
        </a:p>
      </dgm:t>
    </dgm:pt>
    <dgm:pt modelId="{45FAA92B-9FB7-4A27-A0C3-DDD0D708F082}" type="parTrans" cxnId="{8651C8E1-6670-4742-B65B-453C2FEED595}">
      <dgm:prSet/>
      <dgm:spPr/>
      <dgm:t>
        <a:bodyPr/>
        <a:lstStyle/>
        <a:p>
          <a:pPr>
            <a:lnSpc>
              <a:spcPct val="150000"/>
            </a:lnSpc>
          </a:pPr>
          <a:endParaRPr lang="en-US" sz="1500">
            <a:latin typeface="Helvetica" panose="020B0604020202020204" pitchFamily="34" charset="0"/>
            <a:cs typeface="Helvetica" panose="020B0604020202020204" pitchFamily="34" charset="0"/>
          </a:endParaRPr>
        </a:p>
      </dgm:t>
    </dgm:pt>
    <dgm:pt modelId="{7E1ED11E-FD02-4A9B-BE3D-F3B72477BE1B}" type="sibTrans" cxnId="{8651C8E1-6670-4742-B65B-453C2FEED595}">
      <dgm:prSet/>
      <dgm:spPr/>
      <dgm:t>
        <a:bodyPr/>
        <a:lstStyle/>
        <a:p>
          <a:pPr>
            <a:lnSpc>
              <a:spcPct val="150000"/>
            </a:lnSpc>
          </a:pPr>
          <a:endParaRPr lang="en-US" sz="1500">
            <a:latin typeface="Helvetica" panose="020B0604020202020204" pitchFamily="34" charset="0"/>
            <a:cs typeface="Helvetica" panose="020B0604020202020204" pitchFamily="34" charset="0"/>
          </a:endParaRPr>
        </a:p>
      </dgm:t>
    </dgm:pt>
    <dgm:pt modelId="{055CB87D-A26B-4F01-BA1A-5B41AF66BFB2}">
      <dgm:prSet phldrT="[Text]" custT="1"/>
      <dgm:spPr/>
      <dgm:t>
        <a:bodyPr/>
        <a:lstStyle/>
        <a:p>
          <a:pPr>
            <a:lnSpc>
              <a:spcPct val="150000"/>
            </a:lnSpc>
            <a:buFont typeface="Wingdings" panose="05000000000000000000" pitchFamily="2" charset="2"/>
            <a:buChar char="Ø"/>
          </a:pPr>
          <a:r>
            <a:rPr lang="en-US" sz="1500" b="0" i="0" dirty="0">
              <a:latin typeface="Helvetica" panose="020B0604020202020204" pitchFamily="34" charset="0"/>
              <a:cs typeface="Helvetica" panose="020B0604020202020204" pitchFamily="34" charset="0"/>
            </a:rPr>
            <a:t>These benefits include everything from optimizing business operations to identifying new marketing opportunities.</a:t>
          </a:r>
          <a:endParaRPr lang="en-US" sz="1500" dirty="0">
            <a:latin typeface="Helvetica" panose="020B0604020202020204" pitchFamily="34" charset="0"/>
            <a:cs typeface="Helvetica" panose="020B0604020202020204" pitchFamily="34" charset="0"/>
          </a:endParaRPr>
        </a:p>
      </dgm:t>
    </dgm:pt>
    <dgm:pt modelId="{EB2FD92E-2464-4AC2-AF39-5B6182D21498}" type="parTrans" cxnId="{BAB9A6C5-B224-4F10-8ECC-66DF61023D22}">
      <dgm:prSet/>
      <dgm:spPr/>
      <dgm:t>
        <a:bodyPr/>
        <a:lstStyle/>
        <a:p>
          <a:pPr>
            <a:lnSpc>
              <a:spcPct val="150000"/>
            </a:lnSpc>
          </a:pPr>
          <a:endParaRPr lang="en-US" sz="1500">
            <a:latin typeface="Helvetica" panose="020B0604020202020204" pitchFamily="34" charset="0"/>
            <a:cs typeface="Helvetica" panose="020B0604020202020204" pitchFamily="34" charset="0"/>
          </a:endParaRPr>
        </a:p>
      </dgm:t>
    </dgm:pt>
    <dgm:pt modelId="{9F736870-2FB0-4EFF-AB16-9A9CA00CC967}" type="sibTrans" cxnId="{BAB9A6C5-B224-4F10-8ECC-66DF61023D22}">
      <dgm:prSet/>
      <dgm:spPr/>
      <dgm:t>
        <a:bodyPr/>
        <a:lstStyle/>
        <a:p>
          <a:pPr>
            <a:lnSpc>
              <a:spcPct val="150000"/>
            </a:lnSpc>
          </a:pPr>
          <a:endParaRPr lang="en-US" sz="1500">
            <a:latin typeface="Helvetica" panose="020B0604020202020204" pitchFamily="34" charset="0"/>
            <a:cs typeface="Helvetica" panose="020B0604020202020204" pitchFamily="34" charset="0"/>
          </a:endParaRPr>
        </a:p>
      </dgm:t>
    </dgm:pt>
    <dgm:pt modelId="{53BEBF26-1CBF-48B6-BFD0-3FF73F1D44DF}">
      <dgm:prSet phldrT="[Text]" custT="1"/>
      <dgm:spPr/>
      <dgm:t>
        <a:bodyPr/>
        <a:lstStyle/>
        <a:p>
          <a:pPr>
            <a:lnSpc>
              <a:spcPct val="150000"/>
            </a:lnSpc>
            <a:buFont typeface="Wingdings" panose="05000000000000000000" pitchFamily="2" charset="2"/>
            <a:buChar char="Ø"/>
          </a:pPr>
          <a:r>
            <a:rPr lang="en-US" sz="1500" b="0" i="0" dirty="0">
              <a:latin typeface="Helvetica" panose="020B0604020202020204" pitchFamily="34" charset="0"/>
              <a:cs typeface="Helvetica" panose="020B0604020202020204" pitchFamily="34" charset="0"/>
            </a:rPr>
            <a:t>Along with traditional structured data, big data can include unstructured data, such as free-form text, images and videos.</a:t>
          </a:r>
          <a:endParaRPr lang="en-US" sz="1500" dirty="0">
            <a:latin typeface="Helvetica" panose="020B0604020202020204" pitchFamily="34" charset="0"/>
            <a:cs typeface="Helvetica" panose="020B0604020202020204" pitchFamily="34" charset="0"/>
          </a:endParaRPr>
        </a:p>
      </dgm:t>
    </dgm:pt>
    <dgm:pt modelId="{6B611660-2B8D-46D6-BA6D-F362A5DC8EB0}" type="parTrans" cxnId="{3C8F6623-23D3-43DC-BBAD-59609E13A7BB}">
      <dgm:prSet/>
      <dgm:spPr/>
      <dgm:t>
        <a:bodyPr/>
        <a:lstStyle/>
        <a:p>
          <a:pPr>
            <a:lnSpc>
              <a:spcPct val="150000"/>
            </a:lnSpc>
          </a:pPr>
          <a:endParaRPr lang="en-US" sz="1500">
            <a:latin typeface="Helvetica" panose="020B0604020202020204" pitchFamily="34" charset="0"/>
            <a:cs typeface="Helvetica" panose="020B0604020202020204" pitchFamily="34" charset="0"/>
          </a:endParaRPr>
        </a:p>
      </dgm:t>
    </dgm:pt>
    <dgm:pt modelId="{EE0DC0BE-7BA2-4329-B5D9-78429ECAD1E6}" type="sibTrans" cxnId="{3C8F6623-23D3-43DC-BBAD-59609E13A7BB}">
      <dgm:prSet/>
      <dgm:spPr/>
      <dgm:t>
        <a:bodyPr/>
        <a:lstStyle/>
        <a:p>
          <a:pPr>
            <a:lnSpc>
              <a:spcPct val="150000"/>
            </a:lnSpc>
          </a:pPr>
          <a:endParaRPr lang="en-US" sz="1500">
            <a:latin typeface="Helvetica" panose="020B0604020202020204" pitchFamily="34" charset="0"/>
            <a:cs typeface="Helvetica" panose="020B0604020202020204" pitchFamily="34" charset="0"/>
          </a:endParaRPr>
        </a:p>
      </dgm:t>
    </dgm:pt>
    <dgm:pt modelId="{7CF1AB51-896D-46CB-B53A-26974B152750}">
      <dgm:prSet phldrT="[Text]" custT="1"/>
      <dgm:spPr/>
      <dgm:t>
        <a:bodyPr/>
        <a:lstStyle/>
        <a:p>
          <a:pPr>
            <a:lnSpc>
              <a:spcPct val="150000"/>
            </a:lnSpc>
            <a:buFont typeface="Wingdings" panose="05000000000000000000" pitchFamily="2" charset="2"/>
            <a:buChar char="Ø"/>
          </a:pPr>
          <a:r>
            <a:rPr lang="en-US" sz="1500" b="0" i="0" dirty="0" smtClean="0">
              <a:latin typeface="Helvetica" panose="020B0604020202020204" pitchFamily="34" charset="0"/>
              <a:cs typeface="Helvetica" panose="020B0604020202020204" pitchFamily="34" charset="0"/>
            </a:rPr>
            <a:t>Data </a:t>
          </a:r>
          <a:r>
            <a:rPr lang="en-US" sz="1500" b="0" i="0" dirty="0">
              <a:latin typeface="Helvetica" panose="020B0604020202020204" pitchFamily="34" charset="0"/>
              <a:cs typeface="Helvetica" panose="020B0604020202020204" pitchFamily="34" charset="0"/>
            </a:rPr>
            <a:t>arrives faster than ever, from real-time social media updates to high-frequency stock trading records. </a:t>
          </a:r>
          <a:endParaRPr lang="en-US" sz="1500" dirty="0">
            <a:latin typeface="Helvetica" panose="020B0604020202020204" pitchFamily="34" charset="0"/>
            <a:cs typeface="Helvetica" panose="020B0604020202020204" pitchFamily="34" charset="0"/>
          </a:endParaRPr>
        </a:p>
      </dgm:t>
    </dgm:pt>
    <dgm:pt modelId="{43325EFD-4F2C-4BE2-8356-05648A26367F}" type="parTrans" cxnId="{19F6186C-8421-46F0-B211-424C7D4ED7BE}">
      <dgm:prSet/>
      <dgm:spPr/>
      <dgm:t>
        <a:bodyPr/>
        <a:lstStyle/>
        <a:p>
          <a:pPr>
            <a:lnSpc>
              <a:spcPct val="150000"/>
            </a:lnSpc>
          </a:pPr>
          <a:endParaRPr lang="en-US" sz="1500">
            <a:latin typeface="Helvetica" panose="020B0604020202020204" pitchFamily="34" charset="0"/>
            <a:cs typeface="Helvetica" panose="020B0604020202020204" pitchFamily="34" charset="0"/>
          </a:endParaRPr>
        </a:p>
      </dgm:t>
    </dgm:pt>
    <dgm:pt modelId="{4B061DAE-E542-4220-895F-22AE9D60F731}" type="sibTrans" cxnId="{19F6186C-8421-46F0-B211-424C7D4ED7BE}">
      <dgm:prSet/>
      <dgm:spPr/>
      <dgm:t>
        <a:bodyPr/>
        <a:lstStyle/>
        <a:p>
          <a:pPr>
            <a:lnSpc>
              <a:spcPct val="150000"/>
            </a:lnSpc>
          </a:pPr>
          <a:endParaRPr lang="en-US" sz="1500">
            <a:latin typeface="Helvetica" panose="020B0604020202020204" pitchFamily="34" charset="0"/>
            <a:cs typeface="Helvetica" panose="020B0604020202020204" pitchFamily="34" charset="0"/>
          </a:endParaRPr>
        </a:p>
      </dgm:t>
    </dgm:pt>
    <dgm:pt modelId="{845C52A7-7FD5-4B43-B988-97F76D5A3F60}">
      <dgm:prSet phldrT="[Text]" custT="1"/>
      <dgm:spPr/>
      <dgm:t>
        <a:bodyPr/>
        <a:lstStyle/>
        <a:p>
          <a:pPr marL="180975" indent="-180975" algn="just">
            <a:lnSpc>
              <a:spcPct val="100000"/>
            </a:lnSpc>
            <a:spcAft>
              <a:spcPts val="0"/>
            </a:spcAft>
            <a:buFont typeface="Wingdings" panose="05000000000000000000" pitchFamily="2" charset="2"/>
            <a:buChar char="Ø"/>
          </a:pPr>
          <a:endParaRPr lang="en-US" sz="1500" dirty="0">
            <a:latin typeface="Helvetica" panose="020B0604020202020204" pitchFamily="34" charset="0"/>
            <a:cs typeface="Helvetica" panose="020B0604020202020204" pitchFamily="34" charset="0"/>
          </a:endParaRPr>
        </a:p>
      </dgm:t>
    </dgm:pt>
    <dgm:pt modelId="{1F3E7432-C1DA-4844-A7DC-0DF6F347CBA2}" type="parTrans" cxnId="{496F896A-602F-4715-89B0-0ABBDBC58D1F}">
      <dgm:prSet/>
      <dgm:spPr/>
      <dgm:t>
        <a:bodyPr/>
        <a:lstStyle/>
        <a:p>
          <a:endParaRPr lang="en-US"/>
        </a:p>
      </dgm:t>
    </dgm:pt>
    <dgm:pt modelId="{B90E8B45-CD73-43A5-978E-6CC409CCCAF8}" type="sibTrans" cxnId="{496F896A-602F-4715-89B0-0ABBDBC58D1F}">
      <dgm:prSet/>
      <dgm:spPr/>
      <dgm:t>
        <a:bodyPr/>
        <a:lstStyle/>
        <a:p>
          <a:endParaRPr lang="en-US"/>
        </a:p>
      </dgm:t>
    </dgm:pt>
    <dgm:pt modelId="{A89F7114-CE69-4E23-8902-C284348B95A8}" type="pres">
      <dgm:prSet presAssocID="{DC363829-B730-42B9-A4DB-A0693CD11DED}" presName="linearFlow" presStyleCnt="0">
        <dgm:presLayoutVars>
          <dgm:dir/>
          <dgm:animLvl val="lvl"/>
          <dgm:resizeHandles val="exact"/>
        </dgm:presLayoutVars>
      </dgm:prSet>
      <dgm:spPr/>
      <dgm:t>
        <a:bodyPr/>
        <a:lstStyle/>
        <a:p>
          <a:endParaRPr lang="en-US"/>
        </a:p>
      </dgm:t>
    </dgm:pt>
    <dgm:pt modelId="{807B9263-893F-46D0-8853-88F876808AD1}" type="pres">
      <dgm:prSet presAssocID="{1510F659-9B8C-421D-82AB-40B2E272B8AD}" presName="composite" presStyleCnt="0"/>
      <dgm:spPr/>
    </dgm:pt>
    <dgm:pt modelId="{8674E359-8FAE-491B-AAEC-1E586D7D5931}" type="pres">
      <dgm:prSet presAssocID="{1510F659-9B8C-421D-82AB-40B2E272B8AD}" presName="parentText" presStyleLbl="alignNode1" presStyleIdx="0" presStyleCnt="5">
        <dgm:presLayoutVars>
          <dgm:chMax val="1"/>
          <dgm:bulletEnabled val="1"/>
        </dgm:presLayoutVars>
      </dgm:prSet>
      <dgm:spPr/>
      <dgm:t>
        <a:bodyPr/>
        <a:lstStyle/>
        <a:p>
          <a:endParaRPr lang="en-US"/>
        </a:p>
      </dgm:t>
    </dgm:pt>
    <dgm:pt modelId="{E7B1B7F3-D4E0-4B9C-8B5E-D87556073E44}" type="pres">
      <dgm:prSet presAssocID="{1510F659-9B8C-421D-82AB-40B2E272B8AD}" presName="descendantText" presStyleLbl="alignAcc1" presStyleIdx="0" presStyleCnt="5" custScaleY="173083">
        <dgm:presLayoutVars>
          <dgm:bulletEnabled val="1"/>
        </dgm:presLayoutVars>
      </dgm:prSet>
      <dgm:spPr/>
      <dgm:t>
        <a:bodyPr/>
        <a:lstStyle/>
        <a:p>
          <a:endParaRPr lang="en-US"/>
        </a:p>
      </dgm:t>
    </dgm:pt>
    <dgm:pt modelId="{2700E7C3-7F1E-4E4B-9831-541D5282315C}" type="pres">
      <dgm:prSet presAssocID="{10762044-D958-4555-A0FB-039704A91183}" presName="sp" presStyleCnt="0"/>
      <dgm:spPr/>
    </dgm:pt>
    <dgm:pt modelId="{08418BA3-AF23-4E50-9E55-FA5434DBEAB4}" type="pres">
      <dgm:prSet presAssocID="{1E182B32-EB7E-4E20-8DA4-402C610F7DC7}" presName="composite" presStyleCnt="0"/>
      <dgm:spPr/>
    </dgm:pt>
    <dgm:pt modelId="{A73E6DCD-9BD7-413D-9CBE-F1535B9205F7}" type="pres">
      <dgm:prSet presAssocID="{1E182B32-EB7E-4E20-8DA4-402C610F7DC7}" presName="parentText" presStyleLbl="alignNode1" presStyleIdx="1" presStyleCnt="5">
        <dgm:presLayoutVars>
          <dgm:chMax val="1"/>
          <dgm:bulletEnabled val="1"/>
        </dgm:presLayoutVars>
      </dgm:prSet>
      <dgm:spPr/>
      <dgm:t>
        <a:bodyPr/>
        <a:lstStyle/>
        <a:p>
          <a:endParaRPr lang="en-US"/>
        </a:p>
      </dgm:t>
    </dgm:pt>
    <dgm:pt modelId="{E2046809-15D9-4EA5-ADA2-1CA56981F5CE}" type="pres">
      <dgm:prSet presAssocID="{1E182B32-EB7E-4E20-8DA4-402C610F7DC7}" presName="descendantText" presStyleLbl="alignAcc1" presStyleIdx="1" presStyleCnt="5">
        <dgm:presLayoutVars>
          <dgm:bulletEnabled val="1"/>
        </dgm:presLayoutVars>
      </dgm:prSet>
      <dgm:spPr/>
      <dgm:t>
        <a:bodyPr/>
        <a:lstStyle/>
        <a:p>
          <a:endParaRPr lang="en-US"/>
        </a:p>
      </dgm:t>
    </dgm:pt>
    <dgm:pt modelId="{E2025C79-E45C-451D-BD92-8BE0D6D72D5A}" type="pres">
      <dgm:prSet presAssocID="{6ABABCB7-34F9-4976-AD7E-F4664800D740}" presName="sp" presStyleCnt="0"/>
      <dgm:spPr/>
    </dgm:pt>
    <dgm:pt modelId="{66FEE9B6-622F-4773-A70D-BF0282D6C62D}" type="pres">
      <dgm:prSet presAssocID="{13E3406A-628D-4944-9449-88DD253F9427}" presName="composite" presStyleCnt="0"/>
      <dgm:spPr/>
    </dgm:pt>
    <dgm:pt modelId="{20E97681-CCAD-49FE-8105-BBF84705302C}" type="pres">
      <dgm:prSet presAssocID="{13E3406A-628D-4944-9449-88DD253F9427}" presName="parentText" presStyleLbl="alignNode1" presStyleIdx="2" presStyleCnt="5">
        <dgm:presLayoutVars>
          <dgm:chMax val="1"/>
          <dgm:bulletEnabled val="1"/>
        </dgm:presLayoutVars>
      </dgm:prSet>
      <dgm:spPr/>
      <dgm:t>
        <a:bodyPr/>
        <a:lstStyle/>
        <a:p>
          <a:endParaRPr lang="en-US"/>
        </a:p>
      </dgm:t>
    </dgm:pt>
    <dgm:pt modelId="{F4878815-B9C9-4FEF-8353-386DDE242285}" type="pres">
      <dgm:prSet presAssocID="{13E3406A-628D-4944-9449-88DD253F9427}" presName="descendantText" presStyleLbl="alignAcc1" presStyleIdx="2" presStyleCnt="5">
        <dgm:presLayoutVars>
          <dgm:bulletEnabled val="1"/>
        </dgm:presLayoutVars>
      </dgm:prSet>
      <dgm:spPr/>
      <dgm:t>
        <a:bodyPr/>
        <a:lstStyle/>
        <a:p>
          <a:endParaRPr lang="en-US"/>
        </a:p>
      </dgm:t>
    </dgm:pt>
    <dgm:pt modelId="{E654EB11-FAC9-4529-B82A-C6E4F624D822}" type="pres">
      <dgm:prSet presAssocID="{99467E94-E113-4FB1-8F40-699D4CF570C4}" presName="sp" presStyleCnt="0"/>
      <dgm:spPr/>
    </dgm:pt>
    <dgm:pt modelId="{04BA273E-171C-4EBC-A5AE-BA576A652243}" type="pres">
      <dgm:prSet presAssocID="{B30CFD67-2B37-49F5-BB69-D5CAF36F96D8}" presName="composite" presStyleCnt="0"/>
      <dgm:spPr/>
    </dgm:pt>
    <dgm:pt modelId="{41E66D46-2379-424D-B459-F0128943F3F7}" type="pres">
      <dgm:prSet presAssocID="{B30CFD67-2B37-49F5-BB69-D5CAF36F96D8}" presName="parentText" presStyleLbl="alignNode1" presStyleIdx="3" presStyleCnt="5">
        <dgm:presLayoutVars>
          <dgm:chMax val="1"/>
          <dgm:bulletEnabled val="1"/>
        </dgm:presLayoutVars>
      </dgm:prSet>
      <dgm:spPr/>
      <dgm:t>
        <a:bodyPr/>
        <a:lstStyle/>
        <a:p>
          <a:endParaRPr lang="en-US"/>
        </a:p>
      </dgm:t>
    </dgm:pt>
    <dgm:pt modelId="{9276CC32-F8F0-46E5-9F4E-7AC17D3864C0}" type="pres">
      <dgm:prSet presAssocID="{B30CFD67-2B37-49F5-BB69-D5CAF36F96D8}" presName="descendantText" presStyleLbl="alignAcc1" presStyleIdx="3" presStyleCnt="5">
        <dgm:presLayoutVars>
          <dgm:bulletEnabled val="1"/>
        </dgm:presLayoutVars>
      </dgm:prSet>
      <dgm:spPr/>
      <dgm:t>
        <a:bodyPr/>
        <a:lstStyle/>
        <a:p>
          <a:endParaRPr lang="en-US"/>
        </a:p>
      </dgm:t>
    </dgm:pt>
    <dgm:pt modelId="{81C68C21-93DE-411F-81FD-D02DED8D17FD}" type="pres">
      <dgm:prSet presAssocID="{3A5B3D09-D56F-4A5C-8274-B7771240CC85}" presName="sp" presStyleCnt="0"/>
      <dgm:spPr/>
    </dgm:pt>
    <dgm:pt modelId="{3997122B-2023-4A5B-94B2-F7899A8720AE}" type="pres">
      <dgm:prSet presAssocID="{B9BBF632-5FEC-4915-9E00-682B3113C974}" presName="composite" presStyleCnt="0"/>
      <dgm:spPr/>
    </dgm:pt>
    <dgm:pt modelId="{72578F5C-9AB9-45A6-9BA7-240A0ECE9FBF}" type="pres">
      <dgm:prSet presAssocID="{B9BBF632-5FEC-4915-9E00-682B3113C974}" presName="parentText" presStyleLbl="alignNode1" presStyleIdx="4" presStyleCnt="5">
        <dgm:presLayoutVars>
          <dgm:chMax val="1"/>
          <dgm:bulletEnabled val="1"/>
        </dgm:presLayoutVars>
      </dgm:prSet>
      <dgm:spPr/>
      <dgm:t>
        <a:bodyPr/>
        <a:lstStyle/>
        <a:p>
          <a:endParaRPr lang="en-US"/>
        </a:p>
      </dgm:t>
    </dgm:pt>
    <dgm:pt modelId="{067B1973-D832-41FA-80E8-0B0C883EFDE6}" type="pres">
      <dgm:prSet presAssocID="{B9BBF632-5FEC-4915-9E00-682B3113C974}" presName="descendantText" presStyleLbl="alignAcc1" presStyleIdx="4" presStyleCnt="5">
        <dgm:presLayoutVars>
          <dgm:bulletEnabled val="1"/>
        </dgm:presLayoutVars>
      </dgm:prSet>
      <dgm:spPr/>
      <dgm:t>
        <a:bodyPr/>
        <a:lstStyle/>
        <a:p>
          <a:endParaRPr lang="en-US"/>
        </a:p>
      </dgm:t>
    </dgm:pt>
  </dgm:ptLst>
  <dgm:cxnLst>
    <dgm:cxn modelId="{13953A97-1EDC-4704-8C0E-1F6126C90D8F}" srcId="{13E3406A-628D-4944-9449-88DD253F9427}" destId="{A64ABA02-EF6F-4D8A-9C8A-723CB351E3A8}" srcOrd="0" destOrd="0" parTransId="{0C4692D5-20EF-4C52-8A44-4B92463B9C82}" sibTransId="{DCEB4B61-533E-47AE-B5E6-1CB1136463F3}"/>
    <dgm:cxn modelId="{BAB9A6C5-B224-4F10-8ECC-66DF61023D22}" srcId="{B9BBF632-5FEC-4915-9E00-682B3113C974}" destId="{055CB87D-A26B-4F01-BA1A-5B41AF66BFB2}" srcOrd="1" destOrd="0" parTransId="{EB2FD92E-2464-4AC2-AF39-5B6182D21498}" sibTransId="{9F736870-2FB0-4EFF-AB16-9A9CA00CC967}"/>
    <dgm:cxn modelId="{98C27D91-4686-4B53-906D-31D8CC424046}" srcId="{B30CFD67-2B37-49F5-BB69-D5CAF36F96D8}" destId="{09A9842D-B262-47A8-805A-D2C711121F12}" srcOrd="1" destOrd="0" parTransId="{A6535192-523B-410D-8D31-54AEA64A0E52}" sibTransId="{7FA03484-9AD9-4050-B294-7BB3F2A77DBC}"/>
    <dgm:cxn modelId="{E03487E3-0008-4862-8870-6D53AB261E1E}" type="presOf" srcId="{3D50E7BC-88A2-4370-9F3F-C5691C445AA3}" destId="{9276CC32-F8F0-46E5-9F4E-7AC17D3864C0}" srcOrd="0" destOrd="0" presId="urn:microsoft.com/office/officeart/2005/8/layout/chevron2"/>
    <dgm:cxn modelId="{11023B21-E9AC-4C62-B070-8FF173305164}" type="presOf" srcId="{055CB87D-A26B-4F01-BA1A-5B41AF66BFB2}" destId="{067B1973-D832-41FA-80E8-0B0C883EFDE6}" srcOrd="0" destOrd="1" presId="urn:microsoft.com/office/officeart/2005/8/layout/chevron2"/>
    <dgm:cxn modelId="{FFB66A8C-55AA-449A-88AF-A04EFFE1860E}" srcId="{DC363829-B730-42B9-A4DB-A0693CD11DED}" destId="{13E3406A-628D-4944-9449-88DD253F9427}" srcOrd="2" destOrd="0" parTransId="{A73F2B7A-3942-4B9B-BC78-FDF46EA1414B}" sibTransId="{99467E94-E113-4FB1-8F40-699D4CF570C4}"/>
    <dgm:cxn modelId="{C7793829-C3D7-40CC-B806-E20431B7C78C}" srcId="{B30CFD67-2B37-49F5-BB69-D5CAF36F96D8}" destId="{3D50E7BC-88A2-4370-9F3F-C5691C445AA3}" srcOrd="0" destOrd="0" parTransId="{085574F2-85D3-49A7-A4CE-F0A97714FD8A}" sibTransId="{82905D61-5797-43F0-86F9-95AEBAF74170}"/>
    <dgm:cxn modelId="{8651C8E1-6670-4742-B65B-453C2FEED595}" srcId="{B9BBF632-5FEC-4915-9E00-682B3113C974}" destId="{6015B689-132E-45B3-9A36-910578BD578A}" srcOrd="0" destOrd="0" parTransId="{45FAA92B-9FB7-4A27-A0C3-DDD0D708F082}" sibTransId="{7E1ED11E-FD02-4A9B-BE3D-F3B72477BE1B}"/>
    <dgm:cxn modelId="{89A98C1C-6FBB-430F-8D66-46E4D346A989}" type="presOf" srcId="{13E3406A-628D-4944-9449-88DD253F9427}" destId="{20E97681-CCAD-49FE-8105-BBF84705302C}" srcOrd="0" destOrd="0" presId="urn:microsoft.com/office/officeart/2005/8/layout/chevron2"/>
    <dgm:cxn modelId="{3C8F6623-23D3-43DC-BBAD-59609E13A7BB}" srcId="{13E3406A-628D-4944-9449-88DD253F9427}" destId="{53BEBF26-1CBF-48B6-BFD0-3FF73F1D44DF}" srcOrd="1" destOrd="0" parTransId="{6B611660-2B8D-46D6-BA6D-F362A5DC8EB0}" sibTransId="{EE0DC0BE-7BA2-4329-B5D9-78429ECAD1E6}"/>
    <dgm:cxn modelId="{419FCF53-BD4E-4B78-A85F-6DF09DCD7095}" type="presOf" srcId="{B30CFD67-2B37-49F5-BB69-D5CAF36F96D8}" destId="{41E66D46-2379-424D-B459-F0128943F3F7}" srcOrd="0" destOrd="0" presId="urn:microsoft.com/office/officeart/2005/8/layout/chevron2"/>
    <dgm:cxn modelId="{523261F9-185D-43BA-B62A-8C1E63F755ED}" type="presOf" srcId="{149F9B19-DD95-400E-8463-E196C26BDE1B}" destId="{E7B1B7F3-D4E0-4B9C-8B5E-D87556073E44}" srcOrd="0" destOrd="2" presId="urn:microsoft.com/office/officeart/2005/8/layout/chevron2"/>
    <dgm:cxn modelId="{461FAF87-E033-441D-8FA6-3C6B9E0005EA}" srcId="{DC363829-B730-42B9-A4DB-A0693CD11DED}" destId="{1510F659-9B8C-421D-82AB-40B2E272B8AD}" srcOrd="0" destOrd="0" parTransId="{E5859854-64A2-48C1-8170-5D794482E2EB}" sibTransId="{10762044-D958-4555-A0FB-039704A91183}"/>
    <dgm:cxn modelId="{73C58031-A189-45B4-A7F5-1A901C56DDE6}" type="presOf" srcId="{845C52A7-7FD5-4B43-B988-97F76D5A3F60}" destId="{E7B1B7F3-D4E0-4B9C-8B5E-D87556073E44}" srcOrd="0" destOrd="1" presId="urn:microsoft.com/office/officeart/2005/8/layout/chevron2"/>
    <dgm:cxn modelId="{F4788B89-142F-473A-A509-B262807EEF58}" srcId="{DC363829-B730-42B9-A4DB-A0693CD11DED}" destId="{B9BBF632-5FEC-4915-9E00-682B3113C974}" srcOrd="4" destOrd="0" parTransId="{561DD3C4-D201-4584-8E72-CD87435391A0}" sibTransId="{8D05941F-357B-4C9B-B92E-0735ADEE6F0F}"/>
    <dgm:cxn modelId="{62421D51-C14E-4C6E-8C02-16E964B88010}" type="presOf" srcId="{1510F659-9B8C-421D-82AB-40B2E272B8AD}" destId="{8674E359-8FAE-491B-AAEC-1E586D7D5931}" srcOrd="0" destOrd="0" presId="urn:microsoft.com/office/officeart/2005/8/layout/chevron2"/>
    <dgm:cxn modelId="{F68B63C5-6ADF-4D2E-9DC7-D61CC6D0FCF4}" type="presOf" srcId="{1E182B32-EB7E-4E20-8DA4-402C610F7DC7}" destId="{A73E6DCD-9BD7-413D-9CBE-F1535B9205F7}" srcOrd="0" destOrd="0" presId="urn:microsoft.com/office/officeart/2005/8/layout/chevron2"/>
    <dgm:cxn modelId="{E253E919-0437-46F9-B16D-6A4AA00E8545}" srcId="{1E182B32-EB7E-4E20-8DA4-402C610F7DC7}" destId="{A9B91FF6-B58D-4D2C-92ED-B45FCDA2FD66}" srcOrd="0" destOrd="0" parTransId="{984EC9CF-3F21-487D-98CB-9497DD6BBCBA}" sibTransId="{9FF42A06-1750-41E7-8B98-8DA186DE7F5F}"/>
    <dgm:cxn modelId="{53F721A9-A60D-4B62-AB5F-44D145A24E34}" type="presOf" srcId="{A64ABA02-EF6F-4D8A-9C8A-723CB351E3A8}" destId="{F4878815-B9C9-4FEF-8353-386DDE242285}" srcOrd="0" destOrd="0" presId="urn:microsoft.com/office/officeart/2005/8/layout/chevron2"/>
    <dgm:cxn modelId="{62593CB1-5738-4B62-B15D-D62E0A63B24F}" type="presOf" srcId="{A8B3339D-5B58-45C2-A19B-5A19F092B479}" destId="{E7B1B7F3-D4E0-4B9C-8B5E-D87556073E44}" srcOrd="0" destOrd="0" presId="urn:microsoft.com/office/officeart/2005/8/layout/chevron2"/>
    <dgm:cxn modelId="{DFD5C7D6-9C44-4E1D-891E-43CE9DCD2E2A}" type="presOf" srcId="{6015B689-132E-45B3-9A36-910578BD578A}" destId="{067B1973-D832-41FA-80E8-0B0C883EFDE6}" srcOrd="0" destOrd="0" presId="urn:microsoft.com/office/officeart/2005/8/layout/chevron2"/>
    <dgm:cxn modelId="{FB28CB90-98B9-4636-AC6A-0331B77BA346}" srcId="{DC363829-B730-42B9-A4DB-A0693CD11DED}" destId="{B30CFD67-2B37-49F5-BB69-D5CAF36F96D8}" srcOrd="3" destOrd="0" parTransId="{C523E943-323E-42AB-8B7C-6C0AE2A5EC8E}" sibTransId="{3A5B3D09-D56F-4A5C-8274-B7771240CC85}"/>
    <dgm:cxn modelId="{85C60958-DBF3-4004-89E4-0BE70DE07A9C}" type="presOf" srcId="{A9B91FF6-B58D-4D2C-92ED-B45FCDA2FD66}" destId="{E2046809-15D9-4EA5-ADA2-1CA56981F5CE}" srcOrd="0" destOrd="0" presId="urn:microsoft.com/office/officeart/2005/8/layout/chevron2"/>
    <dgm:cxn modelId="{000CE3C1-A162-4793-8A55-AC9AFC684AE0}" srcId="{DC363829-B730-42B9-A4DB-A0693CD11DED}" destId="{1E182B32-EB7E-4E20-8DA4-402C610F7DC7}" srcOrd="1" destOrd="0" parTransId="{6C5F91E7-F2C0-4EED-89D9-5DFA211FF8CA}" sibTransId="{6ABABCB7-34F9-4976-AD7E-F4664800D740}"/>
    <dgm:cxn modelId="{95320088-AD62-4B3F-B423-39AD722D5A27}" srcId="{1510F659-9B8C-421D-82AB-40B2E272B8AD}" destId="{149F9B19-DD95-400E-8463-E196C26BDE1B}" srcOrd="2" destOrd="0" parTransId="{B958CAA5-C421-4300-BA8E-07B63414152C}" sibTransId="{E3B3A105-31BE-4E23-8E73-44786F09186C}"/>
    <dgm:cxn modelId="{34FCFC8E-2A99-4F1F-BDB3-B93F135E1C71}" srcId="{1510F659-9B8C-421D-82AB-40B2E272B8AD}" destId="{A8B3339D-5B58-45C2-A19B-5A19F092B479}" srcOrd="0" destOrd="0" parTransId="{03D942DC-9A4E-41C1-AF6B-4221B97BFF8D}" sibTransId="{F5CD1091-7523-423D-BBD3-4C8829FD54F5}"/>
    <dgm:cxn modelId="{496F896A-602F-4715-89B0-0ABBDBC58D1F}" srcId="{1510F659-9B8C-421D-82AB-40B2E272B8AD}" destId="{845C52A7-7FD5-4B43-B988-97F76D5A3F60}" srcOrd="1" destOrd="0" parTransId="{1F3E7432-C1DA-4844-A7DC-0DF6F347CBA2}" sibTransId="{B90E8B45-CD73-43A5-978E-6CC409CCCAF8}"/>
    <dgm:cxn modelId="{55D5E607-52BB-483B-B567-F096AD606CA5}" type="presOf" srcId="{DC363829-B730-42B9-A4DB-A0693CD11DED}" destId="{A89F7114-CE69-4E23-8902-C284348B95A8}" srcOrd="0" destOrd="0" presId="urn:microsoft.com/office/officeart/2005/8/layout/chevron2"/>
    <dgm:cxn modelId="{FBA236E8-6B7C-4EC2-8301-130AACE18EF6}" type="presOf" srcId="{09A9842D-B262-47A8-805A-D2C711121F12}" destId="{9276CC32-F8F0-46E5-9F4E-7AC17D3864C0}" srcOrd="0" destOrd="1" presId="urn:microsoft.com/office/officeart/2005/8/layout/chevron2"/>
    <dgm:cxn modelId="{3270ABC1-878F-4BE7-99EB-F386484D4B4A}" type="presOf" srcId="{7CF1AB51-896D-46CB-B53A-26974B152750}" destId="{E2046809-15D9-4EA5-ADA2-1CA56981F5CE}" srcOrd="0" destOrd="1" presId="urn:microsoft.com/office/officeart/2005/8/layout/chevron2"/>
    <dgm:cxn modelId="{2E52E244-0128-41BC-B66D-63FE405F150B}" type="presOf" srcId="{B9BBF632-5FEC-4915-9E00-682B3113C974}" destId="{72578F5C-9AB9-45A6-9BA7-240A0ECE9FBF}" srcOrd="0" destOrd="0" presId="urn:microsoft.com/office/officeart/2005/8/layout/chevron2"/>
    <dgm:cxn modelId="{19F6186C-8421-46F0-B211-424C7D4ED7BE}" srcId="{1E182B32-EB7E-4E20-8DA4-402C610F7DC7}" destId="{7CF1AB51-896D-46CB-B53A-26974B152750}" srcOrd="1" destOrd="0" parTransId="{43325EFD-4F2C-4BE2-8356-05648A26367F}" sibTransId="{4B061DAE-E542-4220-895F-22AE9D60F731}"/>
    <dgm:cxn modelId="{C2F266F5-F0E7-4F87-AF76-BC4FE279A734}" type="presOf" srcId="{53BEBF26-1CBF-48B6-BFD0-3FF73F1D44DF}" destId="{F4878815-B9C9-4FEF-8353-386DDE242285}" srcOrd="0" destOrd="1" presId="urn:microsoft.com/office/officeart/2005/8/layout/chevron2"/>
    <dgm:cxn modelId="{87F48073-A2CC-4DCA-9156-F2809169A9A5}" type="presParOf" srcId="{A89F7114-CE69-4E23-8902-C284348B95A8}" destId="{807B9263-893F-46D0-8853-88F876808AD1}" srcOrd="0" destOrd="0" presId="urn:microsoft.com/office/officeart/2005/8/layout/chevron2"/>
    <dgm:cxn modelId="{C52FA58E-5788-4842-A51E-D0DDFAFC7410}" type="presParOf" srcId="{807B9263-893F-46D0-8853-88F876808AD1}" destId="{8674E359-8FAE-491B-AAEC-1E586D7D5931}" srcOrd="0" destOrd="0" presId="urn:microsoft.com/office/officeart/2005/8/layout/chevron2"/>
    <dgm:cxn modelId="{FEB560CC-28F7-4D53-857C-E6D1C5E27741}" type="presParOf" srcId="{807B9263-893F-46D0-8853-88F876808AD1}" destId="{E7B1B7F3-D4E0-4B9C-8B5E-D87556073E44}" srcOrd="1" destOrd="0" presId="urn:microsoft.com/office/officeart/2005/8/layout/chevron2"/>
    <dgm:cxn modelId="{732A94A7-8E43-4702-8C73-1ADFF61673DB}" type="presParOf" srcId="{A89F7114-CE69-4E23-8902-C284348B95A8}" destId="{2700E7C3-7F1E-4E4B-9831-541D5282315C}" srcOrd="1" destOrd="0" presId="urn:microsoft.com/office/officeart/2005/8/layout/chevron2"/>
    <dgm:cxn modelId="{F7463290-A87D-4BF9-B990-867F189C5471}" type="presParOf" srcId="{A89F7114-CE69-4E23-8902-C284348B95A8}" destId="{08418BA3-AF23-4E50-9E55-FA5434DBEAB4}" srcOrd="2" destOrd="0" presId="urn:microsoft.com/office/officeart/2005/8/layout/chevron2"/>
    <dgm:cxn modelId="{84CB4A71-9C0C-492D-8A8E-00EACBB04BDD}" type="presParOf" srcId="{08418BA3-AF23-4E50-9E55-FA5434DBEAB4}" destId="{A73E6DCD-9BD7-413D-9CBE-F1535B9205F7}" srcOrd="0" destOrd="0" presId="urn:microsoft.com/office/officeart/2005/8/layout/chevron2"/>
    <dgm:cxn modelId="{0853EFFE-1E2F-4731-84E8-F1FA0306DB3B}" type="presParOf" srcId="{08418BA3-AF23-4E50-9E55-FA5434DBEAB4}" destId="{E2046809-15D9-4EA5-ADA2-1CA56981F5CE}" srcOrd="1" destOrd="0" presId="urn:microsoft.com/office/officeart/2005/8/layout/chevron2"/>
    <dgm:cxn modelId="{D1122C99-4CFD-4BD9-85E7-6A88E2F262BB}" type="presParOf" srcId="{A89F7114-CE69-4E23-8902-C284348B95A8}" destId="{E2025C79-E45C-451D-BD92-8BE0D6D72D5A}" srcOrd="3" destOrd="0" presId="urn:microsoft.com/office/officeart/2005/8/layout/chevron2"/>
    <dgm:cxn modelId="{25A47DEA-8C35-4DD4-8749-6FCBC8E7D09E}" type="presParOf" srcId="{A89F7114-CE69-4E23-8902-C284348B95A8}" destId="{66FEE9B6-622F-4773-A70D-BF0282D6C62D}" srcOrd="4" destOrd="0" presId="urn:microsoft.com/office/officeart/2005/8/layout/chevron2"/>
    <dgm:cxn modelId="{CF34F902-0556-4B2A-8F84-AEBC1800AB11}" type="presParOf" srcId="{66FEE9B6-622F-4773-A70D-BF0282D6C62D}" destId="{20E97681-CCAD-49FE-8105-BBF84705302C}" srcOrd="0" destOrd="0" presId="urn:microsoft.com/office/officeart/2005/8/layout/chevron2"/>
    <dgm:cxn modelId="{AB14067F-54A3-4489-82FA-04FE21D41119}" type="presParOf" srcId="{66FEE9B6-622F-4773-A70D-BF0282D6C62D}" destId="{F4878815-B9C9-4FEF-8353-386DDE242285}" srcOrd="1" destOrd="0" presId="urn:microsoft.com/office/officeart/2005/8/layout/chevron2"/>
    <dgm:cxn modelId="{1EB30F68-6805-4550-AEE7-CEFBC0127880}" type="presParOf" srcId="{A89F7114-CE69-4E23-8902-C284348B95A8}" destId="{E654EB11-FAC9-4529-B82A-C6E4F624D822}" srcOrd="5" destOrd="0" presId="urn:microsoft.com/office/officeart/2005/8/layout/chevron2"/>
    <dgm:cxn modelId="{53A65E77-572A-4F30-BC0E-76F9A6C1886F}" type="presParOf" srcId="{A89F7114-CE69-4E23-8902-C284348B95A8}" destId="{04BA273E-171C-4EBC-A5AE-BA576A652243}" srcOrd="6" destOrd="0" presId="urn:microsoft.com/office/officeart/2005/8/layout/chevron2"/>
    <dgm:cxn modelId="{BADE2093-97EC-4248-B20B-3C6132B1A17B}" type="presParOf" srcId="{04BA273E-171C-4EBC-A5AE-BA576A652243}" destId="{41E66D46-2379-424D-B459-F0128943F3F7}" srcOrd="0" destOrd="0" presId="urn:microsoft.com/office/officeart/2005/8/layout/chevron2"/>
    <dgm:cxn modelId="{408D2E89-D48C-4703-BBA5-B6DC68C27DF0}" type="presParOf" srcId="{04BA273E-171C-4EBC-A5AE-BA576A652243}" destId="{9276CC32-F8F0-46E5-9F4E-7AC17D3864C0}" srcOrd="1" destOrd="0" presId="urn:microsoft.com/office/officeart/2005/8/layout/chevron2"/>
    <dgm:cxn modelId="{CADCCA4E-23A2-4013-A37D-450B8CE8BC2B}" type="presParOf" srcId="{A89F7114-CE69-4E23-8902-C284348B95A8}" destId="{81C68C21-93DE-411F-81FD-D02DED8D17FD}" srcOrd="7" destOrd="0" presId="urn:microsoft.com/office/officeart/2005/8/layout/chevron2"/>
    <dgm:cxn modelId="{020D0B32-EF54-4670-BF39-0854CF1974D8}" type="presParOf" srcId="{A89F7114-CE69-4E23-8902-C284348B95A8}" destId="{3997122B-2023-4A5B-94B2-F7899A8720AE}" srcOrd="8" destOrd="0" presId="urn:microsoft.com/office/officeart/2005/8/layout/chevron2"/>
    <dgm:cxn modelId="{826C41E5-C7CA-4D41-9352-6A704F2B1038}" type="presParOf" srcId="{3997122B-2023-4A5B-94B2-F7899A8720AE}" destId="{72578F5C-9AB9-45A6-9BA7-240A0ECE9FBF}" srcOrd="0" destOrd="0" presId="urn:microsoft.com/office/officeart/2005/8/layout/chevron2"/>
    <dgm:cxn modelId="{F6BA3222-32EB-45E8-A715-38133FADF3DD}" type="presParOf" srcId="{3997122B-2023-4A5B-94B2-F7899A8720AE}" destId="{067B1973-D832-41FA-80E8-0B0C883EFDE6}"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CB6C06-7ADE-4022-B2E5-716014220E0A}">
      <dsp:nvSpPr>
        <dsp:cNvPr id="0" name=""/>
        <dsp:cNvSpPr/>
      </dsp:nvSpPr>
      <dsp:spPr>
        <a:xfrm>
          <a:off x="8873139" y="1725920"/>
          <a:ext cx="213557" cy="1665747"/>
        </a:xfrm>
        <a:custGeom>
          <a:avLst/>
          <a:gdLst/>
          <a:ahLst/>
          <a:cxnLst/>
          <a:rect l="0" t="0" r="0" b="0"/>
          <a:pathLst>
            <a:path>
              <a:moveTo>
                <a:pt x="0" y="0"/>
              </a:moveTo>
              <a:lnTo>
                <a:pt x="0" y="1665747"/>
              </a:lnTo>
              <a:lnTo>
                <a:pt x="213557" y="1665747"/>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D1BC607-DFE1-4FD7-A9FE-5B7F9DA2D6F1}">
      <dsp:nvSpPr>
        <dsp:cNvPr id="0" name=""/>
        <dsp:cNvSpPr/>
      </dsp:nvSpPr>
      <dsp:spPr>
        <a:xfrm>
          <a:off x="8873139" y="1725920"/>
          <a:ext cx="213557" cy="654909"/>
        </a:xfrm>
        <a:custGeom>
          <a:avLst/>
          <a:gdLst/>
          <a:ahLst/>
          <a:cxnLst/>
          <a:rect l="0" t="0" r="0" b="0"/>
          <a:pathLst>
            <a:path>
              <a:moveTo>
                <a:pt x="0" y="0"/>
              </a:moveTo>
              <a:lnTo>
                <a:pt x="0" y="654909"/>
              </a:lnTo>
              <a:lnTo>
                <a:pt x="213557" y="654909"/>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E0FDC97-ADB8-4F51-B6E4-F28966C2B15F}">
      <dsp:nvSpPr>
        <dsp:cNvPr id="0" name=""/>
        <dsp:cNvSpPr/>
      </dsp:nvSpPr>
      <dsp:spPr>
        <a:xfrm>
          <a:off x="6858582" y="715082"/>
          <a:ext cx="2584043" cy="298980"/>
        </a:xfrm>
        <a:custGeom>
          <a:avLst/>
          <a:gdLst/>
          <a:ahLst/>
          <a:cxnLst/>
          <a:rect l="0" t="0" r="0" b="0"/>
          <a:pathLst>
            <a:path>
              <a:moveTo>
                <a:pt x="0" y="0"/>
              </a:moveTo>
              <a:lnTo>
                <a:pt x="0" y="149490"/>
              </a:lnTo>
              <a:lnTo>
                <a:pt x="2584043" y="149490"/>
              </a:lnTo>
              <a:lnTo>
                <a:pt x="2584043" y="29898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055515B-6B78-47F6-A71A-9D75E4ED8E58}">
      <dsp:nvSpPr>
        <dsp:cNvPr id="0" name=""/>
        <dsp:cNvSpPr/>
      </dsp:nvSpPr>
      <dsp:spPr>
        <a:xfrm>
          <a:off x="7150444" y="1725920"/>
          <a:ext cx="213557" cy="1665747"/>
        </a:xfrm>
        <a:custGeom>
          <a:avLst/>
          <a:gdLst/>
          <a:ahLst/>
          <a:cxnLst/>
          <a:rect l="0" t="0" r="0" b="0"/>
          <a:pathLst>
            <a:path>
              <a:moveTo>
                <a:pt x="0" y="0"/>
              </a:moveTo>
              <a:lnTo>
                <a:pt x="0" y="1665747"/>
              </a:lnTo>
              <a:lnTo>
                <a:pt x="213557" y="1665747"/>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3ED2CF7-808E-4CAE-A231-1EB7518FFEE7}">
      <dsp:nvSpPr>
        <dsp:cNvPr id="0" name=""/>
        <dsp:cNvSpPr/>
      </dsp:nvSpPr>
      <dsp:spPr>
        <a:xfrm>
          <a:off x="7150444" y="1725920"/>
          <a:ext cx="213557" cy="654909"/>
        </a:xfrm>
        <a:custGeom>
          <a:avLst/>
          <a:gdLst/>
          <a:ahLst/>
          <a:cxnLst/>
          <a:rect l="0" t="0" r="0" b="0"/>
          <a:pathLst>
            <a:path>
              <a:moveTo>
                <a:pt x="0" y="0"/>
              </a:moveTo>
              <a:lnTo>
                <a:pt x="0" y="654909"/>
              </a:lnTo>
              <a:lnTo>
                <a:pt x="213557" y="654909"/>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5BF5773-1D81-4B0E-A82A-57BD3312C40A}">
      <dsp:nvSpPr>
        <dsp:cNvPr id="0" name=""/>
        <dsp:cNvSpPr/>
      </dsp:nvSpPr>
      <dsp:spPr>
        <a:xfrm>
          <a:off x="6858582" y="715082"/>
          <a:ext cx="861347" cy="298980"/>
        </a:xfrm>
        <a:custGeom>
          <a:avLst/>
          <a:gdLst/>
          <a:ahLst/>
          <a:cxnLst/>
          <a:rect l="0" t="0" r="0" b="0"/>
          <a:pathLst>
            <a:path>
              <a:moveTo>
                <a:pt x="0" y="0"/>
              </a:moveTo>
              <a:lnTo>
                <a:pt x="0" y="149490"/>
              </a:lnTo>
              <a:lnTo>
                <a:pt x="861347" y="149490"/>
              </a:lnTo>
              <a:lnTo>
                <a:pt x="861347" y="29898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0B42476-24AC-44EE-91F5-B4512B7F1F5A}">
      <dsp:nvSpPr>
        <dsp:cNvPr id="0" name=""/>
        <dsp:cNvSpPr/>
      </dsp:nvSpPr>
      <dsp:spPr>
        <a:xfrm>
          <a:off x="5427748" y="1725920"/>
          <a:ext cx="104870" cy="1352145"/>
        </a:xfrm>
        <a:custGeom>
          <a:avLst/>
          <a:gdLst/>
          <a:ahLst/>
          <a:cxnLst/>
          <a:rect l="0" t="0" r="0" b="0"/>
          <a:pathLst>
            <a:path>
              <a:moveTo>
                <a:pt x="0" y="0"/>
              </a:moveTo>
              <a:lnTo>
                <a:pt x="0" y="1352145"/>
              </a:lnTo>
              <a:lnTo>
                <a:pt x="104870" y="1352145"/>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2631E5A-3BB5-4140-A4FF-95C908C143B4}">
      <dsp:nvSpPr>
        <dsp:cNvPr id="0" name=""/>
        <dsp:cNvSpPr/>
      </dsp:nvSpPr>
      <dsp:spPr>
        <a:xfrm>
          <a:off x="5382028" y="1725920"/>
          <a:ext cx="91440" cy="3333344"/>
        </a:xfrm>
        <a:custGeom>
          <a:avLst/>
          <a:gdLst/>
          <a:ahLst/>
          <a:cxnLst/>
          <a:rect l="0" t="0" r="0" b="0"/>
          <a:pathLst>
            <a:path>
              <a:moveTo>
                <a:pt x="45720" y="0"/>
              </a:moveTo>
              <a:lnTo>
                <a:pt x="45720" y="3333344"/>
              </a:lnTo>
              <a:lnTo>
                <a:pt x="117247" y="3333344"/>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C25E37A-5F0E-4489-808A-344987007B0A}">
      <dsp:nvSpPr>
        <dsp:cNvPr id="0" name=""/>
        <dsp:cNvSpPr/>
      </dsp:nvSpPr>
      <dsp:spPr>
        <a:xfrm>
          <a:off x="5382028" y="1725920"/>
          <a:ext cx="91440" cy="2342745"/>
        </a:xfrm>
        <a:custGeom>
          <a:avLst/>
          <a:gdLst/>
          <a:ahLst/>
          <a:cxnLst/>
          <a:rect l="0" t="0" r="0" b="0"/>
          <a:pathLst>
            <a:path>
              <a:moveTo>
                <a:pt x="45720" y="0"/>
              </a:moveTo>
              <a:lnTo>
                <a:pt x="45720" y="2342745"/>
              </a:lnTo>
              <a:lnTo>
                <a:pt x="117247" y="2342745"/>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D6B0F62-9192-4055-ABA5-8085B2B7A629}">
      <dsp:nvSpPr>
        <dsp:cNvPr id="0" name=""/>
        <dsp:cNvSpPr/>
      </dsp:nvSpPr>
      <dsp:spPr>
        <a:xfrm>
          <a:off x="5427748" y="1725920"/>
          <a:ext cx="104870" cy="406919"/>
        </a:xfrm>
        <a:custGeom>
          <a:avLst/>
          <a:gdLst/>
          <a:ahLst/>
          <a:cxnLst/>
          <a:rect l="0" t="0" r="0" b="0"/>
          <a:pathLst>
            <a:path>
              <a:moveTo>
                <a:pt x="0" y="0"/>
              </a:moveTo>
              <a:lnTo>
                <a:pt x="0" y="406919"/>
              </a:lnTo>
              <a:lnTo>
                <a:pt x="104870" y="406919"/>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27AA98D-A90A-4BE2-8413-44DFA7D41E07}">
      <dsp:nvSpPr>
        <dsp:cNvPr id="0" name=""/>
        <dsp:cNvSpPr/>
      </dsp:nvSpPr>
      <dsp:spPr>
        <a:xfrm>
          <a:off x="5997234" y="715082"/>
          <a:ext cx="861347" cy="298980"/>
        </a:xfrm>
        <a:custGeom>
          <a:avLst/>
          <a:gdLst/>
          <a:ahLst/>
          <a:cxnLst/>
          <a:rect l="0" t="0" r="0" b="0"/>
          <a:pathLst>
            <a:path>
              <a:moveTo>
                <a:pt x="861347" y="0"/>
              </a:moveTo>
              <a:lnTo>
                <a:pt x="861347" y="149490"/>
              </a:lnTo>
              <a:lnTo>
                <a:pt x="0" y="149490"/>
              </a:lnTo>
              <a:lnTo>
                <a:pt x="0" y="29898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5FBAAAF-65BA-462F-8D4B-463A496B06B3}">
      <dsp:nvSpPr>
        <dsp:cNvPr id="0" name=""/>
        <dsp:cNvSpPr/>
      </dsp:nvSpPr>
      <dsp:spPr>
        <a:xfrm>
          <a:off x="3705052" y="1725920"/>
          <a:ext cx="213557" cy="2676584"/>
        </a:xfrm>
        <a:custGeom>
          <a:avLst/>
          <a:gdLst/>
          <a:ahLst/>
          <a:cxnLst/>
          <a:rect l="0" t="0" r="0" b="0"/>
          <a:pathLst>
            <a:path>
              <a:moveTo>
                <a:pt x="0" y="0"/>
              </a:moveTo>
              <a:lnTo>
                <a:pt x="0" y="2676584"/>
              </a:lnTo>
              <a:lnTo>
                <a:pt x="213557" y="2676584"/>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96E40B0-3346-44C0-96F9-142CC92F114B}">
      <dsp:nvSpPr>
        <dsp:cNvPr id="0" name=""/>
        <dsp:cNvSpPr/>
      </dsp:nvSpPr>
      <dsp:spPr>
        <a:xfrm>
          <a:off x="3705052" y="1725920"/>
          <a:ext cx="213557" cy="1665747"/>
        </a:xfrm>
        <a:custGeom>
          <a:avLst/>
          <a:gdLst/>
          <a:ahLst/>
          <a:cxnLst/>
          <a:rect l="0" t="0" r="0" b="0"/>
          <a:pathLst>
            <a:path>
              <a:moveTo>
                <a:pt x="0" y="0"/>
              </a:moveTo>
              <a:lnTo>
                <a:pt x="0" y="1665747"/>
              </a:lnTo>
              <a:lnTo>
                <a:pt x="213557" y="1665747"/>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E1C2F6C-597E-429F-87C2-124C957CBD31}">
      <dsp:nvSpPr>
        <dsp:cNvPr id="0" name=""/>
        <dsp:cNvSpPr/>
      </dsp:nvSpPr>
      <dsp:spPr>
        <a:xfrm>
          <a:off x="3705052" y="1725920"/>
          <a:ext cx="213557" cy="654909"/>
        </a:xfrm>
        <a:custGeom>
          <a:avLst/>
          <a:gdLst/>
          <a:ahLst/>
          <a:cxnLst/>
          <a:rect l="0" t="0" r="0" b="0"/>
          <a:pathLst>
            <a:path>
              <a:moveTo>
                <a:pt x="0" y="0"/>
              </a:moveTo>
              <a:lnTo>
                <a:pt x="0" y="654909"/>
              </a:lnTo>
              <a:lnTo>
                <a:pt x="213557" y="654909"/>
              </a:lnTo>
            </a:path>
          </a:pathLst>
        </a:custGeom>
        <a:noFill/>
        <a:ln w="12700" cap="flat" cmpd="sng" algn="ctr">
          <a:solidFill>
            <a:schemeClr val="accent3">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5EACDED-5B87-4D19-83AD-60D8A05E1AB9}">
      <dsp:nvSpPr>
        <dsp:cNvPr id="0" name=""/>
        <dsp:cNvSpPr/>
      </dsp:nvSpPr>
      <dsp:spPr>
        <a:xfrm>
          <a:off x="4274539" y="715082"/>
          <a:ext cx="2584043" cy="298980"/>
        </a:xfrm>
        <a:custGeom>
          <a:avLst/>
          <a:gdLst/>
          <a:ahLst/>
          <a:cxnLst/>
          <a:rect l="0" t="0" r="0" b="0"/>
          <a:pathLst>
            <a:path>
              <a:moveTo>
                <a:pt x="2584043" y="0"/>
              </a:moveTo>
              <a:lnTo>
                <a:pt x="2584043" y="149490"/>
              </a:lnTo>
              <a:lnTo>
                <a:pt x="0" y="149490"/>
              </a:lnTo>
              <a:lnTo>
                <a:pt x="0" y="29898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8796F04-5966-45A5-A58F-0F0BED8EF529}">
      <dsp:nvSpPr>
        <dsp:cNvPr id="0" name=""/>
        <dsp:cNvSpPr/>
      </dsp:nvSpPr>
      <dsp:spPr>
        <a:xfrm>
          <a:off x="6146724" y="3224"/>
          <a:ext cx="1423715" cy="71185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lvl="0" algn="ctr" defTabSz="755650">
            <a:lnSpc>
              <a:spcPct val="90000"/>
            </a:lnSpc>
            <a:spcBef>
              <a:spcPct val="0"/>
            </a:spcBef>
            <a:spcAft>
              <a:spcPct val="35000"/>
            </a:spcAft>
          </a:pPr>
          <a:r>
            <a:rPr lang="en-US" sz="1700" kern="1200" dirty="0"/>
            <a:t>Data Architectures</a:t>
          </a:r>
        </a:p>
      </dsp:txBody>
      <dsp:txXfrm>
        <a:off x="6146724" y="3224"/>
        <a:ext cx="1423715" cy="711857"/>
      </dsp:txXfrm>
    </dsp:sp>
    <dsp:sp modelId="{EF434CFC-C746-4C85-B2B3-7F739CC45EFA}">
      <dsp:nvSpPr>
        <dsp:cNvPr id="0" name=""/>
        <dsp:cNvSpPr/>
      </dsp:nvSpPr>
      <dsp:spPr>
        <a:xfrm>
          <a:off x="3562681" y="1014062"/>
          <a:ext cx="1423715" cy="711857"/>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lvl="0" algn="ctr" defTabSz="755650">
            <a:lnSpc>
              <a:spcPct val="90000"/>
            </a:lnSpc>
            <a:spcBef>
              <a:spcPct val="0"/>
            </a:spcBef>
            <a:spcAft>
              <a:spcPct val="35000"/>
            </a:spcAft>
          </a:pPr>
          <a:r>
            <a:rPr lang="en-US" sz="1700" kern="1200" dirty="0"/>
            <a:t>By Centralization</a:t>
          </a:r>
        </a:p>
      </dsp:txBody>
      <dsp:txXfrm>
        <a:off x="3562681" y="1014062"/>
        <a:ext cx="1423715" cy="711857"/>
      </dsp:txXfrm>
    </dsp:sp>
    <dsp:sp modelId="{46B0E45A-E484-418A-9FB7-381022164C1D}">
      <dsp:nvSpPr>
        <dsp:cNvPr id="0" name=""/>
        <dsp:cNvSpPr/>
      </dsp:nvSpPr>
      <dsp:spPr>
        <a:xfrm>
          <a:off x="3918610" y="2024900"/>
          <a:ext cx="1423715" cy="711857"/>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lvl="0" algn="ctr" defTabSz="755650">
            <a:lnSpc>
              <a:spcPct val="90000"/>
            </a:lnSpc>
            <a:spcBef>
              <a:spcPct val="0"/>
            </a:spcBef>
            <a:spcAft>
              <a:spcPct val="35000"/>
            </a:spcAft>
          </a:pPr>
          <a:r>
            <a:rPr lang="en-US" sz="1700" kern="1200" dirty="0"/>
            <a:t>Centralized</a:t>
          </a:r>
        </a:p>
      </dsp:txBody>
      <dsp:txXfrm>
        <a:off x="3918610" y="2024900"/>
        <a:ext cx="1423715" cy="711857"/>
      </dsp:txXfrm>
    </dsp:sp>
    <dsp:sp modelId="{285DAC41-5F61-42BE-AD0C-A24E1773D4B3}">
      <dsp:nvSpPr>
        <dsp:cNvPr id="0" name=""/>
        <dsp:cNvSpPr/>
      </dsp:nvSpPr>
      <dsp:spPr>
        <a:xfrm>
          <a:off x="3918610" y="3035738"/>
          <a:ext cx="1423715" cy="711857"/>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lvl="0" algn="ctr" defTabSz="755650">
            <a:lnSpc>
              <a:spcPct val="90000"/>
            </a:lnSpc>
            <a:spcBef>
              <a:spcPct val="0"/>
            </a:spcBef>
            <a:spcAft>
              <a:spcPct val="35000"/>
            </a:spcAft>
          </a:pPr>
          <a:r>
            <a:rPr lang="en-US" sz="1700" kern="1200" dirty="0"/>
            <a:t>Distributed</a:t>
          </a:r>
        </a:p>
      </dsp:txBody>
      <dsp:txXfrm>
        <a:off x="3918610" y="3035738"/>
        <a:ext cx="1423715" cy="711857"/>
      </dsp:txXfrm>
    </dsp:sp>
    <dsp:sp modelId="{BF4ED96C-EF1D-4A65-ABA9-5872DD43BF87}">
      <dsp:nvSpPr>
        <dsp:cNvPr id="0" name=""/>
        <dsp:cNvSpPr/>
      </dsp:nvSpPr>
      <dsp:spPr>
        <a:xfrm>
          <a:off x="3918610" y="4046576"/>
          <a:ext cx="1423715" cy="711857"/>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lvl="0" algn="ctr" defTabSz="755650">
            <a:lnSpc>
              <a:spcPct val="90000"/>
            </a:lnSpc>
            <a:spcBef>
              <a:spcPct val="0"/>
            </a:spcBef>
            <a:spcAft>
              <a:spcPct val="35000"/>
            </a:spcAft>
          </a:pPr>
          <a:r>
            <a:rPr lang="en-US" sz="1700" kern="1200" dirty="0"/>
            <a:t>Hybrid</a:t>
          </a:r>
        </a:p>
      </dsp:txBody>
      <dsp:txXfrm>
        <a:off x="3918610" y="4046576"/>
        <a:ext cx="1423715" cy="711857"/>
      </dsp:txXfrm>
    </dsp:sp>
    <dsp:sp modelId="{8EDD8FDF-E255-4ED8-8530-79C9A4CD34D5}">
      <dsp:nvSpPr>
        <dsp:cNvPr id="0" name=""/>
        <dsp:cNvSpPr/>
      </dsp:nvSpPr>
      <dsp:spPr>
        <a:xfrm>
          <a:off x="5285377" y="1014062"/>
          <a:ext cx="1423715" cy="711857"/>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lvl="0" algn="ctr" defTabSz="755650">
            <a:lnSpc>
              <a:spcPct val="90000"/>
            </a:lnSpc>
            <a:spcBef>
              <a:spcPct val="0"/>
            </a:spcBef>
            <a:spcAft>
              <a:spcPct val="35000"/>
            </a:spcAft>
          </a:pPr>
          <a:r>
            <a:rPr lang="en-US" sz="1700" kern="1200" dirty="0"/>
            <a:t>By Storage</a:t>
          </a:r>
        </a:p>
      </dsp:txBody>
      <dsp:txXfrm>
        <a:off x="5285377" y="1014062"/>
        <a:ext cx="1423715" cy="711857"/>
      </dsp:txXfrm>
    </dsp:sp>
    <dsp:sp modelId="{653B3501-E141-46FE-AE02-6922F4D8215F}">
      <dsp:nvSpPr>
        <dsp:cNvPr id="0" name=""/>
        <dsp:cNvSpPr/>
      </dsp:nvSpPr>
      <dsp:spPr>
        <a:xfrm>
          <a:off x="5532619" y="1776910"/>
          <a:ext cx="1423715" cy="711857"/>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lvl="0" algn="ctr" defTabSz="755650">
            <a:lnSpc>
              <a:spcPct val="90000"/>
            </a:lnSpc>
            <a:spcBef>
              <a:spcPct val="0"/>
            </a:spcBef>
            <a:spcAft>
              <a:spcPct val="35000"/>
            </a:spcAft>
          </a:pPr>
          <a:r>
            <a:rPr lang="en-US" sz="1700" kern="1200" dirty="0"/>
            <a:t>Datawarehouse</a:t>
          </a:r>
        </a:p>
      </dsp:txBody>
      <dsp:txXfrm>
        <a:off x="5532619" y="1776910"/>
        <a:ext cx="1423715" cy="711857"/>
      </dsp:txXfrm>
    </dsp:sp>
    <dsp:sp modelId="{614DA188-499A-4C52-B914-AA985F4EB7DD}">
      <dsp:nvSpPr>
        <dsp:cNvPr id="0" name=""/>
        <dsp:cNvSpPr/>
      </dsp:nvSpPr>
      <dsp:spPr>
        <a:xfrm>
          <a:off x="5499276" y="3712736"/>
          <a:ext cx="1423715" cy="711857"/>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lvl="0" algn="ctr" defTabSz="755650">
            <a:lnSpc>
              <a:spcPct val="90000"/>
            </a:lnSpc>
            <a:spcBef>
              <a:spcPct val="0"/>
            </a:spcBef>
            <a:spcAft>
              <a:spcPct val="35000"/>
            </a:spcAft>
          </a:pPr>
          <a:r>
            <a:rPr lang="en-US" sz="1700" kern="1200" dirty="0"/>
            <a:t>Data Lake</a:t>
          </a:r>
        </a:p>
      </dsp:txBody>
      <dsp:txXfrm>
        <a:off x="5499276" y="3712736"/>
        <a:ext cx="1423715" cy="711857"/>
      </dsp:txXfrm>
    </dsp:sp>
    <dsp:sp modelId="{F5D9E0CE-FCE1-4C0D-8E97-DFF578824BDA}">
      <dsp:nvSpPr>
        <dsp:cNvPr id="0" name=""/>
        <dsp:cNvSpPr/>
      </dsp:nvSpPr>
      <dsp:spPr>
        <a:xfrm>
          <a:off x="5499276" y="4703336"/>
          <a:ext cx="1423715" cy="711857"/>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lvl="0" algn="ctr" defTabSz="755650">
            <a:lnSpc>
              <a:spcPct val="90000"/>
            </a:lnSpc>
            <a:spcBef>
              <a:spcPct val="0"/>
            </a:spcBef>
            <a:spcAft>
              <a:spcPct val="35000"/>
            </a:spcAft>
          </a:pPr>
          <a:r>
            <a:rPr lang="en-US" sz="1700" kern="1200" dirty="0"/>
            <a:t>Data Lakehouse</a:t>
          </a:r>
        </a:p>
      </dsp:txBody>
      <dsp:txXfrm>
        <a:off x="5499276" y="4703336"/>
        <a:ext cx="1423715" cy="711857"/>
      </dsp:txXfrm>
    </dsp:sp>
    <dsp:sp modelId="{7C5DA751-DC3F-4DE0-8D5A-557F9B3F408C}">
      <dsp:nvSpPr>
        <dsp:cNvPr id="0" name=""/>
        <dsp:cNvSpPr/>
      </dsp:nvSpPr>
      <dsp:spPr>
        <a:xfrm>
          <a:off x="5532619" y="2722136"/>
          <a:ext cx="1423715" cy="711857"/>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lvl="0" algn="ctr" defTabSz="755650">
            <a:lnSpc>
              <a:spcPct val="90000"/>
            </a:lnSpc>
            <a:spcBef>
              <a:spcPct val="0"/>
            </a:spcBef>
            <a:spcAft>
              <a:spcPct val="35000"/>
            </a:spcAft>
          </a:pPr>
          <a:r>
            <a:rPr lang="en-US" sz="1700" kern="1200" dirty="0"/>
            <a:t>DataMart</a:t>
          </a:r>
        </a:p>
      </dsp:txBody>
      <dsp:txXfrm>
        <a:off x="5532619" y="2722136"/>
        <a:ext cx="1423715" cy="711857"/>
      </dsp:txXfrm>
    </dsp:sp>
    <dsp:sp modelId="{87C6C0AB-56DA-49E5-AB9B-FA16CD911141}">
      <dsp:nvSpPr>
        <dsp:cNvPr id="0" name=""/>
        <dsp:cNvSpPr/>
      </dsp:nvSpPr>
      <dsp:spPr>
        <a:xfrm>
          <a:off x="7008072" y="1014062"/>
          <a:ext cx="1423715" cy="711857"/>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lvl="0" algn="ctr" defTabSz="755650">
            <a:lnSpc>
              <a:spcPct val="90000"/>
            </a:lnSpc>
            <a:spcBef>
              <a:spcPct val="0"/>
            </a:spcBef>
            <a:spcAft>
              <a:spcPct val="35000"/>
            </a:spcAft>
          </a:pPr>
          <a:r>
            <a:rPr lang="en-US" sz="1700" kern="1200"/>
            <a:t>By Governance</a:t>
          </a:r>
          <a:endParaRPr lang="en-US" sz="1700" kern="1200" dirty="0"/>
        </a:p>
      </dsp:txBody>
      <dsp:txXfrm>
        <a:off x="7008072" y="1014062"/>
        <a:ext cx="1423715" cy="711857"/>
      </dsp:txXfrm>
    </dsp:sp>
    <dsp:sp modelId="{EA841742-A4BE-4467-AD2C-DFAF451EDB7A}">
      <dsp:nvSpPr>
        <dsp:cNvPr id="0" name=""/>
        <dsp:cNvSpPr/>
      </dsp:nvSpPr>
      <dsp:spPr>
        <a:xfrm>
          <a:off x="7364001" y="2024900"/>
          <a:ext cx="1423715" cy="711857"/>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lvl="0" algn="ctr" defTabSz="755650">
            <a:lnSpc>
              <a:spcPct val="90000"/>
            </a:lnSpc>
            <a:spcBef>
              <a:spcPct val="0"/>
            </a:spcBef>
            <a:spcAft>
              <a:spcPct val="35000"/>
            </a:spcAft>
          </a:pPr>
          <a:r>
            <a:rPr lang="en-US" sz="1700" kern="1200" dirty="0" err="1"/>
            <a:t>DataMesh</a:t>
          </a:r>
          <a:endParaRPr lang="en-US" sz="1700" kern="1200" dirty="0"/>
        </a:p>
      </dsp:txBody>
      <dsp:txXfrm>
        <a:off x="7364001" y="2024900"/>
        <a:ext cx="1423715" cy="711857"/>
      </dsp:txXfrm>
    </dsp:sp>
    <dsp:sp modelId="{A8692FEC-469A-40F4-8202-1E4222156258}">
      <dsp:nvSpPr>
        <dsp:cNvPr id="0" name=""/>
        <dsp:cNvSpPr/>
      </dsp:nvSpPr>
      <dsp:spPr>
        <a:xfrm>
          <a:off x="7364001" y="3035738"/>
          <a:ext cx="1423715" cy="711857"/>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lvl="0" algn="ctr" defTabSz="755650">
            <a:lnSpc>
              <a:spcPct val="90000"/>
            </a:lnSpc>
            <a:spcBef>
              <a:spcPct val="0"/>
            </a:spcBef>
            <a:spcAft>
              <a:spcPct val="35000"/>
            </a:spcAft>
          </a:pPr>
          <a:r>
            <a:rPr lang="en-US" sz="1700" kern="1200" dirty="0" err="1"/>
            <a:t>DataFabric</a:t>
          </a:r>
          <a:endParaRPr lang="en-US" sz="1700" kern="1200" dirty="0"/>
        </a:p>
      </dsp:txBody>
      <dsp:txXfrm>
        <a:off x="7364001" y="3035738"/>
        <a:ext cx="1423715" cy="711857"/>
      </dsp:txXfrm>
    </dsp:sp>
    <dsp:sp modelId="{3D353114-AE61-4ED8-91A0-A893DABA534B}">
      <dsp:nvSpPr>
        <dsp:cNvPr id="0" name=""/>
        <dsp:cNvSpPr/>
      </dsp:nvSpPr>
      <dsp:spPr>
        <a:xfrm>
          <a:off x="8730768" y="1014062"/>
          <a:ext cx="1423715" cy="711857"/>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lvl="0" algn="ctr" defTabSz="755650">
            <a:lnSpc>
              <a:spcPct val="90000"/>
            </a:lnSpc>
            <a:spcBef>
              <a:spcPct val="0"/>
            </a:spcBef>
            <a:spcAft>
              <a:spcPct val="35000"/>
            </a:spcAft>
          </a:pPr>
          <a:r>
            <a:rPr lang="en-US" sz="1700" kern="1200" dirty="0"/>
            <a:t>By Processing</a:t>
          </a:r>
        </a:p>
      </dsp:txBody>
      <dsp:txXfrm>
        <a:off x="8730768" y="1014062"/>
        <a:ext cx="1423715" cy="711857"/>
      </dsp:txXfrm>
    </dsp:sp>
    <dsp:sp modelId="{B7A4BA2A-50B1-42BC-AFDB-53B2959DE149}">
      <dsp:nvSpPr>
        <dsp:cNvPr id="0" name=""/>
        <dsp:cNvSpPr/>
      </dsp:nvSpPr>
      <dsp:spPr>
        <a:xfrm>
          <a:off x="9086697" y="2024900"/>
          <a:ext cx="1423715" cy="711857"/>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lvl="0" algn="ctr" defTabSz="755650">
            <a:lnSpc>
              <a:spcPct val="90000"/>
            </a:lnSpc>
            <a:spcBef>
              <a:spcPct val="0"/>
            </a:spcBef>
            <a:spcAft>
              <a:spcPct val="35000"/>
            </a:spcAft>
          </a:pPr>
          <a:r>
            <a:rPr lang="en-US" sz="1700" kern="1200" dirty="0"/>
            <a:t>Lambda</a:t>
          </a:r>
        </a:p>
      </dsp:txBody>
      <dsp:txXfrm>
        <a:off x="9086697" y="2024900"/>
        <a:ext cx="1423715" cy="711857"/>
      </dsp:txXfrm>
    </dsp:sp>
    <dsp:sp modelId="{7359A961-558E-4102-83F1-FB09B3E375F0}">
      <dsp:nvSpPr>
        <dsp:cNvPr id="0" name=""/>
        <dsp:cNvSpPr/>
      </dsp:nvSpPr>
      <dsp:spPr>
        <a:xfrm>
          <a:off x="9086697" y="3035738"/>
          <a:ext cx="1423715" cy="711857"/>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95" tIns="10795" rIns="10795" bIns="10795" numCol="1" spcCol="1270" anchor="ctr" anchorCtr="0">
          <a:noAutofit/>
        </a:bodyPr>
        <a:lstStyle/>
        <a:p>
          <a:pPr lvl="0" algn="ctr" defTabSz="755650">
            <a:lnSpc>
              <a:spcPct val="90000"/>
            </a:lnSpc>
            <a:spcBef>
              <a:spcPct val="0"/>
            </a:spcBef>
            <a:spcAft>
              <a:spcPct val="35000"/>
            </a:spcAft>
          </a:pPr>
          <a:r>
            <a:rPr lang="en-US" sz="1700" kern="1200" dirty="0"/>
            <a:t>Kappa</a:t>
          </a:r>
        </a:p>
      </dsp:txBody>
      <dsp:txXfrm>
        <a:off x="9086697" y="3035738"/>
        <a:ext cx="1423715" cy="71185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74E359-8FAE-491B-AAEC-1E586D7D5931}">
      <dsp:nvSpPr>
        <dsp:cNvPr id="0" name=""/>
        <dsp:cNvSpPr/>
      </dsp:nvSpPr>
      <dsp:spPr>
        <a:xfrm rot="5400000">
          <a:off x="-181231" y="472301"/>
          <a:ext cx="1208207" cy="845745"/>
        </a:xfrm>
        <a:prstGeom prst="chevron">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lvl="0" algn="ctr" defTabSz="666750">
            <a:lnSpc>
              <a:spcPct val="150000"/>
            </a:lnSpc>
            <a:spcBef>
              <a:spcPct val="0"/>
            </a:spcBef>
            <a:spcAft>
              <a:spcPct val="35000"/>
            </a:spcAft>
            <a:buNone/>
          </a:pPr>
          <a:r>
            <a:rPr lang="en-US" sz="1500" b="0" i="0" u="sng" kern="1200" dirty="0">
              <a:latin typeface="Helvetica" panose="020B0604020202020204" pitchFamily="34" charset="0"/>
              <a:cs typeface="Helvetica" panose="020B0604020202020204" pitchFamily="34" charset="0"/>
            </a:rPr>
            <a:t>V</a:t>
          </a:r>
          <a:r>
            <a:rPr lang="en-US" sz="1500" b="0" i="0" kern="1200" dirty="0">
              <a:latin typeface="Helvetica" panose="020B0604020202020204" pitchFamily="34" charset="0"/>
              <a:cs typeface="Helvetica" panose="020B0604020202020204" pitchFamily="34" charset="0"/>
            </a:rPr>
            <a:t>olume</a:t>
          </a:r>
          <a:endParaRPr lang="en-US" sz="1500" kern="1200" dirty="0">
            <a:latin typeface="Helvetica" panose="020B0604020202020204" pitchFamily="34" charset="0"/>
            <a:cs typeface="Helvetica" panose="020B0604020202020204" pitchFamily="34" charset="0"/>
          </a:endParaRPr>
        </a:p>
      </dsp:txBody>
      <dsp:txXfrm rot="-5400000">
        <a:off x="1" y="713943"/>
        <a:ext cx="845745" cy="362462"/>
      </dsp:txXfrm>
    </dsp:sp>
    <dsp:sp modelId="{E7B1B7F3-D4E0-4B9C-8B5E-D87556073E44}">
      <dsp:nvSpPr>
        <dsp:cNvPr id="0" name=""/>
        <dsp:cNvSpPr/>
      </dsp:nvSpPr>
      <dsp:spPr>
        <a:xfrm rot="5400000">
          <a:off x="5534432" y="-4684589"/>
          <a:ext cx="1359280" cy="10736654"/>
        </a:xfrm>
        <a:prstGeom prst="round2SameRect">
          <a:avLst/>
        </a:prstGeom>
        <a:solidFill>
          <a:schemeClr val="lt1">
            <a:alpha val="90000"/>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9525" rIns="9525" bIns="9525" numCol="1" spcCol="1270" anchor="ctr" anchorCtr="0">
          <a:noAutofit/>
        </a:bodyPr>
        <a:lstStyle/>
        <a:p>
          <a:pPr marL="180975" lvl="1" indent="-180975" algn="just" defTabSz="666750">
            <a:lnSpc>
              <a:spcPct val="100000"/>
            </a:lnSpc>
            <a:spcBef>
              <a:spcPct val="0"/>
            </a:spcBef>
            <a:spcAft>
              <a:spcPts val="0"/>
            </a:spcAft>
            <a:buFont typeface="Wingdings" panose="05000000000000000000" pitchFamily="2" charset="2"/>
            <a:buChar char="••"/>
          </a:pPr>
          <a:r>
            <a:rPr lang="en-US" sz="1500" b="0" i="0" kern="1200" dirty="0">
              <a:latin typeface="Helvetica" panose="020B0604020202020204" pitchFamily="34" charset="0"/>
              <a:cs typeface="Helvetica" panose="020B0604020202020204" pitchFamily="34" charset="0"/>
            </a:rPr>
            <a:t>The massive amount of data generated today—from web apps, </a:t>
          </a:r>
          <a:r>
            <a:rPr lang="en-US" sz="1500" b="0" i="0" kern="1200" dirty="0">
              <a:latin typeface="Helvetica" panose="020B0604020202020204" pitchFamily="34" charset="0"/>
              <a:cs typeface="Helvetica" panose="020B0604020202020204" pitchFamily="34" charset="0"/>
              <a:hlinkClick xmlns:r="http://schemas.openxmlformats.org/officeDocument/2006/relationships" r:id="rId1"/>
            </a:rPr>
            <a:t>Internet of Things (IoT) </a:t>
          </a:r>
          <a:r>
            <a:rPr lang="en-US" sz="1500" b="0" i="0" kern="1200" dirty="0">
              <a:latin typeface="Helvetica" panose="020B0604020202020204" pitchFamily="34" charset="0"/>
              <a:cs typeface="Helvetica" panose="020B0604020202020204" pitchFamily="34" charset="0"/>
            </a:rPr>
            <a:t>devices, transaction records and </a:t>
          </a:r>
          <a:r>
            <a:rPr lang="en-US" sz="1500" b="0" i="0" kern="1200" dirty="0" smtClean="0">
              <a:latin typeface="Helvetica" panose="020B0604020202020204" pitchFamily="34" charset="0"/>
              <a:cs typeface="Helvetica" panose="020B0604020202020204" pitchFamily="34" charset="0"/>
            </a:rPr>
            <a:t> more—can </a:t>
          </a:r>
          <a:r>
            <a:rPr lang="en-US" sz="1500" b="0" i="0" kern="1200" dirty="0">
              <a:latin typeface="Helvetica" panose="020B0604020202020204" pitchFamily="34" charset="0"/>
              <a:cs typeface="Helvetica" panose="020B0604020202020204" pitchFamily="34" charset="0"/>
            </a:rPr>
            <a:t>be hard for any organization to manage. </a:t>
          </a:r>
          <a:endParaRPr lang="en-US" sz="1500" kern="1200" dirty="0">
            <a:latin typeface="Helvetica" panose="020B0604020202020204" pitchFamily="34" charset="0"/>
            <a:cs typeface="Helvetica" panose="020B0604020202020204" pitchFamily="34" charset="0"/>
          </a:endParaRPr>
        </a:p>
        <a:p>
          <a:pPr marL="180975" lvl="1" indent="-180975" algn="just" defTabSz="666750">
            <a:lnSpc>
              <a:spcPct val="100000"/>
            </a:lnSpc>
            <a:spcBef>
              <a:spcPct val="0"/>
            </a:spcBef>
            <a:spcAft>
              <a:spcPts val="0"/>
            </a:spcAft>
            <a:buFont typeface="Wingdings" panose="05000000000000000000" pitchFamily="2" charset="2"/>
            <a:buChar char="••"/>
          </a:pPr>
          <a:endParaRPr lang="en-US" sz="1500" kern="1200" dirty="0">
            <a:latin typeface="Helvetica" panose="020B0604020202020204" pitchFamily="34" charset="0"/>
            <a:cs typeface="Helvetica" panose="020B0604020202020204" pitchFamily="34" charset="0"/>
          </a:endParaRPr>
        </a:p>
        <a:p>
          <a:pPr marL="180975" lvl="1" indent="-180975" algn="just" defTabSz="666750">
            <a:lnSpc>
              <a:spcPct val="150000"/>
            </a:lnSpc>
            <a:spcBef>
              <a:spcPct val="0"/>
            </a:spcBef>
            <a:spcAft>
              <a:spcPct val="15000"/>
            </a:spcAft>
            <a:buFont typeface="Wingdings" panose="05000000000000000000" pitchFamily="2" charset="2"/>
            <a:buChar char="••"/>
          </a:pPr>
          <a:r>
            <a:rPr lang="en-US" sz="1500" b="0" i="0" kern="1200" dirty="0">
              <a:latin typeface="Helvetica" panose="020B0604020202020204" pitchFamily="34" charset="0"/>
              <a:cs typeface="Helvetica" panose="020B0604020202020204" pitchFamily="34" charset="0"/>
            </a:rPr>
            <a:t>Traditional data storage and processing systems often struggle to handle it at scale.</a:t>
          </a:r>
          <a:endParaRPr lang="en-US" sz="1500" kern="1200" dirty="0">
            <a:latin typeface="Helvetica" panose="020B0604020202020204" pitchFamily="34" charset="0"/>
            <a:cs typeface="Helvetica" panose="020B0604020202020204" pitchFamily="34" charset="0"/>
          </a:endParaRPr>
        </a:p>
      </dsp:txBody>
      <dsp:txXfrm rot="-5400000">
        <a:off x="845746" y="70452"/>
        <a:ext cx="10670299" cy="1226570"/>
      </dsp:txXfrm>
    </dsp:sp>
    <dsp:sp modelId="{A73E6DCD-9BD7-413D-9CBE-F1535B9205F7}">
      <dsp:nvSpPr>
        <dsp:cNvPr id="0" name=""/>
        <dsp:cNvSpPr/>
      </dsp:nvSpPr>
      <dsp:spPr>
        <a:xfrm rot="5400000">
          <a:off x="-181231" y="1570759"/>
          <a:ext cx="1208207" cy="845745"/>
        </a:xfrm>
        <a:prstGeom prst="chevron">
          <a:avLst/>
        </a:prstGeom>
        <a:solidFill>
          <a:schemeClr val="accent2">
            <a:hueOff val="-363841"/>
            <a:satOff val="-20982"/>
            <a:lumOff val="2157"/>
            <a:alphaOff val="0"/>
          </a:schemeClr>
        </a:solidFill>
        <a:ln w="12700" cap="flat" cmpd="sng" algn="ctr">
          <a:solidFill>
            <a:schemeClr val="accent2">
              <a:hueOff val="-363841"/>
              <a:satOff val="-20982"/>
              <a:lumOff val="215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lvl="0" algn="ctr" defTabSz="666750">
            <a:lnSpc>
              <a:spcPct val="150000"/>
            </a:lnSpc>
            <a:spcBef>
              <a:spcPct val="0"/>
            </a:spcBef>
            <a:spcAft>
              <a:spcPct val="35000"/>
            </a:spcAft>
            <a:buNone/>
          </a:pPr>
          <a:r>
            <a:rPr lang="en-US" sz="1500" b="1" i="0" u="sng" kern="1200" dirty="0">
              <a:latin typeface="Helvetica" panose="020B0604020202020204" pitchFamily="34" charset="0"/>
              <a:cs typeface="Helvetica" panose="020B0604020202020204" pitchFamily="34" charset="0"/>
            </a:rPr>
            <a:t>V</a:t>
          </a:r>
          <a:r>
            <a:rPr lang="en-US" sz="1500" b="0" i="0" kern="1200" dirty="0">
              <a:latin typeface="Helvetica" panose="020B0604020202020204" pitchFamily="34" charset="0"/>
              <a:cs typeface="Helvetica" panose="020B0604020202020204" pitchFamily="34" charset="0"/>
            </a:rPr>
            <a:t>elocity</a:t>
          </a:r>
          <a:endParaRPr lang="en-US" sz="1500" kern="1200" dirty="0">
            <a:latin typeface="Helvetica" panose="020B0604020202020204" pitchFamily="34" charset="0"/>
            <a:cs typeface="Helvetica" panose="020B0604020202020204" pitchFamily="34" charset="0"/>
          </a:endParaRPr>
        </a:p>
      </dsp:txBody>
      <dsp:txXfrm rot="-5400000">
        <a:off x="1" y="1812401"/>
        <a:ext cx="845745" cy="362462"/>
      </dsp:txXfrm>
    </dsp:sp>
    <dsp:sp modelId="{E2046809-15D9-4EA5-ADA2-1CA56981F5CE}">
      <dsp:nvSpPr>
        <dsp:cNvPr id="0" name=""/>
        <dsp:cNvSpPr/>
      </dsp:nvSpPr>
      <dsp:spPr>
        <a:xfrm rot="5400000">
          <a:off x="5821405" y="-3586131"/>
          <a:ext cx="785334" cy="10736654"/>
        </a:xfrm>
        <a:prstGeom prst="round2SameRect">
          <a:avLst/>
        </a:prstGeom>
        <a:solidFill>
          <a:schemeClr val="lt1">
            <a:alpha val="90000"/>
            <a:hueOff val="0"/>
            <a:satOff val="0"/>
            <a:lumOff val="0"/>
            <a:alphaOff val="0"/>
          </a:schemeClr>
        </a:solidFill>
        <a:ln w="12700" cap="flat" cmpd="sng" algn="ctr">
          <a:solidFill>
            <a:schemeClr val="accent2">
              <a:hueOff val="-363841"/>
              <a:satOff val="-20982"/>
              <a:lumOff val="215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9525" rIns="9525" bIns="9525" numCol="1" spcCol="1270" anchor="ctr" anchorCtr="0">
          <a:noAutofit/>
        </a:bodyPr>
        <a:lstStyle/>
        <a:p>
          <a:pPr marL="114300" lvl="1" indent="-114300" algn="l" defTabSz="666750">
            <a:lnSpc>
              <a:spcPct val="150000"/>
            </a:lnSpc>
            <a:spcBef>
              <a:spcPct val="0"/>
            </a:spcBef>
            <a:spcAft>
              <a:spcPct val="15000"/>
            </a:spcAft>
            <a:buFont typeface="Wingdings" panose="05000000000000000000" pitchFamily="2" charset="2"/>
            <a:buChar char="••"/>
          </a:pPr>
          <a:r>
            <a:rPr lang="en-US" sz="1500" b="0" i="0" kern="1200" dirty="0" smtClean="0">
              <a:latin typeface="Helvetica" panose="020B0604020202020204" pitchFamily="34" charset="0"/>
              <a:cs typeface="Helvetica" panose="020B0604020202020204" pitchFamily="34" charset="0"/>
            </a:rPr>
            <a:t>The </a:t>
          </a:r>
          <a:r>
            <a:rPr lang="en-US" sz="1500" b="0" i="0" kern="1200" dirty="0">
              <a:latin typeface="Helvetica" panose="020B0604020202020204" pitchFamily="34" charset="0"/>
              <a:cs typeface="Helvetica" panose="020B0604020202020204" pitchFamily="34" charset="0"/>
            </a:rPr>
            <a:t>speed at which data flows into a system and big data moves quickly.</a:t>
          </a:r>
          <a:endParaRPr lang="en-US" sz="1500" kern="1200" dirty="0">
            <a:latin typeface="Helvetica" panose="020B0604020202020204" pitchFamily="34" charset="0"/>
            <a:cs typeface="Helvetica" panose="020B0604020202020204" pitchFamily="34" charset="0"/>
          </a:endParaRPr>
        </a:p>
        <a:p>
          <a:pPr marL="114300" lvl="1" indent="-114300" algn="l" defTabSz="666750">
            <a:lnSpc>
              <a:spcPct val="150000"/>
            </a:lnSpc>
            <a:spcBef>
              <a:spcPct val="0"/>
            </a:spcBef>
            <a:spcAft>
              <a:spcPct val="15000"/>
            </a:spcAft>
            <a:buFont typeface="Wingdings" panose="05000000000000000000" pitchFamily="2" charset="2"/>
            <a:buChar char="••"/>
          </a:pPr>
          <a:r>
            <a:rPr lang="en-US" sz="1500" b="0" i="0" kern="1200" dirty="0" smtClean="0">
              <a:latin typeface="Helvetica" panose="020B0604020202020204" pitchFamily="34" charset="0"/>
              <a:cs typeface="Helvetica" panose="020B0604020202020204" pitchFamily="34" charset="0"/>
            </a:rPr>
            <a:t>Data </a:t>
          </a:r>
          <a:r>
            <a:rPr lang="en-US" sz="1500" b="0" i="0" kern="1200" dirty="0">
              <a:latin typeface="Helvetica" panose="020B0604020202020204" pitchFamily="34" charset="0"/>
              <a:cs typeface="Helvetica" panose="020B0604020202020204" pitchFamily="34" charset="0"/>
            </a:rPr>
            <a:t>arrives faster than ever, from real-time social media updates to high-frequency stock trading records. </a:t>
          </a:r>
          <a:endParaRPr lang="en-US" sz="1500" kern="1200" dirty="0">
            <a:latin typeface="Helvetica" panose="020B0604020202020204" pitchFamily="34" charset="0"/>
            <a:cs typeface="Helvetica" panose="020B0604020202020204" pitchFamily="34" charset="0"/>
          </a:endParaRPr>
        </a:p>
      </dsp:txBody>
      <dsp:txXfrm rot="-5400000">
        <a:off x="845746" y="1427865"/>
        <a:ext cx="10698317" cy="708660"/>
      </dsp:txXfrm>
    </dsp:sp>
    <dsp:sp modelId="{20E97681-CCAD-49FE-8105-BBF84705302C}">
      <dsp:nvSpPr>
        <dsp:cNvPr id="0" name=""/>
        <dsp:cNvSpPr/>
      </dsp:nvSpPr>
      <dsp:spPr>
        <a:xfrm rot="5400000">
          <a:off x="-181231" y="2669217"/>
          <a:ext cx="1208207" cy="845745"/>
        </a:xfrm>
        <a:prstGeom prst="chevron">
          <a:avLst/>
        </a:prstGeom>
        <a:solidFill>
          <a:schemeClr val="accent2">
            <a:hueOff val="-727682"/>
            <a:satOff val="-41964"/>
            <a:lumOff val="4314"/>
            <a:alphaOff val="0"/>
          </a:schemeClr>
        </a:solidFill>
        <a:ln w="12700" cap="flat" cmpd="sng" algn="ctr">
          <a:solidFill>
            <a:schemeClr val="accent2">
              <a:hueOff val="-727682"/>
              <a:satOff val="-41964"/>
              <a:lumOff val="431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lvl="0" algn="ctr" defTabSz="666750">
            <a:lnSpc>
              <a:spcPct val="150000"/>
            </a:lnSpc>
            <a:spcBef>
              <a:spcPct val="0"/>
            </a:spcBef>
            <a:spcAft>
              <a:spcPct val="35000"/>
            </a:spcAft>
            <a:buNone/>
          </a:pPr>
          <a:r>
            <a:rPr lang="en-US" sz="1500" b="1" i="0" u="sng" kern="1200" dirty="0">
              <a:latin typeface="Helvetica" panose="020B0604020202020204" pitchFamily="34" charset="0"/>
              <a:cs typeface="Helvetica" panose="020B0604020202020204" pitchFamily="34" charset="0"/>
            </a:rPr>
            <a:t>V</a:t>
          </a:r>
          <a:r>
            <a:rPr lang="en-US" sz="1500" b="0" i="0" kern="1200" dirty="0">
              <a:latin typeface="Helvetica" panose="020B0604020202020204" pitchFamily="34" charset="0"/>
              <a:cs typeface="Helvetica" panose="020B0604020202020204" pitchFamily="34" charset="0"/>
            </a:rPr>
            <a:t>ariety</a:t>
          </a:r>
          <a:endParaRPr lang="en-US" sz="1500" kern="1200" dirty="0">
            <a:latin typeface="Helvetica" panose="020B0604020202020204" pitchFamily="34" charset="0"/>
            <a:cs typeface="Helvetica" panose="020B0604020202020204" pitchFamily="34" charset="0"/>
          </a:endParaRPr>
        </a:p>
      </dsp:txBody>
      <dsp:txXfrm rot="-5400000">
        <a:off x="1" y="2910859"/>
        <a:ext cx="845745" cy="362462"/>
      </dsp:txXfrm>
    </dsp:sp>
    <dsp:sp modelId="{F4878815-B9C9-4FEF-8353-386DDE242285}">
      <dsp:nvSpPr>
        <dsp:cNvPr id="0" name=""/>
        <dsp:cNvSpPr/>
      </dsp:nvSpPr>
      <dsp:spPr>
        <a:xfrm rot="5400000">
          <a:off x="5821405" y="-2487673"/>
          <a:ext cx="785334" cy="10736654"/>
        </a:xfrm>
        <a:prstGeom prst="round2SameRect">
          <a:avLst/>
        </a:prstGeom>
        <a:solidFill>
          <a:schemeClr val="lt1">
            <a:alpha val="90000"/>
            <a:hueOff val="0"/>
            <a:satOff val="0"/>
            <a:lumOff val="0"/>
            <a:alphaOff val="0"/>
          </a:schemeClr>
        </a:solidFill>
        <a:ln w="12700" cap="flat" cmpd="sng" algn="ctr">
          <a:solidFill>
            <a:schemeClr val="accent2">
              <a:hueOff val="-727682"/>
              <a:satOff val="-41964"/>
              <a:lumOff val="431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9525" rIns="9525" bIns="9525" numCol="1" spcCol="1270" anchor="ctr" anchorCtr="0">
          <a:noAutofit/>
        </a:bodyPr>
        <a:lstStyle/>
        <a:p>
          <a:pPr marL="114300" lvl="1" indent="-114300" algn="l" defTabSz="666750">
            <a:lnSpc>
              <a:spcPct val="150000"/>
            </a:lnSpc>
            <a:spcBef>
              <a:spcPct val="0"/>
            </a:spcBef>
            <a:spcAft>
              <a:spcPct val="15000"/>
            </a:spcAft>
            <a:buFont typeface="Wingdings" panose="05000000000000000000" pitchFamily="2" charset="2"/>
            <a:buChar char="••"/>
          </a:pPr>
          <a:r>
            <a:rPr lang="en-US" sz="1500" b="0" i="0" kern="1200" dirty="0" smtClean="0">
              <a:latin typeface="Helvetica" panose="020B0604020202020204" pitchFamily="34" charset="0"/>
              <a:cs typeface="Helvetica" panose="020B0604020202020204" pitchFamily="34" charset="0"/>
            </a:rPr>
            <a:t>Refers </a:t>
          </a:r>
          <a:r>
            <a:rPr lang="en-US" sz="1500" b="0" i="0" kern="1200" dirty="0">
              <a:latin typeface="Helvetica" panose="020B0604020202020204" pitchFamily="34" charset="0"/>
              <a:cs typeface="Helvetica" panose="020B0604020202020204" pitchFamily="34" charset="0"/>
            </a:rPr>
            <a:t>to the many different formats that big data can take.</a:t>
          </a:r>
          <a:endParaRPr lang="en-US" sz="1500" kern="1200" dirty="0">
            <a:latin typeface="Helvetica" panose="020B0604020202020204" pitchFamily="34" charset="0"/>
            <a:cs typeface="Helvetica" panose="020B0604020202020204" pitchFamily="34" charset="0"/>
          </a:endParaRPr>
        </a:p>
        <a:p>
          <a:pPr marL="114300" lvl="1" indent="-114300" algn="l" defTabSz="666750">
            <a:lnSpc>
              <a:spcPct val="150000"/>
            </a:lnSpc>
            <a:spcBef>
              <a:spcPct val="0"/>
            </a:spcBef>
            <a:spcAft>
              <a:spcPct val="15000"/>
            </a:spcAft>
            <a:buFont typeface="Wingdings" panose="05000000000000000000" pitchFamily="2" charset="2"/>
            <a:buChar char="••"/>
          </a:pPr>
          <a:r>
            <a:rPr lang="en-US" sz="1500" b="0" i="0" kern="1200" dirty="0">
              <a:latin typeface="Helvetica" panose="020B0604020202020204" pitchFamily="34" charset="0"/>
              <a:cs typeface="Helvetica" panose="020B0604020202020204" pitchFamily="34" charset="0"/>
            </a:rPr>
            <a:t>Along with traditional structured data, big data can include unstructured data, such as free-form text, images and videos.</a:t>
          </a:r>
          <a:endParaRPr lang="en-US" sz="1500" kern="1200" dirty="0">
            <a:latin typeface="Helvetica" panose="020B0604020202020204" pitchFamily="34" charset="0"/>
            <a:cs typeface="Helvetica" panose="020B0604020202020204" pitchFamily="34" charset="0"/>
          </a:endParaRPr>
        </a:p>
      </dsp:txBody>
      <dsp:txXfrm rot="-5400000">
        <a:off x="845746" y="2526323"/>
        <a:ext cx="10698317" cy="708660"/>
      </dsp:txXfrm>
    </dsp:sp>
    <dsp:sp modelId="{41E66D46-2379-424D-B459-F0128943F3F7}">
      <dsp:nvSpPr>
        <dsp:cNvPr id="0" name=""/>
        <dsp:cNvSpPr/>
      </dsp:nvSpPr>
      <dsp:spPr>
        <a:xfrm rot="5400000">
          <a:off x="-181231" y="3767676"/>
          <a:ext cx="1208207" cy="845745"/>
        </a:xfrm>
        <a:prstGeom prst="chevron">
          <a:avLst/>
        </a:prstGeom>
        <a:solidFill>
          <a:schemeClr val="accent2">
            <a:hueOff val="-1091522"/>
            <a:satOff val="-62946"/>
            <a:lumOff val="6471"/>
            <a:alphaOff val="0"/>
          </a:schemeClr>
        </a:solidFill>
        <a:ln w="12700" cap="flat" cmpd="sng" algn="ctr">
          <a:solidFill>
            <a:schemeClr val="accent2">
              <a:hueOff val="-1091522"/>
              <a:satOff val="-62946"/>
              <a:lumOff val="647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lvl="0" algn="ctr" defTabSz="666750">
            <a:lnSpc>
              <a:spcPct val="150000"/>
            </a:lnSpc>
            <a:spcBef>
              <a:spcPct val="0"/>
            </a:spcBef>
            <a:spcAft>
              <a:spcPct val="35000"/>
            </a:spcAft>
            <a:buNone/>
          </a:pPr>
          <a:r>
            <a:rPr lang="en-US" sz="1500" b="1" i="0" u="sng" kern="1200" dirty="0">
              <a:latin typeface="Helvetica" panose="020B0604020202020204" pitchFamily="34" charset="0"/>
              <a:cs typeface="Helvetica" panose="020B0604020202020204" pitchFamily="34" charset="0"/>
            </a:rPr>
            <a:t>V</a:t>
          </a:r>
          <a:r>
            <a:rPr lang="en-US" sz="1500" b="0" i="0" kern="1200" dirty="0">
              <a:latin typeface="Helvetica" panose="020B0604020202020204" pitchFamily="34" charset="0"/>
              <a:cs typeface="Helvetica" panose="020B0604020202020204" pitchFamily="34" charset="0"/>
            </a:rPr>
            <a:t>eracity</a:t>
          </a:r>
          <a:endParaRPr lang="en-US" sz="1500" kern="1200" dirty="0">
            <a:latin typeface="Helvetica" panose="020B0604020202020204" pitchFamily="34" charset="0"/>
            <a:cs typeface="Helvetica" panose="020B0604020202020204" pitchFamily="34" charset="0"/>
          </a:endParaRPr>
        </a:p>
      </dsp:txBody>
      <dsp:txXfrm rot="-5400000">
        <a:off x="1" y="4009318"/>
        <a:ext cx="845745" cy="362462"/>
      </dsp:txXfrm>
    </dsp:sp>
    <dsp:sp modelId="{9276CC32-F8F0-46E5-9F4E-7AC17D3864C0}">
      <dsp:nvSpPr>
        <dsp:cNvPr id="0" name=""/>
        <dsp:cNvSpPr/>
      </dsp:nvSpPr>
      <dsp:spPr>
        <a:xfrm rot="5400000">
          <a:off x="5821405" y="-1389214"/>
          <a:ext cx="785334" cy="10736654"/>
        </a:xfrm>
        <a:prstGeom prst="round2SameRect">
          <a:avLst/>
        </a:prstGeom>
        <a:solidFill>
          <a:schemeClr val="lt1">
            <a:alpha val="90000"/>
            <a:hueOff val="0"/>
            <a:satOff val="0"/>
            <a:lumOff val="0"/>
            <a:alphaOff val="0"/>
          </a:schemeClr>
        </a:solidFill>
        <a:ln w="12700" cap="flat" cmpd="sng" algn="ctr">
          <a:solidFill>
            <a:schemeClr val="accent2">
              <a:hueOff val="-1091522"/>
              <a:satOff val="-62946"/>
              <a:lumOff val="647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9525" rIns="9525" bIns="9525" numCol="1" spcCol="1270" anchor="ctr" anchorCtr="0">
          <a:noAutofit/>
        </a:bodyPr>
        <a:lstStyle/>
        <a:p>
          <a:pPr marL="114300" lvl="1" indent="-114300" algn="l" defTabSz="666750">
            <a:lnSpc>
              <a:spcPct val="150000"/>
            </a:lnSpc>
            <a:spcBef>
              <a:spcPct val="0"/>
            </a:spcBef>
            <a:spcAft>
              <a:spcPct val="15000"/>
            </a:spcAft>
            <a:buFont typeface="Wingdings" panose="05000000000000000000" pitchFamily="2" charset="2"/>
            <a:buChar char="••"/>
          </a:pPr>
          <a:r>
            <a:rPr lang="en-US" sz="1500" b="0" i="0" kern="1200" dirty="0" smtClean="0">
              <a:latin typeface="Helvetica" panose="020B0604020202020204" pitchFamily="34" charset="0"/>
              <a:cs typeface="Helvetica" panose="020B0604020202020204" pitchFamily="34" charset="0"/>
            </a:rPr>
            <a:t>Refers </a:t>
          </a:r>
          <a:r>
            <a:rPr lang="en-US" sz="1500" b="0" i="0" kern="1200" dirty="0">
              <a:latin typeface="Helvetica" panose="020B0604020202020204" pitchFamily="34" charset="0"/>
              <a:cs typeface="Helvetica" panose="020B0604020202020204" pitchFamily="34" charset="0"/>
            </a:rPr>
            <a:t>to the accuracy and reliability of data.</a:t>
          </a:r>
          <a:endParaRPr lang="en-US" sz="1500" kern="1200" dirty="0">
            <a:latin typeface="Helvetica" panose="020B0604020202020204" pitchFamily="34" charset="0"/>
            <a:cs typeface="Helvetica" panose="020B0604020202020204" pitchFamily="34" charset="0"/>
          </a:endParaRPr>
        </a:p>
        <a:p>
          <a:pPr marL="114300" lvl="1" indent="-114300" algn="l" defTabSz="666750">
            <a:lnSpc>
              <a:spcPct val="100000"/>
            </a:lnSpc>
            <a:spcBef>
              <a:spcPct val="0"/>
            </a:spcBef>
            <a:spcAft>
              <a:spcPct val="15000"/>
            </a:spcAft>
            <a:buFont typeface="Wingdings" panose="05000000000000000000" pitchFamily="2" charset="2"/>
            <a:buChar char="••"/>
          </a:pPr>
          <a:r>
            <a:rPr lang="en-US" sz="1500" b="0" i="0" kern="1200" dirty="0">
              <a:latin typeface="Helvetica" panose="020B0604020202020204" pitchFamily="34" charset="0"/>
              <a:cs typeface="Helvetica" panose="020B0604020202020204" pitchFamily="34" charset="0"/>
            </a:rPr>
            <a:t>Because big data comes in such great quantities and from various sources, it can contain noise or errors, which can lead to poor decision-making.</a:t>
          </a:r>
          <a:endParaRPr lang="en-US" sz="1500" kern="1200" dirty="0">
            <a:latin typeface="Helvetica" panose="020B0604020202020204" pitchFamily="34" charset="0"/>
            <a:cs typeface="Helvetica" panose="020B0604020202020204" pitchFamily="34" charset="0"/>
          </a:endParaRPr>
        </a:p>
      </dsp:txBody>
      <dsp:txXfrm rot="-5400000">
        <a:off x="845746" y="3624782"/>
        <a:ext cx="10698317" cy="708660"/>
      </dsp:txXfrm>
    </dsp:sp>
    <dsp:sp modelId="{72578F5C-9AB9-45A6-9BA7-240A0ECE9FBF}">
      <dsp:nvSpPr>
        <dsp:cNvPr id="0" name=""/>
        <dsp:cNvSpPr/>
      </dsp:nvSpPr>
      <dsp:spPr>
        <a:xfrm rot="5400000">
          <a:off x="-181231" y="4866134"/>
          <a:ext cx="1208207" cy="845745"/>
        </a:xfrm>
        <a:prstGeom prst="chevron">
          <a:avLst/>
        </a:prstGeom>
        <a:solidFill>
          <a:schemeClr val="accent2">
            <a:hueOff val="-1455363"/>
            <a:satOff val="-83928"/>
            <a:lumOff val="8628"/>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 tIns="9525" rIns="9525" bIns="9525" numCol="1" spcCol="1270" anchor="ctr" anchorCtr="0">
          <a:noAutofit/>
        </a:bodyPr>
        <a:lstStyle/>
        <a:p>
          <a:pPr lvl="0" algn="ctr" defTabSz="666750">
            <a:lnSpc>
              <a:spcPct val="150000"/>
            </a:lnSpc>
            <a:spcBef>
              <a:spcPct val="0"/>
            </a:spcBef>
            <a:spcAft>
              <a:spcPct val="35000"/>
            </a:spcAft>
            <a:buNone/>
          </a:pPr>
          <a:r>
            <a:rPr lang="en-US" sz="1500" b="1" i="0" u="sng" kern="1200" dirty="0">
              <a:latin typeface="Helvetica" panose="020B0604020202020204" pitchFamily="34" charset="0"/>
              <a:cs typeface="Helvetica" panose="020B0604020202020204" pitchFamily="34" charset="0"/>
            </a:rPr>
            <a:t>V</a:t>
          </a:r>
          <a:r>
            <a:rPr lang="en-US" sz="1500" b="0" i="0" kern="1200" dirty="0">
              <a:latin typeface="Helvetica" panose="020B0604020202020204" pitchFamily="34" charset="0"/>
              <a:cs typeface="Helvetica" panose="020B0604020202020204" pitchFamily="34" charset="0"/>
            </a:rPr>
            <a:t>alue</a:t>
          </a:r>
          <a:endParaRPr lang="en-US" sz="1500" kern="1200" dirty="0">
            <a:latin typeface="Helvetica" panose="020B0604020202020204" pitchFamily="34" charset="0"/>
            <a:cs typeface="Helvetica" panose="020B0604020202020204" pitchFamily="34" charset="0"/>
          </a:endParaRPr>
        </a:p>
      </dsp:txBody>
      <dsp:txXfrm rot="-5400000">
        <a:off x="1" y="5107776"/>
        <a:ext cx="845745" cy="362462"/>
      </dsp:txXfrm>
    </dsp:sp>
    <dsp:sp modelId="{067B1973-D832-41FA-80E8-0B0C883EFDE6}">
      <dsp:nvSpPr>
        <dsp:cNvPr id="0" name=""/>
        <dsp:cNvSpPr/>
      </dsp:nvSpPr>
      <dsp:spPr>
        <a:xfrm rot="5400000">
          <a:off x="5821405" y="-290756"/>
          <a:ext cx="785334" cy="10736654"/>
        </a:xfrm>
        <a:prstGeom prst="round2SameRect">
          <a:avLst/>
        </a:prstGeom>
        <a:solidFill>
          <a:schemeClr val="lt1">
            <a:alpha val="90000"/>
            <a:hueOff val="0"/>
            <a:satOff val="0"/>
            <a:lumOff val="0"/>
            <a:alphaOff val="0"/>
          </a:schemeClr>
        </a:solidFill>
        <a:ln w="12700" cap="flat" cmpd="sng" algn="ctr">
          <a:solidFill>
            <a:schemeClr val="accent2">
              <a:hueOff val="-1455363"/>
              <a:satOff val="-83928"/>
              <a:lumOff val="862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9525" rIns="9525" bIns="9525" numCol="1" spcCol="1270" anchor="ctr" anchorCtr="0">
          <a:noAutofit/>
        </a:bodyPr>
        <a:lstStyle/>
        <a:p>
          <a:pPr marL="114300" lvl="1" indent="-114300" algn="l" defTabSz="666750">
            <a:lnSpc>
              <a:spcPct val="150000"/>
            </a:lnSpc>
            <a:spcBef>
              <a:spcPct val="0"/>
            </a:spcBef>
            <a:spcAft>
              <a:spcPct val="15000"/>
            </a:spcAft>
            <a:buFont typeface="Wingdings" panose="05000000000000000000" pitchFamily="2" charset="2"/>
            <a:buChar char="••"/>
          </a:pPr>
          <a:r>
            <a:rPr lang="en-US" sz="1500" b="0" i="0" kern="1200" dirty="0" smtClean="0">
              <a:latin typeface="Helvetica" panose="020B0604020202020204" pitchFamily="34" charset="0"/>
              <a:cs typeface="Helvetica" panose="020B0604020202020204" pitchFamily="34" charset="0"/>
            </a:rPr>
            <a:t>Refers </a:t>
          </a:r>
          <a:r>
            <a:rPr lang="en-US" sz="1500" b="0" i="0" kern="1200" dirty="0">
              <a:latin typeface="Helvetica" panose="020B0604020202020204" pitchFamily="34" charset="0"/>
              <a:cs typeface="Helvetica" panose="020B0604020202020204" pitchFamily="34" charset="0"/>
            </a:rPr>
            <a:t>to the real-world benefits organizations can get from big data.</a:t>
          </a:r>
          <a:endParaRPr lang="en-US" sz="1500" kern="1200" dirty="0">
            <a:latin typeface="Helvetica" panose="020B0604020202020204" pitchFamily="34" charset="0"/>
            <a:cs typeface="Helvetica" panose="020B0604020202020204" pitchFamily="34" charset="0"/>
          </a:endParaRPr>
        </a:p>
        <a:p>
          <a:pPr marL="114300" lvl="1" indent="-114300" algn="l" defTabSz="666750">
            <a:lnSpc>
              <a:spcPct val="150000"/>
            </a:lnSpc>
            <a:spcBef>
              <a:spcPct val="0"/>
            </a:spcBef>
            <a:spcAft>
              <a:spcPct val="15000"/>
            </a:spcAft>
            <a:buFont typeface="Wingdings" panose="05000000000000000000" pitchFamily="2" charset="2"/>
            <a:buChar char="••"/>
          </a:pPr>
          <a:r>
            <a:rPr lang="en-US" sz="1500" b="0" i="0" kern="1200" dirty="0">
              <a:latin typeface="Helvetica" panose="020B0604020202020204" pitchFamily="34" charset="0"/>
              <a:cs typeface="Helvetica" panose="020B0604020202020204" pitchFamily="34" charset="0"/>
            </a:rPr>
            <a:t>These benefits include everything from optimizing business operations to identifying new marketing opportunities.</a:t>
          </a:r>
          <a:endParaRPr lang="en-US" sz="1500" kern="1200" dirty="0">
            <a:latin typeface="Helvetica" panose="020B0604020202020204" pitchFamily="34" charset="0"/>
            <a:cs typeface="Helvetica" panose="020B0604020202020204" pitchFamily="34" charset="0"/>
          </a:endParaRPr>
        </a:p>
      </dsp:txBody>
      <dsp:txXfrm rot="-5400000">
        <a:off x="845746" y="4723240"/>
        <a:ext cx="10698317" cy="708660"/>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2EAAB2-9271-4BDD-97AF-EBC135F5D5A0}" type="datetimeFigureOut">
              <a:rPr lang="en-US" smtClean="0"/>
              <a:t>1/21/2026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B1DED4-035E-4548-AB9E-F9B1FE638F58}" type="slidenum">
              <a:rPr lang="en-US" smtClean="0"/>
              <a:t>‹#›</a:t>
            </a:fld>
            <a:endParaRPr lang="en-US"/>
          </a:p>
        </p:txBody>
      </p:sp>
    </p:spTree>
    <p:extLst>
      <p:ext uri="{BB962C8B-B14F-4D97-AF65-F5344CB8AC3E}">
        <p14:creationId xmlns:p14="http://schemas.microsoft.com/office/powerpoint/2010/main" val="6308022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a:grayscl/>
            <a:extLst>
              <a:ext uri="{28A0092B-C50C-407E-A947-70E740481C1C}">
                <a14:useLocalDpi xmlns:a14="http://schemas.microsoft.com/office/drawing/2010/main" val="0"/>
              </a:ext>
            </a:extLst>
          </a:blip>
          <a:srcRect t="3186" b="1180"/>
          <a:stretch/>
        </p:blipFill>
        <p:spPr>
          <a:xfrm>
            <a:off x="1" y="0"/>
            <a:ext cx="12192000" cy="6858000"/>
          </a:xfrm>
          <a:prstGeom prst="rect">
            <a:avLst/>
          </a:prstGeom>
          <a:ln>
            <a:noFill/>
          </a:ln>
        </p:spPr>
        <p:style>
          <a:lnRef idx="2">
            <a:schemeClr val="dk1"/>
          </a:lnRef>
          <a:fillRef idx="1">
            <a:schemeClr val="lt1"/>
          </a:fillRef>
          <a:effectRef idx="0">
            <a:schemeClr val="dk1"/>
          </a:effectRef>
          <a:fontRef idx="minor">
            <a:schemeClr val="dk1"/>
          </a:fontRef>
        </p:style>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9144441" cy="6858331"/>
          </a:xfrm>
          <a:prstGeom prst="rect">
            <a:avLst/>
          </a:prstGeom>
          <a:noFill/>
          <a:ln>
            <a:noFill/>
          </a:ln>
        </p:spPr>
      </p:pic>
      <p:pic>
        <p:nvPicPr>
          <p:cNvPr id="9" name="Picture 8"/>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514600" y="2550646"/>
            <a:ext cx="9680189" cy="1792754"/>
          </a:xfrm>
          <a:prstGeom prst="rect">
            <a:avLst/>
          </a:prstGeom>
        </p:spPr>
      </p:pic>
      <p:pic>
        <p:nvPicPr>
          <p:cNvPr id="10" name="Picture 9"/>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 y="-447353"/>
            <a:ext cx="10744203" cy="8058153"/>
          </a:xfrm>
          <a:prstGeom prst="rect">
            <a:avLst/>
          </a:prstGeom>
          <a:noFill/>
          <a:ln>
            <a:noFill/>
          </a:ln>
        </p:spPr>
      </p:pic>
      <p:sp>
        <p:nvSpPr>
          <p:cNvPr id="2" name="Title 1"/>
          <p:cNvSpPr>
            <a:spLocks noGrp="1"/>
          </p:cNvSpPr>
          <p:nvPr>
            <p:ph type="ctrTitle" hasCustomPrompt="1"/>
          </p:nvPr>
        </p:nvSpPr>
        <p:spPr>
          <a:xfrm>
            <a:off x="4572000" y="2549769"/>
            <a:ext cx="7330831" cy="1600725"/>
          </a:xfrm>
        </p:spPr>
        <p:txBody>
          <a:bodyPr anchor="ctr">
            <a:normAutofit/>
          </a:bodyPr>
          <a:lstStyle>
            <a:lvl1pPr algn="r">
              <a:defRPr sz="3200" b="1">
                <a:solidFill>
                  <a:schemeClr val="bg1"/>
                </a:solidFill>
                <a:latin typeface="Helvetica" panose="020B0604020202030204" pitchFamily="34" charset="0"/>
              </a:defRPr>
            </a:lvl1pPr>
          </a:lstStyle>
          <a:p>
            <a:r>
              <a:rPr lang="en-US" dirty="0"/>
              <a:t>Click to edit Course title</a:t>
            </a:r>
          </a:p>
        </p:txBody>
      </p:sp>
      <p:sp>
        <p:nvSpPr>
          <p:cNvPr id="3" name="Subtitle 2"/>
          <p:cNvSpPr>
            <a:spLocks noGrp="1"/>
          </p:cNvSpPr>
          <p:nvPr>
            <p:ph type="subTitle" idx="1" hasCustomPrompt="1"/>
          </p:nvPr>
        </p:nvSpPr>
        <p:spPr>
          <a:xfrm>
            <a:off x="5908431" y="4452630"/>
            <a:ext cx="5994400" cy="343327"/>
          </a:xfrm>
        </p:spPr>
        <p:txBody>
          <a:bodyPr anchor="ctr">
            <a:normAutofit/>
          </a:bodyPr>
          <a:lstStyle>
            <a:lvl1pPr marL="0" indent="0" algn="r">
              <a:buNone/>
              <a:defRPr sz="1700" b="1">
                <a:solidFill>
                  <a:srgbClr val="1C1573"/>
                </a:solidFill>
                <a:latin typeface="Helvetica" panose="020B0604020202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dirty="0"/>
              <a:t>Click to edit SME’s name</a:t>
            </a:r>
          </a:p>
        </p:txBody>
      </p:sp>
      <p:pic>
        <p:nvPicPr>
          <p:cNvPr id="11" name="Picture 10"/>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8523299" y="896875"/>
            <a:ext cx="3096631" cy="1084325"/>
          </a:xfrm>
          <a:prstGeom prst="rect">
            <a:avLst/>
          </a:prstGeom>
          <a:noFill/>
          <a:ln>
            <a:noFill/>
          </a:ln>
        </p:spPr>
      </p:pic>
      <p:pic>
        <p:nvPicPr>
          <p:cNvPr id="12" name="Picture 11"/>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6778116" y="4800600"/>
            <a:ext cx="5124715" cy="21336"/>
          </a:xfrm>
          <a:prstGeom prst="rect">
            <a:avLst/>
          </a:prstGeom>
        </p:spPr>
      </p:pic>
      <p:sp>
        <p:nvSpPr>
          <p:cNvPr id="22" name="Text Placeholder 21"/>
          <p:cNvSpPr>
            <a:spLocks noGrp="1"/>
          </p:cNvSpPr>
          <p:nvPr>
            <p:ph type="body" sz="quarter" idx="14"/>
          </p:nvPr>
        </p:nvSpPr>
        <p:spPr>
          <a:xfrm>
            <a:off x="5189412" y="4826977"/>
            <a:ext cx="6713419" cy="1108563"/>
          </a:xfrm>
        </p:spPr>
        <p:txBody>
          <a:bodyPr>
            <a:normAutofit/>
          </a:bodyPr>
          <a:lstStyle>
            <a:lvl1pPr marL="0" indent="0" algn="r">
              <a:spcBef>
                <a:spcPts val="0"/>
              </a:spcBef>
              <a:buNone/>
              <a:defRPr sz="1700">
                <a:solidFill>
                  <a:srgbClr val="1C1573"/>
                </a:solidFill>
                <a:latin typeface="Helvetica" panose="020B0604020202030204" pitchFamily="34" charset="0"/>
              </a:defRPr>
            </a:lvl1pPr>
          </a:lstStyle>
          <a:p>
            <a:pPr lvl="0"/>
            <a:r>
              <a:rPr lang="en-US" dirty="0"/>
              <a:t>Click to edit </a:t>
            </a:r>
          </a:p>
          <a:p>
            <a:pPr lvl="0"/>
            <a:r>
              <a:rPr lang="en-US" dirty="0"/>
              <a:t>text</a:t>
            </a:r>
          </a:p>
        </p:txBody>
      </p:sp>
    </p:spTree>
    <p:extLst>
      <p:ext uri="{BB962C8B-B14F-4D97-AF65-F5344CB8AC3E}">
        <p14:creationId xmlns:p14="http://schemas.microsoft.com/office/powerpoint/2010/main" val="1661812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in)">
                                      <p:cBhvr>
                                        <p:cTn id="7" dur="1200"/>
                                        <p:tgtEl>
                                          <p:spTgt spid="8"/>
                                        </p:tgtEl>
                                      </p:cBhvr>
                                    </p:animEffect>
                                  </p:childTnLst>
                                </p:cTn>
                              </p:par>
                            </p:childTnLst>
                          </p:cTn>
                        </p:par>
                        <p:par>
                          <p:cTn id="8" fill="hold">
                            <p:stCondLst>
                              <p:cond delay="1200"/>
                            </p:stCondLst>
                            <p:childTnLst>
                              <p:par>
                                <p:cTn id="9" presetID="20" presetClass="entr" presetSubtype="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edge">
                                      <p:cBhvr>
                                        <p:cTn id="11" dur="1300"/>
                                        <p:tgtEl>
                                          <p:spTgt spid="10"/>
                                        </p:tgtEl>
                                      </p:cBhvr>
                                    </p:animEffect>
                                  </p:childTnLst>
                                </p:cTn>
                              </p:par>
                            </p:childTnLst>
                          </p:cTn>
                        </p:par>
                        <p:par>
                          <p:cTn id="12" fill="hold">
                            <p:stCondLst>
                              <p:cond delay="2500"/>
                            </p:stCondLst>
                            <p:childTnLst>
                              <p:par>
                                <p:cTn id="13" presetID="10" presetClass="entr" presetSubtype="0" fill="hold"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500"/>
                                        <p:tgtEl>
                                          <p:spTgt spid="11"/>
                                        </p:tgtEl>
                                      </p:cBhvr>
                                    </p:animEffect>
                                  </p:childTnLst>
                                </p:cTn>
                              </p:par>
                            </p:childTnLst>
                          </p:cTn>
                        </p:par>
                        <p:par>
                          <p:cTn id="16" fill="hold">
                            <p:stCondLst>
                              <p:cond delay="3000"/>
                            </p:stCondLst>
                            <p:childTnLst>
                              <p:par>
                                <p:cTn id="17" presetID="22" presetClass="entr" presetSubtype="8" fill="hold"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500"/>
                                        <p:tgtEl>
                                          <p:spTgt spid="12"/>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fade">
                                      <p:cBhvr>
                                        <p:cTn id="26" dur="500"/>
                                        <p:tgtEl>
                                          <p:spTgt spid="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0" end="0"/>
                                            </p:txEl>
                                          </p:spTgt>
                                        </p:tgtEl>
                                        <p:attrNameLst>
                                          <p:attrName>style.visibility</p:attrName>
                                        </p:attrNameLst>
                                      </p:cBhvr>
                                      <p:to>
                                        <p:strVal val="visible"/>
                                      </p:to>
                                    </p:set>
                                    <p:animEffect transition="in" filter="fade">
                                      <p:cBhvr>
                                        <p:cTn id="29" dur="500"/>
                                        <p:tgtEl>
                                          <p:spTgt spid="3">
                                            <p:txEl>
                                              <p:pRg st="0" end="0"/>
                                            </p:txEl>
                                          </p:spTgt>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22">
                                            <p:txEl>
                                              <p:pRg st="0" end="0"/>
                                            </p:txEl>
                                          </p:spTgt>
                                        </p:tgtEl>
                                        <p:attrNameLst>
                                          <p:attrName>style.visibility</p:attrName>
                                        </p:attrNameLst>
                                      </p:cBhvr>
                                      <p:to>
                                        <p:strVal val="visible"/>
                                      </p:to>
                                    </p:set>
                                    <p:animEffect transition="in" filter="fade">
                                      <p:cBhvr>
                                        <p:cTn id="32" dur="500"/>
                                        <p:tgtEl>
                                          <p:spTgt spid="22">
                                            <p:txEl>
                                              <p:pRg st="0" end="0"/>
                                            </p:txEl>
                                          </p:spTgt>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2">
                                            <p:txEl>
                                              <p:pRg st="1" end="1"/>
                                            </p:txEl>
                                          </p:spTgt>
                                        </p:tgtEl>
                                        <p:attrNameLst>
                                          <p:attrName>style.visibility</p:attrName>
                                        </p:attrNameLst>
                                      </p:cBhvr>
                                      <p:to>
                                        <p:strVal val="visible"/>
                                      </p:to>
                                    </p:set>
                                    <p:animEffect transition="in" filter="fade">
                                      <p:cBhvr>
                                        <p:cTn id="35" dur="500"/>
                                        <p:tgtEl>
                                          <p:spTgt spid="2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P spid="22" grpId="0" build="p">
        <p:tmplLst>
          <p:tmpl lvl="1">
            <p:tnLst>
              <p:par>
                <p:cTn presetID="10" presetClass="entr" presetSubtype="0" fill="hold" nodeType="withEffect">
                  <p:stCondLst>
                    <p:cond delay="0"/>
                  </p:stCondLst>
                  <p:childTnLst>
                    <p:set>
                      <p:cBhvr>
                        <p:cTn dur="1" fill="hold">
                          <p:stCondLst>
                            <p:cond delay="0"/>
                          </p:stCondLst>
                        </p:cTn>
                        <p:tgtEl>
                          <p:spTgt spid="22"/>
                        </p:tgtEl>
                        <p:attrNameLst>
                          <p:attrName>style.visibility</p:attrName>
                        </p:attrNameLst>
                      </p:cBhvr>
                      <p:to>
                        <p:strVal val="visible"/>
                      </p:to>
                    </p:set>
                    <p:animEffect transition="in" filter="fade">
                      <p:cBhvr>
                        <p:cTn dur="500"/>
                        <p:tgtEl>
                          <p:spTgt spid="22"/>
                        </p:tgtEl>
                      </p:cBhvr>
                    </p:animEffect>
                  </p:childTnLst>
                </p:cTn>
              </p:par>
            </p:tnLst>
          </p:tmpl>
        </p:tmplLst>
      </p:bldP>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6" name="Picture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743335" y="2482116"/>
            <a:ext cx="8848465" cy="2130566"/>
          </a:xfrm>
          <a:prstGeom prst="rect">
            <a:avLst/>
          </a:prstGeom>
        </p:spPr>
      </p:pic>
      <p:sp>
        <p:nvSpPr>
          <p:cNvPr id="7" name="Title 1"/>
          <p:cNvSpPr txBox="1">
            <a:spLocks/>
          </p:cNvSpPr>
          <p:nvPr userDrawn="1"/>
        </p:nvSpPr>
        <p:spPr>
          <a:xfrm>
            <a:off x="1831508" y="2575123"/>
            <a:ext cx="8666988" cy="1936878"/>
          </a:xfrm>
          <a:prstGeom prst="rect">
            <a:avLst/>
          </a:prstGeom>
        </p:spPr>
        <p:txBody>
          <a:bodyPr vert="horz" lIns="91440" tIns="45720" rIns="91440" bIns="45720" rtlCol="0" anchor="ctr">
            <a:normAutofit/>
          </a:bodyPr>
          <a:lstStyle>
            <a:lvl1pPr algn="r" defTabSz="685800" rtl="0" eaLnBrk="1" latinLnBrk="0" hangingPunct="1">
              <a:lnSpc>
                <a:spcPct val="90000"/>
              </a:lnSpc>
              <a:spcBef>
                <a:spcPct val="0"/>
              </a:spcBef>
              <a:buNone/>
              <a:defRPr sz="3200" b="1" kern="1200">
                <a:solidFill>
                  <a:schemeClr val="bg1"/>
                </a:solidFill>
                <a:latin typeface="Helvetica" panose="020B0604020202030204" pitchFamily="34" charset="0"/>
                <a:ea typeface="+mj-ea"/>
                <a:cs typeface="+mj-cs"/>
              </a:defRPr>
            </a:lvl1pPr>
          </a:lstStyle>
          <a:p>
            <a:pPr algn="ctr"/>
            <a:r>
              <a:rPr lang="en-US" sz="3600" dirty="0"/>
              <a:t>Click to edit Session title</a:t>
            </a:r>
          </a:p>
        </p:txBody>
      </p:sp>
    </p:spTree>
    <p:extLst>
      <p:ext uri="{BB962C8B-B14F-4D97-AF65-F5344CB8AC3E}">
        <p14:creationId xmlns:p14="http://schemas.microsoft.com/office/powerpoint/2010/main" val="1461970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160569"/>
            <a:ext cx="10668000" cy="764364"/>
          </a:xfrm>
          <a:prstGeom prst="rect">
            <a:avLst/>
          </a:prstGeom>
        </p:spPr>
      </p:pic>
      <p:sp>
        <p:nvSpPr>
          <p:cNvPr id="2" name="Title 1"/>
          <p:cNvSpPr>
            <a:spLocks noGrp="1"/>
          </p:cNvSpPr>
          <p:nvPr>
            <p:ph type="title"/>
          </p:nvPr>
        </p:nvSpPr>
        <p:spPr>
          <a:xfrm>
            <a:off x="838200" y="160569"/>
            <a:ext cx="9321800" cy="764364"/>
          </a:xfrm>
        </p:spPr>
        <p:txBody>
          <a:bodyPr>
            <a:normAutofit/>
          </a:bodyPr>
          <a:lstStyle>
            <a:lvl1pPr>
              <a:defRPr sz="32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857739" y="1600201"/>
            <a:ext cx="10160000" cy="2728913"/>
          </a:xfrm>
        </p:spPr>
        <p:txBody>
          <a:bodyPr/>
          <a:lstStyle>
            <a:lvl1pPr>
              <a:defRPr sz="1800">
                <a:latin typeface="Helvetica" panose="020B0604020202030204" pitchFamily="34" charset="0"/>
              </a:defRPr>
            </a:lvl1pPr>
            <a:lvl2pPr>
              <a:defRPr sz="1600">
                <a:latin typeface="Helvetica" panose="020B0604020202030204" pitchFamily="34" charset="0"/>
              </a:defRPr>
            </a:lvl2pPr>
            <a:lvl3pPr>
              <a:defRPr sz="1400">
                <a:latin typeface="Helvetica" panose="020B0604020202030204" pitchFamily="34" charset="0"/>
              </a:defRPr>
            </a:lvl3pPr>
            <a:lvl4pPr>
              <a:defRPr sz="1200">
                <a:latin typeface="Helvetica" panose="020B0604020202030204" pitchFamily="34" charset="0"/>
              </a:defRPr>
            </a:lvl4pPr>
            <a:lvl5pPr>
              <a:defRPr sz="1200">
                <a:latin typeface="Helvetica" panose="020B0604020202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14"/>
          </p:nvPr>
        </p:nvSpPr>
        <p:spPr>
          <a:xfrm>
            <a:off x="329247" y="1143001"/>
            <a:ext cx="11196956" cy="395287"/>
          </a:xfrm>
        </p:spPr>
        <p:txBody>
          <a:bodyPr>
            <a:normAutofit/>
          </a:bodyPr>
          <a:lstStyle>
            <a:lvl1pPr marL="0" indent="0">
              <a:buNone/>
              <a:defRPr sz="20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dirty="0"/>
              <a:t>Click to edit Master text styles</a:t>
            </a:r>
          </a:p>
        </p:txBody>
      </p:sp>
    </p:spTree>
    <p:extLst>
      <p:ext uri="{BB962C8B-B14F-4D97-AF65-F5344CB8AC3E}">
        <p14:creationId xmlns:p14="http://schemas.microsoft.com/office/powerpoint/2010/main" val="13615429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4750810" y="2223656"/>
            <a:ext cx="2690381" cy="2729344"/>
          </a:xfrm>
          <a:prstGeom prst="rect">
            <a:avLst/>
          </a:prstGeom>
        </p:spPr>
      </p:pic>
      <p:sp>
        <p:nvSpPr>
          <p:cNvPr id="2" name="Title 1"/>
          <p:cNvSpPr>
            <a:spLocks noGrp="1"/>
          </p:cNvSpPr>
          <p:nvPr>
            <p:ph type="title"/>
          </p:nvPr>
        </p:nvSpPr>
        <p:spPr>
          <a:xfrm>
            <a:off x="831850" y="1709738"/>
            <a:ext cx="10515600" cy="2852737"/>
          </a:xfrm>
        </p:spPr>
        <p:txBody>
          <a:bodyPr anchor="b">
            <a:normAutofit/>
          </a:bodyPr>
          <a:lstStyle>
            <a:lvl1pPr algn="r">
              <a:defRPr sz="5400" b="1">
                <a:solidFill>
                  <a:srgbClr val="150860"/>
                </a:solidFill>
                <a:latin typeface="Helvetica"/>
                <a:cs typeface="Helvetica"/>
              </a:defRPr>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lgn="r">
              <a:buNone/>
              <a:defRPr sz="2400" b="0" i="0">
                <a:solidFill>
                  <a:schemeClr val="tx1">
                    <a:tint val="75000"/>
                  </a:schemeClr>
                </a:solidFill>
                <a:latin typeface="Helvetica Light"/>
                <a:cs typeface="Helvetica Ligh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12192000" cy="40580"/>
          </a:xfrm>
          <a:prstGeom prst="rect">
            <a:avLst/>
          </a:prstGeom>
        </p:spPr>
      </p:pic>
    </p:spTree>
    <p:extLst>
      <p:ext uri="{BB962C8B-B14F-4D97-AF65-F5344CB8AC3E}">
        <p14:creationId xmlns:p14="http://schemas.microsoft.com/office/powerpoint/2010/main" val="375068714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46184519"/>
      </p:ext>
    </p:extLst>
  </p:cSld>
  <p:clrMap bg1="lt1" tx1="dk1" bg2="lt2" tx2="dk2" accent1="accent1" accent2="accent2" accent3="accent3" accent4="accent4" accent5="accent5" accent6="accent6" hlink="hlink" folHlink="folHlink"/>
  <p:sldLayoutIdLst>
    <p:sldLayoutId id="2147483738" r:id="rId1"/>
    <p:sldLayoutId id="2147483729" r:id="rId2"/>
    <p:sldLayoutId id="2147483739" r:id="rId3"/>
    <p:sldLayoutId id="2147483740"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hyperlink" Target="https://www.datacamp.com/tutorial/normalization-in-sql" TargetMode="Externa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hyperlink" Target="https://www.forbes.com/sites/sap/2015/02/19/how-big-data-keeps-planes-in-the-air/" TargetMode="External"/><Relationship Id="rId1" Type="http://schemas.openxmlformats.org/officeDocument/2006/relationships/slideLayout" Target="../slideLayouts/slideLayout3.xml"/><Relationship Id="rId4" Type="http://schemas.openxmlformats.org/officeDocument/2006/relationships/hyperlink" Target="https://www.ibm.com/think/topics/data" TargetMode="External"/></Relationships>
</file>

<file path=ppt/slides/_rels/slide36.xml.rels><?xml version="1.0" encoding="UTF-8" standalone="yes"?>
<Relationships xmlns="http://schemas.openxmlformats.org/package/2006/relationships"><Relationship Id="rId3" Type="http://schemas.openxmlformats.org/officeDocument/2006/relationships/hyperlink" Target="https://www.ibm.com/think/topics/structured-query-language" TargetMode="External"/><Relationship Id="rId2" Type="http://schemas.openxmlformats.org/officeDocument/2006/relationships/hyperlink" Target="https://www.ibm.com/topics/relational-databases" TargetMode="External"/><Relationship Id="rId1" Type="http://schemas.openxmlformats.org/officeDocument/2006/relationships/slideLayout" Target="../slideLayouts/slideLayout3.xml"/><Relationship Id="rId6" Type="http://schemas.openxmlformats.org/officeDocument/2006/relationships/hyperlink" Target="https://www.ibm.com/topics/data-visualization" TargetMode="External"/><Relationship Id="rId5" Type="http://schemas.openxmlformats.org/officeDocument/2006/relationships/hyperlink" Target="https://www.ibm.com/topics/data-mining" TargetMode="External"/><Relationship Id="rId4" Type="http://schemas.openxmlformats.org/officeDocument/2006/relationships/hyperlink" Target="https://www.ibm.com/think/topics/structured-vs-unstructured-data" TargetMode="Externa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hyperlink" Target="https://en.wikipedia.org/wiki/MapReduce" TargetMode="Externa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hyperlink" Target="https://www.researchgate.net/figure/Schematic-drawings-of-centralised-decentralised-and-hybrid-data-pooling-models-A_fig3_269170886" TargetMode="External"/><Relationship Id="rId7" Type="http://schemas.openxmlformats.org/officeDocument/2006/relationships/hyperlink" Target="https://learn.microsoft.com/en-us/azure/architecture/databases/guide/big-data-architectures" TargetMode="External"/><Relationship Id="rId2" Type="http://schemas.openxmlformats.org/officeDocument/2006/relationships/hyperlink" Target="https://www.mckinsey.com/capabilities/mckinsey-digital/our-insights/tech-forward/revisiting-data-architecture-for-next-gen-data-products" TargetMode="External"/><Relationship Id="rId1" Type="http://schemas.openxmlformats.org/officeDocument/2006/relationships/slideLayout" Target="../slideLayouts/slideLayout3.xml"/><Relationship Id="rId6" Type="http://schemas.openxmlformats.org/officeDocument/2006/relationships/hyperlink" Target="https://www.ibm.com/think/topics/big-data" TargetMode="External"/><Relationship Id="rId5" Type="http://schemas.openxmlformats.org/officeDocument/2006/relationships/hyperlink" Target="https://www.kai-waehner.de/blog/2021/09/23/real-time-kappa-architecture-mainstream-replacing-batch-lambda/" TargetMode="External"/><Relationship Id="rId4" Type="http://schemas.openxmlformats.org/officeDocument/2006/relationships/hyperlink" Target="https://www.linkedin.com/pulse/whats-data-lake-warehouse-house-mesh-right-you-your-rohit-yadav/"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3973663" y="2532184"/>
            <a:ext cx="8245231" cy="1793631"/>
          </a:xfrm>
        </p:spPr>
        <p:txBody>
          <a:bodyPr/>
          <a:lstStyle/>
          <a:p>
            <a:r>
              <a:rPr lang="en-US" dirty="0"/>
              <a:t>Data Architectures</a:t>
            </a:r>
          </a:p>
        </p:txBody>
      </p:sp>
      <p:sp>
        <p:nvSpPr>
          <p:cNvPr id="6" name="Subtitle 5"/>
          <p:cNvSpPr>
            <a:spLocks noGrp="1"/>
          </p:cNvSpPr>
          <p:nvPr>
            <p:ph type="subTitle" idx="1"/>
          </p:nvPr>
        </p:nvSpPr>
        <p:spPr/>
        <p:txBody>
          <a:bodyPr/>
          <a:lstStyle/>
          <a:p>
            <a:r>
              <a:rPr lang="en-US" sz="1800" dirty="0" smtClean="0">
                <a:solidFill>
                  <a:srgbClr val="211D71"/>
                </a:solidFill>
              </a:rPr>
              <a:t>Sunil </a:t>
            </a:r>
            <a:r>
              <a:rPr lang="en-US" sz="1800" dirty="0" err="1" smtClean="0">
                <a:solidFill>
                  <a:srgbClr val="211D71"/>
                </a:solidFill>
              </a:rPr>
              <a:t>Bhutada</a:t>
            </a:r>
            <a:endParaRPr lang="en-US" sz="1800" dirty="0">
              <a:solidFill>
                <a:srgbClr val="211D71"/>
              </a:solidFill>
            </a:endParaRPr>
          </a:p>
        </p:txBody>
      </p:sp>
    </p:spTree>
    <p:extLst>
      <p:ext uri="{BB962C8B-B14F-4D97-AF65-F5344CB8AC3E}">
        <p14:creationId xmlns:p14="http://schemas.microsoft.com/office/powerpoint/2010/main" val="37972548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Agenda</a:t>
            </a:r>
          </a:p>
        </p:txBody>
      </p:sp>
      <p:sp>
        <p:nvSpPr>
          <p:cNvPr id="3" name="Text Placeholder 2"/>
          <p:cNvSpPr>
            <a:spLocks noGrp="1"/>
          </p:cNvSpPr>
          <p:nvPr>
            <p:ph type="body" sz="quarter" idx="13"/>
          </p:nvPr>
        </p:nvSpPr>
        <p:spPr>
          <a:xfrm>
            <a:off x="533400" y="1524000"/>
            <a:ext cx="6553200" cy="4152900"/>
          </a:xfrm>
        </p:spPr>
        <p:txBody>
          <a:bodyPr>
            <a:normAutofit/>
          </a:bodyPr>
          <a:lstStyle/>
          <a:p>
            <a:pPr marL="533400" indent="-533400">
              <a:buFont typeface="Wingdings" panose="05000000000000000000" pitchFamily="2" charset="2"/>
              <a:buChar char="Ø"/>
            </a:pPr>
            <a:r>
              <a:rPr lang="en-US" dirty="0" smtClean="0"/>
              <a:t>Introduction</a:t>
            </a:r>
          </a:p>
          <a:p>
            <a:pPr marL="533400" indent="-533400">
              <a:buFont typeface="Wingdings" panose="05000000000000000000" pitchFamily="2" charset="2"/>
              <a:buChar char="Ø"/>
            </a:pPr>
            <a:endParaRPr lang="en-US" dirty="0"/>
          </a:p>
          <a:p>
            <a:pPr marL="533400" indent="-533400">
              <a:buFont typeface="Wingdings" panose="05000000000000000000" pitchFamily="2" charset="2"/>
              <a:buChar char="Ø"/>
            </a:pPr>
            <a:r>
              <a:rPr lang="en-US" dirty="0" smtClean="0"/>
              <a:t>Categorization</a:t>
            </a:r>
          </a:p>
          <a:p>
            <a:pPr marL="533400" indent="-533400">
              <a:buFont typeface="Wingdings" panose="05000000000000000000" pitchFamily="2" charset="2"/>
              <a:buChar char="Ø"/>
            </a:pPr>
            <a:endParaRPr lang="en-US" dirty="0"/>
          </a:p>
          <a:p>
            <a:pPr marL="533400" indent="-533400">
              <a:buFont typeface="Wingdings" panose="05000000000000000000" pitchFamily="2" charset="2"/>
              <a:buChar char="Ø"/>
            </a:pPr>
            <a:r>
              <a:rPr lang="en-US" dirty="0"/>
              <a:t>Generalized Architecture of Big Data </a:t>
            </a:r>
            <a:r>
              <a:rPr lang="en-US" dirty="0" smtClean="0"/>
              <a:t>Systems</a:t>
            </a:r>
          </a:p>
          <a:p>
            <a:pPr marL="533400" indent="-533400">
              <a:buFont typeface="Wingdings" panose="05000000000000000000" pitchFamily="2" charset="2"/>
              <a:buChar char="Ø"/>
            </a:pPr>
            <a:endParaRPr lang="en-US" dirty="0"/>
          </a:p>
          <a:p>
            <a:pPr marL="533400" indent="-533400">
              <a:buFont typeface="Wingdings" panose="05000000000000000000" pitchFamily="2" charset="2"/>
              <a:buChar char="Ø"/>
            </a:pPr>
            <a:r>
              <a:rPr lang="en-US" dirty="0"/>
              <a:t>Lambda &amp; Kappa for Big Data Systems</a:t>
            </a:r>
          </a:p>
          <a:p>
            <a:pPr marL="533400" indent="-533400">
              <a:buFont typeface="Wingdings" panose="05000000000000000000" pitchFamily="2" charset="2"/>
              <a:buChar char="Ø"/>
            </a:pPr>
            <a:endParaRPr lang="en-US" dirty="0"/>
          </a:p>
          <a:p>
            <a:pPr marL="533400" indent="-533400">
              <a:buFont typeface="Wingdings" panose="05000000000000000000" pitchFamily="2" charset="2"/>
              <a:buChar char="Ø"/>
            </a:pPr>
            <a:endParaRPr lang="en-US" dirty="0"/>
          </a:p>
          <a:p>
            <a:pPr marL="533400" indent="-533400">
              <a:buFont typeface="Wingdings" panose="05000000000000000000" pitchFamily="2" charset="2"/>
              <a:buChar char="Ø"/>
            </a:pPr>
            <a:endParaRPr lang="en-US" dirty="0"/>
          </a:p>
        </p:txBody>
      </p:sp>
    </p:spTree>
    <p:extLst>
      <p:ext uri="{BB962C8B-B14F-4D97-AF65-F5344CB8AC3E}">
        <p14:creationId xmlns:p14="http://schemas.microsoft.com/office/powerpoint/2010/main" val="184748108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F77CC-7EF2-5670-78EA-310BDD27EE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766A91-0CE3-B19D-BD45-6B5C3AF5725C}"/>
              </a:ext>
            </a:extLst>
          </p:cNvPr>
          <p:cNvSpPr>
            <a:spLocks noGrp="1"/>
          </p:cNvSpPr>
          <p:nvPr>
            <p:ph type="title"/>
          </p:nvPr>
        </p:nvSpPr>
        <p:spPr>
          <a:xfrm>
            <a:off x="831850" y="1709738"/>
            <a:ext cx="10515600" cy="2852737"/>
          </a:xfrm>
        </p:spPr>
        <p:txBody>
          <a:bodyPr anchor="b">
            <a:normAutofit/>
          </a:bodyPr>
          <a:lstStyle/>
          <a:p>
            <a:r>
              <a:rPr lang="en-US" dirty="0"/>
              <a:t>Introduction</a:t>
            </a:r>
          </a:p>
        </p:txBody>
      </p:sp>
    </p:spTree>
    <p:extLst>
      <p:ext uri="{BB962C8B-B14F-4D97-AF65-F5344CB8AC3E}">
        <p14:creationId xmlns:p14="http://schemas.microsoft.com/office/powerpoint/2010/main" val="104077709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5085B-3083-BD15-E39D-6F02A3F6D8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3761B2-2F33-20C3-A9B9-DD4369451C74}"/>
              </a:ext>
            </a:extLst>
          </p:cNvPr>
          <p:cNvSpPr>
            <a:spLocks noGrp="1"/>
          </p:cNvSpPr>
          <p:nvPr>
            <p:ph type="title"/>
          </p:nvPr>
        </p:nvSpPr>
        <p:spPr/>
        <p:txBody>
          <a:bodyPr/>
          <a:lstStyle/>
          <a:p>
            <a:r>
              <a:rPr lang="en-US" dirty="0"/>
              <a:t>Definitions</a:t>
            </a:r>
          </a:p>
        </p:txBody>
      </p:sp>
      <p:sp>
        <p:nvSpPr>
          <p:cNvPr id="3" name="TextBox 2">
            <a:extLst>
              <a:ext uri="{FF2B5EF4-FFF2-40B4-BE49-F238E27FC236}">
                <a16:creationId xmlns:a16="http://schemas.microsoft.com/office/drawing/2014/main" id="{100D1426-DABE-F57C-0CCF-85D53257D701}"/>
              </a:ext>
            </a:extLst>
          </p:cNvPr>
          <p:cNvSpPr txBox="1"/>
          <p:nvPr/>
        </p:nvSpPr>
        <p:spPr>
          <a:xfrm>
            <a:off x="91888" y="956309"/>
            <a:ext cx="12008224" cy="4662815"/>
          </a:xfrm>
          <a:prstGeom prst="rect">
            <a:avLst/>
          </a:prstGeom>
          <a:noFill/>
        </p:spPr>
        <p:txBody>
          <a:bodyPr wrap="square" rtlCol="0">
            <a:spAutoFit/>
          </a:bodyPr>
          <a:lstStyle/>
          <a:p>
            <a:pPr algn="just">
              <a:lnSpc>
                <a:spcPct val="150000"/>
              </a:lnSpc>
            </a:pPr>
            <a:r>
              <a:rPr lang="en-US" b="1" u="sng" dirty="0" smtClean="0">
                <a:latin typeface="Helvetica" panose="020B0604020202020204" pitchFamily="34" charset="0"/>
                <a:cs typeface="Helvetica" panose="020B0604020202020204" pitchFamily="34" charset="0"/>
              </a:rPr>
              <a:t>TOGAF </a:t>
            </a:r>
            <a:r>
              <a:rPr lang="en-US" u="sng" dirty="0" smtClean="0">
                <a:latin typeface="Helvetica" panose="020B0604020202020204" pitchFamily="34" charset="0"/>
                <a:cs typeface="Helvetica" panose="020B0604020202020204" pitchFamily="34" charset="0"/>
              </a:rPr>
              <a:t>(The Open Group Architectural Framework)</a:t>
            </a:r>
            <a:endParaRPr lang="en-US" u="sng" dirty="0">
              <a:latin typeface="Helvetica" panose="020B0604020202020204" pitchFamily="34" charset="0"/>
              <a:cs typeface="Helvetica" panose="020B0604020202020204" pitchFamily="34" charset="0"/>
            </a:endParaRPr>
          </a:p>
          <a:p>
            <a:pPr algn="just"/>
            <a:r>
              <a:rPr lang="en-US" dirty="0">
                <a:latin typeface="Helvetica" panose="020B0604020202020204" pitchFamily="34" charset="0"/>
                <a:cs typeface="Helvetica" panose="020B0604020202020204" pitchFamily="34" charset="0"/>
              </a:rPr>
              <a:t>A description of the structure and interaction of the enterprise’s major types and sources of data, logical data assets, physical data assets, and data management resources</a:t>
            </a:r>
          </a:p>
          <a:p>
            <a:pPr algn="just">
              <a:lnSpc>
                <a:spcPct val="150000"/>
              </a:lnSpc>
            </a:pPr>
            <a:endParaRPr lang="en-US" b="1" u="sng" dirty="0">
              <a:latin typeface="Helvetica" panose="020B0604020202020204" pitchFamily="34" charset="0"/>
              <a:cs typeface="Helvetica" panose="020B0604020202020204" pitchFamily="34" charset="0"/>
            </a:endParaRPr>
          </a:p>
          <a:p>
            <a:pPr algn="just">
              <a:lnSpc>
                <a:spcPct val="150000"/>
              </a:lnSpc>
            </a:pPr>
            <a:r>
              <a:rPr lang="en-US" b="1" u="sng" dirty="0">
                <a:latin typeface="Helvetica" panose="020B0604020202020204" pitchFamily="34" charset="0"/>
                <a:cs typeface="Helvetica" panose="020B0604020202020204" pitchFamily="34" charset="0"/>
              </a:rPr>
              <a:t>DAMA – </a:t>
            </a:r>
            <a:r>
              <a:rPr lang="en-US" b="1" u="sng" dirty="0" smtClean="0">
                <a:latin typeface="Helvetica" panose="020B0604020202020204" pitchFamily="34" charset="0"/>
                <a:cs typeface="Helvetica" panose="020B0604020202020204" pitchFamily="34" charset="0"/>
              </a:rPr>
              <a:t>DMBOK </a:t>
            </a:r>
            <a:r>
              <a:rPr lang="en-US" u="sng" dirty="0" smtClean="0">
                <a:latin typeface="Helvetica" panose="020B0604020202020204" pitchFamily="34" charset="0"/>
                <a:cs typeface="Helvetica" panose="020B0604020202020204" pitchFamily="34" charset="0"/>
              </a:rPr>
              <a:t>(Data Management Association, DM Body of Knowledge)</a:t>
            </a:r>
            <a:endParaRPr lang="en-US" b="1" u="sng" dirty="0">
              <a:latin typeface="Helvetica" panose="020B0604020202020204" pitchFamily="34" charset="0"/>
              <a:cs typeface="Helvetica" panose="020B0604020202020204" pitchFamily="34" charset="0"/>
            </a:endParaRPr>
          </a:p>
          <a:p>
            <a:pPr algn="just"/>
            <a:r>
              <a:rPr lang="en-US" dirty="0">
                <a:latin typeface="Helvetica" panose="020B0604020202020204" pitchFamily="34" charset="0"/>
                <a:cs typeface="Helvetica" panose="020B0604020202020204" pitchFamily="34" charset="0"/>
              </a:rPr>
              <a:t>Identifying the data needs of the enterprise (regardless of structure) and designing and maintaining the master blueprints to meet those needs. Using master blueprints to guide data integration, control data assets, and align data investments with business strategy.</a:t>
            </a:r>
          </a:p>
          <a:p>
            <a:pPr algn="just">
              <a:lnSpc>
                <a:spcPct val="150000"/>
              </a:lnSpc>
            </a:pPr>
            <a:endParaRPr lang="en-US" dirty="0">
              <a:latin typeface="Helvetica" panose="020B0604020202020204" pitchFamily="34" charset="0"/>
              <a:cs typeface="Helvetica" panose="020B0604020202020204" pitchFamily="34" charset="0"/>
            </a:endParaRPr>
          </a:p>
          <a:p>
            <a:pPr algn="just"/>
            <a:r>
              <a:rPr lang="en-US" b="1" u="sng" dirty="0">
                <a:latin typeface="Helvetica" panose="020B0604020202020204" pitchFamily="34" charset="0"/>
                <a:cs typeface="Helvetica" panose="020B0604020202020204" pitchFamily="34" charset="0"/>
              </a:rPr>
              <a:t>Data </a:t>
            </a:r>
            <a:r>
              <a:rPr lang="en-US" b="1" u="sng" dirty="0" smtClean="0">
                <a:latin typeface="Helvetica" panose="020B0604020202020204" pitchFamily="34" charset="0"/>
                <a:cs typeface="Helvetica" panose="020B0604020202020204" pitchFamily="34" charset="0"/>
              </a:rPr>
              <a:t>Architecture </a:t>
            </a:r>
            <a:r>
              <a:rPr lang="en-US" dirty="0">
                <a:latin typeface="Helvetica" panose="020B0604020202020204" pitchFamily="34" charset="0"/>
                <a:cs typeface="Helvetica" panose="020B0604020202020204" pitchFamily="34" charset="0"/>
              </a:rPr>
              <a:t>is the design of systems to support the evolving data needs of an enterprise, achieved by flexible and reversible decisions reached through a careful evaluation of trade-offs</a:t>
            </a:r>
          </a:p>
          <a:p>
            <a:pPr algn="just">
              <a:lnSpc>
                <a:spcPct val="150000"/>
              </a:lnSpc>
            </a:pPr>
            <a:endParaRPr lang="en-US" dirty="0">
              <a:latin typeface="Helvetica" panose="020B0604020202020204" pitchFamily="34" charset="0"/>
              <a:cs typeface="Helvetica" panose="020B0604020202020204" pitchFamily="34" charset="0"/>
            </a:endParaRPr>
          </a:p>
          <a:p>
            <a:pPr algn="just"/>
            <a:r>
              <a:rPr lang="en-US" b="1" u="sng" dirty="0">
                <a:latin typeface="Helvetica" panose="020B0604020202020204" pitchFamily="34" charset="0"/>
                <a:cs typeface="Helvetica" panose="020B0604020202020204" pitchFamily="34" charset="0"/>
              </a:rPr>
              <a:t>Data </a:t>
            </a:r>
            <a:r>
              <a:rPr lang="en-US" b="1" u="sng" dirty="0" smtClean="0">
                <a:latin typeface="Helvetica" panose="020B0604020202020204" pitchFamily="34" charset="0"/>
                <a:cs typeface="Helvetica" panose="020B0604020202020204" pitchFamily="34" charset="0"/>
              </a:rPr>
              <a:t>Engineering </a:t>
            </a:r>
            <a:r>
              <a:rPr lang="en-US" dirty="0">
                <a:latin typeface="Helvetica" panose="020B0604020202020204" pitchFamily="34" charset="0"/>
                <a:cs typeface="Helvetica" panose="020B0604020202020204" pitchFamily="34" charset="0"/>
              </a:rPr>
              <a:t>architecture is the systems and frameworks that make up the key sections of the data engineering lifecycle.</a:t>
            </a:r>
          </a:p>
        </p:txBody>
      </p:sp>
    </p:spTree>
    <p:extLst>
      <p:ext uri="{BB962C8B-B14F-4D97-AF65-F5344CB8AC3E}">
        <p14:creationId xmlns:p14="http://schemas.microsoft.com/office/powerpoint/2010/main" val="278468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FDE11-CD30-474E-963F-084D92AC550D}"/>
              </a:ext>
            </a:extLst>
          </p:cNvPr>
          <p:cNvSpPr>
            <a:spLocks noGrp="1"/>
          </p:cNvSpPr>
          <p:nvPr>
            <p:ph type="title"/>
          </p:nvPr>
        </p:nvSpPr>
        <p:spPr/>
        <p:txBody>
          <a:bodyPr/>
          <a:lstStyle/>
          <a:p>
            <a:r>
              <a:rPr lang="en-US" dirty="0"/>
              <a:t>Why ?</a:t>
            </a:r>
            <a:endParaRPr lang="en-IN" dirty="0"/>
          </a:p>
        </p:txBody>
      </p:sp>
      <p:sp>
        <p:nvSpPr>
          <p:cNvPr id="5" name="Text Placeholder 2">
            <a:extLst>
              <a:ext uri="{FF2B5EF4-FFF2-40B4-BE49-F238E27FC236}">
                <a16:creationId xmlns:a16="http://schemas.microsoft.com/office/drawing/2014/main" id="{D0499E23-B1E4-0DD4-8975-1FF1920DDE71}"/>
              </a:ext>
            </a:extLst>
          </p:cNvPr>
          <p:cNvSpPr txBox="1">
            <a:spLocks/>
          </p:cNvSpPr>
          <p:nvPr/>
        </p:nvSpPr>
        <p:spPr>
          <a:xfrm>
            <a:off x="304800" y="1066800"/>
            <a:ext cx="11544300" cy="51816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Helvetica" panose="020B0604020202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Helvetica" panose="020B0604020202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Helvetica" panose="020B0604020202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Helvetica" panose="020B0604020202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Helvetica" panose="020B06040202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61950" indent="-361950" algn="just">
              <a:lnSpc>
                <a:spcPct val="100000"/>
              </a:lnSpc>
              <a:spcBef>
                <a:spcPts val="0"/>
              </a:spcBef>
              <a:buFont typeface="Wingdings" panose="05000000000000000000" pitchFamily="2" charset="2"/>
              <a:buChar char="Ø"/>
            </a:pPr>
            <a:r>
              <a:rPr lang="en-IN" dirty="0"/>
              <a:t>Reflects current and future state of data systems that supports organization’s long-term data needs and strategy</a:t>
            </a:r>
          </a:p>
          <a:p>
            <a:pPr marL="361950" indent="-361950" algn="just">
              <a:lnSpc>
                <a:spcPct val="150000"/>
              </a:lnSpc>
              <a:buFont typeface="Wingdings" panose="05000000000000000000" pitchFamily="2" charset="2"/>
              <a:buChar char="Ø"/>
            </a:pPr>
            <a:r>
              <a:rPr lang="en-IN" dirty="0"/>
              <a:t>Data requirements changes rapidly </a:t>
            </a:r>
          </a:p>
          <a:p>
            <a:pPr marL="806450" lvl="1" indent="-273050" algn="just">
              <a:lnSpc>
                <a:spcPct val="150000"/>
              </a:lnSpc>
              <a:buFont typeface="Wingdings" panose="05000000000000000000" pitchFamily="2" charset="2"/>
              <a:buChar char="Ø"/>
            </a:pPr>
            <a:r>
              <a:rPr lang="en-IN" sz="1800" b="1" u="sng" dirty="0"/>
              <a:t>New tools and practices </a:t>
            </a:r>
            <a:r>
              <a:rPr lang="en-IN" sz="1800" dirty="0"/>
              <a:t>seem to arrive on a near-daily basis </a:t>
            </a:r>
          </a:p>
          <a:p>
            <a:pPr marL="806450" lvl="1" indent="-273050" algn="just">
              <a:lnSpc>
                <a:spcPct val="150000"/>
              </a:lnSpc>
              <a:buFont typeface="Wingdings" panose="05000000000000000000" pitchFamily="2" charset="2"/>
              <a:buChar char="Ø"/>
            </a:pPr>
            <a:r>
              <a:rPr lang="en-IN" sz="1800" dirty="0"/>
              <a:t>Gives rise to the need of understanding good data architecture </a:t>
            </a:r>
          </a:p>
          <a:p>
            <a:pPr marL="361950" indent="-361950" algn="just">
              <a:lnSpc>
                <a:spcPct val="150000"/>
              </a:lnSpc>
              <a:buFont typeface="Wingdings" panose="05000000000000000000" pitchFamily="2" charset="2"/>
              <a:buChar char="Ø"/>
            </a:pPr>
            <a:r>
              <a:rPr lang="en-IN" b="1" u="sng" dirty="0" smtClean="0"/>
              <a:t>To </a:t>
            </a:r>
            <a:r>
              <a:rPr lang="en-IN" b="1" u="sng" dirty="0"/>
              <a:t>understand needs of business and gather requirements for new use cases</a:t>
            </a:r>
          </a:p>
          <a:p>
            <a:pPr marL="361950" indent="-361950" algn="just">
              <a:lnSpc>
                <a:spcPct val="150000"/>
              </a:lnSpc>
              <a:buFont typeface="Wingdings" panose="05000000000000000000" pitchFamily="2" charset="2"/>
              <a:buChar char="Ø"/>
            </a:pPr>
            <a:r>
              <a:rPr lang="en-IN" b="1" u="sng" dirty="0" smtClean="0"/>
              <a:t>To </a:t>
            </a:r>
            <a:r>
              <a:rPr lang="en-IN" b="1" u="sng" dirty="0"/>
              <a:t>translates requirements to design new ways to capture and serve data </a:t>
            </a:r>
          </a:p>
          <a:p>
            <a:pPr marL="361950" indent="-361950" algn="just">
              <a:lnSpc>
                <a:spcPct val="100000"/>
              </a:lnSpc>
              <a:spcBef>
                <a:spcPts val="0"/>
              </a:spcBef>
              <a:buFont typeface="Wingdings" panose="05000000000000000000" pitchFamily="2" charset="2"/>
              <a:buChar char="Ø"/>
            </a:pPr>
            <a:endParaRPr lang="en-IN" dirty="0" smtClean="0"/>
          </a:p>
          <a:p>
            <a:pPr marL="361950" indent="-361950" algn="just">
              <a:lnSpc>
                <a:spcPct val="100000"/>
              </a:lnSpc>
              <a:spcBef>
                <a:spcPts val="0"/>
              </a:spcBef>
              <a:buFont typeface="Wingdings" panose="05000000000000000000" pitchFamily="2" charset="2"/>
              <a:buChar char="Ø"/>
            </a:pPr>
            <a:r>
              <a:rPr lang="en-IN" dirty="0" smtClean="0"/>
              <a:t>Knowing </a:t>
            </a:r>
            <a:r>
              <a:rPr lang="en-IN" dirty="0"/>
              <a:t>the trade-offs with design patterns, technologies and tools in source systems, ingestion</a:t>
            </a:r>
            <a:r>
              <a:rPr lang="en-IN" dirty="0" smtClean="0"/>
              <a:t>, </a:t>
            </a:r>
            <a:r>
              <a:rPr lang="en-IN" dirty="0"/>
              <a:t>storage, transformation and serving data</a:t>
            </a:r>
          </a:p>
          <a:p>
            <a:pPr marL="361950" indent="-361950" algn="just">
              <a:lnSpc>
                <a:spcPct val="150000"/>
              </a:lnSpc>
              <a:buFont typeface="Wingdings" panose="05000000000000000000" pitchFamily="2" charset="2"/>
              <a:buChar char="Ø"/>
            </a:pPr>
            <a:r>
              <a:rPr lang="en-IN" dirty="0"/>
              <a:t>Successful data engineering is build upon rock-solid data architecture!</a:t>
            </a:r>
          </a:p>
        </p:txBody>
      </p:sp>
    </p:spTree>
    <p:extLst>
      <p:ext uri="{BB962C8B-B14F-4D97-AF65-F5344CB8AC3E}">
        <p14:creationId xmlns:p14="http://schemas.microsoft.com/office/powerpoint/2010/main" val="410467990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6A7C51-727F-1A94-1AED-87BCB1CE9B01}"/>
              </a:ext>
            </a:extLst>
          </p:cNvPr>
          <p:cNvSpPr>
            <a:spLocks noGrp="1"/>
          </p:cNvSpPr>
          <p:nvPr>
            <p:ph type="title"/>
          </p:nvPr>
        </p:nvSpPr>
        <p:spPr>
          <a:xfrm>
            <a:off x="457200" y="256970"/>
            <a:ext cx="2362200" cy="543933"/>
          </a:xfrm>
        </p:spPr>
        <p:txBody>
          <a:bodyPr/>
          <a:lstStyle/>
          <a:p>
            <a:r>
              <a:rPr lang="en-US" dirty="0"/>
              <a:t>Aspects</a:t>
            </a:r>
          </a:p>
        </p:txBody>
      </p:sp>
      <p:sp>
        <p:nvSpPr>
          <p:cNvPr id="6" name="Rounded Rectangle 4">
            <a:extLst>
              <a:ext uri="{FF2B5EF4-FFF2-40B4-BE49-F238E27FC236}">
                <a16:creationId xmlns:a16="http://schemas.microsoft.com/office/drawing/2014/main" id="{4E6AF905-FF11-AA30-CF3D-632C8D805339}"/>
              </a:ext>
            </a:extLst>
          </p:cNvPr>
          <p:cNvSpPr/>
          <p:nvPr/>
        </p:nvSpPr>
        <p:spPr>
          <a:xfrm>
            <a:off x="381000" y="1055870"/>
            <a:ext cx="10820399" cy="1371599"/>
          </a:xfrm>
          <a:prstGeom prst="round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dirty="0"/>
          </a:p>
        </p:txBody>
      </p:sp>
      <p:sp>
        <p:nvSpPr>
          <p:cNvPr id="7" name="Rounded Rectangle 5">
            <a:extLst>
              <a:ext uri="{FF2B5EF4-FFF2-40B4-BE49-F238E27FC236}">
                <a16:creationId xmlns:a16="http://schemas.microsoft.com/office/drawing/2014/main" id="{0BEE33C1-BED4-B5E9-44E1-A8FEF675BFAB}"/>
              </a:ext>
            </a:extLst>
          </p:cNvPr>
          <p:cNvSpPr/>
          <p:nvPr/>
        </p:nvSpPr>
        <p:spPr>
          <a:xfrm>
            <a:off x="782008" y="1475432"/>
            <a:ext cx="4131426" cy="609599"/>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b="1" dirty="0">
                <a:latin typeface="Helvetica" panose="020B0604020202020204" pitchFamily="34" charset="0"/>
                <a:cs typeface="Helvetica" panose="020B0604020202020204" pitchFamily="34" charset="0"/>
              </a:rPr>
              <a:t>Operational</a:t>
            </a:r>
          </a:p>
        </p:txBody>
      </p:sp>
      <p:sp>
        <p:nvSpPr>
          <p:cNvPr id="8" name="Rounded Rectangle 6">
            <a:extLst>
              <a:ext uri="{FF2B5EF4-FFF2-40B4-BE49-F238E27FC236}">
                <a16:creationId xmlns:a16="http://schemas.microsoft.com/office/drawing/2014/main" id="{9B3AE9B1-CE60-6F4B-9347-B5DB4E1801D4}"/>
              </a:ext>
            </a:extLst>
          </p:cNvPr>
          <p:cNvSpPr/>
          <p:nvPr/>
        </p:nvSpPr>
        <p:spPr>
          <a:xfrm>
            <a:off x="7799322" y="1447602"/>
            <a:ext cx="3147752" cy="609599"/>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b="1" dirty="0"/>
              <a:t>Technical</a:t>
            </a:r>
          </a:p>
        </p:txBody>
      </p:sp>
      <p:sp>
        <p:nvSpPr>
          <p:cNvPr id="9" name="TextBox 8">
            <a:extLst>
              <a:ext uri="{FF2B5EF4-FFF2-40B4-BE49-F238E27FC236}">
                <a16:creationId xmlns:a16="http://schemas.microsoft.com/office/drawing/2014/main" id="{6474AEB5-D363-DDC9-B35B-41E113A9106A}"/>
              </a:ext>
            </a:extLst>
          </p:cNvPr>
          <p:cNvSpPr txBox="1"/>
          <p:nvPr/>
        </p:nvSpPr>
        <p:spPr>
          <a:xfrm>
            <a:off x="3210112" y="1146359"/>
            <a:ext cx="5745655" cy="369332"/>
          </a:xfrm>
          <a:prstGeom prst="rect">
            <a:avLst/>
          </a:prstGeom>
          <a:noFill/>
        </p:spPr>
        <p:txBody>
          <a:bodyPr wrap="square" rtlCol="0">
            <a:spAutoFit/>
          </a:bodyPr>
          <a:lstStyle/>
          <a:p>
            <a:pPr algn="ctr"/>
            <a:r>
              <a:rPr lang="en-US" b="1" dirty="0">
                <a:latin typeface="Helvetica" panose="020B0604020202020204" pitchFamily="34" charset="0"/>
                <a:cs typeface="Helvetica" panose="020B0604020202020204" pitchFamily="34" charset="0"/>
              </a:rPr>
              <a:t>Data Architecture</a:t>
            </a:r>
          </a:p>
        </p:txBody>
      </p:sp>
      <p:sp>
        <p:nvSpPr>
          <p:cNvPr id="10" name="TextBox 9">
            <a:extLst>
              <a:ext uri="{FF2B5EF4-FFF2-40B4-BE49-F238E27FC236}">
                <a16:creationId xmlns:a16="http://schemas.microsoft.com/office/drawing/2014/main" id="{F0FBB431-D73D-178C-32D0-F6EFCB42ACD4}"/>
              </a:ext>
            </a:extLst>
          </p:cNvPr>
          <p:cNvSpPr txBox="1"/>
          <p:nvPr/>
        </p:nvSpPr>
        <p:spPr>
          <a:xfrm>
            <a:off x="1501965" y="2071584"/>
            <a:ext cx="2615562" cy="369332"/>
          </a:xfrm>
          <a:prstGeom prst="rect">
            <a:avLst/>
          </a:prstGeom>
          <a:noFill/>
        </p:spPr>
        <p:txBody>
          <a:bodyPr wrap="square" rtlCol="0">
            <a:spAutoFit/>
          </a:bodyPr>
          <a:lstStyle/>
          <a:p>
            <a:pPr algn="ctr"/>
            <a:r>
              <a:rPr lang="en-US" dirty="0">
                <a:latin typeface="Helvetica" panose="020B0604020202020204" pitchFamily="34" charset="0"/>
                <a:cs typeface="Helvetica" panose="020B0604020202020204" pitchFamily="34" charset="0"/>
              </a:rPr>
              <a:t>What</a:t>
            </a:r>
          </a:p>
        </p:txBody>
      </p:sp>
      <p:sp>
        <p:nvSpPr>
          <p:cNvPr id="11" name="TextBox 10">
            <a:extLst>
              <a:ext uri="{FF2B5EF4-FFF2-40B4-BE49-F238E27FC236}">
                <a16:creationId xmlns:a16="http://schemas.microsoft.com/office/drawing/2014/main" id="{D925AF31-2653-41B3-19DB-8612D714BB07}"/>
              </a:ext>
            </a:extLst>
          </p:cNvPr>
          <p:cNvSpPr txBox="1"/>
          <p:nvPr/>
        </p:nvSpPr>
        <p:spPr>
          <a:xfrm>
            <a:off x="8487892" y="2071584"/>
            <a:ext cx="1770611" cy="369332"/>
          </a:xfrm>
          <a:prstGeom prst="rect">
            <a:avLst/>
          </a:prstGeom>
          <a:noFill/>
        </p:spPr>
        <p:txBody>
          <a:bodyPr wrap="square" rtlCol="0">
            <a:spAutoFit/>
          </a:bodyPr>
          <a:lstStyle/>
          <a:p>
            <a:pPr algn="ctr"/>
            <a:r>
              <a:rPr lang="en-US" dirty="0">
                <a:latin typeface="Helvetica" panose="020B0604020202020204" pitchFamily="34" charset="0"/>
                <a:cs typeface="Helvetica" panose="020B0604020202020204" pitchFamily="34" charset="0"/>
              </a:rPr>
              <a:t>How</a:t>
            </a:r>
          </a:p>
        </p:txBody>
      </p:sp>
      <p:cxnSp>
        <p:nvCxnSpPr>
          <p:cNvPr id="5" name="Straight Connector 4">
            <a:extLst>
              <a:ext uri="{FF2B5EF4-FFF2-40B4-BE49-F238E27FC236}">
                <a16:creationId xmlns:a16="http://schemas.microsoft.com/office/drawing/2014/main" id="{2EC44D12-9340-4C59-5893-E336C70CC8B4}"/>
              </a:ext>
            </a:extLst>
          </p:cNvPr>
          <p:cNvCxnSpPr>
            <a:cxnSpLocks/>
            <a:stCxn id="9" idx="2"/>
          </p:cNvCxnSpPr>
          <p:nvPr/>
        </p:nvCxnSpPr>
        <p:spPr>
          <a:xfrm>
            <a:off x="6082940" y="1515691"/>
            <a:ext cx="22025" cy="5342309"/>
          </a:xfrm>
          <a:prstGeom prst="line">
            <a:avLst/>
          </a:prstGeom>
        </p:spPr>
        <p:style>
          <a:lnRef idx="3">
            <a:schemeClr val="dk1"/>
          </a:lnRef>
          <a:fillRef idx="0">
            <a:schemeClr val="dk1"/>
          </a:fillRef>
          <a:effectRef idx="2">
            <a:schemeClr val="dk1"/>
          </a:effectRef>
          <a:fontRef idx="minor">
            <a:schemeClr val="tx1"/>
          </a:fontRef>
        </p:style>
      </p:cxnSp>
      <p:sp>
        <p:nvSpPr>
          <p:cNvPr id="13" name="TextBox 12">
            <a:extLst>
              <a:ext uri="{FF2B5EF4-FFF2-40B4-BE49-F238E27FC236}">
                <a16:creationId xmlns:a16="http://schemas.microsoft.com/office/drawing/2014/main" id="{DF837F45-9562-D9CD-D216-48336813D8FE}"/>
              </a:ext>
            </a:extLst>
          </p:cNvPr>
          <p:cNvSpPr txBox="1"/>
          <p:nvPr/>
        </p:nvSpPr>
        <p:spPr>
          <a:xfrm>
            <a:off x="381000" y="2743200"/>
            <a:ext cx="5213750" cy="3139321"/>
          </a:xfrm>
          <a:prstGeom prst="rect">
            <a:avLst/>
          </a:prstGeom>
          <a:noFill/>
        </p:spPr>
        <p:txBody>
          <a:bodyPr wrap="square" rtlCol="0">
            <a:spAutoFit/>
          </a:bodyPr>
          <a:lstStyle/>
          <a:p>
            <a:pPr marL="285750" indent="-285750" algn="just">
              <a:buFont typeface="Wingdings" panose="05000000000000000000" pitchFamily="2" charset="2"/>
              <a:buChar char="Ø"/>
            </a:pPr>
            <a:r>
              <a:rPr lang="en-IN" dirty="0">
                <a:latin typeface="Helvetica" panose="020B0604020202020204" pitchFamily="34" charset="0"/>
                <a:cs typeface="Helvetica" panose="020B0604020202020204" pitchFamily="34" charset="0"/>
              </a:rPr>
              <a:t>Encompasses the functional requirements of what needs to happen related to people, processes and technology </a:t>
            </a:r>
            <a:endParaRPr lang="en-IN" dirty="0" smtClean="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endParaRPr lang="en-IN" dirty="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r>
              <a:rPr lang="en-IN" dirty="0">
                <a:latin typeface="Helvetica" panose="020B0604020202020204" pitchFamily="34" charset="0"/>
                <a:cs typeface="Helvetica" panose="020B0604020202020204" pitchFamily="34" charset="0"/>
              </a:rPr>
              <a:t>What business processes does the data serve</a:t>
            </a:r>
            <a:r>
              <a:rPr lang="en-IN" dirty="0" smtClean="0">
                <a:latin typeface="Helvetica" panose="020B0604020202020204" pitchFamily="34" charset="0"/>
                <a:cs typeface="Helvetica" panose="020B0604020202020204" pitchFamily="34" charset="0"/>
              </a:rPr>
              <a:t>?</a:t>
            </a:r>
          </a:p>
          <a:p>
            <a:pPr marL="285750" indent="-285750" algn="just">
              <a:buFont typeface="Wingdings" panose="05000000000000000000" pitchFamily="2" charset="2"/>
              <a:buChar char="Ø"/>
            </a:pPr>
            <a:endParaRPr lang="en-IN" dirty="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r>
              <a:rPr lang="en-IN" dirty="0">
                <a:latin typeface="Helvetica" panose="020B0604020202020204" pitchFamily="34" charset="0"/>
                <a:cs typeface="Helvetica" panose="020B0604020202020204" pitchFamily="34" charset="0"/>
              </a:rPr>
              <a:t>How does organization manages data quality? </a:t>
            </a:r>
            <a:endParaRPr lang="en-IN" dirty="0" smtClean="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endParaRPr lang="en-IN" dirty="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r>
              <a:rPr lang="en-IN" dirty="0">
                <a:latin typeface="Helvetica" panose="020B0604020202020204" pitchFamily="34" charset="0"/>
                <a:cs typeface="Helvetica" panose="020B0604020202020204" pitchFamily="34" charset="0"/>
              </a:rPr>
              <a:t>Describes what needs to be done</a:t>
            </a:r>
          </a:p>
          <a:p>
            <a:pPr algn="just"/>
            <a:endParaRPr lang="en-US" dirty="0"/>
          </a:p>
        </p:txBody>
      </p:sp>
      <p:sp>
        <p:nvSpPr>
          <p:cNvPr id="14" name="TextBox 13">
            <a:extLst>
              <a:ext uri="{FF2B5EF4-FFF2-40B4-BE49-F238E27FC236}">
                <a16:creationId xmlns:a16="http://schemas.microsoft.com/office/drawing/2014/main" id="{BBE0A728-615D-08BC-9D32-32D2E3E43424}"/>
              </a:ext>
            </a:extLst>
          </p:cNvPr>
          <p:cNvSpPr txBox="1"/>
          <p:nvPr/>
        </p:nvSpPr>
        <p:spPr>
          <a:xfrm>
            <a:off x="6348892" y="2719747"/>
            <a:ext cx="5213750" cy="2308324"/>
          </a:xfrm>
          <a:prstGeom prst="rect">
            <a:avLst/>
          </a:prstGeom>
          <a:noFill/>
        </p:spPr>
        <p:txBody>
          <a:bodyPr wrap="square" rtlCol="0">
            <a:spAutoFit/>
          </a:bodyPr>
          <a:lstStyle>
            <a:defPPr>
              <a:defRPr lang="en-US"/>
            </a:defPPr>
            <a:lvl1pPr marL="285750" indent="-285750">
              <a:lnSpc>
                <a:spcPct val="150000"/>
              </a:lnSpc>
              <a:buFont typeface="Wingdings" panose="05000000000000000000" pitchFamily="2" charset="2"/>
              <a:buChar char="Ø"/>
              <a:defRPr>
                <a:latin typeface="Helvetica" panose="020B0604020202020204" pitchFamily="34" charset="0"/>
                <a:cs typeface="Helvetica" panose="020B0604020202020204" pitchFamily="34" charset="0"/>
              </a:defRPr>
            </a:lvl1pPr>
          </a:lstStyle>
          <a:p>
            <a:pPr marL="571500" algn="just">
              <a:lnSpc>
                <a:spcPct val="100000"/>
              </a:lnSpc>
            </a:pPr>
            <a:r>
              <a:rPr lang="en-IN" dirty="0"/>
              <a:t>Outlines how data is ingested, stored, transformed and served along the data engineering life </a:t>
            </a:r>
            <a:r>
              <a:rPr lang="en-IN" dirty="0" smtClean="0"/>
              <a:t>cycle</a:t>
            </a:r>
          </a:p>
          <a:p>
            <a:pPr marL="571500" algn="just">
              <a:lnSpc>
                <a:spcPct val="100000"/>
              </a:lnSpc>
            </a:pPr>
            <a:endParaRPr lang="en-IN" dirty="0"/>
          </a:p>
          <a:p>
            <a:pPr marL="571500" algn="just">
              <a:lnSpc>
                <a:spcPct val="100000"/>
              </a:lnSpc>
            </a:pPr>
            <a:r>
              <a:rPr lang="en-IN" dirty="0"/>
              <a:t>How will you move 10 TB of data every hour from source database to data lake</a:t>
            </a:r>
            <a:r>
              <a:rPr lang="en-IN" dirty="0" smtClean="0"/>
              <a:t>?</a:t>
            </a:r>
          </a:p>
          <a:p>
            <a:pPr marL="571500" algn="just">
              <a:lnSpc>
                <a:spcPct val="100000"/>
              </a:lnSpc>
            </a:pPr>
            <a:endParaRPr lang="en-IN" dirty="0"/>
          </a:p>
          <a:p>
            <a:pPr marL="571500" algn="just">
              <a:lnSpc>
                <a:spcPct val="100000"/>
              </a:lnSpc>
            </a:pPr>
            <a:r>
              <a:rPr lang="en-IN" dirty="0"/>
              <a:t>Describes how it will happen</a:t>
            </a:r>
          </a:p>
        </p:txBody>
      </p:sp>
    </p:spTree>
    <p:extLst>
      <p:ext uri="{BB962C8B-B14F-4D97-AF65-F5344CB8AC3E}">
        <p14:creationId xmlns:p14="http://schemas.microsoft.com/office/powerpoint/2010/main" val="291866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8"/>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0"/>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p:bldP spid="10" grpId="0"/>
      <p:bldP spid="11" grpId="0"/>
      <p:bldP spid="13" grpId="0" build="p"/>
      <p:bldP spid="14"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234C2-4939-3DB3-5D39-DDDDFAAE4AA0}"/>
              </a:ext>
            </a:extLst>
          </p:cNvPr>
          <p:cNvSpPr>
            <a:spLocks noGrp="1"/>
          </p:cNvSpPr>
          <p:nvPr>
            <p:ph type="title"/>
          </p:nvPr>
        </p:nvSpPr>
        <p:spPr>
          <a:xfrm>
            <a:off x="831850" y="1709738"/>
            <a:ext cx="10515600" cy="2852737"/>
          </a:xfrm>
        </p:spPr>
        <p:txBody>
          <a:bodyPr anchor="b">
            <a:normAutofit/>
          </a:bodyPr>
          <a:lstStyle/>
          <a:p>
            <a:r>
              <a:rPr lang="en-US" dirty="0"/>
              <a:t>Categorization</a:t>
            </a:r>
          </a:p>
        </p:txBody>
      </p:sp>
    </p:spTree>
    <p:extLst>
      <p:ext uri="{BB962C8B-B14F-4D97-AF65-F5344CB8AC3E}">
        <p14:creationId xmlns:p14="http://schemas.microsoft.com/office/powerpoint/2010/main" val="5786808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D336A-C92D-2711-DD05-2DDDD96192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A77097-2777-40E0-5035-C1BE0654A21E}"/>
              </a:ext>
            </a:extLst>
          </p:cNvPr>
          <p:cNvSpPr>
            <a:spLocks noGrp="1"/>
          </p:cNvSpPr>
          <p:nvPr>
            <p:ph type="title"/>
          </p:nvPr>
        </p:nvSpPr>
        <p:spPr/>
        <p:txBody>
          <a:bodyPr/>
          <a:lstStyle/>
          <a:p>
            <a:r>
              <a:rPr lang="en-US" dirty="0"/>
              <a:t>Categorization</a:t>
            </a:r>
          </a:p>
        </p:txBody>
      </p:sp>
      <p:graphicFrame>
        <p:nvGraphicFramePr>
          <p:cNvPr id="4" name="Diagram 3">
            <a:extLst>
              <a:ext uri="{FF2B5EF4-FFF2-40B4-BE49-F238E27FC236}">
                <a16:creationId xmlns:a16="http://schemas.microsoft.com/office/drawing/2014/main" id="{FC3B421F-E18F-ECBE-868A-5EC2630D1990}"/>
              </a:ext>
            </a:extLst>
          </p:cNvPr>
          <p:cNvGraphicFramePr/>
          <p:nvPr>
            <p:extLst>
              <p:ext uri="{D42A27DB-BD31-4B8C-83A1-F6EECF244321}">
                <p14:modId xmlns:p14="http://schemas.microsoft.com/office/powerpoint/2010/main" val="4014749101"/>
              </p:ext>
            </p:extLst>
          </p:nvPr>
        </p:nvGraphicFramePr>
        <p:xfrm>
          <a:off x="-1423894" y="935467"/>
          <a:ext cx="14073094" cy="577249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944124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graphicEl>
                                              <a:dgm id="{A8796F04-5966-45A5-A58F-0F0BED8EF529}"/>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graphicEl>
                                              <a:dgm id="{E5EACDED-5B87-4D19-83AD-60D8A05E1AB9}"/>
                                            </p:graphic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graphicEl>
                                              <a:dgm id="{EF434CFC-C746-4C85-B2B3-7F739CC45EFA}"/>
                                            </p:graphic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graphicEl>
                                              <a:dgm id="{127AA98D-A90A-4BE2-8413-44DFA7D41E07}"/>
                                            </p:graphic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graphicEl>
                                              <a:dgm id="{8EDD8FDF-E255-4ED8-8530-79C9A4CD34D5}"/>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graphicEl>
                                              <a:dgm id="{B5BF5773-1D81-4B0E-A82A-57BD3312C40A}"/>
                                            </p:graphic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graphicEl>
                                              <a:dgm id="{87C6C0AB-56DA-49E5-AB9B-FA16CD911141}"/>
                                            </p:graphic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graphicEl>
                                              <a:dgm id="{EE1C2F6C-597E-429F-87C2-124C957CBD31}"/>
                                            </p:graphic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
                                            <p:graphicEl>
                                              <a:dgm id="{46B0E45A-E484-418A-9FB7-381022164C1D}"/>
                                            </p:graphic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graphicEl>
                                              <a:dgm id="{F96E40B0-3346-44C0-96F9-142CC92F114B}"/>
                                            </p:graphic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
                                            <p:graphicEl>
                                              <a:dgm id="{285DAC41-5F61-42BE-AD0C-A24E1773D4B3}"/>
                                            </p:graphic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
                                            <p:graphicEl>
                                              <a:dgm id="{C5FBAAAF-65BA-462F-8D4B-463A496B06B3}"/>
                                            </p:graphic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
                                            <p:graphicEl>
                                              <a:dgm id="{BF4ED96C-EF1D-4A65-ABA9-5872DD43BF87}"/>
                                            </p:graphic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graphicEl>
                                              <a:dgm id="{AD6B0F62-9192-4055-ABA5-8085B2B7A629}"/>
                                            </p:graphicEl>
                                          </p:spTgt>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
                                            <p:graphicEl>
                                              <a:dgm id="{653B3501-E141-46FE-AE02-6922F4D8215F}"/>
                                            </p:graphic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4">
                                            <p:graphicEl>
                                              <a:dgm id="{5C25E37A-5F0E-4489-808A-344987007B0A}"/>
                                            </p:graphicEl>
                                          </p:spTgt>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
                                            <p:graphicEl>
                                              <a:dgm id="{614DA188-499A-4C52-B914-AA985F4EB7DD}"/>
                                            </p:graphic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4">
                                            <p:graphicEl>
                                              <a:dgm id="{F2631E5A-3BB5-4140-A4FF-95C908C143B4}"/>
                                            </p:graphicEl>
                                          </p:spTgt>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4">
                                            <p:graphicEl>
                                              <a:dgm id="{F5D9E0CE-FCE1-4C0D-8E97-DFF578824BDA}"/>
                                            </p:graphic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4">
                                            <p:graphicEl>
                                              <a:dgm id="{E0B42476-24AC-44EE-91F5-B4512B7F1F5A}"/>
                                            </p:graphicEl>
                                          </p:spTgt>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4">
                                            <p:graphicEl>
                                              <a:dgm id="{7C5DA751-DC3F-4DE0-8D5A-557F9B3F408C}"/>
                                            </p:graphic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4">
                                            <p:graphicEl>
                                              <a:dgm id="{A3ED2CF7-808E-4CAE-A231-1EB7518FFEE7}"/>
                                            </p:graphicEl>
                                          </p:spTgt>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4">
                                            <p:graphicEl>
                                              <a:dgm id="{EA841742-A4BE-4467-AD2C-DFAF451EDB7A}"/>
                                            </p:graphic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4">
                                            <p:graphicEl>
                                              <a:dgm id="{5055515B-6B78-47F6-A71A-9D75E4ED8E58}"/>
                                            </p:graphicEl>
                                          </p:spTgt>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4">
                                            <p:graphicEl>
                                              <a:dgm id="{A8692FEC-469A-40F4-8202-1E4222156258}"/>
                                            </p:graphic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4">
                                            <p:graphicEl>
                                              <a:dgm id="{8E0FDC97-ADB8-4F51-B6E4-F28966C2B15F}"/>
                                            </p:graphicEl>
                                          </p:spTgt>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4">
                                            <p:graphicEl>
                                              <a:dgm id="{3D353114-AE61-4ED8-91A0-A893DABA534B}"/>
                                            </p:graphicEl>
                                          </p:spTgt>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4">
                                            <p:graphicEl>
                                              <a:dgm id="{0D1BC607-DFE1-4FD7-A9FE-5B7F9DA2D6F1}"/>
                                            </p:graphicEl>
                                          </p:spTgt>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4">
                                            <p:graphicEl>
                                              <a:dgm id="{B7A4BA2A-50B1-42BC-AFDB-53B2959DE149}"/>
                                            </p:graphic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4">
                                            <p:graphicEl>
                                              <a:dgm id="{B1CB6C06-7ADE-4022-B2E5-716014220E0A}"/>
                                            </p:graphicEl>
                                          </p:spTgt>
                                        </p:tgtEl>
                                        <p:attrNameLst>
                                          <p:attrName>style.visibility</p:attrName>
                                        </p:attrNameLst>
                                      </p:cBhvr>
                                      <p:to>
                                        <p:strVal val="visible"/>
                                      </p:to>
                                    </p:set>
                                  </p:childTnLst>
                                </p:cTn>
                              </p:par>
                              <p:par>
                                <p:cTn id="95" presetID="1" presetClass="entr" presetSubtype="0" fill="hold" grpId="0" nodeType="withEffect">
                                  <p:stCondLst>
                                    <p:cond delay="0"/>
                                  </p:stCondLst>
                                  <p:childTnLst>
                                    <p:set>
                                      <p:cBhvr>
                                        <p:cTn id="96" dur="1" fill="hold">
                                          <p:stCondLst>
                                            <p:cond delay="0"/>
                                          </p:stCondLst>
                                        </p:cTn>
                                        <p:tgtEl>
                                          <p:spTgt spid="4">
                                            <p:graphicEl>
                                              <a:dgm id="{7359A961-558E-4102-83F1-FB09B3E375F0}"/>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Sub>
          <a:bldDgm bld="lvlOne"/>
        </p:bldSub>
      </p:bldGraphic>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312CBD-AFD9-5A62-53F1-A5A43C5F08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EB34AB-16C8-10CA-E70A-F1F591B95A3A}"/>
              </a:ext>
            </a:extLst>
          </p:cNvPr>
          <p:cNvSpPr>
            <a:spLocks noGrp="1"/>
          </p:cNvSpPr>
          <p:nvPr>
            <p:ph type="title"/>
          </p:nvPr>
        </p:nvSpPr>
        <p:spPr>
          <a:xfrm>
            <a:off x="831850" y="1709738"/>
            <a:ext cx="10515600" cy="2852737"/>
          </a:xfrm>
        </p:spPr>
        <p:txBody>
          <a:bodyPr anchor="b">
            <a:normAutofit/>
          </a:bodyPr>
          <a:lstStyle/>
          <a:p>
            <a:r>
              <a:rPr lang="en-US" dirty="0"/>
              <a:t>Categorization </a:t>
            </a:r>
            <a:br>
              <a:rPr lang="en-US" dirty="0"/>
            </a:br>
            <a:r>
              <a:rPr lang="en-US" dirty="0"/>
              <a:t>– By Centralization</a:t>
            </a:r>
          </a:p>
        </p:txBody>
      </p:sp>
    </p:spTree>
    <p:extLst>
      <p:ext uri="{BB962C8B-B14F-4D97-AF65-F5344CB8AC3E}">
        <p14:creationId xmlns:p14="http://schemas.microsoft.com/office/powerpoint/2010/main" val="34409174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5275C2-C4FE-F5B7-EC2B-E982B5139482}"/>
              </a:ext>
            </a:extLst>
          </p:cNvPr>
          <p:cNvSpPr>
            <a:spLocks noGrp="1"/>
          </p:cNvSpPr>
          <p:nvPr>
            <p:ph type="title"/>
          </p:nvPr>
        </p:nvSpPr>
        <p:spPr>
          <a:xfrm>
            <a:off x="228600" y="173568"/>
            <a:ext cx="5943600" cy="764364"/>
          </a:xfrm>
        </p:spPr>
        <p:txBody>
          <a:bodyPr>
            <a:normAutofit/>
          </a:bodyPr>
          <a:lstStyle/>
          <a:p>
            <a:r>
              <a:rPr lang="en-US" dirty="0"/>
              <a:t>Centralized </a:t>
            </a:r>
            <a:r>
              <a:rPr lang="en-US" dirty="0" smtClean="0"/>
              <a:t>Data Architecture</a:t>
            </a:r>
            <a:endParaRPr lang="en-US" dirty="0"/>
          </a:p>
        </p:txBody>
      </p:sp>
      <p:sp>
        <p:nvSpPr>
          <p:cNvPr id="3" name="Text Placeholder 2">
            <a:extLst>
              <a:ext uri="{FF2B5EF4-FFF2-40B4-BE49-F238E27FC236}">
                <a16:creationId xmlns:a16="http://schemas.microsoft.com/office/drawing/2014/main" id="{BEB46A0F-CEB8-DF5F-4515-BD965DD55E28}"/>
              </a:ext>
            </a:extLst>
          </p:cNvPr>
          <p:cNvSpPr>
            <a:spLocks noGrp="1"/>
          </p:cNvSpPr>
          <p:nvPr>
            <p:ph type="body" sz="quarter" idx="13"/>
          </p:nvPr>
        </p:nvSpPr>
        <p:spPr>
          <a:xfrm>
            <a:off x="127748" y="937932"/>
            <a:ext cx="6349252" cy="5618865"/>
          </a:xfrm>
        </p:spPr>
        <p:txBody>
          <a:bodyPr>
            <a:normAutofit/>
          </a:bodyPr>
          <a:lstStyle/>
          <a:p>
            <a:pPr marL="361950" indent="-361950" algn="just">
              <a:lnSpc>
                <a:spcPct val="100000"/>
              </a:lnSpc>
              <a:spcBef>
                <a:spcPts val="0"/>
              </a:spcBef>
              <a:buFont typeface="Wingdings" panose="05000000000000000000" pitchFamily="2" charset="2"/>
              <a:buChar char="Ø"/>
            </a:pPr>
            <a:endParaRPr lang="en-US" dirty="0" smtClean="0"/>
          </a:p>
          <a:p>
            <a:pPr marL="361950" indent="-361950" algn="just">
              <a:lnSpc>
                <a:spcPct val="100000"/>
              </a:lnSpc>
              <a:spcBef>
                <a:spcPts val="0"/>
              </a:spcBef>
              <a:buFont typeface="Wingdings" panose="05000000000000000000" pitchFamily="2" charset="2"/>
              <a:buChar char="Ø"/>
            </a:pPr>
            <a:r>
              <a:rPr lang="en-US" dirty="0" smtClean="0"/>
              <a:t>The </a:t>
            </a:r>
            <a:r>
              <a:rPr lang="en-US" dirty="0"/>
              <a:t>centralized architecture provides a single point of control for data governance, auditing, and reporting, using authoritative sources, a single intelligent landing area, and a data aggregation layer across business units</a:t>
            </a:r>
            <a:r>
              <a:rPr lang="en-US" dirty="0" smtClean="0"/>
              <a:t>.</a:t>
            </a:r>
          </a:p>
          <a:p>
            <a:pPr marL="361950" indent="-361950" algn="just">
              <a:lnSpc>
                <a:spcPct val="100000"/>
              </a:lnSpc>
              <a:spcBef>
                <a:spcPts val="0"/>
              </a:spcBef>
              <a:buFont typeface="Wingdings" panose="05000000000000000000" pitchFamily="2" charset="2"/>
              <a:buChar char="Ø"/>
            </a:pPr>
            <a:endParaRPr lang="en-US" dirty="0"/>
          </a:p>
          <a:p>
            <a:pPr marL="361950" indent="-361950" algn="just">
              <a:lnSpc>
                <a:spcPct val="100000"/>
              </a:lnSpc>
              <a:spcBef>
                <a:spcPts val="0"/>
              </a:spcBef>
              <a:buFont typeface="Wingdings" panose="05000000000000000000" pitchFamily="2" charset="2"/>
              <a:buChar char="Ø"/>
            </a:pPr>
            <a:r>
              <a:rPr lang="en-US" dirty="0"/>
              <a:t>Simplified enterprise consumption platforms for reporting and analytics are also used</a:t>
            </a:r>
            <a:r>
              <a:rPr lang="en-US" dirty="0" smtClean="0"/>
              <a:t>.</a:t>
            </a:r>
          </a:p>
          <a:p>
            <a:pPr marL="361950" indent="-361950" algn="just">
              <a:lnSpc>
                <a:spcPct val="100000"/>
              </a:lnSpc>
              <a:spcBef>
                <a:spcPts val="0"/>
              </a:spcBef>
              <a:buFont typeface="Wingdings" panose="05000000000000000000" pitchFamily="2" charset="2"/>
              <a:buChar char="Ø"/>
            </a:pPr>
            <a:endParaRPr lang="en-US" dirty="0"/>
          </a:p>
          <a:p>
            <a:pPr marL="361950" indent="-361950" algn="just">
              <a:lnSpc>
                <a:spcPct val="100000"/>
              </a:lnSpc>
              <a:spcBef>
                <a:spcPts val="0"/>
              </a:spcBef>
              <a:buFont typeface="Wingdings" panose="05000000000000000000" pitchFamily="2" charset="2"/>
              <a:buChar char="Ø"/>
            </a:pPr>
            <a:r>
              <a:rPr lang="en-US" dirty="0"/>
              <a:t>Eg:  banking or healthcare organizations that operate in highly regulated environments</a:t>
            </a:r>
          </a:p>
        </p:txBody>
      </p:sp>
      <p:sp>
        <p:nvSpPr>
          <p:cNvPr id="5" name="AutoShape 2" descr="Centralized Database">
            <a:extLst>
              <a:ext uri="{FF2B5EF4-FFF2-40B4-BE49-F238E27FC236}">
                <a16:creationId xmlns:a16="http://schemas.microsoft.com/office/drawing/2014/main" id="{E3B58D0C-D27D-B99B-86E1-374D30DF7A0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4" descr="Schematic drawings of centralised, decentralised and hybrid data pooling models. A centralised approach depends on a central data repository. A decentralised solution consists of a network of sibling repository nodes. A hybrid approach combines a network of decentralised repository nodes with a central infrastructural database.">
            <a:extLst>
              <a:ext uri="{FF2B5EF4-FFF2-40B4-BE49-F238E27FC236}">
                <a16:creationId xmlns:a16="http://schemas.microsoft.com/office/drawing/2014/main" id="{AD004023-050C-D367-1693-67C58597B38C}"/>
              </a:ext>
            </a:extLst>
          </p:cNvPr>
          <p:cNvSpPr>
            <a:spLocks noChangeAspect="1" noChangeArrowheads="1"/>
          </p:cNvSpPr>
          <p:nvPr/>
        </p:nvSpPr>
        <p:spPr bwMode="auto">
          <a:xfrm>
            <a:off x="3581400" y="3429000"/>
            <a:ext cx="2819400" cy="28194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Picture 7">
            <a:extLst>
              <a:ext uri="{FF2B5EF4-FFF2-40B4-BE49-F238E27FC236}">
                <a16:creationId xmlns:a16="http://schemas.microsoft.com/office/drawing/2014/main" id="{AD7650AA-9B58-EF59-0C02-0A8D842D7747}"/>
              </a:ext>
            </a:extLst>
          </p:cNvPr>
          <p:cNvPicPr>
            <a:picLocks noChangeAspect="1"/>
          </p:cNvPicPr>
          <p:nvPr/>
        </p:nvPicPr>
        <p:blipFill>
          <a:blip r:embed="rId2"/>
          <a:stretch>
            <a:fillRect/>
          </a:stretch>
        </p:blipFill>
        <p:spPr>
          <a:xfrm>
            <a:off x="6908426" y="937932"/>
            <a:ext cx="5086350" cy="5596218"/>
          </a:xfrm>
          <a:prstGeom prst="rect">
            <a:avLst/>
          </a:prstGeom>
        </p:spPr>
      </p:pic>
      <p:sp>
        <p:nvSpPr>
          <p:cNvPr id="13" name="Rectangle 12">
            <a:extLst>
              <a:ext uri="{FF2B5EF4-FFF2-40B4-BE49-F238E27FC236}">
                <a16:creationId xmlns:a16="http://schemas.microsoft.com/office/drawing/2014/main" id="{AD2E1634-37FB-31C7-978D-78B55C5C40EB}"/>
              </a:ext>
            </a:extLst>
          </p:cNvPr>
          <p:cNvSpPr/>
          <p:nvPr/>
        </p:nvSpPr>
        <p:spPr>
          <a:xfrm>
            <a:off x="6859121" y="937932"/>
            <a:ext cx="2208679" cy="2643468"/>
          </a:xfrm>
          <a:prstGeom prst="rect">
            <a:avLst/>
          </a:prstGeom>
          <a:solidFill>
            <a:schemeClr val="lt1">
              <a:alpha val="0"/>
            </a:schemeClr>
          </a:solidFill>
          <a:ln w="57150"/>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4130771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D0287-7A66-514F-EE3A-EFED99DF6C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6D061B-383B-6979-812C-F94DD643795F}"/>
              </a:ext>
            </a:extLst>
          </p:cNvPr>
          <p:cNvSpPr>
            <a:spLocks noGrp="1"/>
          </p:cNvSpPr>
          <p:nvPr>
            <p:ph type="title"/>
          </p:nvPr>
        </p:nvSpPr>
        <p:spPr>
          <a:xfrm>
            <a:off x="304800" y="158524"/>
            <a:ext cx="6248400" cy="764364"/>
          </a:xfrm>
        </p:spPr>
        <p:txBody>
          <a:bodyPr>
            <a:normAutofit fontScale="90000"/>
          </a:bodyPr>
          <a:lstStyle/>
          <a:p>
            <a:r>
              <a:rPr lang="en-US" dirty="0"/>
              <a:t>Decentralized </a:t>
            </a:r>
            <a:r>
              <a:rPr lang="en-US" dirty="0" smtClean="0"/>
              <a:t>Data Architecture</a:t>
            </a:r>
            <a:endParaRPr lang="en-US" dirty="0"/>
          </a:p>
        </p:txBody>
      </p:sp>
      <p:sp>
        <p:nvSpPr>
          <p:cNvPr id="3" name="Text Placeholder 2">
            <a:extLst>
              <a:ext uri="{FF2B5EF4-FFF2-40B4-BE49-F238E27FC236}">
                <a16:creationId xmlns:a16="http://schemas.microsoft.com/office/drawing/2014/main" id="{C8383DE6-0E24-623D-0CF7-41EE9482F102}"/>
              </a:ext>
            </a:extLst>
          </p:cNvPr>
          <p:cNvSpPr>
            <a:spLocks noGrp="1"/>
          </p:cNvSpPr>
          <p:nvPr>
            <p:ph type="body" sz="quarter" idx="13"/>
          </p:nvPr>
        </p:nvSpPr>
        <p:spPr>
          <a:xfrm>
            <a:off x="152400" y="1219200"/>
            <a:ext cx="6400800" cy="5314950"/>
          </a:xfrm>
        </p:spPr>
        <p:txBody>
          <a:bodyPr vert="horz" lIns="91440" tIns="45720" rIns="91440" bIns="45720" rtlCol="0">
            <a:normAutofit/>
          </a:bodyPr>
          <a:lstStyle/>
          <a:p>
            <a:pPr marL="361950" indent="-361950" algn="just">
              <a:lnSpc>
                <a:spcPct val="100000"/>
              </a:lnSpc>
              <a:spcBef>
                <a:spcPts val="0"/>
              </a:spcBef>
              <a:buFont typeface="Wingdings" panose="05000000000000000000" pitchFamily="2" charset="2"/>
              <a:buChar char="Ø"/>
            </a:pPr>
            <a:r>
              <a:rPr lang="en-US" dirty="0" smtClean="0"/>
              <a:t>Data </a:t>
            </a:r>
            <a:r>
              <a:rPr lang="en-US" dirty="0"/>
              <a:t>is organized and optimized front to back within business unit silos, each of which includes sources, aggregation, and business unit–level </a:t>
            </a:r>
            <a:r>
              <a:rPr lang="en-US" dirty="0" smtClean="0"/>
              <a:t>reporting</a:t>
            </a:r>
          </a:p>
          <a:p>
            <a:pPr marL="361950" indent="-361950" algn="just">
              <a:lnSpc>
                <a:spcPct val="100000"/>
              </a:lnSpc>
              <a:spcBef>
                <a:spcPts val="0"/>
              </a:spcBef>
              <a:buFont typeface="Wingdings" panose="05000000000000000000" pitchFamily="2" charset="2"/>
              <a:buChar char="Ø"/>
            </a:pPr>
            <a:endParaRPr lang="en-US" dirty="0"/>
          </a:p>
          <a:p>
            <a:pPr marL="361950" indent="-361950" algn="just">
              <a:lnSpc>
                <a:spcPct val="100000"/>
              </a:lnSpc>
              <a:spcBef>
                <a:spcPts val="0"/>
              </a:spcBef>
              <a:buFont typeface="Wingdings" panose="05000000000000000000" pitchFamily="2" charset="2"/>
              <a:buChar char="Ø"/>
            </a:pPr>
            <a:endParaRPr lang="en-US" dirty="0" smtClean="0"/>
          </a:p>
          <a:p>
            <a:pPr marL="361950" indent="-361950" algn="just">
              <a:lnSpc>
                <a:spcPct val="100000"/>
              </a:lnSpc>
              <a:spcBef>
                <a:spcPts val="0"/>
              </a:spcBef>
              <a:buFont typeface="Wingdings" panose="05000000000000000000" pitchFamily="2" charset="2"/>
              <a:buChar char="Ø"/>
            </a:pPr>
            <a:r>
              <a:rPr lang="en-US" dirty="0" smtClean="0"/>
              <a:t>Platforms </a:t>
            </a:r>
            <a:r>
              <a:rPr lang="en-US" dirty="0"/>
              <a:t>aggregate across business units for enterprise-level </a:t>
            </a:r>
            <a:r>
              <a:rPr lang="en-US" dirty="0" smtClean="0"/>
              <a:t>reporting</a:t>
            </a:r>
          </a:p>
          <a:p>
            <a:pPr marL="361950" indent="-361950" algn="just">
              <a:lnSpc>
                <a:spcPct val="100000"/>
              </a:lnSpc>
              <a:spcBef>
                <a:spcPts val="0"/>
              </a:spcBef>
              <a:buFont typeface="Wingdings" panose="05000000000000000000" pitchFamily="2" charset="2"/>
              <a:buChar char="Ø"/>
            </a:pPr>
            <a:endParaRPr lang="en-US" dirty="0"/>
          </a:p>
          <a:p>
            <a:pPr marL="361950" indent="-361950" algn="just">
              <a:lnSpc>
                <a:spcPct val="100000"/>
              </a:lnSpc>
              <a:spcBef>
                <a:spcPts val="0"/>
              </a:spcBef>
              <a:buFont typeface="Wingdings" panose="05000000000000000000" pitchFamily="2" charset="2"/>
              <a:buChar char="Ø"/>
            </a:pPr>
            <a:endParaRPr lang="en-US" dirty="0" smtClean="0"/>
          </a:p>
          <a:p>
            <a:pPr marL="361950" indent="-361950" algn="just">
              <a:lnSpc>
                <a:spcPct val="100000"/>
              </a:lnSpc>
              <a:spcBef>
                <a:spcPts val="0"/>
              </a:spcBef>
              <a:buFont typeface="Wingdings" panose="05000000000000000000" pitchFamily="2" charset="2"/>
              <a:buChar char="Ø"/>
            </a:pPr>
            <a:r>
              <a:rPr lang="en-US" dirty="0" err="1" smtClean="0"/>
              <a:t>Eg</a:t>
            </a:r>
            <a:r>
              <a:rPr lang="en-US" dirty="0"/>
              <a:t>: Insurance companies, for example, may use this approach, wherein MDM and business domain data are decentralized to accommodate the needs of different customer bases, core systems, and data products.</a:t>
            </a:r>
          </a:p>
        </p:txBody>
      </p:sp>
      <p:sp>
        <p:nvSpPr>
          <p:cNvPr id="5" name="AutoShape 2" descr="Centralized Database">
            <a:extLst>
              <a:ext uri="{FF2B5EF4-FFF2-40B4-BE49-F238E27FC236}">
                <a16:creationId xmlns:a16="http://schemas.microsoft.com/office/drawing/2014/main" id="{146AEE5F-2599-45A9-998C-DB78BBD6C36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4" descr="Schematic drawings of centralised, decentralised and hybrid data pooling models. A centralised approach depends on a central data repository. A decentralised solution consists of a network of sibling repository nodes. A hybrid approach combines a network of decentralised repository nodes with a central infrastructural database.">
            <a:extLst>
              <a:ext uri="{FF2B5EF4-FFF2-40B4-BE49-F238E27FC236}">
                <a16:creationId xmlns:a16="http://schemas.microsoft.com/office/drawing/2014/main" id="{A8A6ED4C-1B8C-AAAC-31BF-9651440C2009}"/>
              </a:ext>
            </a:extLst>
          </p:cNvPr>
          <p:cNvSpPr>
            <a:spLocks noChangeAspect="1" noChangeArrowheads="1"/>
          </p:cNvSpPr>
          <p:nvPr/>
        </p:nvSpPr>
        <p:spPr bwMode="auto">
          <a:xfrm>
            <a:off x="3581400" y="3429000"/>
            <a:ext cx="2819400" cy="28194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Picture 7">
            <a:extLst>
              <a:ext uri="{FF2B5EF4-FFF2-40B4-BE49-F238E27FC236}">
                <a16:creationId xmlns:a16="http://schemas.microsoft.com/office/drawing/2014/main" id="{15CBBB8C-2691-0987-1307-B810B9E0A5A7}"/>
              </a:ext>
            </a:extLst>
          </p:cNvPr>
          <p:cNvPicPr>
            <a:picLocks noChangeAspect="1"/>
          </p:cNvPicPr>
          <p:nvPr/>
        </p:nvPicPr>
        <p:blipFill>
          <a:blip r:embed="rId2"/>
          <a:stretch>
            <a:fillRect/>
          </a:stretch>
        </p:blipFill>
        <p:spPr>
          <a:xfrm>
            <a:off x="6908426" y="937932"/>
            <a:ext cx="5086350" cy="5596218"/>
          </a:xfrm>
          <a:prstGeom prst="rect">
            <a:avLst/>
          </a:prstGeom>
        </p:spPr>
      </p:pic>
      <p:sp>
        <p:nvSpPr>
          <p:cNvPr id="4" name="Rectangle 3">
            <a:extLst>
              <a:ext uri="{FF2B5EF4-FFF2-40B4-BE49-F238E27FC236}">
                <a16:creationId xmlns:a16="http://schemas.microsoft.com/office/drawing/2014/main" id="{DF61A01A-2994-A412-7BBB-87C8D9BD98DF}"/>
              </a:ext>
            </a:extLst>
          </p:cNvPr>
          <p:cNvSpPr/>
          <p:nvPr/>
        </p:nvSpPr>
        <p:spPr>
          <a:xfrm>
            <a:off x="9145121" y="898039"/>
            <a:ext cx="2665879" cy="2643468"/>
          </a:xfrm>
          <a:prstGeom prst="rect">
            <a:avLst/>
          </a:prstGeom>
          <a:solidFill>
            <a:schemeClr val="lt1">
              <a:alpha val="0"/>
            </a:schemeClr>
          </a:solidFill>
          <a:ln w="57150"/>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280800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69A4C-937A-6C6F-B1EB-0737B4AA54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D3D446-2836-20E9-AC81-5EB8BCEA47CA}"/>
              </a:ext>
            </a:extLst>
          </p:cNvPr>
          <p:cNvSpPr>
            <a:spLocks noGrp="1"/>
          </p:cNvSpPr>
          <p:nvPr>
            <p:ph type="title"/>
          </p:nvPr>
        </p:nvSpPr>
        <p:spPr>
          <a:xfrm>
            <a:off x="330200" y="150355"/>
            <a:ext cx="5308600" cy="772533"/>
          </a:xfrm>
        </p:spPr>
        <p:txBody>
          <a:bodyPr>
            <a:normAutofit/>
          </a:bodyPr>
          <a:lstStyle/>
          <a:p>
            <a:r>
              <a:rPr lang="en-US" dirty="0"/>
              <a:t>Hybrid </a:t>
            </a:r>
            <a:r>
              <a:rPr lang="en-US" dirty="0" smtClean="0"/>
              <a:t>Data Architecture</a:t>
            </a:r>
            <a:endParaRPr lang="en-US" dirty="0"/>
          </a:p>
        </p:txBody>
      </p:sp>
      <p:sp>
        <p:nvSpPr>
          <p:cNvPr id="3" name="Text Placeholder 2">
            <a:extLst>
              <a:ext uri="{FF2B5EF4-FFF2-40B4-BE49-F238E27FC236}">
                <a16:creationId xmlns:a16="http://schemas.microsoft.com/office/drawing/2014/main" id="{75B5AB1C-8752-2508-E639-25ADCF19DE4B}"/>
              </a:ext>
            </a:extLst>
          </p:cNvPr>
          <p:cNvSpPr>
            <a:spLocks noGrp="1"/>
          </p:cNvSpPr>
          <p:nvPr>
            <p:ph type="body" sz="quarter" idx="13"/>
          </p:nvPr>
        </p:nvSpPr>
        <p:spPr>
          <a:xfrm>
            <a:off x="152400" y="1219200"/>
            <a:ext cx="6248400" cy="5314950"/>
          </a:xfrm>
        </p:spPr>
        <p:txBody>
          <a:bodyPr>
            <a:normAutofit/>
          </a:bodyPr>
          <a:lstStyle/>
          <a:p>
            <a:pPr algn="just">
              <a:lnSpc>
                <a:spcPct val="100000"/>
              </a:lnSpc>
              <a:spcBef>
                <a:spcPts val="0"/>
              </a:spcBef>
              <a:buFont typeface="Wingdings" panose="05000000000000000000" pitchFamily="2" charset="2"/>
              <a:buChar char="Ø"/>
            </a:pPr>
            <a:r>
              <a:rPr lang="en-US" dirty="0"/>
              <a:t>Within a hybrid data architecture, data and platforms are organized and rationalized by data domain with single golden sources and no duplication across data domains.</a:t>
            </a:r>
          </a:p>
          <a:p>
            <a:pPr algn="just">
              <a:lnSpc>
                <a:spcPct val="100000"/>
              </a:lnSpc>
              <a:spcBef>
                <a:spcPts val="0"/>
              </a:spcBef>
              <a:buFont typeface="Wingdings" panose="05000000000000000000" pitchFamily="2" charset="2"/>
              <a:buChar char="Ø"/>
            </a:pPr>
            <a:endParaRPr lang="en-US" dirty="0" smtClean="0"/>
          </a:p>
          <a:p>
            <a:pPr algn="just">
              <a:lnSpc>
                <a:spcPct val="100000"/>
              </a:lnSpc>
              <a:spcBef>
                <a:spcPts val="0"/>
              </a:spcBef>
              <a:buFont typeface="Wingdings" panose="05000000000000000000" pitchFamily="2" charset="2"/>
              <a:buChar char="Ø"/>
            </a:pPr>
            <a:endParaRPr lang="en-US" dirty="0" smtClean="0"/>
          </a:p>
          <a:p>
            <a:pPr algn="just">
              <a:lnSpc>
                <a:spcPct val="100000"/>
              </a:lnSpc>
              <a:spcBef>
                <a:spcPts val="0"/>
              </a:spcBef>
              <a:buFont typeface="Wingdings" panose="05000000000000000000" pitchFamily="2" charset="2"/>
              <a:buChar char="Ø"/>
            </a:pPr>
            <a:r>
              <a:rPr lang="en-US" dirty="0" smtClean="0"/>
              <a:t>Helpful </a:t>
            </a:r>
            <a:r>
              <a:rPr lang="en-US" dirty="0"/>
              <a:t>in operations with rapidly updated data streams and clear alignment of processes within each business unit</a:t>
            </a:r>
          </a:p>
          <a:p>
            <a:pPr algn="just">
              <a:lnSpc>
                <a:spcPct val="100000"/>
              </a:lnSpc>
              <a:spcBef>
                <a:spcPts val="0"/>
              </a:spcBef>
              <a:buFont typeface="Wingdings" panose="05000000000000000000" pitchFamily="2" charset="2"/>
              <a:buChar char="Ø"/>
            </a:pPr>
            <a:endParaRPr lang="en-US" dirty="0" smtClean="0"/>
          </a:p>
          <a:p>
            <a:pPr algn="just">
              <a:lnSpc>
                <a:spcPct val="100000"/>
              </a:lnSpc>
              <a:spcBef>
                <a:spcPts val="0"/>
              </a:spcBef>
              <a:buFont typeface="Wingdings" panose="05000000000000000000" pitchFamily="2" charset="2"/>
              <a:buChar char="Ø"/>
            </a:pPr>
            <a:endParaRPr lang="en-US" dirty="0"/>
          </a:p>
          <a:p>
            <a:pPr algn="just">
              <a:lnSpc>
                <a:spcPct val="100000"/>
              </a:lnSpc>
              <a:spcBef>
                <a:spcPts val="0"/>
              </a:spcBef>
              <a:buFont typeface="Wingdings" panose="05000000000000000000" pitchFamily="2" charset="2"/>
              <a:buChar char="Ø"/>
            </a:pPr>
            <a:r>
              <a:rPr lang="en-US" dirty="0" err="1" smtClean="0"/>
              <a:t>Eg</a:t>
            </a:r>
            <a:r>
              <a:rPr lang="en-US" dirty="0"/>
              <a:t>: Telecommunications companies, for example, often use a hybrid architecture with centralized master data management (MDM) and federated data storage for the individual data domains.</a:t>
            </a:r>
          </a:p>
        </p:txBody>
      </p:sp>
      <p:sp>
        <p:nvSpPr>
          <p:cNvPr id="5" name="AutoShape 2" descr="Centralized Database">
            <a:extLst>
              <a:ext uri="{FF2B5EF4-FFF2-40B4-BE49-F238E27FC236}">
                <a16:creationId xmlns:a16="http://schemas.microsoft.com/office/drawing/2014/main" id="{A178E5E1-34D2-114F-EF97-397F8D723E5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4" descr="Schematic drawings of centralised, decentralised and hybrid data pooling models. A centralised approach depends on a central data repository. A decentralised solution consists of a network of sibling repository nodes. A hybrid approach combines a network of decentralised repository nodes with a central infrastructural database.">
            <a:extLst>
              <a:ext uri="{FF2B5EF4-FFF2-40B4-BE49-F238E27FC236}">
                <a16:creationId xmlns:a16="http://schemas.microsoft.com/office/drawing/2014/main" id="{7FA39F64-9C25-1145-AAB6-D5809DB3B9D1}"/>
              </a:ext>
            </a:extLst>
          </p:cNvPr>
          <p:cNvSpPr>
            <a:spLocks noChangeAspect="1" noChangeArrowheads="1"/>
          </p:cNvSpPr>
          <p:nvPr/>
        </p:nvSpPr>
        <p:spPr bwMode="auto">
          <a:xfrm>
            <a:off x="3581400" y="3429000"/>
            <a:ext cx="2819400" cy="28194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Picture 7">
            <a:extLst>
              <a:ext uri="{FF2B5EF4-FFF2-40B4-BE49-F238E27FC236}">
                <a16:creationId xmlns:a16="http://schemas.microsoft.com/office/drawing/2014/main" id="{DC579A00-9A72-A7B6-8E0C-E111E9E43460}"/>
              </a:ext>
            </a:extLst>
          </p:cNvPr>
          <p:cNvPicPr>
            <a:picLocks noChangeAspect="1"/>
          </p:cNvPicPr>
          <p:nvPr/>
        </p:nvPicPr>
        <p:blipFill>
          <a:blip r:embed="rId2"/>
          <a:stretch>
            <a:fillRect/>
          </a:stretch>
        </p:blipFill>
        <p:spPr>
          <a:xfrm>
            <a:off x="6908426" y="937932"/>
            <a:ext cx="5086350" cy="5596218"/>
          </a:xfrm>
          <a:prstGeom prst="rect">
            <a:avLst/>
          </a:prstGeom>
        </p:spPr>
      </p:pic>
      <p:sp>
        <p:nvSpPr>
          <p:cNvPr id="4" name="Rectangle 3">
            <a:extLst>
              <a:ext uri="{FF2B5EF4-FFF2-40B4-BE49-F238E27FC236}">
                <a16:creationId xmlns:a16="http://schemas.microsoft.com/office/drawing/2014/main" id="{1D16C18B-6434-6C4C-BD9A-8DED100C4493}"/>
              </a:ext>
            </a:extLst>
          </p:cNvPr>
          <p:cNvSpPr/>
          <p:nvPr/>
        </p:nvSpPr>
        <p:spPr>
          <a:xfrm>
            <a:off x="6785721" y="3736041"/>
            <a:ext cx="2282079" cy="2961390"/>
          </a:xfrm>
          <a:prstGeom prst="rect">
            <a:avLst/>
          </a:prstGeom>
          <a:solidFill>
            <a:schemeClr val="lt1">
              <a:alpha val="0"/>
            </a:schemeClr>
          </a:solidFill>
          <a:ln w="57150"/>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342159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169A4C-937A-6C6F-B1EB-0737B4AA54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D3D446-2836-20E9-AC81-5EB8BCEA47CA}"/>
              </a:ext>
            </a:extLst>
          </p:cNvPr>
          <p:cNvSpPr>
            <a:spLocks noGrp="1"/>
          </p:cNvSpPr>
          <p:nvPr>
            <p:ph type="title"/>
          </p:nvPr>
        </p:nvSpPr>
        <p:spPr>
          <a:xfrm>
            <a:off x="330200" y="150355"/>
            <a:ext cx="5308600" cy="772533"/>
          </a:xfrm>
        </p:spPr>
        <p:txBody>
          <a:bodyPr>
            <a:normAutofit/>
          </a:bodyPr>
          <a:lstStyle/>
          <a:p>
            <a:r>
              <a:rPr lang="en-US" dirty="0" smtClean="0"/>
              <a:t>Legend Data Architecture</a:t>
            </a:r>
            <a:endParaRPr lang="en-US" dirty="0"/>
          </a:p>
        </p:txBody>
      </p:sp>
      <p:sp>
        <p:nvSpPr>
          <p:cNvPr id="3" name="Text Placeholder 2">
            <a:extLst>
              <a:ext uri="{FF2B5EF4-FFF2-40B4-BE49-F238E27FC236}">
                <a16:creationId xmlns:a16="http://schemas.microsoft.com/office/drawing/2014/main" id="{75B5AB1C-8752-2508-E639-25ADCF19DE4B}"/>
              </a:ext>
            </a:extLst>
          </p:cNvPr>
          <p:cNvSpPr>
            <a:spLocks noGrp="1"/>
          </p:cNvSpPr>
          <p:nvPr>
            <p:ph type="body" sz="quarter" idx="13"/>
          </p:nvPr>
        </p:nvSpPr>
        <p:spPr>
          <a:xfrm>
            <a:off x="152400" y="1219200"/>
            <a:ext cx="6248400" cy="5314950"/>
          </a:xfrm>
        </p:spPr>
        <p:txBody>
          <a:bodyPr>
            <a:normAutofit lnSpcReduction="10000"/>
          </a:bodyPr>
          <a:lstStyle/>
          <a:p>
            <a:pPr marL="361950" indent="-361950" algn="just">
              <a:lnSpc>
                <a:spcPct val="100000"/>
              </a:lnSpc>
              <a:spcBef>
                <a:spcPts val="0"/>
              </a:spcBef>
              <a:buFont typeface="Wingdings" panose="05000000000000000000" pitchFamily="2" charset="2"/>
              <a:buChar char="Ø"/>
            </a:pPr>
            <a:r>
              <a:rPr lang="en-US" sz="1700" dirty="0" smtClean="0"/>
              <a:t>The </a:t>
            </a:r>
            <a:r>
              <a:rPr lang="en-US" sz="1700" b="1" dirty="0" smtClean="0"/>
              <a:t>Legend</a:t>
            </a:r>
            <a:r>
              <a:rPr lang="en-US" sz="1700" dirty="0" smtClean="0"/>
              <a:t> </a:t>
            </a:r>
            <a:r>
              <a:rPr lang="en-US" sz="1700" dirty="0"/>
              <a:t>in the hybrid data architecture diagram explains the graphical symbols used:- </a:t>
            </a:r>
            <a:endParaRPr lang="en-US" sz="1700" dirty="0" smtClean="0"/>
          </a:p>
          <a:p>
            <a:pPr marL="361950" indent="-361950" algn="just">
              <a:lnSpc>
                <a:spcPct val="100000"/>
              </a:lnSpc>
              <a:spcBef>
                <a:spcPts val="0"/>
              </a:spcBef>
              <a:buFont typeface="Wingdings" panose="05000000000000000000" pitchFamily="2" charset="2"/>
              <a:buChar char="Ø"/>
            </a:pPr>
            <a:endParaRPr lang="en-US" sz="1700" dirty="0" smtClean="0"/>
          </a:p>
          <a:p>
            <a:pPr marL="361950" indent="-361950" algn="just">
              <a:lnSpc>
                <a:spcPct val="100000"/>
              </a:lnSpc>
              <a:spcBef>
                <a:spcPts val="0"/>
              </a:spcBef>
              <a:buFont typeface="Wingdings" panose="05000000000000000000" pitchFamily="2" charset="2"/>
              <a:buChar char="Ø"/>
            </a:pPr>
            <a:r>
              <a:rPr lang="en-US" sz="1700" b="1" dirty="0" smtClean="0"/>
              <a:t>Research </a:t>
            </a:r>
            <a:r>
              <a:rPr lang="en-US" sz="1700" b="1" dirty="0"/>
              <a:t>institution</a:t>
            </a:r>
            <a:r>
              <a:rPr lang="en-US" sz="1700" dirty="0"/>
              <a:t> – represents the organization or entity involved in research</a:t>
            </a:r>
            <a:r>
              <a:rPr lang="en-US" sz="1700" dirty="0" smtClean="0"/>
              <a:t>.</a:t>
            </a:r>
          </a:p>
          <a:p>
            <a:pPr marL="361950" indent="-361950" algn="just">
              <a:lnSpc>
                <a:spcPct val="100000"/>
              </a:lnSpc>
              <a:spcBef>
                <a:spcPts val="0"/>
              </a:spcBef>
              <a:buFont typeface="Wingdings" panose="05000000000000000000" pitchFamily="2" charset="2"/>
              <a:buChar char="Ø"/>
            </a:pPr>
            <a:endParaRPr lang="en-US" sz="1700" dirty="0" smtClean="0"/>
          </a:p>
          <a:p>
            <a:pPr marL="361950" indent="-361950" algn="just">
              <a:lnSpc>
                <a:spcPct val="100000"/>
              </a:lnSpc>
              <a:spcBef>
                <a:spcPts val="0"/>
              </a:spcBef>
              <a:buFont typeface="Wingdings" panose="05000000000000000000" pitchFamily="2" charset="2"/>
              <a:buChar char="Ø"/>
            </a:pPr>
            <a:r>
              <a:rPr lang="en-US" sz="1700" b="1" dirty="0" smtClean="0"/>
              <a:t>Clinical Data</a:t>
            </a:r>
            <a:r>
              <a:rPr lang="en-US" sz="1700" dirty="0" smtClean="0"/>
              <a:t> </a:t>
            </a:r>
            <a:r>
              <a:rPr lang="en-US" sz="1700" dirty="0"/>
              <a:t>– denotes data specific to clinical operations or patient information</a:t>
            </a:r>
            <a:r>
              <a:rPr lang="en-US" sz="1700" dirty="0" smtClean="0"/>
              <a:t>.</a:t>
            </a:r>
          </a:p>
          <a:p>
            <a:pPr marL="361950" indent="-361950" algn="just">
              <a:lnSpc>
                <a:spcPct val="100000"/>
              </a:lnSpc>
              <a:spcBef>
                <a:spcPts val="0"/>
              </a:spcBef>
              <a:buFont typeface="Wingdings" panose="05000000000000000000" pitchFamily="2" charset="2"/>
              <a:buChar char="Ø"/>
            </a:pPr>
            <a:endParaRPr lang="en-US" sz="1700" dirty="0" smtClean="0"/>
          </a:p>
          <a:p>
            <a:pPr marL="361950" indent="-361950" algn="just">
              <a:lnSpc>
                <a:spcPct val="100000"/>
              </a:lnSpc>
              <a:spcBef>
                <a:spcPts val="0"/>
              </a:spcBef>
              <a:buFont typeface="Wingdings" panose="05000000000000000000" pitchFamily="2" charset="2"/>
              <a:buChar char="Ø"/>
            </a:pPr>
            <a:r>
              <a:rPr lang="en-US" sz="1700" b="1" dirty="0" smtClean="0"/>
              <a:t>Research Data</a:t>
            </a:r>
            <a:r>
              <a:rPr lang="en-US" sz="1700" dirty="0" smtClean="0"/>
              <a:t> </a:t>
            </a:r>
            <a:r>
              <a:rPr lang="en-US" sz="1700" dirty="0"/>
              <a:t>– indicates data generated from research activities.- Infrastructure &amp; interface (including separate repositories) – shows the technical layer that handles data storage and exchange, including intermediate </a:t>
            </a:r>
            <a:r>
              <a:rPr lang="en-US" sz="1700" dirty="0" smtClean="0"/>
              <a:t>repositories.</a:t>
            </a:r>
          </a:p>
          <a:p>
            <a:pPr marL="361950" indent="-361950" algn="just">
              <a:lnSpc>
                <a:spcPct val="100000"/>
              </a:lnSpc>
              <a:spcBef>
                <a:spcPts val="0"/>
              </a:spcBef>
              <a:buFont typeface="Wingdings" panose="05000000000000000000" pitchFamily="2" charset="2"/>
              <a:buChar char="Ø"/>
            </a:pPr>
            <a:endParaRPr lang="en-US" sz="1700" dirty="0" smtClean="0"/>
          </a:p>
          <a:p>
            <a:pPr marL="361950" indent="-361950" algn="just">
              <a:lnSpc>
                <a:spcPct val="100000"/>
              </a:lnSpc>
              <a:spcBef>
                <a:spcPts val="0"/>
              </a:spcBef>
              <a:buFont typeface="Wingdings" panose="05000000000000000000" pitchFamily="2" charset="2"/>
              <a:buChar char="Ø"/>
            </a:pPr>
            <a:r>
              <a:rPr lang="en-US" sz="1700" b="1" dirty="0" smtClean="0"/>
              <a:t>Data Exchange</a:t>
            </a:r>
            <a:r>
              <a:rPr lang="en-US" sz="1700" dirty="0" smtClean="0"/>
              <a:t> </a:t>
            </a:r>
            <a:r>
              <a:rPr lang="en-US" sz="1700" dirty="0"/>
              <a:t>– arrows that depict the flow of data between systems or databases</a:t>
            </a:r>
            <a:r>
              <a:rPr lang="en-US" sz="1700" dirty="0" smtClean="0"/>
              <a:t>. </a:t>
            </a:r>
          </a:p>
          <a:p>
            <a:pPr marL="361950" indent="-361950" algn="just">
              <a:lnSpc>
                <a:spcPct val="100000"/>
              </a:lnSpc>
              <a:spcBef>
                <a:spcPts val="0"/>
              </a:spcBef>
              <a:buFont typeface="Wingdings" panose="05000000000000000000" pitchFamily="2" charset="2"/>
              <a:buChar char="Ø"/>
            </a:pPr>
            <a:endParaRPr lang="en-US" sz="1700" dirty="0" smtClean="0"/>
          </a:p>
          <a:p>
            <a:pPr marL="361950" indent="-361950" algn="just">
              <a:lnSpc>
                <a:spcPct val="100000"/>
              </a:lnSpc>
              <a:spcBef>
                <a:spcPts val="0"/>
              </a:spcBef>
              <a:buFont typeface="Wingdings" panose="05000000000000000000" pitchFamily="2" charset="2"/>
              <a:buChar char="Ø"/>
            </a:pPr>
            <a:r>
              <a:rPr lang="en-US" sz="1700" dirty="0" smtClean="0"/>
              <a:t>In </a:t>
            </a:r>
            <a:r>
              <a:rPr lang="en-US" sz="1700" dirty="0"/>
              <a:t>the </a:t>
            </a:r>
            <a:r>
              <a:rPr lang="en-US" sz="1700" b="1" dirty="0" smtClean="0"/>
              <a:t>Hybrid </a:t>
            </a:r>
            <a:r>
              <a:rPr lang="en-US" sz="1700" b="1" dirty="0"/>
              <a:t>approach</a:t>
            </a:r>
            <a:r>
              <a:rPr lang="en-US" sz="1700" dirty="0"/>
              <a:t>, the research database connects through the infrastructure &amp; interface to enable data exchange with the clinical data repository, allowing centralized management (MDM) combined with federated storage for individual domains.</a:t>
            </a:r>
            <a:endParaRPr lang="en-US" sz="1700" dirty="0"/>
          </a:p>
        </p:txBody>
      </p:sp>
      <p:sp>
        <p:nvSpPr>
          <p:cNvPr id="5" name="AutoShape 2" descr="Centralized Database">
            <a:extLst>
              <a:ext uri="{FF2B5EF4-FFF2-40B4-BE49-F238E27FC236}">
                <a16:creationId xmlns:a16="http://schemas.microsoft.com/office/drawing/2014/main" id="{A178E5E1-34D2-114F-EF97-397F8D723E5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4" descr="Schematic drawings of centralised, decentralised and hybrid data pooling models. A centralised approach depends on a central data repository. A decentralised solution consists of a network of sibling repository nodes. A hybrid approach combines a network of decentralised repository nodes with a central infrastructural database.">
            <a:extLst>
              <a:ext uri="{FF2B5EF4-FFF2-40B4-BE49-F238E27FC236}">
                <a16:creationId xmlns:a16="http://schemas.microsoft.com/office/drawing/2014/main" id="{7FA39F64-9C25-1145-AAB6-D5809DB3B9D1}"/>
              </a:ext>
            </a:extLst>
          </p:cNvPr>
          <p:cNvSpPr>
            <a:spLocks noChangeAspect="1" noChangeArrowheads="1"/>
          </p:cNvSpPr>
          <p:nvPr/>
        </p:nvSpPr>
        <p:spPr bwMode="auto">
          <a:xfrm>
            <a:off x="3581400" y="3429000"/>
            <a:ext cx="2819400" cy="28194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8" name="Picture 7">
            <a:extLst>
              <a:ext uri="{FF2B5EF4-FFF2-40B4-BE49-F238E27FC236}">
                <a16:creationId xmlns:a16="http://schemas.microsoft.com/office/drawing/2014/main" id="{DC579A00-9A72-A7B6-8E0C-E111E9E43460}"/>
              </a:ext>
            </a:extLst>
          </p:cNvPr>
          <p:cNvPicPr>
            <a:picLocks noChangeAspect="1"/>
          </p:cNvPicPr>
          <p:nvPr/>
        </p:nvPicPr>
        <p:blipFill>
          <a:blip r:embed="rId2"/>
          <a:stretch>
            <a:fillRect/>
          </a:stretch>
        </p:blipFill>
        <p:spPr>
          <a:xfrm>
            <a:off x="6908426" y="937932"/>
            <a:ext cx="5086350" cy="5596218"/>
          </a:xfrm>
          <a:prstGeom prst="rect">
            <a:avLst/>
          </a:prstGeom>
        </p:spPr>
      </p:pic>
      <p:sp>
        <p:nvSpPr>
          <p:cNvPr id="4" name="Rectangle 3">
            <a:extLst>
              <a:ext uri="{FF2B5EF4-FFF2-40B4-BE49-F238E27FC236}">
                <a16:creationId xmlns:a16="http://schemas.microsoft.com/office/drawing/2014/main" id="{1D16C18B-6434-6C4C-BD9A-8DED100C4493}"/>
              </a:ext>
            </a:extLst>
          </p:cNvPr>
          <p:cNvSpPr/>
          <p:nvPr/>
        </p:nvSpPr>
        <p:spPr>
          <a:xfrm>
            <a:off x="9067800" y="3736041"/>
            <a:ext cx="2926976" cy="2961390"/>
          </a:xfrm>
          <a:prstGeom prst="rect">
            <a:avLst/>
          </a:prstGeom>
          <a:solidFill>
            <a:schemeClr val="lt1">
              <a:alpha val="0"/>
            </a:schemeClr>
          </a:solidFill>
          <a:ln w="57150"/>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445310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5AF5E-5C02-A9E5-AAF1-EC5427C451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232F71-FFF7-DC45-5012-ACD512B469B3}"/>
              </a:ext>
            </a:extLst>
          </p:cNvPr>
          <p:cNvSpPr>
            <a:spLocks noGrp="1"/>
          </p:cNvSpPr>
          <p:nvPr>
            <p:ph type="title"/>
          </p:nvPr>
        </p:nvSpPr>
        <p:spPr>
          <a:xfrm>
            <a:off x="831850" y="1709738"/>
            <a:ext cx="10515600" cy="2852737"/>
          </a:xfrm>
        </p:spPr>
        <p:txBody>
          <a:bodyPr anchor="b">
            <a:normAutofit/>
          </a:bodyPr>
          <a:lstStyle/>
          <a:p>
            <a:r>
              <a:rPr lang="en-US" dirty="0"/>
              <a:t>Categorization </a:t>
            </a:r>
            <a:br>
              <a:rPr lang="en-US" dirty="0"/>
            </a:br>
            <a:r>
              <a:rPr lang="en-US" dirty="0"/>
              <a:t>– By Storage </a:t>
            </a:r>
          </a:p>
        </p:txBody>
      </p:sp>
    </p:spTree>
    <p:extLst>
      <p:ext uri="{BB962C8B-B14F-4D97-AF65-F5344CB8AC3E}">
        <p14:creationId xmlns:p14="http://schemas.microsoft.com/office/powerpoint/2010/main" val="41225544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E064E59B-7F31-F626-8247-CCAB1B9A2B82}"/>
              </a:ext>
            </a:extLst>
          </p:cNvPr>
          <p:cNvPicPr>
            <a:picLocks noChangeAspect="1"/>
          </p:cNvPicPr>
          <p:nvPr/>
        </p:nvPicPr>
        <p:blipFill>
          <a:blip r:embed="rId2"/>
          <a:stretch>
            <a:fillRect/>
          </a:stretch>
        </p:blipFill>
        <p:spPr>
          <a:xfrm>
            <a:off x="196849" y="1143000"/>
            <a:ext cx="6280151" cy="2590800"/>
          </a:xfrm>
          <a:prstGeom prst="rect">
            <a:avLst/>
          </a:prstGeom>
        </p:spPr>
      </p:pic>
      <p:sp>
        <p:nvSpPr>
          <p:cNvPr id="13" name="Title 1">
            <a:extLst>
              <a:ext uri="{FF2B5EF4-FFF2-40B4-BE49-F238E27FC236}">
                <a16:creationId xmlns:a16="http://schemas.microsoft.com/office/drawing/2014/main" id="{539581F8-79DD-9ABD-E28A-CD30B2BD379B}"/>
              </a:ext>
            </a:extLst>
          </p:cNvPr>
          <p:cNvSpPr txBox="1">
            <a:spLocks/>
          </p:cNvSpPr>
          <p:nvPr/>
        </p:nvSpPr>
        <p:spPr>
          <a:xfrm>
            <a:off x="196848" y="228599"/>
            <a:ext cx="3917951" cy="61045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kern="1200">
                <a:solidFill>
                  <a:schemeClr val="bg1"/>
                </a:solidFill>
                <a:latin typeface="Helvetica" panose="020B0604020202030204" pitchFamily="34" charset="0"/>
                <a:ea typeface="+mj-ea"/>
                <a:cs typeface="+mj-cs"/>
              </a:defRPr>
            </a:lvl1pPr>
          </a:lstStyle>
          <a:p>
            <a:r>
              <a:rPr lang="en-US" dirty="0"/>
              <a:t>Data Warehouse</a:t>
            </a:r>
          </a:p>
        </p:txBody>
      </p:sp>
      <p:sp>
        <p:nvSpPr>
          <p:cNvPr id="14" name="TextBox 13">
            <a:extLst>
              <a:ext uri="{FF2B5EF4-FFF2-40B4-BE49-F238E27FC236}">
                <a16:creationId xmlns:a16="http://schemas.microsoft.com/office/drawing/2014/main" id="{77EC32CE-3678-F726-E06B-23DA6C74DAFA}"/>
              </a:ext>
            </a:extLst>
          </p:cNvPr>
          <p:cNvSpPr txBox="1"/>
          <p:nvPr/>
        </p:nvSpPr>
        <p:spPr>
          <a:xfrm>
            <a:off x="6483220" y="1073810"/>
            <a:ext cx="5480180" cy="2308324"/>
          </a:xfrm>
          <a:prstGeom prst="rect">
            <a:avLst/>
          </a:prstGeom>
          <a:noFill/>
        </p:spPr>
        <p:txBody>
          <a:bodyPr wrap="square" rtlCol="0">
            <a:spAutoFit/>
          </a:bodyPr>
          <a:lstStyle/>
          <a:p>
            <a:pPr marL="285750" indent="-2857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You are running an ETL </a:t>
            </a:r>
            <a:r>
              <a:rPr lang="en-US" dirty="0" smtClean="0">
                <a:latin typeface="Helvetica" panose="020B0604020202020204" pitchFamily="34" charset="0"/>
                <a:cs typeface="Helvetica" panose="020B0604020202020204" pitchFamily="34" charset="0"/>
              </a:rPr>
              <a:t>process</a:t>
            </a:r>
          </a:p>
          <a:p>
            <a:pPr marL="285750" indent="-285750" algn="just">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The data is already transformed to a defined / structured </a:t>
            </a:r>
            <a:r>
              <a:rPr lang="en-US" dirty="0" smtClean="0">
                <a:latin typeface="Helvetica" panose="020B0604020202020204" pitchFamily="34" charset="0"/>
                <a:cs typeface="Helvetica" panose="020B0604020202020204" pitchFamily="34" charset="0"/>
              </a:rPr>
              <a:t>format</a:t>
            </a:r>
          </a:p>
          <a:p>
            <a:pPr marL="285750" indent="-285750" algn="just">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You want to use it for business analytics</a:t>
            </a:r>
          </a:p>
          <a:p>
            <a:pPr marL="285750" indent="-285750" algn="just">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Which one is the right storage for this?</a:t>
            </a:r>
          </a:p>
        </p:txBody>
      </p:sp>
      <p:pic>
        <p:nvPicPr>
          <p:cNvPr id="16" name="Picture 15">
            <a:extLst>
              <a:ext uri="{FF2B5EF4-FFF2-40B4-BE49-F238E27FC236}">
                <a16:creationId xmlns:a16="http://schemas.microsoft.com/office/drawing/2014/main" id="{338416C7-A490-BDE0-13BF-78B9A6942C29}"/>
              </a:ext>
            </a:extLst>
          </p:cNvPr>
          <p:cNvPicPr>
            <a:picLocks noChangeAspect="1"/>
          </p:cNvPicPr>
          <p:nvPr/>
        </p:nvPicPr>
        <p:blipFill>
          <a:blip r:embed="rId3"/>
          <a:stretch>
            <a:fillRect/>
          </a:stretch>
        </p:blipFill>
        <p:spPr>
          <a:xfrm>
            <a:off x="5486400" y="3951867"/>
            <a:ext cx="6705601" cy="2590800"/>
          </a:xfrm>
          <a:prstGeom prst="rect">
            <a:avLst/>
          </a:prstGeom>
        </p:spPr>
      </p:pic>
      <p:sp>
        <p:nvSpPr>
          <p:cNvPr id="17" name="TextBox 16">
            <a:extLst>
              <a:ext uri="{FF2B5EF4-FFF2-40B4-BE49-F238E27FC236}">
                <a16:creationId xmlns:a16="http://schemas.microsoft.com/office/drawing/2014/main" id="{77E37205-7643-30A8-63F8-6CCC9A55F5DD}"/>
              </a:ext>
            </a:extLst>
          </p:cNvPr>
          <p:cNvSpPr txBox="1"/>
          <p:nvPr/>
        </p:nvSpPr>
        <p:spPr>
          <a:xfrm>
            <a:off x="125533" y="4286214"/>
            <a:ext cx="5056068" cy="1200329"/>
          </a:xfrm>
          <a:prstGeom prst="rect">
            <a:avLst/>
          </a:prstGeom>
          <a:noFill/>
        </p:spPr>
        <p:txBody>
          <a:bodyPr wrap="square" rtlCol="0">
            <a:spAutoFit/>
          </a:bodyPr>
          <a:lstStyle/>
          <a:p>
            <a:pPr marL="271463" lvl="1" indent="-271463" algn="just">
              <a:buFont typeface="Wingdings" panose="05000000000000000000" pitchFamily="2" charset="2"/>
              <a:buChar char="Ø"/>
            </a:pPr>
            <a:r>
              <a:rPr lang="en-IN" dirty="0">
                <a:latin typeface="Helvetica" panose="020B0604020202020204" pitchFamily="34" charset="0"/>
                <a:cs typeface="Helvetica" panose="020B0604020202020204" pitchFamily="34" charset="0"/>
              </a:rPr>
              <a:t>Load phase pushes data into DW </a:t>
            </a:r>
            <a:r>
              <a:rPr lang="en-IN" dirty="0" smtClean="0">
                <a:latin typeface="Helvetica" panose="020B0604020202020204" pitchFamily="34" charset="0"/>
                <a:cs typeface="Helvetica" panose="020B0604020202020204" pitchFamily="34" charset="0"/>
              </a:rPr>
              <a:t>target database system</a:t>
            </a:r>
          </a:p>
          <a:p>
            <a:pPr marL="271463" lvl="1" indent="-271463" algn="just">
              <a:buFont typeface="Wingdings" panose="05000000000000000000" pitchFamily="2" charset="2"/>
              <a:buChar char="Ø"/>
            </a:pPr>
            <a:endParaRPr lang="en-IN" dirty="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r>
              <a:rPr lang="en-IN" dirty="0">
                <a:latin typeface="Helvetica" panose="020B0604020202020204" pitchFamily="34" charset="0"/>
                <a:cs typeface="Helvetica" panose="020B0604020202020204" pitchFamily="34" charset="0"/>
              </a:rPr>
              <a:t>Transformation-on-Read ELT</a:t>
            </a:r>
          </a:p>
        </p:txBody>
      </p:sp>
    </p:spTree>
    <p:extLst>
      <p:ext uri="{BB962C8B-B14F-4D97-AF65-F5344CB8AC3E}">
        <p14:creationId xmlns:p14="http://schemas.microsoft.com/office/powerpoint/2010/main" val="627941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build="p"/>
      <p:bldP spid="17"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5C3856-3C36-5673-95B1-7B39E62D47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27FBF6-6D70-6D3A-2086-2779826995CB}"/>
              </a:ext>
            </a:extLst>
          </p:cNvPr>
          <p:cNvSpPr>
            <a:spLocks noGrp="1"/>
          </p:cNvSpPr>
          <p:nvPr>
            <p:ph type="title"/>
          </p:nvPr>
        </p:nvSpPr>
        <p:spPr>
          <a:xfrm>
            <a:off x="457200" y="218067"/>
            <a:ext cx="5410200" cy="696333"/>
          </a:xfrm>
        </p:spPr>
        <p:txBody>
          <a:bodyPr/>
          <a:lstStyle/>
          <a:p>
            <a:r>
              <a:rPr lang="en-US" dirty="0"/>
              <a:t>Data Warehouse Schema</a:t>
            </a:r>
          </a:p>
        </p:txBody>
      </p:sp>
      <p:sp>
        <p:nvSpPr>
          <p:cNvPr id="3" name="TextBox 2">
            <a:extLst>
              <a:ext uri="{FF2B5EF4-FFF2-40B4-BE49-F238E27FC236}">
                <a16:creationId xmlns:a16="http://schemas.microsoft.com/office/drawing/2014/main" id="{3493F952-CB2B-471D-0A0D-232F83EA3839}"/>
              </a:ext>
            </a:extLst>
          </p:cNvPr>
          <p:cNvSpPr txBox="1"/>
          <p:nvPr/>
        </p:nvSpPr>
        <p:spPr>
          <a:xfrm>
            <a:off x="304800" y="956309"/>
            <a:ext cx="10896600" cy="5355312"/>
          </a:xfrm>
          <a:prstGeom prst="rect">
            <a:avLst/>
          </a:prstGeom>
          <a:noFill/>
        </p:spPr>
        <p:txBody>
          <a:bodyPr wrap="square" rtlCol="0">
            <a:spAutoFit/>
          </a:bodyPr>
          <a:lstStyle/>
          <a:p>
            <a:pPr marL="285750" indent="-2857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A data warehouse schema is the logical structure or blueprint that organizes how data is stored, related, and queried within a data warehouse</a:t>
            </a:r>
            <a:r>
              <a:rPr lang="en-US" dirty="0" smtClean="0">
                <a:latin typeface="Helvetica" panose="020B0604020202020204" pitchFamily="34" charset="0"/>
                <a:cs typeface="Helvetica" panose="020B0604020202020204" pitchFamily="34" charset="0"/>
              </a:rPr>
              <a:t>.</a:t>
            </a:r>
          </a:p>
          <a:p>
            <a:pPr marL="285750" indent="-285750" algn="just">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It defines tables, keys, and relationships among facts (quantitative data) and dimensions (context data).</a:t>
            </a:r>
          </a:p>
          <a:p>
            <a:pPr marL="285750" indent="-285750" algn="just">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Unlike operational databases (which are optimized for transactions), a data warehouse is optimized for analytics, reporting, and decision support</a:t>
            </a:r>
            <a:r>
              <a:rPr lang="en-US" dirty="0" smtClean="0">
                <a:latin typeface="Helvetica" panose="020B0604020202020204" pitchFamily="34" charset="0"/>
                <a:cs typeface="Helvetica" panose="020B0604020202020204" pitchFamily="34" charset="0"/>
              </a:rPr>
              <a:t>.</a:t>
            </a:r>
          </a:p>
          <a:p>
            <a:pPr algn="just"/>
            <a:r>
              <a:rPr lang="en-US" dirty="0">
                <a:latin typeface="Helvetica" panose="020B0604020202020204" pitchFamily="34" charset="0"/>
                <a:cs typeface="Helvetica" panose="020B0604020202020204" pitchFamily="34" charset="0"/>
              </a:rPr>
              <a:t/>
            </a:r>
            <a:br>
              <a:rPr lang="en-US" dirty="0">
                <a:latin typeface="Helvetica" panose="020B0604020202020204" pitchFamily="34" charset="0"/>
                <a:cs typeface="Helvetica" panose="020B0604020202020204" pitchFamily="34" charset="0"/>
              </a:rPr>
            </a:br>
            <a:endParaRPr lang="en-US" dirty="0" smtClean="0">
              <a:latin typeface="Helvetica" panose="020B0604020202020204" pitchFamily="34" charset="0"/>
              <a:cs typeface="Helvetica" panose="020B0604020202020204" pitchFamily="34" charset="0"/>
            </a:endParaRPr>
          </a:p>
          <a:p>
            <a:pPr algn="just"/>
            <a:r>
              <a:rPr lang="en-US" dirty="0" smtClean="0">
                <a:latin typeface="Helvetica" panose="020B0604020202020204" pitchFamily="34" charset="0"/>
                <a:cs typeface="Helvetica" panose="020B0604020202020204" pitchFamily="34" charset="0"/>
              </a:rPr>
              <a:t>A </a:t>
            </a:r>
            <a:r>
              <a:rPr lang="en-US" dirty="0">
                <a:latin typeface="Helvetica" panose="020B0604020202020204" pitchFamily="34" charset="0"/>
                <a:cs typeface="Helvetica" panose="020B0604020202020204" pitchFamily="34" charset="0"/>
              </a:rPr>
              <a:t>schema ensures data is:</a:t>
            </a:r>
          </a:p>
          <a:p>
            <a:pPr marL="742950" lvl="1" indent="-285750" algn="just">
              <a:buFont typeface="Wingdings" panose="05000000000000000000" pitchFamily="2" charset="2"/>
              <a:buChar char="§"/>
            </a:pPr>
            <a:r>
              <a:rPr lang="en-US" dirty="0">
                <a:latin typeface="Helvetica" panose="020B0604020202020204" pitchFamily="34" charset="0"/>
                <a:cs typeface="Helvetica" panose="020B0604020202020204" pitchFamily="34" charset="0"/>
              </a:rPr>
              <a:t>Organized for fast </a:t>
            </a:r>
            <a:r>
              <a:rPr lang="en-US" dirty="0" smtClean="0">
                <a:latin typeface="Helvetica" panose="020B0604020202020204" pitchFamily="34" charset="0"/>
                <a:cs typeface="Helvetica" panose="020B0604020202020204" pitchFamily="34" charset="0"/>
              </a:rPr>
              <a:t>querying</a:t>
            </a:r>
          </a:p>
          <a:p>
            <a:pPr marL="742950" lvl="1" indent="-285750" algn="just">
              <a:buFont typeface="Wingdings" panose="05000000000000000000" pitchFamily="2" charset="2"/>
              <a:buChar char="§"/>
            </a:pPr>
            <a:endParaRPr lang="en-US" dirty="0">
              <a:latin typeface="Helvetica" panose="020B0604020202020204" pitchFamily="34" charset="0"/>
              <a:cs typeface="Helvetica" panose="020B0604020202020204" pitchFamily="34" charset="0"/>
            </a:endParaRPr>
          </a:p>
          <a:p>
            <a:pPr marL="742950" lvl="1" indent="-285750" algn="just">
              <a:buFont typeface="Wingdings" panose="05000000000000000000" pitchFamily="2" charset="2"/>
              <a:buChar char="§"/>
            </a:pPr>
            <a:r>
              <a:rPr lang="en-US" dirty="0">
                <a:latin typeface="Helvetica" panose="020B0604020202020204" pitchFamily="34" charset="0"/>
                <a:cs typeface="Helvetica" panose="020B0604020202020204" pitchFamily="34" charset="0"/>
              </a:rPr>
              <a:t>Consistent and </a:t>
            </a:r>
            <a:r>
              <a:rPr lang="en-US" dirty="0" smtClean="0">
                <a:latin typeface="Helvetica" panose="020B0604020202020204" pitchFamily="34" charset="0"/>
                <a:cs typeface="Helvetica" panose="020B0604020202020204" pitchFamily="34" charset="0"/>
              </a:rPr>
              <a:t>reusable</a:t>
            </a:r>
          </a:p>
          <a:p>
            <a:pPr marL="742950" lvl="1" indent="-285750" algn="just">
              <a:buFont typeface="Wingdings" panose="05000000000000000000" pitchFamily="2" charset="2"/>
              <a:buChar char="§"/>
            </a:pPr>
            <a:endParaRPr lang="en-US" dirty="0">
              <a:latin typeface="Helvetica" panose="020B0604020202020204" pitchFamily="34" charset="0"/>
              <a:cs typeface="Helvetica" panose="020B0604020202020204" pitchFamily="34" charset="0"/>
            </a:endParaRPr>
          </a:p>
          <a:p>
            <a:pPr marL="742950" lvl="1" indent="-285750" algn="just">
              <a:buFont typeface="Wingdings" panose="05000000000000000000" pitchFamily="2" charset="2"/>
              <a:buChar char="§"/>
            </a:pPr>
            <a:r>
              <a:rPr lang="en-US" dirty="0">
                <a:latin typeface="Helvetica" panose="020B0604020202020204" pitchFamily="34" charset="0"/>
                <a:cs typeface="Helvetica" panose="020B0604020202020204" pitchFamily="34" charset="0"/>
              </a:rPr>
              <a:t>Understandable to business </a:t>
            </a:r>
            <a:r>
              <a:rPr lang="en-US" dirty="0" smtClean="0">
                <a:latin typeface="Helvetica" panose="020B0604020202020204" pitchFamily="34" charset="0"/>
                <a:cs typeface="Helvetica" panose="020B0604020202020204" pitchFamily="34" charset="0"/>
              </a:rPr>
              <a:t>users</a:t>
            </a:r>
          </a:p>
          <a:p>
            <a:pPr marL="742950" lvl="1" indent="-285750" algn="just">
              <a:buFont typeface="Wingdings" panose="05000000000000000000" pitchFamily="2" charset="2"/>
              <a:buChar char="§"/>
            </a:pPr>
            <a:endParaRPr lang="en-US" dirty="0">
              <a:latin typeface="Helvetica" panose="020B0604020202020204" pitchFamily="34" charset="0"/>
              <a:cs typeface="Helvetica" panose="020B0604020202020204" pitchFamily="34" charset="0"/>
            </a:endParaRPr>
          </a:p>
          <a:p>
            <a:pPr marL="742950" lvl="1" indent="-285750" algn="just">
              <a:buFont typeface="Wingdings" panose="05000000000000000000" pitchFamily="2" charset="2"/>
              <a:buChar char="§"/>
            </a:pPr>
            <a:r>
              <a:rPr lang="en-US" dirty="0">
                <a:latin typeface="Helvetica" panose="020B0604020202020204" pitchFamily="34" charset="0"/>
                <a:cs typeface="Helvetica" panose="020B0604020202020204" pitchFamily="34" charset="0"/>
              </a:rPr>
              <a:t>Efficient for aggregation and slicing</a:t>
            </a:r>
          </a:p>
          <a:p>
            <a:pPr marL="285750" indent="-285750" algn="just">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2212347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58008-8D7F-C2A3-7771-D5CE23FE1B34}"/>
              </a:ext>
            </a:extLst>
          </p:cNvPr>
          <p:cNvSpPr>
            <a:spLocks noGrp="1"/>
          </p:cNvSpPr>
          <p:nvPr>
            <p:ph type="title"/>
          </p:nvPr>
        </p:nvSpPr>
        <p:spPr/>
        <p:txBody>
          <a:bodyPr/>
          <a:lstStyle/>
          <a:p>
            <a:r>
              <a:rPr lang="en-US" dirty="0"/>
              <a:t>Star Schema</a:t>
            </a:r>
          </a:p>
        </p:txBody>
      </p:sp>
      <p:pic>
        <p:nvPicPr>
          <p:cNvPr id="7" name="Picture 6">
            <a:extLst>
              <a:ext uri="{FF2B5EF4-FFF2-40B4-BE49-F238E27FC236}">
                <a16:creationId xmlns:a16="http://schemas.microsoft.com/office/drawing/2014/main" id="{945D89DB-6981-EDA6-BA23-E054B8FE6ADB}"/>
              </a:ext>
            </a:extLst>
          </p:cNvPr>
          <p:cNvPicPr>
            <a:picLocks noChangeAspect="1"/>
          </p:cNvPicPr>
          <p:nvPr/>
        </p:nvPicPr>
        <p:blipFill>
          <a:blip r:embed="rId2"/>
          <a:stretch>
            <a:fillRect/>
          </a:stretch>
        </p:blipFill>
        <p:spPr>
          <a:xfrm>
            <a:off x="304800" y="1363431"/>
            <a:ext cx="5348674" cy="5334000"/>
          </a:xfrm>
          <a:prstGeom prst="rect">
            <a:avLst/>
          </a:prstGeom>
        </p:spPr>
      </p:pic>
      <p:sp>
        <p:nvSpPr>
          <p:cNvPr id="8" name="TextBox 7">
            <a:extLst>
              <a:ext uri="{FF2B5EF4-FFF2-40B4-BE49-F238E27FC236}">
                <a16:creationId xmlns:a16="http://schemas.microsoft.com/office/drawing/2014/main" id="{ECFE31C2-2441-2E38-B6B1-6AE35E551D4F}"/>
              </a:ext>
            </a:extLst>
          </p:cNvPr>
          <p:cNvSpPr txBox="1"/>
          <p:nvPr/>
        </p:nvSpPr>
        <p:spPr>
          <a:xfrm>
            <a:off x="6324600" y="1363431"/>
            <a:ext cx="5348674" cy="2585323"/>
          </a:xfrm>
          <a:prstGeom prst="rect">
            <a:avLst/>
          </a:prstGeom>
          <a:noFill/>
        </p:spPr>
        <p:txBody>
          <a:bodyPr wrap="square" rtlCol="0">
            <a:spAutoFit/>
          </a:bodyPr>
          <a:lstStyle/>
          <a:p>
            <a:pPr marL="285750" indent="-2857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At the center, there's a main table called the fact table, which holds measurable data like sales or revenue. </a:t>
            </a:r>
            <a:endParaRPr lang="en-US" dirty="0" smtClean="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Around it are dimension tables, which add details like product names, customer info, or dates. </a:t>
            </a:r>
            <a:endParaRPr lang="en-US" dirty="0" smtClean="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This layout forms a star-like shape.</a:t>
            </a:r>
          </a:p>
        </p:txBody>
      </p:sp>
    </p:spTree>
    <p:extLst>
      <p:ext uri="{BB962C8B-B14F-4D97-AF65-F5344CB8AC3E}">
        <p14:creationId xmlns:p14="http://schemas.microsoft.com/office/powerpoint/2010/main" val="5301414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A535F-B001-AA91-F9B9-F5BC7D2758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4CDE0E-17B7-022D-C46D-E55A84604ACD}"/>
              </a:ext>
            </a:extLst>
          </p:cNvPr>
          <p:cNvSpPr>
            <a:spLocks noGrp="1"/>
          </p:cNvSpPr>
          <p:nvPr>
            <p:ph type="title"/>
          </p:nvPr>
        </p:nvSpPr>
        <p:spPr/>
        <p:txBody>
          <a:bodyPr/>
          <a:lstStyle/>
          <a:p>
            <a:r>
              <a:rPr lang="en-US" dirty="0"/>
              <a:t>Star Schema - </a:t>
            </a:r>
            <a:r>
              <a:rPr lang="en-US" dirty="0" err="1"/>
              <a:t>Contd</a:t>
            </a:r>
            <a:endParaRPr lang="en-US" dirty="0"/>
          </a:p>
        </p:txBody>
      </p:sp>
      <p:sp>
        <p:nvSpPr>
          <p:cNvPr id="8" name="TextBox 7">
            <a:extLst>
              <a:ext uri="{FF2B5EF4-FFF2-40B4-BE49-F238E27FC236}">
                <a16:creationId xmlns:a16="http://schemas.microsoft.com/office/drawing/2014/main" id="{7909F924-2C78-C980-5C1C-BB8F08B57EBF}"/>
              </a:ext>
            </a:extLst>
          </p:cNvPr>
          <p:cNvSpPr txBox="1"/>
          <p:nvPr/>
        </p:nvSpPr>
        <p:spPr>
          <a:xfrm>
            <a:off x="152400" y="1081702"/>
            <a:ext cx="11887200" cy="5355312"/>
          </a:xfrm>
          <a:prstGeom prst="rect">
            <a:avLst/>
          </a:prstGeom>
          <a:noFill/>
        </p:spPr>
        <p:txBody>
          <a:bodyPr wrap="square" rtlCol="0">
            <a:spAutoFit/>
          </a:bodyPr>
          <a:lstStyle/>
          <a:p>
            <a:pPr marL="285750" indent="-285750" algn="just">
              <a:buFont typeface="Wingdings" panose="05000000000000000000" pitchFamily="2" charset="2"/>
              <a:buChar char="Ø"/>
            </a:pPr>
            <a:r>
              <a:rPr lang="en-US" b="1" dirty="0">
                <a:latin typeface="Helvetica" panose="020B0604020202020204" pitchFamily="34" charset="0"/>
                <a:cs typeface="Helvetica" panose="020B0604020202020204" pitchFamily="34" charset="0"/>
              </a:rPr>
              <a:t>Single-level dimension tables</a:t>
            </a:r>
            <a:r>
              <a:rPr lang="en-US" dirty="0">
                <a:latin typeface="Helvetica" panose="020B0604020202020204" pitchFamily="34" charset="0"/>
                <a:cs typeface="Helvetica" panose="020B0604020202020204" pitchFamily="34" charset="0"/>
              </a:rPr>
              <a:t>: The dimension tables connect directly to the fact table without extra layers. Each table focuses on one area, like products, regions, or time, making it simple to use</a:t>
            </a:r>
            <a:r>
              <a:rPr lang="en-US" dirty="0" smtClean="0">
                <a:latin typeface="Helvetica" panose="020B0604020202020204" pitchFamily="34" charset="0"/>
                <a:cs typeface="Helvetica" panose="020B0604020202020204" pitchFamily="34" charset="0"/>
              </a:rPr>
              <a:t>.</a:t>
            </a:r>
          </a:p>
          <a:p>
            <a:pPr marL="285750" indent="-285750" algn="just">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r>
              <a:rPr lang="en-US" b="1" dirty="0">
                <a:latin typeface="Helvetica" panose="020B0604020202020204" pitchFamily="34" charset="0"/>
                <a:cs typeface="Helvetica" panose="020B0604020202020204" pitchFamily="34" charset="0"/>
              </a:rPr>
              <a:t>Denormalized design</a:t>
            </a:r>
            <a:r>
              <a:rPr lang="en-US" dirty="0">
                <a:latin typeface="Helvetica" panose="020B0604020202020204" pitchFamily="34" charset="0"/>
                <a:cs typeface="Helvetica" panose="020B0604020202020204" pitchFamily="34" charset="0"/>
              </a:rPr>
              <a:t>: In a star schema, related data is stored together in one table using a denormalized approach. For example, a product table may include the product ID, name, and category in the same place. While this may mean some data repetition, it processes queries faster</a:t>
            </a:r>
            <a:r>
              <a:rPr lang="en-US" dirty="0" smtClean="0">
                <a:latin typeface="Helvetica" panose="020B0604020202020204" pitchFamily="34" charset="0"/>
                <a:cs typeface="Helvetica" panose="020B0604020202020204" pitchFamily="34" charset="0"/>
              </a:rPr>
              <a:t>.</a:t>
            </a:r>
          </a:p>
          <a:p>
            <a:pPr marL="285750" indent="-285750" algn="just">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r>
              <a:rPr lang="en-US" b="1" dirty="0">
                <a:latin typeface="Helvetica" panose="020B0604020202020204" pitchFamily="34" charset="0"/>
                <a:cs typeface="Helvetica" panose="020B0604020202020204" pitchFamily="34" charset="0"/>
              </a:rPr>
              <a:t>Common in data warehousing</a:t>
            </a:r>
            <a:r>
              <a:rPr lang="en-US" dirty="0">
                <a:latin typeface="Helvetica" panose="020B0604020202020204" pitchFamily="34" charset="0"/>
                <a:cs typeface="Helvetica" panose="020B0604020202020204" pitchFamily="34" charset="0"/>
              </a:rPr>
              <a:t>: The star schema is used for quick analysis. It can easily filter or calculate totals, so it’s likely a good choice for data warehouses where fast insights are required</a:t>
            </a:r>
            <a:r>
              <a:rPr lang="en-US" dirty="0" smtClean="0">
                <a:latin typeface="Helvetica" panose="020B0604020202020204" pitchFamily="34" charset="0"/>
                <a:cs typeface="Helvetica" panose="020B0604020202020204" pitchFamily="34" charset="0"/>
              </a:rPr>
              <a:t>.</a:t>
            </a:r>
          </a:p>
          <a:p>
            <a:pPr marL="285750" indent="-285750" algn="just">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r>
              <a:rPr lang="en-US" b="1" u="sng" dirty="0">
                <a:latin typeface="Helvetica" panose="020B0604020202020204" pitchFamily="34" charset="0"/>
                <a:cs typeface="Helvetica" panose="020B0604020202020204" pitchFamily="34" charset="0"/>
              </a:rPr>
              <a:t>Advantages</a:t>
            </a:r>
            <a:r>
              <a:rPr lang="en-US" b="1" u="sng" dirty="0" smtClean="0">
                <a:latin typeface="Helvetica" panose="020B0604020202020204" pitchFamily="34" charset="0"/>
                <a:cs typeface="Helvetica" panose="020B0604020202020204" pitchFamily="34" charset="0"/>
              </a:rPr>
              <a:t>:</a:t>
            </a:r>
          </a:p>
          <a:p>
            <a:pPr marL="285750" indent="-285750" algn="just">
              <a:buFont typeface="Wingdings" panose="05000000000000000000" pitchFamily="2" charset="2"/>
              <a:buChar char="Ø"/>
            </a:pPr>
            <a:endParaRPr lang="en-US" b="1" u="sng" dirty="0">
              <a:latin typeface="Helvetica" panose="020B0604020202020204" pitchFamily="34" charset="0"/>
              <a:cs typeface="Helvetica" panose="020B0604020202020204" pitchFamily="34" charset="0"/>
            </a:endParaRPr>
          </a:p>
          <a:p>
            <a:pPr marL="742950" lvl="1" indent="-285750" algn="just">
              <a:buFont typeface="Wingdings" panose="05000000000000000000" pitchFamily="2" charset="2"/>
              <a:buChar char="§"/>
            </a:pPr>
            <a:r>
              <a:rPr lang="en-US" b="1" dirty="0">
                <a:latin typeface="Helvetica" panose="020B0604020202020204" pitchFamily="34" charset="0"/>
                <a:cs typeface="Helvetica" panose="020B0604020202020204" pitchFamily="34" charset="0"/>
              </a:rPr>
              <a:t>Faster query performance</a:t>
            </a:r>
            <a:r>
              <a:rPr lang="en-US" dirty="0">
                <a:latin typeface="Helvetica" panose="020B0604020202020204" pitchFamily="34" charset="0"/>
                <a:cs typeface="Helvetica" panose="020B0604020202020204" pitchFamily="34" charset="0"/>
              </a:rPr>
              <a:t>: The star schema simplifies data retrieval by making queries fast</a:t>
            </a:r>
            <a:r>
              <a:rPr lang="en-US" dirty="0" smtClean="0">
                <a:latin typeface="Helvetica" panose="020B0604020202020204" pitchFamily="34" charset="0"/>
                <a:cs typeface="Helvetica" panose="020B0604020202020204" pitchFamily="34" charset="0"/>
              </a:rPr>
              <a:t>.</a:t>
            </a:r>
          </a:p>
          <a:p>
            <a:pPr marL="742950" lvl="1" indent="-285750" algn="just">
              <a:buFont typeface="Wingdings" panose="05000000000000000000" pitchFamily="2" charset="2"/>
              <a:buChar char="§"/>
            </a:pPr>
            <a:endParaRPr lang="en-US" dirty="0">
              <a:latin typeface="Helvetica" panose="020B0604020202020204" pitchFamily="34" charset="0"/>
              <a:cs typeface="Helvetica" panose="020B0604020202020204" pitchFamily="34" charset="0"/>
            </a:endParaRPr>
          </a:p>
          <a:p>
            <a:pPr marL="742950" lvl="1" indent="-285750" algn="just">
              <a:buFont typeface="Wingdings" panose="05000000000000000000" pitchFamily="2" charset="2"/>
              <a:buChar char="§"/>
            </a:pPr>
            <a:r>
              <a:rPr lang="en-US" b="1" dirty="0">
                <a:latin typeface="Helvetica" panose="020B0604020202020204" pitchFamily="34" charset="0"/>
                <a:cs typeface="Helvetica" panose="020B0604020202020204" pitchFamily="34" charset="0"/>
              </a:rPr>
              <a:t>Easy to understand</a:t>
            </a:r>
            <a:r>
              <a:rPr lang="en-US" dirty="0">
                <a:latin typeface="Helvetica" panose="020B0604020202020204" pitchFamily="34" charset="0"/>
                <a:cs typeface="Helvetica" panose="020B0604020202020204" pitchFamily="34" charset="0"/>
              </a:rPr>
              <a:t>: Its structure is logical and simple to understand, even for non-technical users</a:t>
            </a:r>
            <a:r>
              <a:rPr lang="en-US" dirty="0" smtClean="0">
                <a:latin typeface="Helvetica" panose="020B0604020202020204" pitchFamily="34" charset="0"/>
                <a:cs typeface="Helvetica" panose="020B0604020202020204" pitchFamily="34" charset="0"/>
              </a:rPr>
              <a:t>.</a:t>
            </a:r>
          </a:p>
          <a:p>
            <a:pPr marL="742950" lvl="1" indent="-285750" algn="just">
              <a:buFont typeface="Wingdings" panose="05000000000000000000" pitchFamily="2" charset="2"/>
              <a:buChar char="§"/>
            </a:pPr>
            <a:endParaRPr lang="en-US" dirty="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r>
              <a:rPr lang="en-US" b="1" u="sng" dirty="0">
                <a:latin typeface="Helvetica" panose="020B0604020202020204" pitchFamily="34" charset="0"/>
                <a:cs typeface="Helvetica" panose="020B0604020202020204" pitchFamily="34" charset="0"/>
              </a:rPr>
              <a:t>Drawback</a:t>
            </a:r>
            <a:r>
              <a:rPr lang="en-US" b="1" u="sng" dirty="0" smtClean="0">
                <a:latin typeface="Helvetica" panose="020B0604020202020204" pitchFamily="34" charset="0"/>
                <a:cs typeface="Helvetica" panose="020B0604020202020204" pitchFamily="34" charset="0"/>
              </a:rPr>
              <a:t>:</a:t>
            </a:r>
          </a:p>
          <a:p>
            <a:pPr marL="285750" indent="-285750" algn="just">
              <a:buFont typeface="Wingdings" panose="05000000000000000000" pitchFamily="2" charset="2"/>
              <a:buChar char="Ø"/>
            </a:pPr>
            <a:endParaRPr lang="en-US" b="1" u="sng" dirty="0">
              <a:latin typeface="Helvetica" panose="020B0604020202020204" pitchFamily="34" charset="0"/>
              <a:cs typeface="Helvetica" panose="020B0604020202020204" pitchFamily="34" charset="0"/>
            </a:endParaRPr>
          </a:p>
          <a:p>
            <a:pPr marL="742950" lvl="1" indent="-285750" algn="just">
              <a:buFont typeface="Wingdings" panose="05000000000000000000" pitchFamily="2" charset="2"/>
              <a:buChar char="§"/>
            </a:pPr>
            <a:r>
              <a:rPr lang="en-US" dirty="0">
                <a:latin typeface="Helvetica" panose="020B0604020202020204" pitchFamily="34" charset="0"/>
                <a:cs typeface="Helvetica" panose="020B0604020202020204" pitchFamily="34" charset="0"/>
              </a:rPr>
              <a:t>due to denormalization, dimension tables often contain repeated information, which </a:t>
            </a:r>
            <a:r>
              <a:rPr lang="en-US" b="1" dirty="0">
                <a:latin typeface="Helvetica" panose="020B0604020202020204" pitchFamily="34" charset="0"/>
                <a:cs typeface="Helvetica" panose="020B0604020202020204" pitchFamily="34" charset="0"/>
              </a:rPr>
              <a:t>increases storage use</a:t>
            </a:r>
            <a:r>
              <a:rPr lang="en-US" dirty="0">
                <a:latin typeface="Helvetica" panose="020B0604020202020204" pitchFamily="34" charset="0"/>
                <a:cs typeface="Helvetica" panose="020B0604020202020204" pitchFamily="34" charset="0"/>
              </a:rPr>
              <a:t>. </a:t>
            </a:r>
          </a:p>
        </p:txBody>
      </p:sp>
    </p:spTree>
    <p:extLst>
      <p:ext uri="{BB962C8B-B14F-4D97-AF65-F5344CB8AC3E}">
        <p14:creationId xmlns:p14="http://schemas.microsoft.com/office/powerpoint/2010/main" val="4113396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xEl>
                                              <p:pRg st="12" end="1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bldLvl="3"/>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0C1C8-8F31-DF09-5A8C-51D9BD2F33E3}"/>
              </a:ext>
            </a:extLst>
          </p:cNvPr>
          <p:cNvSpPr>
            <a:spLocks noGrp="1"/>
          </p:cNvSpPr>
          <p:nvPr>
            <p:ph type="title"/>
          </p:nvPr>
        </p:nvSpPr>
        <p:spPr/>
        <p:txBody>
          <a:bodyPr/>
          <a:lstStyle/>
          <a:p>
            <a:r>
              <a:rPr lang="en-US" dirty="0"/>
              <a:t>Snow Flake Schema</a:t>
            </a:r>
          </a:p>
        </p:txBody>
      </p:sp>
      <p:sp>
        <p:nvSpPr>
          <p:cNvPr id="3" name="Text Placeholder 2">
            <a:extLst>
              <a:ext uri="{FF2B5EF4-FFF2-40B4-BE49-F238E27FC236}">
                <a16:creationId xmlns:a16="http://schemas.microsoft.com/office/drawing/2014/main" id="{E8E24C5D-BF6B-6194-B361-C072F4AAD25A}"/>
              </a:ext>
            </a:extLst>
          </p:cNvPr>
          <p:cNvSpPr>
            <a:spLocks noGrp="1"/>
          </p:cNvSpPr>
          <p:nvPr>
            <p:ph type="body" sz="quarter" idx="13"/>
          </p:nvPr>
        </p:nvSpPr>
        <p:spPr>
          <a:xfrm>
            <a:off x="7391401" y="1308429"/>
            <a:ext cx="4495800" cy="4939971"/>
          </a:xfrm>
        </p:spPr>
        <p:txBody>
          <a:bodyPr/>
          <a:lstStyle/>
          <a:p>
            <a:pPr algn="just">
              <a:buFont typeface="Wingdings" panose="05000000000000000000" pitchFamily="2" charset="2"/>
              <a:buChar char="Ø"/>
            </a:pPr>
            <a:r>
              <a:rPr lang="en-US" dirty="0" smtClean="0"/>
              <a:t>Dimension </a:t>
            </a:r>
            <a:r>
              <a:rPr lang="en-US" dirty="0"/>
              <a:t>tables are split into smaller sub-dimensions to keep data more organized and detailed — just like snowflakes in a large lake. </a:t>
            </a:r>
          </a:p>
        </p:txBody>
      </p:sp>
      <p:sp>
        <p:nvSpPr>
          <p:cNvPr id="5" name="AutoShape 2" descr="Snowflake schema layout.">
            <a:extLst>
              <a:ext uri="{FF2B5EF4-FFF2-40B4-BE49-F238E27FC236}">
                <a16:creationId xmlns:a16="http://schemas.microsoft.com/office/drawing/2014/main" id="{63FE0166-1392-D5CA-8083-35C5ADF49439}"/>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a:extLst>
              <a:ext uri="{FF2B5EF4-FFF2-40B4-BE49-F238E27FC236}">
                <a16:creationId xmlns:a16="http://schemas.microsoft.com/office/drawing/2014/main" id="{DDFA3677-0924-878B-1EA0-B0DCE65F2C03}"/>
              </a:ext>
            </a:extLst>
          </p:cNvPr>
          <p:cNvPicPr>
            <a:picLocks noChangeAspect="1"/>
          </p:cNvPicPr>
          <p:nvPr/>
        </p:nvPicPr>
        <p:blipFill>
          <a:blip r:embed="rId2"/>
          <a:stretch>
            <a:fillRect/>
          </a:stretch>
        </p:blipFill>
        <p:spPr>
          <a:xfrm>
            <a:off x="189863" y="1250157"/>
            <a:ext cx="6896737" cy="3429000"/>
          </a:xfrm>
          <a:prstGeom prst="rect">
            <a:avLst/>
          </a:prstGeom>
        </p:spPr>
      </p:pic>
    </p:spTree>
    <p:extLst>
      <p:ext uri="{BB962C8B-B14F-4D97-AF65-F5344CB8AC3E}">
        <p14:creationId xmlns:p14="http://schemas.microsoft.com/office/powerpoint/2010/main" val="2952058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D0B478-0B8C-78C6-FF00-C897E577EB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7ADB75-4B05-38CE-012D-D43DE142C533}"/>
              </a:ext>
            </a:extLst>
          </p:cNvPr>
          <p:cNvSpPr>
            <a:spLocks noGrp="1"/>
          </p:cNvSpPr>
          <p:nvPr>
            <p:ph type="title"/>
          </p:nvPr>
        </p:nvSpPr>
        <p:spPr/>
        <p:txBody>
          <a:bodyPr/>
          <a:lstStyle/>
          <a:p>
            <a:r>
              <a:rPr lang="en-US" dirty="0"/>
              <a:t>Snow Flake Schema - </a:t>
            </a:r>
            <a:r>
              <a:rPr lang="en-US" dirty="0" err="1"/>
              <a:t>contd</a:t>
            </a:r>
            <a:endParaRPr lang="en-US" dirty="0"/>
          </a:p>
        </p:txBody>
      </p:sp>
      <p:sp>
        <p:nvSpPr>
          <p:cNvPr id="3" name="Text Placeholder 2">
            <a:extLst>
              <a:ext uri="{FF2B5EF4-FFF2-40B4-BE49-F238E27FC236}">
                <a16:creationId xmlns:a16="http://schemas.microsoft.com/office/drawing/2014/main" id="{DBB0A0C4-D33F-18B3-F1BF-BDB22083563D}"/>
              </a:ext>
            </a:extLst>
          </p:cNvPr>
          <p:cNvSpPr>
            <a:spLocks noGrp="1"/>
          </p:cNvSpPr>
          <p:nvPr>
            <p:ph type="body" sz="quarter" idx="13"/>
          </p:nvPr>
        </p:nvSpPr>
        <p:spPr>
          <a:xfrm>
            <a:off x="76200" y="924933"/>
            <a:ext cx="11734800" cy="5738417"/>
          </a:xfrm>
        </p:spPr>
        <p:txBody>
          <a:bodyPr>
            <a:noAutofit/>
          </a:bodyPr>
          <a:lstStyle/>
          <a:p>
            <a:pPr algn="just">
              <a:lnSpc>
                <a:spcPct val="100000"/>
              </a:lnSpc>
              <a:buFont typeface="Wingdings" panose="05000000000000000000" pitchFamily="2" charset="2"/>
              <a:buChar char="Ø"/>
            </a:pPr>
            <a:r>
              <a:rPr lang="en-US" sz="1600" b="1" dirty="0"/>
              <a:t>Multi-level dimension tables</a:t>
            </a:r>
            <a:r>
              <a:rPr lang="en-US" sz="1600" dirty="0"/>
              <a:t>: We can break down our dimension tables into smaller, more specific tables</a:t>
            </a:r>
            <a:r>
              <a:rPr lang="en-US" sz="1600" dirty="0" smtClean="0"/>
              <a:t>.</a:t>
            </a:r>
          </a:p>
          <a:p>
            <a:pPr algn="just">
              <a:lnSpc>
                <a:spcPct val="100000"/>
              </a:lnSpc>
              <a:buFont typeface="Wingdings" panose="05000000000000000000" pitchFamily="2" charset="2"/>
              <a:buChar char="Ø"/>
            </a:pPr>
            <a:endParaRPr lang="en-US" sz="1600" dirty="0"/>
          </a:p>
          <a:p>
            <a:pPr algn="just">
              <a:lnSpc>
                <a:spcPct val="100000"/>
              </a:lnSpc>
              <a:buFont typeface="Wingdings" panose="05000000000000000000" pitchFamily="2" charset="2"/>
              <a:buChar char="Ø"/>
            </a:pPr>
            <a:r>
              <a:rPr lang="en-US" sz="1600" b="1" dirty="0"/>
              <a:t>Normalization for storage efficiency</a:t>
            </a:r>
            <a:r>
              <a:rPr lang="en-US" sz="1600" dirty="0"/>
              <a:t>: Unlike star schema, the snowflake schema follows a </a:t>
            </a:r>
            <a:r>
              <a:rPr lang="en-US" sz="1600" b="1" dirty="0">
                <a:hlinkClick r:id="rId2"/>
              </a:rPr>
              <a:t>normalized design</a:t>
            </a:r>
            <a:r>
              <a:rPr lang="en-US" sz="1600" dirty="0"/>
              <a:t>, which avoids data duplication. </a:t>
            </a:r>
            <a:endParaRPr lang="en-US" sz="1600" dirty="0" smtClean="0"/>
          </a:p>
          <a:p>
            <a:pPr algn="just">
              <a:lnSpc>
                <a:spcPct val="100000"/>
              </a:lnSpc>
              <a:buFont typeface="Wingdings" panose="05000000000000000000" pitchFamily="2" charset="2"/>
              <a:buChar char="Ø"/>
            </a:pPr>
            <a:endParaRPr lang="en-US" sz="1600" dirty="0"/>
          </a:p>
          <a:p>
            <a:pPr algn="just">
              <a:lnSpc>
                <a:spcPct val="100000"/>
              </a:lnSpc>
              <a:buFont typeface="Wingdings" panose="05000000000000000000" pitchFamily="2" charset="2"/>
              <a:buChar char="Ø"/>
            </a:pPr>
            <a:r>
              <a:rPr lang="en-US" sz="1600" dirty="0"/>
              <a:t>Suitability for complex data environments: The snowflake schema works best for complex data environments because it uses multi-level tables to handle intricate relationships and hierarchical data structures.</a:t>
            </a:r>
          </a:p>
          <a:p>
            <a:pPr algn="just">
              <a:lnSpc>
                <a:spcPct val="100000"/>
              </a:lnSpc>
              <a:buFont typeface="Wingdings" panose="05000000000000000000" pitchFamily="2" charset="2"/>
              <a:buChar char="Ø"/>
            </a:pPr>
            <a:r>
              <a:rPr lang="en-US" sz="1600" b="1" u="sng" dirty="0"/>
              <a:t>Advantages:</a:t>
            </a:r>
          </a:p>
          <a:p>
            <a:pPr lvl="1" algn="just">
              <a:lnSpc>
                <a:spcPct val="100000"/>
              </a:lnSpc>
              <a:buFont typeface="Wingdings" panose="05000000000000000000" pitchFamily="2" charset="2"/>
              <a:buChar char="§"/>
            </a:pPr>
            <a:r>
              <a:rPr lang="en-US" b="1" dirty="0"/>
              <a:t>Less data redundancy</a:t>
            </a:r>
            <a:r>
              <a:rPr lang="en-US" dirty="0"/>
              <a:t>: Normalization ensures that the same data is not stored multiple times, which reduces duplication</a:t>
            </a:r>
            <a:r>
              <a:rPr lang="en-US" dirty="0" smtClean="0"/>
              <a:t>.</a:t>
            </a:r>
          </a:p>
          <a:p>
            <a:pPr lvl="1" algn="just">
              <a:lnSpc>
                <a:spcPct val="100000"/>
              </a:lnSpc>
              <a:buFont typeface="Wingdings" panose="05000000000000000000" pitchFamily="2" charset="2"/>
              <a:buChar char="§"/>
            </a:pPr>
            <a:endParaRPr lang="en-US" dirty="0"/>
          </a:p>
          <a:p>
            <a:pPr lvl="1" algn="just">
              <a:lnSpc>
                <a:spcPct val="100000"/>
              </a:lnSpc>
              <a:buFont typeface="Wingdings" panose="05000000000000000000" pitchFamily="2" charset="2"/>
              <a:buChar char="§"/>
            </a:pPr>
            <a:r>
              <a:rPr lang="en-US" b="1" dirty="0"/>
              <a:t>Efficient storage for large datasets</a:t>
            </a:r>
            <a:r>
              <a:rPr lang="en-US" dirty="0"/>
              <a:t>: This schema saves storage space by avoiding repeated data, making it ideal for managing large datasets.</a:t>
            </a:r>
          </a:p>
          <a:p>
            <a:pPr marL="0" indent="0" algn="just">
              <a:lnSpc>
                <a:spcPct val="100000"/>
              </a:lnSpc>
              <a:buNone/>
            </a:pPr>
            <a:r>
              <a:rPr lang="en-US" sz="1600" b="1" u="sng" dirty="0"/>
              <a:t>Drawbacks:</a:t>
            </a:r>
          </a:p>
          <a:p>
            <a:pPr lvl="1" algn="just">
              <a:lnSpc>
                <a:spcPct val="100000"/>
              </a:lnSpc>
              <a:buFont typeface="Wingdings" panose="05000000000000000000" pitchFamily="2" charset="2"/>
              <a:buChar char="§"/>
            </a:pPr>
            <a:r>
              <a:rPr lang="en-US" b="1" dirty="0" smtClean="0"/>
              <a:t>Queries </a:t>
            </a:r>
            <a:r>
              <a:rPr lang="en-US" b="1" dirty="0"/>
              <a:t>can be slower</a:t>
            </a:r>
            <a:r>
              <a:rPr lang="en-US" dirty="0"/>
              <a:t> because there are more joins between tables. </a:t>
            </a:r>
            <a:endParaRPr lang="en-US" dirty="0" smtClean="0"/>
          </a:p>
          <a:p>
            <a:pPr lvl="1" algn="just">
              <a:lnSpc>
                <a:spcPct val="100000"/>
              </a:lnSpc>
              <a:buFont typeface="Wingdings" panose="05000000000000000000" pitchFamily="2" charset="2"/>
              <a:buChar char="§"/>
            </a:pPr>
            <a:endParaRPr lang="en-US" dirty="0"/>
          </a:p>
          <a:p>
            <a:pPr lvl="1" algn="just">
              <a:lnSpc>
                <a:spcPct val="100000"/>
              </a:lnSpc>
              <a:buFont typeface="Wingdings" panose="05000000000000000000" pitchFamily="2" charset="2"/>
              <a:buChar char="§"/>
            </a:pPr>
            <a:r>
              <a:rPr lang="en-US" dirty="0"/>
              <a:t>Apart from this, the multi-level structure is more </a:t>
            </a:r>
            <a:r>
              <a:rPr lang="en-US" b="1" dirty="0"/>
              <a:t>challenging to design and maintain</a:t>
            </a:r>
            <a:r>
              <a:rPr lang="en-US" dirty="0"/>
              <a:t> than simpler schemas like star schema. </a:t>
            </a:r>
            <a:endParaRPr lang="en-US" b="1" u="sng" dirty="0"/>
          </a:p>
        </p:txBody>
      </p:sp>
      <p:sp>
        <p:nvSpPr>
          <p:cNvPr id="5" name="AutoShape 2" descr="Snowflake schema layout.">
            <a:extLst>
              <a:ext uri="{FF2B5EF4-FFF2-40B4-BE49-F238E27FC236}">
                <a16:creationId xmlns:a16="http://schemas.microsoft.com/office/drawing/2014/main" id="{7D7C450D-75A5-F347-21DC-DF25DAD679D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342330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39A64-0680-8F51-2009-D006DC9EB3D2}"/>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81B2CC0E-EB07-9E38-94DE-FE56064E0F02}"/>
              </a:ext>
            </a:extLst>
          </p:cNvPr>
          <p:cNvSpPr txBox="1">
            <a:spLocks/>
          </p:cNvSpPr>
          <p:nvPr/>
        </p:nvSpPr>
        <p:spPr>
          <a:xfrm>
            <a:off x="685800" y="190412"/>
            <a:ext cx="3505200" cy="76436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kern="1200">
                <a:solidFill>
                  <a:schemeClr val="bg1"/>
                </a:solidFill>
                <a:latin typeface="Helvetica" panose="020B0604020202030204" pitchFamily="34" charset="0"/>
                <a:ea typeface="+mj-ea"/>
                <a:cs typeface="+mj-cs"/>
              </a:defRPr>
            </a:lvl1pPr>
          </a:lstStyle>
          <a:p>
            <a:r>
              <a:rPr lang="en-US" dirty="0"/>
              <a:t>Data Marts</a:t>
            </a:r>
          </a:p>
        </p:txBody>
      </p:sp>
      <p:sp>
        <p:nvSpPr>
          <p:cNvPr id="14" name="TextBox 13">
            <a:extLst>
              <a:ext uri="{FF2B5EF4-FFF2-40B4-BE49-F238E27FC236}">
                <a16:creationId xmlns:a16="http://schemas.microsoft.com/office/drawing/2014/main" id="{E04A2400-D265-60D5-4320-6A1B5F46E695}"/>
              </a:ext>
            </a:extLst>
          </p:cNvPr>
          <p:cNvSpPr txBox="1"/>
          <p:nvPr/>
        </p:nvSpPr>
        <p:spPr>
          <a:xfrm>
            <a:off x="152400" y="923400"/>
            <a:ext cx="4419600" cy="4801314"/>
          </a:xfrm>
          <a:prstGeom prst="rect">
            <a:avLst/>
          </a:prstGeom>
          <a:noFill/>
        </p:spPr>
        <p:txBody>
          <a:bodyPr wrap="square" rtlCol="0">
            <a:spAutoFit/>
          </a:bodyPr>
          <a:lstStyle/>
          <a:p>
            <a:pPr marL="285750" indent="-2857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Consider a scenario where after storing the data in data warehouse, individual departments want the data for their own analytical purpose. </a:t>
            </a:r>
            <a:endParaRPr lang="en-US" dirty="0" smtClean="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r>
              <a:rPr lang="en-US" dirty="0" err="1" smtClean="0">
                <a:latin typeface="Helvetica" panose="020B0604020202020204" pitchFamily="34" charset="0"/>
                <a:cs typeface="Helvetica" panose="020B0604020202020204" pitchFamily="34" charset="0"/>
              </a:rPr>
              <a:t>Eg</a:t>
            </a:r>
            <a:r>
              <a:rPr lang="en-US" dirty="0">
                <a:latin typeface="Helvetica" panose="020B0604020202020204" pitchFamily="34" charset="0"/>
                <a:cs typeface="Helvetica" panose="020B0604020202020204" pitchFamily="34" charset="0"/>
              </a:rPr>
              <a:t>: HR wants to see how the recruitment is performing,  IT team wants to build a dashboard on the frequence of tickets basis the type of ticket. </a:t>
            </a:r>
            <a:endParaRPr lang="en-US" dirty="0" smtClean="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So running a query on the entire database will have an impact on the performance and may delay the </a:t>
            </a:r>
            <a:r>
              <a:rPr lang="en-US" dirty="0" smtClean="0">
                <a:latin typeface="Helvetica" panose="020B0604020202020204" pitchFamily="34" charset="0"/>
                <a:cs typeface="Helvetica" panose="020B0604020202020204" pitchFamily="34" charset="0"/>
              </a:rPr>
              <a:t>outcome</a:t>
            </a:r>
          </a:p>
          <a:p>
            <a:pPr marL="285750" indent="-285750" algn="just">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What is the solution?</a:t>
            </a:r>
          </a:p>
        </p:txBody>
      </p:sp>
      <p:pic>
        <p:nvPicPr>
          <p:cNvPr id="5" name="Picture 4">
            <a:extLst>
              <a:ext uri="{FF2B5EF4-FFF2-40B4-BE49-F238E27FC236}">
                <a16:creationId xmlns:a16="http://schemas.microsoft.com/office/drawing/2014/main" id="{EEB9EDA6-FDC0-0FFC-5FC6-6A53206D3427}"/>
              </a:ext>
            </a:extLst>
          </p:cNvPr>
          <p:cNvPicPr>
            <a:picLocks noChangeAspect="1"/>
          </p:cNvPicPr>
          <p:nvPr/>
        </p:nvPicPr>
        <p:blipFill>
          <a:blip r:embed="rId2"/>
          <a:stretch>
            <a:fillRect/>
          </a:stretch>
        </p:blipFill>
        <p:spPr>
          <a:xfrm>
            <a:off x="4962525" y="1143000"/>
            <a:ext cx="7229475" cy="3629025"/>
          </a:xfrm>
          <a:prstGeom prst="rect">
            <a:avLst/>
          </a:prstGeom>
        </p:spPr>
      </p:pic>
      <p:sp>
        <p:nvSpPr>
          <p:cNvPr id="8" name="TextBox 7">
            <a:extLst>
              <a:ext uri="{FF2B5EF4-FFF2-40B4-BE49-F238E27FC236}">
                <a16:creationId xmlns:a16="http://schemas.microsoft.com/office/drawing/2014/main" id="{DE63087B-799E-B49A-2DF6-B2C065CCF3FA}"/>
              </a:ext>
            </a:extLst>
          </p:cNvPr>
          <p:cNvSpPr txBox="1"/>
          <p:nvPr/>
        </p:nvSpPr>
        <p:spPr>
          <a:xfrm>
            <a:off x="4876800" y="5345668"/>
            <a:ext cx="7086600" cy="369332"/>
          </a:xfrm>
          <a:prstGeom prst="rect">
            <a:avLst/>
          </a:prstGeom>
          <a:noFill/>
        </p:spPr>
        <p:txBody>
          <a:bodyPr wrap="square" rtlCol="0">
            <a:spAutoFit/>
          </a:bodyPr>
          <a:lstStyle/>
          <a:p>
            <a:pPr algn="ctr"/>
            <a:r>
              <a:rPr lang="en-US" dirty="0">
                <a:latin typeface="Helvetica" panose="020B0604020202020204" pitchFamily="34" charset="0"/>
                <a:cs typeface="Helvetica" panose="020B0604020202020204" pitchFamily="34" charset="0"/>
              </a:rPr>
              <a:t>A special case of Data Warehouse</a:t>
            </a:r>
          </a:p>
        </p:txBody>
      </p:sp>
    </p:spTree>
    <p:extLst>
      <p:ext uri="{BB962C8B-B14F-4D97-AF65-F5344CB8AC3E}">
        <p14:creationId xmlns:p14="http://schemas.microsoft.com/office/powerpoint/2010/main" val="1763959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build="p"/>
      <p:bldP spid="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3CE14-04A5-0D07-C8CF-9230216510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13E52F-C60E-6E67-FB5E-C75EBF69AC0F}"/>
              </a:ext>
            </a:extLst>
          </p:cNvPr>
          <p:cNvSpPr>
            <a:spLocks noGrp="1"/>
          </p:cNvSpPr>
          <p:nvPr>
            <p:ph type="title"/>
          </p:nvPr>
        </p:nvSpPr>
        <p:spPr>
          <a:xfrm>
            <a:off x="838200" y="160569"/>
            <a:ext cx="5105400" cy="764364"/>
          </a:xfrm>
        </p:spPr>
        <p:txBody>
          <a:bodyPr>
            <a:normAutofit/>
          </a:bodyPr>
          <a:lstStyle/>
          <a:p>
            <a:r>
              <a:rPr lang="en-US" dirty="0"/>
              <a:t>Data Marts</a:t>
            </a:r>
          </a:p>
        </p:txBody>
      </p:sp>
      <p:sp>
        <p:nvSpPr>
          <p:cNvPr id="13" name="Title 1">
            <a:extLst>
              <a:ext uri="{FF2B5EF4-FFF2-40B4-BE49-F238E27FC236}">
                <a16:creationId xmlns:a16="http://schemas.microsoft.com/office/drawing/2014/main" id="{06FA4872-8716-E7F3-ED3E-C5FA0FEB9C36}"/>
              </a:ext>
            </a:extLst>
          </p:cNvPr>
          <p:cNvSpPr txBox="1">
            <a:spLocks/>
          </p:cNvSpPr>
          <p:nvPr/>
        </p:nvSpPr>
        <p:spPr>
          <a:xfrm>
            <a:off x="3505200" y="160569"/>
            <a:ext cx="3505200" cy="76436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kern="1200">
                <a:solidFill>
                  <a:schemeClr val="bg1"/>
                </a:solidFill>
                <a:latin typeface="Helvetica" panose="020B0604020202030204" pitchFamily="34" charset="0"/>
                <a:ea typeface="+mj-ea"/>
                <a:cs typeface="+mj-cs"/>
              </a:defRPr>
            </a:lvl1pPr>
          </a:lstStyle>
          <a:p>
            <a:endParaRPr lang="en-US" dirty="0"/>
          </a:p>
        </p:txBody>
      </p:sp>
      <p:sp>
        <p:nvSpPr>
          <p:cNvPr id="14" name="TextBox 13">
            <a:extLst>
              <a:ext uri="{FF2B5EF4-FFF2-40B4-BE49-F238E27FC236}">
                <a16:creationId xmlns:a16="http://schemas.microsoft.com/office/drawing/2014/main" id="{7AE6B987-7C6D-E88A-24D2-D1CCBAD1BBF3}"/>
              </a:ext>
            </a:extLst>
          </p:cNvPr>
          <p:cNvSpPr txBox="1"/>
          <p:nvPr/>
        </p:nvSpPr>
        <p:spPr>
          <a:xfrm>
            <a:off x="138953" y="1295400"/>
            <a:ext cx="11824447" cy="4524315"/>
          </a:xfrm>
          <a:prstGeom prst="rect">
            <a:avLst/>
          </a:prstGeom>
          <a:noFill/>
        </p:spPr>
        <p:txBody>
          <a:bodyPr wrap="square" rtlCol="0">
            <a:spAutoFit/>
          </a:bodyPr>
          <a:lstStyle/>
          <a:p>
            <a:pPr marL="285750" indent="-285750" algn="just">
              <a:buFont typeface="Wingdings" panose="05000000000000000000" pitchFamily="2" charset="2"/>
              <a:buChar char="Ø"/>
            </a:pPr>
            <a:r>
              <a:rPr lang="en-IN" dirty="0">
                <a:latin typeface="Helvetica" panose="020B0604020202020204" pitchFamily="34" charset="0"/>
                <a:cs typeface="Helvetica" panose="020B0604020202020204" pitchFamily="34" charset="0"/>
              </a:rPr>
              <a:t>More refined subset of a warehouse designed to serve analytics and reporting, focused on a single sub organization, department or line of business </a:t>
            </a:r>
            <a:endParaRPr lang="en-IN" dirty="0" smtClean="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endParaRPr lang="en-IN" dirty="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r>
              <a:rPr lang="en-IN" dirty="0">
                <a:latin typeface="Helvetica" panose="020B0604020202020204" pitchFamily="34" charset="0"/>
                <a:cs typeface="Helvetica" panose="020B0604020202020204" pitchFamily="34" charset="0"/>
              </a:rPr>
              <a:t>Every department has its own data mart, specific to its needs </a:t>
            </a:r>
            <a:endParaRPr lang="en-IN" dirty="0" smtClean="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endParaRPr lang="en-IN" dirty="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r>
              <a:rPr lang="en-IN" dirty="0">
                <a:latin typeface="Helvetica" panose="020B0604020202020204" pitchFamily="34" charset="0"/>
                <a:cs typeface="Helvetica" panose="020B0604020202020204" pitchFamily="34" charset="0"/>
              </a:rPr>
              <a:t>Contrast to full data warehouse that serves the broader organization or </a:t>
            </a:r>
            <a:r>
              <a:rPr lang="en-IN" dirty="0" smtClean="0">
                <a:latin typeface="Helvetica" panose="020B0604020202020204" pitchFamily="34" charset="0"/>
                <a:cs typeface="Helvetica" panose="020B0604020202020204" pitchFamily="34" charset="0"/>
              </a:rPr>
              <a:t>business</a:t>
            </a:r>
          </a:p>
          <a:p>
            <a:pPr marL="285750" indent="-285750" algn="just">
              <a:buFont typeface="Wingdings" panose="05000000000000000000" pitchFamily="2" charset="2"/>
              <a:buChar char="Ø"/>
            </a:pPr>
            <a:endParaRPr lang="en-IN" dirty="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r>
              <a:rPr lang="en-IN" dirty="0">
                <a:latin typeface="Helvetica" panose="020B0604020202020204" pitchFamily="34" charset="0"/>
                <a:cs typeface="Helvetica" panose="020B0604020202020204" pitchFamily="34" charset="0"/>
              </a:rPr>
              <a:t>Makes data more easily accessible to analysts and report </a:t>
            </a:r>
            <a:r>
              <a:rPr lang="en-IN" dirty="0" smtClean="0">
                <a:latin typeface="Helvetica" panose="020B0604020202020204" pitchFamily="34" charset="0"/>
                <a:cs typeface="Helvetica" panose="020B0604020202020204" pitchFamily="34" charset="0"/>
              </a:rPr>
              <a:t>developers</a:t>
            </a:r>
          </a:p>
          <a:p>
            <a:pPr marL="285750" indent="-285750" algn="just">
              <a:buFont typeface="Wingdings" panose="05000000000000000000" pitchFamily="2" charset="2"/>
              <a:buChar char="Ø"/>
            </a:pPr>
            <a:endParaRPr lang="en-IN" dirty="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r>
              <a:rPr lang="en-IN" dirty="0">
                <a:latin typeface="Helvetica" panose="020B0604020202020204" pitchFamily="34" charset="0"/>
                <a:cs typeface="Helvetica" panose="020B0604020202020204" pitchFamily="34" charset="0"/>
              </a:rPr>
              <a:t>Provide additional stage of transformation beyond that provided by initial ETL/ELT </a:t>
            </a:r>
            <a:r>
              <a:rPr lang="en-IN" dirty="0" smtClean="0">
                <a:latin typeface="Helvetica" panose="020B0604020202020204" pitchFamily="34" charset="0"/>
                <a:cs typeface="Helvetica" panose="020B0604020202020204" pitchFamily="34" charset="0"/>
              </a:rPr>
              <a:t>pipelines</a:t>
            </a:r>
          </a:p>
          <a:p>
            <a:pPr marL="285750" indent="-285750" algn="just">
              <a:buFont typeface="Wingdings" panose="05000000000000000000" pitchFamily="2" charset="2"/>
              <a:buChar char="Ø"/>
            </a:pPr>
            <a:endParaRPr lang="en-IN" dirty="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r>
              <a:rPr lang="en-IN" dirty="0">
                <a:latin typeface="Helvetica" panose="020B0604020202020204" pitchFamily="34" charset="0"/>
                <a:cs typeface="Helvetica" panose="020B0604020202020204" pitchFamily="34" charset="0"/>
              </a:rPr>
              <a:t>Significantly improves performance if reports or analytics requires complex joins and aggregations of data, especially when raw data is large </a:t>
            </a:r>
            <a:endParaRPr lang="en-IN" dirty="0" smtClean="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endParaRPr lang="en-IN" dirty="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r>
              <a:rPr lang="en-IN" dirty="0">
                <a:latin typeface="Helvetica" panose="020B0604020202020204" pitchFamily="34" charset="0"/>
                <a:cs typeface="Helvetica" panose="020B0604020202020204" pitchFamily="34" charset="0"/>
              </a:rPr>
              <a:t>Transform processes can populate data mart with joined and aggregated data to improve performance of live queries</a:t>
            </a:r>
            <a:endParaRPr lang="en-US"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2983541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88705-F80A-0C4D-CA3A-8A49D6765D7A}"/>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C6681B88-98C4-D72D-EB29-0B89B7A9BAC2}"/>
              </a:ext>
            </a:extLst>
          </p:cNvPr>
          <p:cNvSpPr txBox="1">
            <a:spLocks/>
          </p:cNvSpPr>
          <p:nvPr/>
        </p:nvSpPr>
        <p:spPr>
          <a:xfrm>
            <a:off x="838200" y="200623"/>
            <a:ext cx="3505200" cy="76436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kern="1200">
                <a:solidFill>
                  <a:schemeClr val="bg1"/>
                </a:solidFill>
                <a:latin typeface="Helvetica" panose="020B0604020202030204" pitchFamily="34" charset="0"/>
                <a:ea typeface="+mj-ea"/>
                <a:cs typeface="+mj-cs"/>
              </a:defRPr>
            </a:lvl1pPr>
          </a:lstStyle>
          <a:p>
            <a:r>
              <a:rPr lang="en-US" dirty="0"/>
              <a:t>Data Lake</a:t>
            </a:r>
          </a:p>
        </p:txBody>
      </p:sp>
      <p:sp>
        <p:nvSpPr>
          <p:cNvPr id="14" name="TextBox 13">
            <a:extLst>
              <a:ext uri="{FF2B5EF4-FFF2-40B4-BE49-F238E27FC236}">
                <a16:creationId xmlns:a16="http://schemas.microsoft.com/office/drawing/2014/main" id="{C86D9702-708F-9A16-AE28-586F9C8334DC}"/>
              </a:ext>
            </a:extLst>
          </p:cNvPr>
          <p:cNvSpPr txBox="1"/>
          <p:nvPr/>
        </p:nvSpPr>
        <p:spPr>
          <a:xfrm>
            <a:off x="6448515" y="1050051"/>
            <a:ext cx="5314173" cy="2585323"/>
          </a:xfrm>
          <a:prstGeom prst="rect">
            <a:avLst/>
          </a:prstGeom>
          <a:noFill/>
        </p:spPr>
        <p:txBody>
          <a:bodyPr wrap="square" rtlCol="0">
            <a:spAutoFit/>
          </a:bodyPr>
          <a:lstStyle/>
          <a:p>
            <a:pPr marL="285750" indent="-2857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You are running an ELT </a:t>
            </a:r>
            <a:r>
              <a:rPr lang="en-US" dirty="0" smtClean="0">
                <a:latin typeface="Helvetica" panose="020B0604020202020204" pitchFamily="34" charset="0"/>
                <a:cs typeface="Helvetica" panose="020B0604020202020204" pitchFamily="34" charset="0"/>
              </a:rPr>
              <a:t>process</a:t>
            </a:r>
          </a:p>
          <a:p>
            <a:pPr marL="285750" indent="-285750" algn="just">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The data is arriving at a very high velocity </a:t>
            </a:r>
            <a:endParaRPr lang="en-US" dirty="0" smtClean="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Incoming data is not structured and transformations should be done according to the format of the </a:t>
            </a:r>
            <a:r>
              <a:rPr lang="en-US" dirty="0" smtClean="0">
                <a:latin typeface="Helvetica" panose="020B0604020202020204" pitchFamily="34" charset="0"/>
                <a:cs typeface="Helvetica" panose="020B0604020202020204" pitchFamily="34" charset="0"/>
              </a:rPr>
              <a:t>data</a:t>
            </a:r>
          </a:p>
          <a:p>
            <a:pPr algn="just"/>
            <a:endParaRPr lang="en-US" dirty="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Which one is the right storage for this?</a:t>
            </a:r>
          </a:p>
        </p:txBody>
      </p:sp>
      <p:sp>
        <p:nvSpPr>
          <p:cNvPr id="17" name="TextBox 16">
            <a:extLst>
              <a:ext uri="{FF2B5EF4-FFF2-40B4-BE49-F238E27FC236}">
                <a16:creationId xmlns:a16="http://schemas.microsoft.com/office/drawing/2014/main" id="{435ED45E-E420-212F-D12F-78753AE76FA6}"/>
              </a:ext>
            </a:extLst>
          </p:cNvPr>
          <p:cNvSpPr txBox="1"/>
          <p:nvPr/>
        </p:nvSpPr>
        <p:spPr>
          <a:xfrm>
            <a:off x="136849" y="3787803"/>
            <a:ext cx="5349551" cy="2585323"/>
          </a:xfrm>
          <a:prstGeom prst="rect">
            <a:avLst/>
          </a:prstGeom>
          <a:noFill/>
        </p:spPr>
        <p:txBody>
          <a:bodyPr wrap="square" rtlCol="0">
            <a:spAutoFit/>
          </a:bodyPr>
          <a:lstStyle/>
          <a:p>
            <a:pPr lvl="1" indent="-457200" algn="just">
              <a:buFont typeface="Wingdings" panose="05000000000000000000" pitchFamily="2" charset="2"/>
              <a:buChar char="Ø"/>
            </a:pPr>
            <a:r>
              <a:rPr lang="en-IN" dirty="0">
                <a:latin typeface="Helvetica" panose="020B0604020202020204" pitchFamily="34" charset="0"/>
                <a:cs typeface="Helvetica" panose="020B0604020202020204" pitchFamily="34" charset="0"/>
              </a:rPr>
              <a:t>Extremely limitless and cheap storage </a:t>
            </a:r>
            <a:r>
              <a:rPr lang="en-IN" dirty="0" smtClean="0">
                <a:latin typeface="Helvetica" panose="020B0604020202020204" pitchFamily="34" charset="0"/>
                <a:cs typeface="Helvetica" panose="020B0604020202020204" pitchFamily="34" charset="0"/>
              </a:rPr>
              <a:t>costs</a:t>
            </a:r>
          </a:p>
          <a:p>
            <a:pPr lvl="1" indent="-457200" algn="just">
              <a:buFont typeface="Wingdings" panose="05000000000000000000" pitchFamily="2" charset="2"/>
              <a:buChar char="Ø"/>
            </a:pPr>
            <a:endParaRPr lang="en-IN" dirty="0">
              <a:latin typeface="Helvetica" panose="020B0604020202020204" pitchFamily="34" charset="0"/>
              <a:cs typeface="Helvetica" panose="020B0604020202020204" pitchFamily="34" charset="0"/>
            </a:endParaRPr>
          </a:p>
          <a:p>
            <a:pPr lvl="1" indent="-457200" algn="just">
              <a:buFont typeface="Wingdings" panose="05000000000000000000" pitchFamily="2" charset="2"/>
              <a:buChar char="Ø"/>
            </a:pPr>
            <a:r>
              <a:rPr lang="en-IN" dirty="0">
                <a:latin typeface="Helvetica" panose="020B0604020202020204" pitchFamily="34" charset="0"/>
                <a:cs typeface="Helvetica" panose="020B0604020202020204" pitchFamily="34" charset="0"/>
              </a:rPr>
              <a:t>Allows immerse amount of data of any size and type to be stored </a:t>
            </a:r>
            <a:endParaRPr lang="en-IN" dirty="0" smtClean="0">
              <a:latin typeface="Helvetica" panose="020B0604020202020204" pitchFamily="34" charset="0"/>
              <a:cs typeface="Helvetica" panose="020B0604020202020204" pitchFamily="34" charset="0"/>
            </a:endParaRPr>
          </a:p>
          <a:p>
            <a:pPr lvl="1" indent="-457200" algn="just">
              <a:buFont typeface="Wingdings" panose="05000000000000000000" pitchFamily="2" charset="2"/>
              <a:buChar char="Ø"/>
            </a:pPr>
            <a:endParaRPr lang="en-IN" dirty="0">
              <a:latin typeface="Helvetica" panose="020B0604020202020204" pitchFamily="34" charset="0"/>
              <a:cs typeface="Helvetica" panose="020B0604020202020204" pitchFamily="34" charset="0"/>
            </a:endParaRPr>
          </a:p>
          <a:p>
            <a:pPr lvl="1" indent="-457200" algn="just">
              <a:buFont typeface="Wingdings" panose="05000000000000000000" pitchFamily="2" charset="2"/>
              <a:buChar char="Ø"/>
            </a:pPr>
            <a:r>
              <a:rPr lang="en-IN" dirty="0">
                <a:latin typeface="Helvetica" panose="020B0604020202020204" pitchFamily="34" charset="0"/>
                <a:cs typeface="Helvetica" panose="020B0604020202020204" pitchFamily="34" charset="0"/>
              </a:rPr>
              <a:t>When needs to be queried or transformed, have access to nearly unlimited computing power by spinning cluster on demand with favourite tolls</a:t>
            </a:r>
          </a:p>
        </p:txBody>
      </p:sp>
      <p:pic>
        <p:nvPicPr>
          <p:cNvPr id="4" name="Picture 3">
            <a:extLst>
              <a:ext uri="{FF2B5EF4-FFF2-40B4-BE49-F238E27FC236}">
                <a16:creationId xmlns:a16="http://schemas.microsoft.com/office/drawing/2014/main" id="{6D1F2F0C-EAFF-28F7-7F65-28FF861C87C0}"/>
              </a:ext>
            </a:extLst>
          </p:cNvPr>
          <p:cNvPicPr>
            <a:picLocks noChangeAspect="1"/>
          </p:cNvPicPr>
          <p:nvPr/>
        </p:nvPicPr>
        <p:blipFill>
          <a:blip r:embed="rId2"/>
          <a:stretch>
            <a:fillRect/>
          </a:stretch>
        </p:blipFill>
        <p:spPr>
          <a:xfrm>
            <a:off x="242207" y="1104899"/>
            <a:ext cx="6082393" cy="2502938"/>
          </a:xfrm>
          <a:prstGeom prst="rect">
            <a:avLst/>
          </a:prstGeom>
        </p:spPr>
      </p:pic>
      <p:pic>
        <p:nvPicPr>
          <p:cNvPr id="6" name="Picture 5">
            <a:extLst>
              <a:ext uri="{FF2B5EF4-FFF2-40B4-BE49-F238E27FC236}">
                <a16:creationId xmlns:a16="http://schemas.microsoft.com/office/drawing/2014/main" id="{F10E48DA-99D4-B5DE-A588-007A3001E5E0}"/>
              </a:ext>
            </a:extLst>
          </p:cNvPr>
          <p:cNvPicPr>
            <a:picLocks noChangeAspect="1"/>
          </p:cNvPicPr>
          <p:nvPr/>
        </p:nvPicPr>
        <p:blipFill>
          <a:blip r:embed="rId3"/>
          <a:stretch>
            <a:fillRect/>
          </a:stretch>
        </p:blipFill>
        <p:spPr>
          <a:xfrm>
            <a:off x="5715000" y="3756714"/>
            <a:ext cx="6082393" cy="2720286"/>
          </a:xfrm>
          <a:prstGeom prst="rect">
            <a:avLst/>
          </a:prstGeom>
        </p:spPr>
      </p:pic>
    </p:spTree>
    <p:extLst>
      <p:ext uri="{BB962C8B-B14F-4D97-AF65-F5344CB8AC3E}">
        <p14:creationId xmlns:p14="http://schemas.microsoft.com/office/powerpoint/2010/main" val="1450019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7">
                                            <p:txEl>
                                              <p:pRg st="0" end="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
                                            <p:txEl>
                                              <p:pRg st="2" end="2"/>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build="p"/>
      <p:bldP spid="17"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423620-063D-A64F-7C6B-E1A3217AA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7E5277-13F7-1222-CBEB-62122B354DE8}"/>
              </a:ext>
            </a:extLst>
          </p:cNvPr>
          <p:cNvSpPr>
            <a:spLocks noGrp="1"/>
          </p:cNvSpPr>
          <p:nvPr>
            <p:ph type="title"/>
          </p:nvPr>
        </p:nvSpPr>
        <p:spPr>
          <a:xfrm>
            <a:off x="838200" y="160569"/>
            <a:ext cx="5791200" cy="764364"/>
          </a:xfrm>
        </p:spPr>
        <p:txBody>
          <a:bodyPr>
            <a:normAutofit/>
          </a:bodyPr>
          <a:lstStyle/>
          <a:p>
            <a:r>
              <a:rPr lang="en-US" dirty="0"/>
              <a:t>Data Lake</a:t>
            </a:r>
          </a:p>
        </p:txBody>
      </p:sp>
      <p:sp>
        <p:nvSpPr>
          <p:cNvPr id="14" name="TextBox 13">
            <a:extLst>
              <a:ext uri="{FF2B5EF4-FFF2-40B4-BE49-F238E27FC236}">
                <a16:creationId xmlns:a16="http://schemas.microsoft.com/office/drawing/2014/main" id="{5E2BCB81-D490-A7A5-A74D-D8C72925824E}"/>
              </a:ext>
            </a:extLst>
          </p:cNvPr>
          <p:cNvSpPr txBox="1"/>
          <p:nvPr/>
        </p:nvSpPr>
        <p:spPr>
          <a:xfrm>
            <a:off x="4038602" y="1073810"/>
            <a:ext cx="7848598" cy="4801314"/>
          </a:xfrm>
          <a:prstGeom prst="rect">
            <a:avLst/>
          </a:prstGeom>
          <a:noFill/>
        </p:spPr>
        <p:txBody>
          <a:bodyPr wrap="square" rtlCol="0">
            <a:spAutoFit/>
          </a:bodyPr>
          <a:lstStyle/>
          <a:p>
            <a:pPr algn="just"/>
            <a:r>
              <a:rPr lang="en-US" b="1" u="sng" dirty="0">
                <a:latin typeface="Helvetica" panose="020B0604020202020204" pitchFamily="34" charset="0"/>
                <a:cs typeface="Helvetica" panose="020B0604020202020204" pitchFamily="34" charset="0"/>
              </a:rPr>
              <a:t>Drawbacks:</a:t>
            </a:r>
          </a:p>
          <a:p>
            <a:pPr marL="285750" indent="-285750" algn="just">
              <a:buFont typeface="Wingdings" panose="05000000000000000000" pitchFamily="2" charset="2"/>
              <a:buChar char="Ø"/>
            </a:pPr>
            <a:r>
              <a:rPr lang="en-IN" dirty="0" smtClean="0">
                <a:latin typeface="Helvetica" panose="020B0604020202020204" pitchFamily="34" charset="0"/>
                <a:cs typeface="Helvetica" panose="020B0604020202020204" pitchFamily="34" charset="0"/>
              </a:rPr>
              <a:t>Dumping ground</a:t>
            </a:r>
          </a:p>
          <a:p>
            <a:pPr marL="285750" indent="-285750" algn="just">
              <a:buFont typeface="Wingdings" panose="05000000000000000000" pitchFamily="2" charset="2"/>
              <a:buChar char="Ø"/>
            </a:pPr>
            <a:endParaRPr lang="en-IN" dirty="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r>
              <a:rPr lang="en-IN" dirty="0" smtClean="0">
                <a:latin typeface="Helvetica" panose="020B0604020202020204" pitchFamily="34" charset="0"/>
                <a:cs typeface="Helvetica" panose="020B0604020202020204" pitchFamily="34" charset="0"/>
              </a:rPr>
              <a:t>Data </a:t>
            </a:r>
            <a:r>
              <a:rPr lang="en-IN" dirty="0">
                <a:latin typeface="Helvetica" panose="020B0604020202020204" pitchFamily="34" charset="0"/>
                <a:cs typeface="Helvetica" panose="020B0604020202020204" pitchFamily="34" charset="0"/>
              </a:rPr>
              <a:t>swamps - </a:t>
            </a:r>
            <a:r>
              <a:rPr lang="en-US" b="1" dirty="0">
                <a:latin typeface="Helvetica" panose="020B0604020202020204" pitchFamily="34" charset="0"/>
                <a:cs typeface="Helvetica" panose="020B0604020202020204" pitchFamily="34" charset="0"/>
              </a:rPr>
              <a:t>a disorganized and unstructured data storage </a:t>
            </a:r>
            <a:r>
              <a:rPr lang="en-US" b="1" dirty="0" smtClean="0">
                <a:latin typeface="Helvetica" panose="020B0604020202020204" pitchFamily="34" charset="0"/>
                <a:cs typeface="Helvetica" panose="020B0604020202020204" pitchFamily="34" charset="0"/>
              </a:rPr>
              <a:t>environment</a:t>
            </a:r>
          </a:p>
          <a:p>
            <a:pPr marL="285750" indent="-285750" algn="just">
              <a:buFont typeface="Wingdings" panose="05000000000000000000" pitchFamily="2" charset="2"/>
              <a:buChar char="Ø"/>
            </a:pPr>
            <a:endParaRPr lang="en-IN" dirty="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r>
              <a:rPr lang="en-IN" dirty="0" smtClean="0">
                <a:latin typeface="Helvetica" panose="020B0604020202020204" pitchFamily="34" charset="0"/>
                <a:cs typeface="Helvetica" panose="020B0604020202020204" pitchFamily="34" charset="0"/>
              </a:rPr>
              <a:t>Dark </a:t>
            </a:r>
            <a:r>
              <a:rPr lang="en-IN" dirty="0">
                <a:latin typeface="Helvetica" panose="020B0604020202020204" pitchFamily="34" charset="0"/>
                <a:cs typeface="Helvetica" panose="020B0604020202020204" pitchFamily="34" charset="0"/>
              </a:rPr>
              <a:t>data - </a:t>
            </a:r>
            <a:r>
              <a:rPr lang="en-US" dirty="0">
                <a:latin typeface="Helvetica" panose="020B0604020202020204" pitchFamily="34" charset="0"/>
                <a:cs typeface="Helvetica" panose="020B0604020202020204" pitchFamily="34" charset="0"/>
              </a:rPr>
              <a:t>the data,  organizations collect, process and store during regular business activities, but fail to use for other </a:t>
            </a:r>
            <a:r>
              <a:rPr lang="en-US" dirty="0" smtClean="0">
                <a:latin typeface="Helvetica" panose="020B0604020202020204" pitchFamily="34" charset="0"/>
                <a:cs typeface="Helvetica" panose="020B0604020202020204" pitchFamily="34" charset="0"/>
              </a:rPr>
              <a:t>purposes</a:t>
            </a:r>
          </a:p>
          <a:p>
            <a:pPr marL="285750" indent="-285750" algn="just">
              <a:buFont typeface="Wingdings" panose="05000000000000000000" pitchFamily="2" charset="2"/>
              <a:buChar char="Ø"/>
            </a:pPr>
            <a:endParaRPr lang="en-IN" dirty="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r>
              <a:rPr lang="en-IN" dirty="0">
                <a:latin typeface="Helvetica" panose="020B0604020202020204" pitchFamily="34" charset="0"/>
                <a:cs typeface="Helvetica" panose="020B0604020202020204" pitchFamily="34" charset="0"/>
              </a:rPr>
              <a:t>WORN – Write Once Read Never</a:t>
            </a:r>
          </a:p>
          <a:p>
            <a:pPr marL="285750" indent="-285750" algn="just">
              <a:buFont typeface="Wingdings" panose="05000000000000000000" pitchFamily="2" charset="2"/>
              <a:buChar char="Ø"/>
            </a:pPr>
            <a:r>
              <a:rPr lang="en-IN" dirty="0">
                <a:latin typeface="Helvetica" panose="020B0604020202020204" pitchFamily="34" charset="0"/>
                <a:cs typeface="Helvetica" panose="020B0604020202020204" pitchFamily="34" charset="0"/>
              </a:rPr>
              <a:t>Grows unmanageable</a:t>
            </a:r>
          </a:p>
          <a:p>
            <a:pPr marL="285750" indent="-285750" algn="just">
              <a:buFont typeface="Wingdings" panose="05000000000000000000" pitchFamily="2" charset="2"/>
              <a:buChar char="Ø"/>
            </a:pPr>
            <a:endParaRPr lang="en-IN" dirty="0">
              <a:latin typeface="Helvetica" panose="020B0604020202020204" pitchFamily="34" charset="0"/>
              <a:cs typeface="Helvetica" panose="020B0604020202020204" pitchFamily="34" charset="0"/>
            </a:endParaRPr>
          </a:p>
          <a:p>
            <a:pPr algn="just"/>
            <a:r>
              <a:rPr lang="en-IN" b="1" u="sng" dirty="0">
                <a:latin typeface="Helvetica" panose="020B0604020202020204" pitchFamily="34" charset="0"/>
                <a:cs typeface="Helvetica" panose="020B0604020202020204" pitchFamily="34" charset="0"/>
              </a:rPr>
              <a:t>Usage:</a:t>
            </a:r>
          </a:p>
          <a:p>
            <a:pPr marL="285750" indent="-285750" algn="just">
              <a:buFont typeface="Wingdings" panose="05000000000000000000" pitchFamily="2" charset="2"/>
              <a:buChar char="Ø"/>
            </a:pPr>
            <a:endParaRPr lang="en-IN" dirty="0" smtClean="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r>
              <a:rPr lang="en-IN" dirty="0" smtClean="0">
                <a:latin typeface="Helvetica" panose="020B0604020202020204" pitchFamily="34" charset="0"/>
                <a:cs typeface="Helvetica" panose="020B0604020202020204" pitchFamily="34" charset="0"/>
              </a:rPr>
              <a:t>Lot </a:t>
            </a:r>
            <a:r>
              <a:rPr lang="en-IN" dirty="0">
                <a:latin typeface="Helvetica" panose="020B0604020202020204" pitchFamily="34" charset="0"/>
                <a:cs typeface="Helvetica" panose="020B0604020202020204" pitchFamily="34" charset="0"/>
              </a:rPr>
              <a:t>of companies uses </a:t>
            </a:r>
            <a:r>
              <a:rPr lang="en-IN" dirty="0" err="1">
                <a:latin typeface="Helvetica" panose="020B0604020202020204" pitchFamily="34" charset="0"/>
                <a:cs typeface="Helvetica" panose="020B0604020202020204" pitchFamily="34" charset="0"/>
              </a:rPr>
              <a:t>datalakes</a:t>
            </a:r>
            <a:r>
              <a:rPr lang="en-IN" dirty="0">
                <a:latin typeface="Helvetica" panose="020B0604020202020204" pitchFamily="34" charset="0"/>
                <a:cs typeface="Helvetica" panose="020B0604020202020204" pitchFamily="34" charset="0"/>
              </a:rPr>
              <a:t>. Eg: Facebook, </a:t>
            </a:r>
            <a:r>
              <a:rPr lang="en-IN" dirty="0" smtClean="0">
                <a:latin typeface="Helvetica" panose="020B0604020202020204" pitchFamily="34" charset="0"/>
                <a:cs typeface="Helvetica" panose="020B0604020202020204" pitchFamily="34" charset="0"/>
              </a:rPr>
              <a:t>Netflix</a:t>
            </a:r>
          </a:p>
          <a:p>
            <a:pPr marL="285750" indent="-285750" algn="just">
              <a:buFont typeface="Wingdings" panose="05000000000000000000" pitchFamily="2" charset="2"/>
              <a:buChar char="Ø"/>
            </a:pPr>
            <a:endParaRPr lang="en-IN" dirty="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r>
              <a:rPr lang="en-IN" dirty="0">
                <a:latin typeface="Helvetica" panose="020B0604020202020204" pitchFamily="34" charset="0"/>
                <a:cs typeface="Helvetica" panose="020B0604020202020204" pitchFamily="34" charset="0"/>
              </a:rPr>
              <a:t>Still they have lot of data as WORN</a:t>
            </a:r>
          </a:p>
        </p:txBody>
      </p:sp>
      <p:pic>
        <p:nvPicPr>
          <p:cNvPr id="6" name="Picture 5">
            <a:extLst>
              <a:ext uri="{FF2B5EF4-FFF2-40B4-BE49-F238E27FC236}">
                <a16:creationId xmlns:a16="http://schemas.microsoft.com/office/drawing/2014/main" id="{A10CE6D7-307A-0392-75D3-CAAC025DF55C}"/>
              </a:ext>
            </a:extLst>
          </p:cNvPr>
          <p:cNvPicPr>
            <a:picLocks noChangeAspect="1"/>
          </p:cNvPicPr>
          <p:nvPr/>
        </p:nvPicPr>
        <p:blipFill>
          <a:blip r:embed="rId2"/>
          <a:stretch>
            <a:fillRect/>
          </a:stretch>
        </p:blipFill>
        <p:spPr>
          <a:xfrm rot="16200000">
            <a:off x="-604333" y="1978461"/>
            <a:ext cx="5552067" cy="3733801"/>
          </a:xfrm>
          <a:prstGeom prst="rect">
            <a:avLst/>
          </a:prstGeom>
        </p:spPr>
      </p:pic>
    </p:spTree>
    <p:extLst>
      <p:ext uri="{BB962C8B-B14F-4D97-AF65-F5344CB8AC3E}">
        <p14:creationId xmlns:p14="http://schemas.microsoft.com/office/powerpoint/2010/main" val="2946975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xEl>
                                              <p:pRg st="12" end="1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289A4B-8A73-623A-5664-76EB0967BFAA}"/>
            </a:ext>
          </a:extLst>
        </p:cNvPr>
        <p:cNvGrpSpPr/>
        <p:nvPr/>
      </p:nvGrpSpPr>
      <p:grpSpPr>
        <a:xfrm>
          <a:off x="0" y="0"/>
          <a:ext cx="0" cy="0"/>
          <a:chOff x="0" y="0"/>
          <a:chExt cx="0" cy="0"/>
        </a:xfrm>
      </p:grpSpPr>
      <p:sp>
        <p:nvSpPr>
          <p:cNvPr id="13" name="Title 1">
            <a:extLst>
              <a:ext uri="{FF2B5EF4-FFF2-40B4-BE49-F238E27FC236}">
                <a16:creationId xmlns:a16="http://schemas.microsoft.com/office/drawing/2014/main" id="{8EB3DF51-6B4D-6CD1-F848-C21F4EA1F630}"/>
              </a:ext>
            </a:extLst>
          </p:cNvPr>
          <p:cNvSpPr txBox="1">
            <a:spLocks/>
          </p:cNvSpPr>
          <p:nvPr/>
        </p:nvSpPr>
        <p:spPr>
          <a:xfrm>
            <a:off x="422406" y="152400"/>
            <a:ext cx="3505200" cy="764364"/>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3200" b="1" kern="1200">
                <a:solidFill>
                  <a:schemeClr val="bg1"/>
                </a:solidFill>
                <a:latin typeface="Helvetica" panose="020B0604020202030204" pitchFamily="34" charset="0"/>
                <a:ea typeface="+mj-ea"/>
                <a:cs typeface="+mj-cs"/>
              </a:defRPr>
            </a:lvl1pPr>
          </a:lstStyle>
          <a:p>
            <a:r>
              <a:rPr lang="en-US" dirty="0"/>
              <a:t>Data Lakehouse</a:t>
            </a:r>
          </a:p>
        </p:txBody>
      </p:sp>
      <p:sp>
        <p:nvSpPr>
          <p:cNvPr id="14" name="TextBox 13">
            <a:extLst>
              <a:ext uri="{FF2B5EF4-FFF2-40B4-BE49-F238E27FC236}">
                <a16:creationId xmlns:a16="http://schemas.microsoft.com/office/drawing/2014/main" id="{8EBC18D3-F492-39C7-33C0-792C740ADC4B}"/>
              </a:ext>
            </a:extLst>
          </p:cNvPr>
          <p:cNvSpPr txBox="1"/>
          <p:nvPr/>
        </p:nvSpPr>
        <p:spPr>
          <a:xfrm>
            <a:off x="6096673" y="1001075"/>
            <a:ext cx="5708780" cy="2031325"/>
          </a:xfrm>
          <a:prstGeom prst="rect">
            <a:avLst/>
          </a:prstGeom>
          <a:noFill/>
        </p:spPr>
        <p:txBody>
          <a:bodyPr wrap="square" rtlCol="0">
            <a:spAutoFit/>
          </a:bodyPr>
          <a:lstStyle/>
          <a:p>
            <a:pPr marL="285750" indent="-2857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How about combining the benefits of data warehouse on top of data lakes</a:t>
            </a:r>
            <a:r>
              <a:rPr lang="en-US" dirty="0" smtClean="0">
                <a:latin typeface="Helvetica" panose="020B0604020202020204" pitchFamily="34" charset="0"/>
                <a:cs typeface="Helvetica" panose="020B0604020202020204" pitchFamily="34" charset="0"/>
              </a:rPr>
              <a:t>?</a:t>
            </a:r>
          </a:p>
          <a:p>
            <a:pPr marL="285750" indent="-285750" algn="just">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Bringing in the governance and controls of data warehouse</a:t>
            </a:r>
          </a:p>
          <a:p>
            <a:pPr marL="285750" indent="-285750" algn="just">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Solution?</a:t>
            </a:r>
          </a:p>
        </p:txBody>
      </p:sp>
      <p:sp>
        <p:nvSpPr>
          <p:cNvPr id="17" name="TextBox 16">
            <a:extLst>
              <a:ext uri="{FF2B5EF4-FFF2-40B4-BE49-F238E27FC236}">
                <a16:creationId xmlns:a16="http://schemas.microsoft.com/office/drawing/2014/main" id="{F253C2A9-5DA7-E593-5436-9CAC1F344D36}"/>
              </a:ext>
            </a:extLst>
          </p:cNvPr>
          <p:cNvSpPr txBox="1"/>
          <p:nvPr/>
        </p:nvSpPr>
        <p:spPr>
          <a:xfrm>
            <a:off x="152399" y="3455894"/>
            <a:ext cx="5749655" cy="3139321"/>
          </a:xfrm>
          <a:prstGeom prst="rect">
            <a:avLst/>
          </a:prstGeom>
          <a:noFill/>
        </p:spPr>
        <p:txBody>
          <a:bodyPr wrap="square" rtlCol="0">
            <a:spAutoFit/>
          </a:bodyPr>
          <a:lstStyle/>
          <a:p>
            <a:pPr marL="285750" lvl="1" indent="-285750" algn="just">
              <a:buFont typeface="Wingdings" panose="05000000000000000000" pitchFamily="2" charset="2"/>
              <a:buChar char="Ø"/>
            </a:pPr>
            <a:r>
              <a:rPr lang="en-IN" dirty="0">
                <a:latin typeface="Helvetica" panose="020B0604020202020204" pitchFamily="34" charset="0"/>
                <a:cs typeface="Helvetica" panose="020B0604020202020204" pitchFamily="34" charset="0"/>
              </a:rPr>
              <a:t>Databricks introduced data Lakehouse – convergence between data warehouse and data </a:t>
            </a:r>
            <a:r>
              <a:rPr lang="en-IN" dirty="0" smtClean="0">
                <a:latin typeface="Helvetica" panose="020B0604020202020204" pitchFamily="34" charset="0"/>
                <a:cs typeface="Helvetica" panose="020B0604020202020204" pitchFamily="34" charset="0"/>
              </a:rPr>
              <a:t>lakes</a:t>
            </a:r>
          </a:p>
          <a:p>
            <a:pPr marL="285750" lvl="1" indent="-285750" algn="just">
              <a:buFont typeface="Wingdings" panose="05000000000000000000" pitchFamily="2" charset="2"/>
              <a:buChar char="Ø"/>
            </a:pPr>
            <a:endParaRPr lang="en-IN" dirty="0">
              <a:latin typeface="Helvetica" panose="020B0604020202020204" pitchFamily="34" charset="0"/>
              <a:cs typeface="Helvetica" panose="020B0604020202020204" pitchFamily="34" charset="0"/>
            </a:endParaRPr>
          </a:p>
          <a:p>
            <a:pPr marL="285750" lvl="1" indent="-285750" algn="just">
              <a:buFont typeface="Wingdings" panose="05000000000000000000" pitchFamily="2" charset="2"/>
              <a:buChar char="Ø"/>
            </a:pPr>
            <a:r>
              <a:rPr lang="en-IN" dirty="0">
                <a:latin typeface="Helvetica" panose="020B0604020202020204" pitchFamily="34" charset="0"/>
                <a:cs typeface="Helvetica" panose="020B0604020202020204" pitchFamily="34" charset="0"/>
              </a:rPr>
              <a:t>Incorporates the controls, data management and data structures found in data warehouse while still housing data in object storage and supporting variety of query and transformation </a:t>
            </a:r>
            <a:r>
              <a:rPr lang="en-IN" dirty="0" smtClean="0">
                <a:latin typeface="Helvetica" panose="020B0604020202020204" pitchFamily="34" charset="0"/>
                <a:cs typeface="Helvetica" panose="020B0604020202020204" pitchFamily="34" charset="0"/>
              </a:rPr>
              <a:t>engines</a:t>
            </a:r>
          </a:p>
          <a:p>
            <a:pPr marL="285750" lvl="1" indent="-285750" algn="just">
              <a:buFont typeface="Wingdings" panose="05000000000000000000" pitchFamily="2" charset="2"/>
              <a:buChar char="Ø"/>
            </a:pPr>
            <a:endParaRPr lang="en-IN" dirty="0">
              <a:latin typeface="Helvetica" panose="020B0604020202020204" pitchFamily="34" charset="0"/>
              <a:cs typeface="Helvetica" panose="020B0604020202020204" pitchFamily="34" charset="0"/>
            </a:endParaRPr>
          </a:p>
          <a:p>
            <a:pPr marL="285750" lvl="1" indent="-285750" algn="just">
              <a:buFont typeface="Wingdings" panose="05000000000000000000" pitchFamily="2" charset="2"/>
              <a:buChar char="Ø"/>
            </a:pPr>
            <a:r>
              <a:rPr lang="en-IN" dirty="0">
                <a:latin typeface="Helvetica" panose="020B0604020202020204" pitchFamily="34" charset="0"/>
                <a:cs typeface="Helvetica" panose="020B0604020202020204" pitchFamily="34" charset="0"/>
              </a:rPr>
              <a:t>Supports Atomicity, </a:t>
            </a:r>
            <a:r>
              <a:rPr lang="en-IN" dirty="0" smtClean="0">
                <a:latin typeface="Helvetica" panose="020B0604020202020204" pitchFamily="34" charset="0"/>
                <a:cs typeface="Helvetica" panose="020B0604020202020204" pitchFamily="34" charset="0"/>
              </a:rPr>
              <a:t>Consistency</a:t>
            </a:r>
            <a:r>
              <a:rPr lang="en-IN" dirty="0">
                <a:latin typeface="Helvetica" panose="020B0604020202020204" pitchFamily="34" charset="0"/>
                <a:cs typeface="Helvetica" panose="020B0604020202020204" pitchFamily="34" charset="0"/>
              </a:rPr>
              <a:t>, </a:t>
            </a:r>
            <a:r>
              <a:rPr lang="en-IN" dirty="0" smtClean="0">
                <a:latin typeface="Helvetica" panose="020B0604020202020204" pitchFamily="34" charset="0"/>
                <a:cs typeface="Helvetica" panose="020B0604020202020204" pitchFamily="34" charset="0"/>
              </a:rPr>
              <a:t>Durability </a:t>
            </a:r>
            <a:r>
              <a:rPr lang="en-IN" dirty="0">
                <a:latin typeface="Helvetica" panose="020B0604020202020204" pitchFamily="34" charset="0"/>
                <a:cs typeface="Helvetica" panose="020B0604020202020204" pitchFamily="34" charset="0"/>
              </a:rPr>
              <a:t>and </a:t>
            </a:r>
            <a:r>
              <a:rPr lang="en-IN" dirty="0" smtClean="0">
                <a:latin typeface="Helvetica" panose="020B0604020202020204" pitchFamily="34" charset="0"/>
                <a:cs typeface="Helvetica" panose="020B0604020202020204" pitchFamily="34" charset="0"/>
              </a:rPr>
              <a:t>Isolation </a:t>
            </a:r>
            <a:r>
              <a:rPr lang="en-IN" dirty="0">
                <a:latin typeface="Helvetica" panose="020B0604020202020204" pitchFamily="34" charset="0"/>
                <a:cs typeface="Helvetica" panose="020B0604020202020204" pitchFamily="34" charset="0"/>
              </a:rPr>
              <a:t>(ACID) </a:t>
            </a:r>
          </a:p>
        </p:txBody>
      </p:sp>
      <p:pic>
        <p:nvPicPr>
          <p:cNvPr id="4" name="Picture 3">
            <a:extLst>
              <a:ext uri="{FF2B5EF4-FFF2-40B4-BE49-F238E27FC236}">
                <a16:creationId xmlns:a16="http://schemas.microsoft.com/office/drawing/2014/main" id="{E16F354C-6E03-FEE9-DE51-67C1E01CEB4A}"/>
              </a:ext>
            </a:extLst>
          </p:cNvPr>
          <p:cNvPicPr>
            <a:picLocks noChangeAspect="1"/>
          </p:cNvPicPr>
          <p:nvPr/>
        </p:nvPicPr>
        <p:blipFill>
          <a:blip r:embed="rId2"/>
          <a:stretch>
            <a:fillRect/>
          </a:stretch>
        </p:blipFill>
        <p:spPr>
          <a:xfrm>
            <a:off x="6096000" y="4057626"/>
            <a:ext cx="5959151" cy="2321822"/>
          </a:xfrm>
          <a:prstGeom prst="rect">
            <a:avLst/>
          </a:prstGeom>
        </p:spPr>
      </p:pic>
      <p:pic>
        <p:nvPicPr>
          <p:cNvPr id="6" name="Picture 5">
            <a:extLst>
              <a:ext uri="{FF2B5EF4-FFF2-40B4-BE49-F238E27FC236}">
                <a16:creationId xmlns:a16="http://schemas.microsoft.com/office/drawing/2014/main" id="{B0493A81-396F-51F5-6CC9-48130931CFB4}"/>
              </a:ext>
            </a:extLst>
          </p:cNvPr>
          <p:cNvPicPr>
            <a:picLocks noChangeAspect="1"/>
          </p:cNvPicPr>
          <p:nvPr/>
        </p:nvPicPr>
        <p:blipFill>
          <a:blip r:embed="rId3"/>
          <a:stretch>
            <a:fillRect/>
          </a:stretch>
        </p:blipFill>
        <p:spPr>
          <a:xfrm>
            <a:off x="422406" y="1107178"/>
            <a:ext cx="5286375" cy="2321822"/>
          </a:xfrm>
          <a:prstGeom prst="rect">
            <a:avLst/>
          </a:prstGeom>
        </p:spPr>
      </p:pic>
    </p:spTree>
    <p:extLst>
      <p:ext uri="{BB962C8B-B14F-4D97-AF65-F5344CB8AC3E}">
        <p14:creationId xmlns:p14="http://schemas.microsoft.com/office/powerpoint/2010/main" val="4008058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7">
                                            <p:txEl>
                                              <p:pRg st="0" end="0"/>
                                            </p:txEl>
                                          </p:spTgt>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
                                            <p:txEl>
                                              <p:pRg st="2" end="2"/>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build="p"/>
      <p:bldP spid="17"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4517B-3BFB-2B40-7E2D-BB03607C32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1CE928-7970-B83D-E84B-5AAE7C598F78}"/>
              </a:ext>
            </a:extLst>
          </p:cNvPr>
          <p:cNvSpPr>
            <a:spLocks noGrp="1"/>
          </p:cNvSpPr>
          <p:nvPr>
            <p:ph type="title"/>
          </p:nvPr>
        </p:nvSpPr>
        <p:spPr>
          <a:xfrm>
            <a:off x="831850" y="1709738"/>
            <a:ext cx="10515600" cy="2852737"/>
          </a:xfrm>
        </p:spPr>
        <p:txBody>
          <a:bodyPr anchor="b">
            <a:normAutofit/>
          </a:bodyPr>
          <a:lstStyle/>
          <a:p>
            <a:r>
              <a:rPr lang="en-US" dirty="0"/>
              <a:t>Categorization </a:t>
            </a:r>
            <a:br>
              <a:rPr lang="en-US" dirty="0"/>
            </a:br>
            <a:r>
              <a:rPr lang="en-US" dirty="0"/>
              <a:t>– By Governance </a:t>
            </a:r>
          </a:p>
        </p:txBody>
      </p:sp>
    </p:spTree>
    <p:extLst>
      <p:ext uri="{BB962C8B-B14F-4D97-AF65-F5344CB8AC3E}">
        <p14:creationId xmlns:p14="http://schemas.microsoft.com/office/powerpoint/2010/main" val="239860924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9D617-AA94-670B-E060-D6805262BD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7839CA-2E93-5560-2D82-B2F23B2A8382}"/>
              </a:ext>
            </a:extLst>
          </p:cNvPr>
          <p:cNvSpPr>
            <a:spLocks noGrp="1"/>
          </p:cNvSpPr>
          <p:nvPr>
            <p:ph type="title"/>
          </p:nvPr>
        </p:nvSpPr>
        <p:spPr>
          <a:xfrm>
            <a:off x="457200" y="160377"/>
            <a:ext cx="2667000" cy="764364"/>
          </a:xfrm>
        </p:spPr>
        <p:txBody>
          <a:bodyPr/>
          <a:lstStyle/>
          <a:p>
            <a:r>
              <a:rPr lang="en-US" dirty="0" err="1"/>
              <a:t>DataMesh</a:t>
            </a:r>
            <a:endParaRPr lang="en-US" dirty="0"/>
          </a:p>
        </p:txBody>
      </p:sp>
      <p:sp>
        <p:nvSpPr>
          <p:cNvPr id="4" name="AutoShape 2" descr="Lambda Architecture with Unified Serving Layer">
            <a:extLst>
              <a:ext uri="{FF2B5EF4-FFF2-40B4-BE49-F238E27FC236}">
                <a16:creationId xmlns:a16="http://schemas.microsoft.com/office/drawing/2014/main" id="{AD5DAB31-31A5-F7A5-F47B-6E7E7D173B8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a:extLst>
              <a:ext uri="{FF2B5EF4-FFF2-40B4-BE49-F238E27FC236}">
                <a16:creationId xmlns:a16="http://schemas.microsoft.com/office/drawing/2014/main" id="{7AB2C2E2-5DAE-4E0B-78A8-5C24F6BF52B1}"/>
              </a:ext>
            </a:extLst>
          </p:cNvPr>
          <p:cNvPicPr>
            <a:picLocks noChangeAspect="1"/>
          </p:cNvPicPr>
          <p:nvPr/>
        </p:nvPicPr>
        <p:blipFill>
          <a:blip r:embed="rId2"/>
          <a:stretch>
            <a:fillRect/>
          </a:stretch>
        </p:blipFill>
        <p:spPr>
          <a:xfrm>
            <a:off x="291974" y="972153"/>
            <a:ext cx="5791200" cy="3234691"/>
          </a:xfrm>
          <a:prstGeom prst="rect">
            <a:avLst/>
          </a:prstGeom>
        </p:spPr>
      </p:pic>
      <p:sp>
        <p:nvSpPr>
          <p:cNvPr id="7" name="TextBox 6">
            <a:extLst>
              <a:ext uri="{FF2B5EF4-FFF2-40B4-BE49-F238E27FC236}">
                <a16:creationId xmlns:a16="http://schemas.microsoft.com/office/drawing/2014/main" id="{E0086319-B093-C887-C143-3F8A48B95DF5}"/>
              </a:ext>
            </a:extLst>
          </p:cNvPr>
          <p:cNvSpPr txBox="1"/>
          <p:nvPr/>
        </p:nvSpPr>
        <p:spPr>
          <a:xfrm>
            <a:off x="6248400" y="956309"/>
            <a:ext cx="5714999" cy="5632311"/>
          </a:xfrm>
          <a:prstGeom prst="rect">
            <a:avLst/>
          </a:prstGeom>
          <a:noFill/>
        </p:spPr>
        <p:txBody>
          <a:bodyPr wrap="square" rtlCol="0">
            <a:spAutoFit/>
          </a:bodyPr>
          <a:lstStyle/>
          <a:p>
            <a:pPr marL="285750" indent="-285750" algn="just">
              <a:buFont typeface="Wingdings" panose="05000000000000000000" pitchFamily="2" charset="2"/>
              <a:buChar char="Ø"/>
            </a:pPr>
            <a:r>
              <a:rPr lang="en-IN" dirty="0">
                <a:latin typeface="Helvetica" panose="020B0604020202020204" pitchFamily="34" charset="0"/>
                <a:cs typeface="Helvetica" panose="020B0604020202020204" pitchFamily="34" charset="0"/>
              </a:rPr>
              <a:t>Per </a:t>
            </a:r>
            <a:r>
              <a:rPr lang="en-IN" dirty="0" err="1">
                <a:latin typeface="Helvetica" panose="020B0604020202020204" pitchFamily="34" charset="0"/>
                <a:cs typeface="Helvetica" panose="020B0604020202020204" pitchFamily="34" charset="0"/>
              </a:rPr>
              <a:t>Zhamak</a:t>
            </a:r>
            <a:r>
              <a:rPr lang="en-IN" dirty="0">
                <a:latin typeface="Helvetica" panose="020B0604020202020204" pitchFamily="34" charset="0"/>
                <a:cs typeface="Helvetica" panose="020B0604020202020204" pitchFamily="34" charset="0"/>
              </a:rPr>
              <a:t> </a:t>
            </a:r>
            <a:r>
              <a:rPr lang="en-IN" dirty="0" err="1">
                <a:latin typeface="Helvetica" panose="020B0604020202020204" pitchFamily="34" charset="0"/>
                <a:cs typeface="Helvetica" panose="020B0604020202020204" pitchFamily="34" charset="0"/>
              </a:rPr>
              <a:t>Dehghani</a:t>
            </a:r>
            <a:r>
              <a:rPr lang="en-IN" dirty="0" smtClean="0">
                <a:latin typeface="Helvetica" panose="020B0604020202020204" pitchFamily="34" charset="0"/>
                <a:cs typeface="Helvetica" panose="020B0604020202020204" pitchFamily="34" charset="0"/>
              </a:rPr>
              <a:t>,</a:t>
            </a:r>
          </a:p>
          <a:p>
            <a:pPr marL="285750" indent="-285750" algn="just">
              <a:buFont typeface="Wingdings" panose="05000000000000000000" pitchFamily="2" charset="2"/>
              <a:buChar char="Ø"/>
            </a:pPr>
            <a:endParaRPr lang="en-IN" dirty="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r>
              <a:rPr lang="en-IN" dirty="0">
                <a:latin typeface="Helvetica" panose="020B0604020202020204" pitchFamily="34" charset="0"/>
                <a:cs typeface="Helvetica" panose="020B0604020202020204" pitchFamily="34" charset="0"/>
              </a:rPr>
              <a:t>In order to decentralize the monolithic data platforms, we need to reverse how we think about data, its locality and ownership</a:t>
            </a:r>
            <a:r>
              <a:rPr lang="en-IN" dirty="0" smtClean="0">
                <a:latin typeface="Helvetica" panose="020B0604020202020204" pitchFamily="34" charset="0"/>
                <a:cs typeface="Helvetica" panose="020B0604020202020204" pitchFamily="34" charset="0"/>
              </a:rPr>
              <a:t>.</a:t>
            </a:r>
          </a:p>
          <a:p>
            <a:pPr marL="285750" indent="-285750" algn="just">
              <a:buFont typeface="Wingdings" panose="05000000000000000000" pitchFamily="2" charset="2"/>
              <a:buChar char="Ø"/>
            </a:pPr>
            <a:endParaRPr lang="en-IN" dirty="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r>
              <a:rPr lang="en-IN" dirty="0">
                <a:latin typeface="Helvetica" panose="020B0604020202020204" pitchFamily="34" charset="0"/>
                <a:cs typeface="Helvetica" panose="020B0604020202020204" pitchFamily="34" charset="0"/>
              </a:rPr>
              <a:t>Instead of flowing the data from domains into a centrally owned data lake or platform, domain need to host and serve their domain datasets in easily consumable way</a:t>
            </a:r>
            <a:r>
              <a:rPr lang="en-IN" dirty="0" smtClean="0">
                <a:latin typeface="Helvetica" panose="020B0604020202020204" pitchFamily="34" charset="0"/>
                <a:cs typeface="Helvetica" panose="020B0604020202020204" pitchFamily="34" charset="0"/>
              </a:rPr>
              <a:t>.</a:t>
            </a:r>
          </a:p>
          <a:p>
            <a:pPr marL="285750" indent="-285750" algn="just">
              <a:buFont typeface="Wingdings" panose="05000000000000000000" pitchFamily="2" charset="2"/>
              <a:buChar char="Ø"/>
            </a:pPr>
            <a:endParaRPr lang="en-IN" dirty="0">
              <a:latin typeface="Helvetica" panose="020B0604020202020204" pitchFamily="34" charset="0"/>
              <a:cs typeface="Helvetica" panose="020B0604020202020204" pitchFamily="34" charset="0"/>
            </a:endParaRPr>
          </a:p>
          <a:p>
            <a:pPr marL="285750" indent="-285750" algn="just">
              <a:lnSpc>
                <a:spcPct val="150000"/>
              </a:lnSpc>
              <a:buFont typeface="Wingdings" panose="05000000000000000000" pitchFamily="2" charset="2"/>
              <a:buChar char="Ø"/>
            </a:pPr>
            <a:r>
              <a:rPr lang="en-IN" b="1" u="sng" dirty="0">
                <a:latin typeface="Helvetica" panose="020B0604020202020204" pitchFamily="34" charset="0"/>
                <a:cs typeface="Helvetica" panose="020B0604020202020204" pitchFamily="34" charset="0"/>
              </a:rPr>
              <a:t>Four key components</a:t>
            </a:r>
          </a:p>
          <a:p>
            <a:pPr marL="742950" lvl="1" indent="-285750" algn="just">
              <a:lnSpc>
                <a:spcPct val="150000"/>
              </a:lnSpc>
              <a:buFont typeface="Wingdings" panose="05000000000000000000" pitchFamily="2" charset="2"/>
              <a:buChar char="§"/>
            </a:pPr>
            <a:r>
              <a:rPr lang="en-IN" dirty="0">
                <a:latin typeface="Helvetica" panose="020B0604020202020204" pitchFamily="34" charset="0"/>
                <a:cs typeface="Helvetica" panose="020B0604020202020204" pitchFamily="34" charset="0"/>
              </a:rPr>
              <a:t>Domain-oriented decentralized data ownership and architecture</a:t>
            </a:r>
          </a:p>
          <a:p>
            <a:pPr marL="742950" lvl="1" indent="-285750" algn="just">
              <a:lnSpc>
                <a:spcPct val="150000"/>
              </a:lnSpc>
              <a:buFont typeface="Wingdings" panose="05000000000000000000" pitchFamily="2" charset="2"/>
              <a:buChar char="§"/>
            </a:pPr>
            <a:r>
              <a:rPr lang="en-IN" dirty="0">
                <a:latin typeface="Helvetica" panose="020B0604020202020204" pitchFamily="34" charset="0"/>
                <a:cs typeface="Helvetica" panose="020B0604020202020204" pitchFamily="34" charset="0"/>
              </a:rPr>
              <a:t>Data as a product</a:t>
            </a:r>
          </a:p>
          <a:p>
            <a:pPr marL="742950" lvl="1" indent="-285750" algn="just">
              <a:lnSpc>
                <a:spcPct val="150000"/>
              </a:lnSpc>
              <a:buFont typeface="Wingdings" panose="05000000000000000000" pitchFamily="2" charset="2"/>
              <a:buChar char="§"/>
            </a:pPr>
            <a:r>
              <a:rPr lang="en-IN" dirty="0">
                <a:latin typeface="Helvetica" panose="020B0604020202020204" pitchFamily="34" charset="0"/>
                <a:cs typeface="Helvetica" panose="020B0604020202020204" pitchFamily="34" charset="0"/>
              </a:rPr>
              <a:t>Self-serve data infrastructure as a platform</a:t>
            </a:r>
          </a:p>
          <a:p>
            <a:pPr marL="742950" lvl="1" indent="-285750" algn="just">
              <a:lnSpc>
                <a:spcPct val="150000"/>
              </a:lnSpc>
              <a:buFont typeface="Wingdings" panose="05000000000000000000" pitchFamily="2" charset="2"/>
              <a:buChar char="§"/>
            </a:pPr>
            <a:r>
              <a:rPr lang="en-IN" dirty="0">
                <a:latin typeface="Helvetica" panose="020B0604020202020204" pitchFamily="34" charset="0"/>
                <a:cs typeface="Helvetica" panose="020B0604020202020204" pitchFamily="34" charset="0"/>
              </a:rPr>
              <a:t>Federated computational governance</a:t>
            </a:r>
            <a:r>
              <a:rPr lang="en-US" dirty="0">
                <a:latin typeface="Helvetica" panose="020B0604020202020204" pitchFamily="34" charset="0"/>
                <a:cs typeface="Helvetica" panose="020B0604020202020204" pitchFamily="34" charset="0"/>
              </a:rPr>
              <a:t>.</a:t>
            </a:r>
          </a:p>
        </p:txBody>
      </p:sp>
      <p:sp>
        <p:nvSpPr>
          <p:cNvPr id="8" name="TextBox 7">
            <a:extLst>
              <a:ext uri="{FF2B5EF4-FFF2-40B4-BE49-F238E27FC236}">
                <a16:creationId xmlns:a16="http://schemas.microsoft.com/office/drawing/2014/main" id="{F3AE5A5A-1DF2-7C79-70C0-98DF6B1C2DB2}"/>
              </a:ext>
            </a:extLst>
          </p:cNvPr>
          <p:cNvSpPr txBox="1"/>
          <p:nvPr/>
        </p:nvSpPr>
        <p:spPr>
          <a:xfrm>
            <a:off x="1" y="4301668"/>
            <a:ext cx="5943600" cy="2308324"/>
          </a:xfrm>
          <a:prstGeom prst="rect">
            <a:avLst/>
          </a:prstGeom>
          <a:noFill/>
        </p:spPr>
        <p:txBody>
          <a:bodyPr wrap="square" rtlCol="0">
            <a:spAutoFit/>
          </a:bodyPr>
          <a:lstStyle/>
          <a:p>
            <a:pPr marL="285750" indent="-285750" algn="just">
              <a:buFont typeface="Wingdings" panose="05000000000000000000" pitchFamily="2" charset="2"/>
              <a:buChar char="Ø"/>
            </a:pPr>
            <a:r>
              <a:rPr lang="en-IN" dirty="0">
                <a:latin typeface="Helvetica" panose="020B0604020202020204" pitchFamily="34" charset="0"/>
                <a:cs typeface="Helvetica" panose="020B0604020202020204" pitchFamily="34" charset="0"/>
              </a:rPr>
              <a:t>Recent response to sprawling monolithic data platforms, such as centralized data lakes and warehouse and great divide of data – operational and analytical </a:t>
            </a:r>
            <a:r>
              <a:rPr lang="en-IN" dirty="0" smtClean="0">
                <a:latin typeface="Helvetica" panose="020B0604020202020204" pitchFamily="34" charset="0"/>
                <a:cs typeface="Helvetica" panose="020B0604020202020204" pitchFamily="34" charset="0"/>
              </a:rPr>
              <a:t>data</a:t>
            </a:r>
          </a:p>
          <a:p>
            <a:pPr marL="285750" indent="-285750" algn="just">
              <a:buFont typeface="Wingdings" panose="05000000000000000000" pitchFamily="2" charset="2"/>
              <a:buChar char="Ø"/>
            </a:pPr>
            <a:endParaRPr lang="en-IN" dirty="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r>
              <a:rPr lang="en-IN" dirty="0">
                <a:latin typeface="Helvetica" panose="020B0604020202020204" pitchFamily="34" charset="0"/>
                <a:cs typeface="Helvetica" panose="020B0604020202020204" pitchFamily="34" charset="0"/>
              </a:rPr>
              <a:t>Attempts to invert the challenges of centralized data architecture – by applying concepts of domain driven design on data architecture</a:t>
            </a:r>
            <a:endParaRPr lang="en-US" dirty="0">
              <a:latin typeface="Helvetica" panose="020B0604020202020204" pitchFamily="34" charset="0"/>
              <a:cs typeface="Helvetica" panose="020B0604020202020204" pitchFamily="34" charset="0"/>
            </a:endParaRPr>
          </a:p>
        </p:txBody>
      </p:sp>
      <p:cxnSp>
        <p:nvCxnSpPr>
          <p:cNvPr id="9" name="Straight Connector 8">
            <a:extLst>
              <a:ext uri="{FF2B5EF4-FFF2-40B4-BE49-F238E27FC236}">
                <a16:creationId xmlns:a16="http://schemas.microsoft.com/office/drawing/2014/main" id="{725DB096-A455-7AC5-6AE2-8A9EB7A08E8A}"/>
              </a:ext>
            </a:extLst>
          </p:cNvPr>
          <p:cNvCxnSpPr/>
          <p:nvPr/>
        </p:nvCxnSpPr>
        <p:spPr>
          <a:xfrm>
            <a:off x="6248400" y="1021158"/>
            <a:ext cx="0" cy="5793165"/>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2867246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xEl>
                                              <p:pRg st="6" end="6"/>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
                                            <p:txEl>
                                              <p:pRg st="7" end="7"/>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7">
                                            <p:txEl>
                                              <p:pRg st="8" end="8"/>
                                            </p:txEl>
                                          </p:spTgt>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7">
                                            <p:txEl>
                                              <p:pRg st="9" end="9"/>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7">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8"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7626C-FCA5-C227-9A8F-0D27145172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DFA1F6-6D32-BC48-C33D-BB5DF3BB1BAC}"/>
              </a:ext>
            </a:extLst>
          </p:cNvPr>
          <p:cNvSpPr>
            <a:spLocks noGrp="1"/>
          </p:cNvSpPr>
          <p:nvPr>
            <p:ph type="title"/>
          </p:nvPr>
        </p:nvSpPr>
        <p:spPr/>
        <p:txBody>
          <a:bodyPr/>
          <a:lstStyle/>
          <a:p>
            <a:r>
              <a:rPr lang="en-US" dirty="0" err="1"/>
              <a:t>DataMesh</a:t>
            </a:r>
            <a:endParaRPr lang="en-US" dirty="0"/>
          </a:p>
        </p:txBody>
      </p:sp>
      <p:sp>
        <p:nvSpPr>
          <p:cNvPr id="4" name="AutoShape 2" descr="Lambda Architecture with Unified Serving Layer">
            <a:extLst>
              <a:ext uri="{FF2B5EF4-FFF2-40B4-BE49-F238E27FC236}">
                <a16:creationId xmlns:a16="http://schemas.microsoft.com/office/drawing/2014/main" id="{AB987334-902B-A666-D57D-C40B51BF606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TextBox 6">
            <a:extLst>
              <a:ext uri="{FF2B5EF4-FFF2-40B4-BE49-F238E27FC236}">
                <a16:creationId xmlns:a16="http://schemas.microsoft.com/office/drawing/2014/main" id="{D44A7B66-0C2C-3E16-897D-EDC5FDF8D8AC}"/>
              </a:ext>
            </a:extLst>
          </p:cNvPr>
          <p:cNvSpPr txBox="1"/>
          <p:nvPr/>
        </p:nvSpPr>
        <p:spPr>
          <a:xfrm>
            <a:off x="209550" y="1223602"/>
            <a:ext cx="11753850" cy="2308324"/>
          </a:xfrm>
          <a:prstGeom prst="rect">
            <a:avLst/>
          </a:prstGeom>
          <a:noFill/>
        </p:spPr>
        <p:txBody>
          <a:bodyPr wrap="square" rtlCol="0">
            <a:spAutoFit/>
          </a:bodyPr>
          <a:lstStyle/>
          <a:p>
            <a:pPr marL="285750" indent="-2857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The </a:t>
            </a:r>
            <a:r>
              <a:rPr lang="en-US" dirty="0" smtClean="0">
                <a:latin typeface="Helvetica" panose="020B0604020202020204" pitchFamily="34" charset="0"/>
                <a:cs typeface="Helvetica" panose="020B0604020202020204" pitchFamily="34" charset="0"/>
              </a:rPr>
              <a:t>Data Mesh </a:t>
            </a:r>
            <a:r>
              <a:rPr lang="en-US" dirty="0">
                <a:latin typeface="Helvetica" panose="020B0604020202020204" pitchFamily="34" charset="0"/>
                <a:cs typeface="Helvetica" panose="020B0604020202020204" pitchFamily="34" charset="0"/>
              </a:rPr>
              <a:t>approach emphasizes domain-specific pipelines where each business area ingests, processes, and publishes data as autonomous data products. </a:t>
            </a:r>
            <a:endParaRPr lang="en-US" dirty="0" smtClean="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Self-serve platforms provide centralized infrastructure tools like data catalogs and monitoring capabilities, enabling domain teams to focus on domain-specific logic rather than infrastructure management</a:t>
            </a:r>
            <a:r>
              <a:rPr lang="en-US" dirty="0" smtClean="0">
                <a:latin typeface="Helvetica" panose="020B0604020202020204" pitchFamily="34" charset="0"/>
                <a:cs typeface="Helvetica" panose="020B0604020202020204" pitchFamily="34" charset="0"/>
              </a:rPr>
              <a:t>.</a:t>
            </a:r>
          </a:p>
          <a:p>
            <a:pPr marL="285750" indent="-285750" algn="just">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For example, an e-commerce team might expose order events through a curated dataset with comprehensive metadata describing schema, SLAs, and usage guidelines.</a:t>
            </a:r>
          </a:p>
        </p:txBody>
      </p:sp>
    </p:spTree>
    <p:extLst>
      <p:ext uri="{BB962C8B-B14F-4D97-AF65-F5344CB8AC3E}">
        <p14:creationId xmlns:p14="http://schemas.microsoft.com/office/powerpoint/2010/main" val="2657766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0DBEA-03E3-026D-2F1E-CDEB77E25CED}"/>
              </a:ext>
            </a:extLst>
          </p:cNvPr>
          <p:cNvSpPr>
            <a:spLocks noGrp="1"/>
          </p:cNvSpPr>
          <p:nvPr>
            <p:ph type="title"/>
          </p:nvPr>
        </p:nvSpPr>
        <p:spPr>
          <a:xfrm>
            <a:off x="142465" y="257252"/>
            <a:ext cx="2448335" cy="696333"/>
          </a:xfrm>
        </p:spPr>
        <p:txBody>
          <a:bodyPr/>
          <a:lstStyle/>
          <a:p>
            <a:r>
              <a:rPr lang="en-US" dirty="0" err="1"/>
              <a:t>DataFabric</a:t>
            </a:r>
            <a:endParaRPr lang="en-US" dirty="0"/>
          </a:p>
        </p:txBody>
      </p:sp>
      <p:pic>
        <p:nvPicPr>
          <p:cNvPr id="6" name="Picture 5">
            <a:extLst>
              <a:ext uri="{FF2B5EF4-FFF2-40B4-BE49-F238E27FC236}">
                <a16:creationId xmlns:a16="http://schemas.microsoft.com/office/drawing/2014/main" id="{893BC9A2-6741-0EEA-693C-B1D52F740720}"/>
              </a:ext>
            </a:extLst>
          </p:cNvPr>
          <p:cNvPicPr>
            <a:picLocks noChangeAspect="1"/>
          </p:cNvPicPr>
          <p:nvPr/>
        </p:nvPicPr>
        <p:blipFill>
          <a:blip r:embed="rId2"/>
          <a:stretch>
            <a:fillRect/>
          </a:stretch>
        </p:blipFill>
        <p:spPr>
          <a:xfrm>
            <a:off x="110778" y="1170433"/>
            <a:ext cx="6807200" cy="2791967"/>
          </a:xfrm>
          <a:prstGeom prst="rect">
            <a:avLst/>
          </a:prstGeom>
        </p:spPr>
      </p:pic>
      <p:sp>
        <p:nvSpPr>
          <p:cNvPr id="7" name="TextBox 6">
            <a:extLst>
              <a:ext uri="{FF2B5EF4-FFF2-40B4-BE49-F238E27FC236}">
                <a16:creationId xmlns:a16="http://schemas.microsoft.com/office/drawing/2014/main" id="{7E9234FB-69E9-ABB8-4E30-AEC9184C4485}"/>
              </a:ext>
            </a:extLst>
          </p:cNvPr>
          <p:cNvSpPr txBox="1"/>
          <p:nvPr/>
        </p:nvSpPr>
        <p:spPr>
          <a:xfrm>
            <a:off x="6997541" y="1864390"/>
            <a:ext cx="5079197" cy="3416320"/>
          </a:xfrm>
          <a:prstGeom prst="rect">
            <a:avLst/>
          </a:prstGeom>
          <a:noFill/>
        </p:spPr>
        <p:txBody>
          <a:bodyPr wrap="square" rtlCol="0">
            <a:spAutoFit/>
          </a:bodyPr>
          <a:lstStyle/>
          <a:p>
            <a:pPr marL="285750" indent="-2857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Data fabric architectures create unified data layers that integrate information from lakes, warehouses, databases, and SaaS tools through APIs, change data capture, and virtualization technologies. </a:t>
            </a:r>
            <a:endParaRPr lang="en-US" dirty="0" smtClean="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A practical example would be creating a 360-degree customer view that combines sales data from Salesforce, transaction logs from a data lake, and social media sentiment via APIs.</a:t>
            </a:r>
          </a:p>
        </p:txBody>
      </p:sp>
      <p:sp>
        <p:nvSpPr>
          <p:cNvPr id="8" name="TextBox 7">
            <a:extLst>
              <a:ext uri="{FF2B5EF4-FFF2-40B4-BE49-F238E27FC236}">
                <a16:creationId xmlns:a16="http://schemas.microsoft.com/office/drawing/2014/main" id="{97F9F429-C857-DA52-86A9-2B2A2DE357D1}"/>
              </a:ext>
            </a:extLst>
          </p:cNvPr>
          <p:cNvSpPr txBox="1"/>
          <p:nvPr/>
        </p:nvSpPr>
        <p:spPr>
          <a:xfrm>
            <a:off x="101813" y="4163404"/>
            <a:ext cx="6807200" cy="2534027"/>
          </a:xfrm>
          <a:prstGeom prst="rect">
            <a:avLst/>
          </a:prstGeom>
          <a:noFill/>
        </p:spPr>
        <p:txBody>
          <a:bodyPr wrap="square" rtlCol="0">
            <a:spAutoFit/>
          </a:bodyPr>
          <a:lstStyle/>
          <a:p>
            <a:pPr>
              <a:lnSpc>
                <a:spcPct val="150000"/>
              </a:lnSpc>
            </a:pPr>
            <a:r>
              <a:rPr lang="en-US" b="1" u="sng" dirty="0">
                <a:latin typeface="Helvetica" panose="020B0604020202020204" pitchFamily="34" charset="0"/>
                <a:cs typeface="Helvetica" panose="020B0604020202020204" pitchFamily="34" charset="0"/>
              </a:rPr>
              <a:t>Key characteristics:</a:t>
            </a:r>
          </a:p>
          <a:p>
            <a:pPr marL="285750" indent="-285750">
              <a:lnSpc>
                <a:spcPct val="150000"/>
              </a:lnSpc>
              <a:buFont typeface="Wingdings" panose="05000000000000000000" pitchFamily="2" charset="2"/>
              <a:buChar char="Ø"/>
            </a:pPr>
            <a:r>
              <a:rPr lang="en-US" dirty="0">
                <a:latin typeface="Helvetica" panose="020B0604020202020204" pitchFamily="34" charset="0"/>
                <a:cs typeface="Helvetica" panose="020B0604020202020204" pitchFamily="34" charset="0"/>
              </a:rPr>
              <a:t>Unified data access</a:t>
            </a:r>
          </a:p>
          <a:p>
            <a:pPr marL="285750" indent="-285750">
              <a:lnSpc>
                <a:spcPct val="150000"/>
              </a:lnSpc>
              <a:buFont typeface="Wingdings" panose="05000000000000000000" pitchFamily="2" charset="2"/>
              <a:buChar char="Ø"/>
            </a:pPr>
            <a:r>
              <a:rPr lang="en-US" dirty="0">
                <a:latin typeface="Helvetica" panose="020B0604020202020204" pitchFamily="34" charset="0"/>
                <a:cs typeface="Helvetica" panose="020B0604020202020204" pitchFamily="34" charset="0"/>
              </a:rPr>
              <a:t>Seamless integration &amp; orchestration</a:t>
            </a:r>
          </a:p>
          <a:p>
            <a:pPr marL="285750" indent="-285750">
              <a:lnSpc>
                <a:spcPct val="150000"/>
              </a:lnSpc>
              <a:buFont typeface="Wingdings" panose="05000000000000000000" pitchFamily="2" charset="2"/>
              <a:buChar char="Ø"/>
            </a:pPr>
            <a:r>
              <a:rPr lang="en-US" dirty="0">
                <a:latin typeface="Helvetica" panose="020B0604020202020204" pitchFamily="34" charset="0"/>
                <a:cs typeface="Helvetica" panose="020B0604020202020204" pitchFamily="34" charset="0"/>
              </a:rPr>
              <a:t>Security, governance &amp; compliance</a:t>
            </a:r>
          </a:p>
          <a:p>
            <a:pPr marL="285750" indent="-285750">
              <a:lnSpc>
                <a:spcPct val="150000"/>
              </a:lnSpc>
              <a:buFont typeface="Wingdings" panose="05000000000000000000" pitchFamily="2" charset="2"/>
              <a:buChar char="Ø"/>
            </a:pPr>
            <a:r>
              <a:rPr lang="en-US" dirty="0">
                <a:latin typeface="Helvetica" panose="020B0604020202020204" pitchFamily="34" charset="0"/>
                <a:cs typeface="Helvetica" panose="020B0604020202020204" pitchFamily="34" charset="0"/>
              </a:rPr>
              <a:t>Scalability &amp; flexibility</a:t>
            </a:r>
          </a:p>
          <a:p>
            <a:pPr marL="285750" indent="-285750">
              <a:lnSpc>
                <a:spcPct val="150000"/>
              </a:lnSpc>
              <a:buFont typeface="Wingdings" panose="05000000000000000000" pitchFamily="2" charset="2"/>
              <a:buChar char="Ø"/>
            </a:pPr>
            <a:r>
              <a:rPr lang="en-US" dirty="0">
                <a:latin typeface="Helvetica" panose="020B0604020202020204" pitchFamily="34" charset="0"/>
                <a:cs typeface="Helvetica" panose="020B0604020202020204" pitchFamily="34" charset="0"/>
              </a:rPr>
              <a:t>Real-time insights and multi-cloud support</a:t>
            </a:r>
          </a:p>
        </p:txBody>
      </p:sp>
      <p:cxnSp>
        <p:nvCxnSpPr>
          <p:cNvPr id="9" name="Straight Connector 8">
            <a:extLst>
              <a:ext uri="{FF2B5EF4-FFF2-40B4-BE49-F238E27FC236}">
                <a16:creationId xmlns:a16="http://schemas.microsoft.com/office/drawing/2014/main" id="{DAC31084-E5DC-A794-93EF-190364EB7291}"/>
              </a:ext>
            </a:extLst>
          </p:cNvPr>
          <p:cNvCxnSpPr/>
          <p:nvPr/>
        </p:nvCxnSpPr>
        <p:spPr>
          <a:xfrm>
            <a:off x="6953277" y="1064835"/>
            <a:ext cx="0" cy="5793165"/>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563879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8"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CF611-88B3-6F69-D6E2-4D899EE7D5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E03451-3429-08C1-6F41-D17B5CD54969}"/>
              </a:ext>
            </a:extLst>
          </p:cNvPr>
          <p:cNvSpPr>
            <a:spLocks noGrp="1"/>
          </p:cNvSpPr>
          <p:nvPr>
            <p:ph type="title"/>
          </p:nvPr>
        </p:nvSpPr>
        <p:spPr>
          <a:xfrm>
            <a:off x="831850" y="1709738"/>
            <a:ext cx="10515600" cy="2852737"/>
          </a:xfrm>
        </p:spPr>
        <p:txBody>
          <a:bodyPr anchor="b">
            <a:normAutofit/>
          </a:bodyPr>
          <a:lstStyle/>
          <a:p>
            <a:r>
              <a:rPr lang="en-US" dirty="0"/>
              <a:t>Categorization </a:t>
            </a:r>
            <a:br>
              <a:rPr lang="en-US" dirty="0"/>
            </a:br>
            <a:r>
              <a:rPr lang="en-US" dirty="0"/>
              <a:t>– By Processing </a:t>
            </a:r>
          </a:p>
        </p:txBody>
      </p:sp>
    </p:spTree>
    <p:extLst>
      <p:ext uri="{BB962C8B-B14F-4D97-AF65-F5344CB8AC3E}">
        <p14:creationId xmlns:p14="http://schemas.microsoft.com/office/powerpoint/2010/main" val="17968833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B69F0-BE69-089B-8E66-8AADFF5A5C0F}"/>
              </a:ext>
            </a:extLst>
          </p:cNvPr>
          <p:cNvSpPr>
            <a:spLocks noGrp="1"/>
          </p:cNvSpPr>
          <p:nvPr>
            <p:ph type="title"/>
          </p:nvPr>
        </p:nvSpPr>
        <p:spPr/>
        <p:txBody>
          <a:bodyPr/>
          <a:lstStyle/>
          <a:p>
            <a:r>
              <a:rPr lang="en-US" dirty="0"/>
              <a:t>Lambda Architecture</a:t>
            </a:r>
          </a:p>
        </p:txBody>
      </p:sp>
      <p:sp>
        <p:nvSpPr>
          <p:cNvPr id="3" name="Text Placeholder 2">
            <a:extLst>
              <a:ext uri="{FF2B5EF4-FFF2-40B4-BE49-F238E27FC236}">
                <a16:creationId xmlns:a16="http://schemas.microsoft.com/office/drawing/2014/main" id="{6E2CD078-1AB4-1104-9256-86B9E342AC70}"/>
              </a:ext>
            </a:extLst>
          </p:cNvPr>
          <p:cNvSpPr>
            <a:spLocks noGrp="1"/>
          </p:cNvSpPr>
          <p:nvPr>
            <p:ph type="body" sz="quarter" idx="13"/>
          </p:nvPr>
        </p:nvSpPr>
        <p:spPr>
          <a:xfrm>
            <a:off x="152400" y="942862"/>
            <a:ext cx="11620500" cy="4543538"/>
          </a:xfrm>
        </p:spPr>
        <p:txBody>
          <a:bodyPr>
            <a:noAutofit/>
          </a:bodyPr>
          <a:lstStyle/>
          <a:p>
            <a:pPr marL="361950" indent="-361950" algn="just">
              <a:lnSpc>
                <a:spcPct val="150000"/>
              </a:lnSpc>
              <a:buFont typeface="Wingdings" panose="05000000000000000000" pitchFamily="2" charset="2"/>
              <a:buChar char="Ø"/>
            </a:pPr>
            <a:r>
              <a:rPr lang="en-US" dirty="0"/>
              <a:t>Consider a scenario</a:t>
            </a:r>
          </a:p>
          <a:p>
            <a:pPr marL="361950" indent="-361950" algn="just">
              <a:lnSpc>
                <a:spcPct val="100000"/>
              </a:lnSpc>
              <a:spcBef>
                <a:spcPts val="0"/>
              </a:spcBef>
              <a:buFont typeface="Wingdings" panose="05000000000000000000" pitchFamily="2" charset="2"/>
              <a:buChar char="Ø"/>
            </a:pPr>
            <a:endParaRPr lang="en-US" dirty="0" smtClean="0"/>
          </a:p>
          <a:p>
            <a:pPr marL="361950" indent="-361950" algn="just">
              <a:lnSpc>
                <a:spcPct val="100000"/>
              </a:lnSpc>
              <a:spcBef>
                <a:spcPts val="0"/>
              </a:spcBef>
              <a:buFont typeface="Wingdings" panose="05000000000000000000" pitchFamily="2" charset="2"/>
              <a:buChar char="Ø"/>
            </a:pPr>
            <a:r>
              <a:rPr lang="en-US" dirty="0" smtClean="0"/>
              <a:t>A </a:t>
            </a:r>
            <a:r>
              <a:rPr lang="en-US" dirty="0"/>
              <a:t>banking institute is building a fraud analysis and alert system. For each transaction, they want to store data for analysis &amp; reporting and want to have a real-time engine to alert on possible fraud data coming in</a:t>
            </a:r>
          </a:p>
          <a:p>
            <a:pPr marL="361950" indent="-361950" algn="just">
              <a:lnSpc>
                <a:spcPct val="150000"/>
              </a:lnSpc>
              <a:buFont typeface="Wingdings" panose="05000000000000000000" pitchFamily="2" charset="2"/>
              <a:buChar char="Ø"/>
            </a:pPr>
            <a:r>
              <a:rPr lang="en-US" dirty="0"/>
              <a:t>Let us deep dive</a:t>
            </a:r>
          </a:p>
          <a:p>
            <a:pPr marL="361950" lvl="1" indent="-361950" algn="just">
              <a:lnSpc>
                <a:spcPct val="100000"/>
              </a:lnSpc>
              <a:spcBef>
                <a:spcPts val="0"/>
              </a:spcBef>
              <a:buFont typeface="Wingdings" panose="05000000000000000000" pitchFamily="2" charset="2"/>
              <a:buChar char="Ø"/>
            </a:pPr>
            <a:endParaRPr lang="en-US" sz="1800" dirty="0" smtClean="0"/>
          </a:p>
          <a:p>
            <a:pPr marL="361950" lvl="1" indent="-361950" algn="just">
              <a:lnSpc>
                <a:spcPct val="100000"/>
              </a:lnSpc>
              <a:spcBef>
                <a:spcPts val="0"/>
              </a:spcBef>
              <a:buFont typeface="Wingdings" panose="05000000000000000000" pitchFamily="2" charset="2"/>
              <a:buChar char="Ø"/>
            </a:pPr>
            <a:r>
              <a:rPr lang="en-US" sz="1800" dirty="0" smtClean="0"/>
              <a:t>They </a:t>
            </a:r>
            <a:r>
              <a:rPr lang="en-US" sz="1800" dirty="0"/>
              <a:t>want to analyze the data and identify the fraud patterns and generate reports – this is an activity done on batch mode</a:t>
            </a:r>
          </a:p>
          <a:p>
            <a:pPr marL="361950" lvl="1" indent="-361950" algn="just">
              <a:lnSpc>
                <a:spcPct val="150000"/>
              </a:lnSpc>
              <a:buFont typeface="Wingdings" panose="05000000000000000000" pitchFamily="2" charset="2"/>
              <a:buChar char="Ø"/>
            </a:pPr>
            <a:r>
              <a:rPr lang="en-US" sz="1800" dirty="0"/>
              <a:t>Alerting the backend staff on fraudulent transaction – this is a real time alert. </a:t>
            </a:r>
          </a:p>
          <a:p>
            <a:pPr marL="361950" indent="-361950" algn="just">
              <a:lnSpc>
                <a:spcPct val="150000"/>
              </a:lnSpc>
              <a:buFont typeface="Wingdings" panose="05000000000000000000" pitchFamily="2" charset="2"/>
              <a:buChar char="Ø"/>
            </a:pPr>
            <a:r>
              <a:rPr lang="en-US" dirty="0"/>
              <a:t>So we need same data flowing for batch as well as stream processing</a:t>
            </a:r>
          </a:p>
          <a:p>
            <a:pPr marL="361950" indent="-361950" algn="just">
              <a:lnSpc>
                <a:spcPct val="150000"/>
              </a:lnSpc>
              <a:buFont typeface="Wingdings" panose="05000000000000000000" pitchFamily="2" charset="2"/>
              <a:buChar char="Ø"/>
            </a:pPr>
            <a:r>
              <a:rPr lang="en-IN" dirty="0"/>
              <a:t>Need to figure out how to reconcile batch and streaming data in single </a:t>
            </a:r>
            <a:r>
              <a:rPr lang="en-IN" dirty="0" smtClean="0"/>
              <a:t>architecture</a:t>
            </a:r>
            <a:endParaRPr lang="en-US" dirty="0"/>
          </a:p>
          <a:p>
            <a:pPr marL="361950" lvl="1" indent="-361950" algn="just">
              <a:lnSpc>
                <a:spcPct val="150000"/>
              </a:lnSpc>
              <a:buFont typeface="+mj-lt"/>
              <a:buAutoNum type="arabicPeriod"/>
            </a:pPr>
            <a:endParaRPr lang="en-US" sz="1800" dirty="0"/>
          </a:p>
        </p:txBody>
      </p:sp>
      <p:sp>
        <p:nvSpPr>
          <p:cNvPr id="5" name="Rectangle 4">
            <a:extLst>
              <a:ext uri="{FF2B5EF4-FFF2-40B4-BE49-F238E27FC236}">
                <a16:creationId xmlns:a16="http://schemas.microsoft.com/office/drawing/2014/main" id="{853B4613-C60A-D78C-F6BB-F8B487B0D4C0}"/>
              </a:ext>
            </a:extLst>
          </p:cNvPr>
          <p:cNvSpPr/>
          <p:nvPr/>
        </p:nvSpPr>
        <p:spPr>
          <a:xfrm>
            <a:off x="1143000" y="5562600"/>
            <a:ext cx="9753600" cy="7643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Helvetica" panose="020B0604020202020204" pitchFamily="34" charset="0"/>
                <a:cs typeface="Helvetica" panose="020B0604020202020204" pitchFamily="34" charset="0"/>
              </a:rPr>
              <a:t>Solution: Lambda Architecture</a:t>
            </a:r>
          </a:p>
        </p:txBody>
      </p:sp>
    </p:spTree>
    <p:extLst>
      <p:ext uri="{BB962C8B-B14F-4D97-AF65-F5344CB8AC3E}">
        <p14:creationId xmlns:p14="http://schemas.microsoft.com/office/powerpoint/2010/main" val="1907099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5"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32C325-1100-50FE-591C-02A01D74E4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883481-9FEE-FA28-C4B3-47A6BEEE15B7}"/>
              </a:ext>
            </a:extLst>
          </p:cNvPr>
          <p:cNvSpPr>
            <a:spLocks noGrp="1"/>
          </p:cNvSpPr>
          <p:nvPr>
            <p:ph type="title"/>
          </p:nvPr>
        </p:nvSpPr>
        <p:spPr>
          <a:xfrm>
            <a:off x="304800" y="221810"/>
            <a:ext cx="4953000" cy="696333"/>
          </a:xfrm>
        </p:spPr>
        <p:txBody>
          <a:bodyPr/>
          <a:lstStyle/>
          <a:p>
            <a:r>
              <a:rPr lang="en-US" dirty="0"/>
              <a:t>Lambda Architecture</a:t>
            </a:r>
          </a:p>
        </p:txBody>
      </p:sp>
      <p:sp>
        <p:nvSpPr>
          <p:cNvPr id="4" name="AutoShape 2" descr="Lambda Architecture with Unified Serving Layer">
            <a:extLst>
              <a:ext uri="{FF2B5EF4-FFF2-40B4-BE49-F238E27FC236}">
                <a16:creationId xmlns:a16="http://schemas.microsoft.com/office/drawing/2014/main" id="{2303297F-0399-DDEA-75BF-B45C3A06847E}"/>
              </a:ext>
            </a:extLst>
          </p:cNvPr>
          <p:cNvSpPr>
            <a:spLocks noChangeAspect="1" noChangeArrowheads="1"/>
          </p:cNvSpPr>
          <p:nvPr/>
        </p:nvSpPr>
        <p:spPr bwMode="auto">
          <a:xfrm>
            <a:off x="60960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8">
            <a:extLst>
              <a:ext uri="{FF2B5EF4-FFF2-40B4-BE49-F238E27FC236}">
                <a16:creationId xmlns:a16="http://schemas.microsoft.com/office/drawing/2014/main" id="{A94644D4-34BF-D95B-8850-0911FC06A5DB}"/>
              </a:ext>
            </a:extLst>
          </p:cNvPr>
          <p:cNvPicPr>
            <a:picLocks noChangeAspect="1"/>
          </p:cNvPicPr>
          <p:nvPr/>
        </p:nvPicPr>
        <p:blipFill>
          <a:blip r:embed="rId2"/>
          <a:stretch>
            <a:fillRect/>
          </a:stretch>
        </p:blipFill>
        <p:spPr>
          <a:xfrm>
            <a:off x="152400" y="1129954"/>
            <a:ext cx="6248400" cy="2451446"/>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11" name="Picture 10">
            <a:extLst>
              <a:ext uri="{FF2B5EF4-FFF2-40B4-BE49-F238E27FC236}">
                <a16:creationId xmlns:a16="http://schemas.microsoft.com/office/drawing/2014/main" id="{DFFC2296-C941-FCC3-E750-B486F341919E}"/>
              </a:ext>
            </a:extLst>
          </p:cNvPr>
          <p:cNvPicPr>
            <a:picLocks noChangeAspect="1"/>
          </p:cNvPicPr>
          <p:nvPr/>
        </p:nvPicPr>
        <p:blipFill>
          <a:blip r:embed="rId3"/>
          <a:stretch>
            <a:fillRect/>
          </a:stretch>
        </p:blipFill>
        <p:spPr>
          <a:xfrm>
            <a:off x="152400" y="3786421"/>
            <a:ext cx="6248400" cy="2919975"/>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sp>
        <p:nvSpPr>
          <p:cNvPr id="12" name="TextBox 11">
            <a:extLst>
              <a:ext uri="{FF2B5EF4-FFF2-40B4-BE49-F238E27FC236}">
                <a16:creationId xmlns:a16="http://schemas.microsoft.com/office/drawing/2014/main" id="{2D4C7AF4-F007-DB91-2FC5-51BD2FA4371C}"/>
              </a:ext>
            </a:extLst>
          </p:cNvPr>
          <p:cNvSpPr txBox="1"/>
          <p:nvPr/>
        </p:nvSpPr>
        <p:spPr>
          <a:xfrm>
            <a:off x="6477000" y="927915"/>
            <a:ext cx="5410200" cy="5324535"/>
          </a:xfrm>
          <a:prstGeom prst="rect">
            <a:avLst/>
          </a:prstGeom>
          <a:noFill/>
        </p:spPr>
        <p:txBody>
          <a:bodyPr wrap="square" rtlCol="0">
            <a:spAutoFit/>
          </a:bodyPr>
          <a:lstStyle/>
          <a:p>
            <a:pPr marL="285750" indent="-285750" algn="just">
              <a:buFont typeface="Wingdings" panose="05000000000000000000" pitchFamily="2" charset="2"/>
              <a:buChar char="Ø"/>
            </a:pPr>
            <a:r>
              <a:rPr lang="en-IN" sz="1700" dirty="0">
                <a:latin typeface="Helvetica" panose="020B0604020202020204" pitchFamily="34" charset="0"/>
                <a:cs typeface="Helvetica" panose="020B0604020202020204" pitchFamily="34" charset="0"/>
              </a:rPr>
              <a:t>Three systems : batch, streaming and serving are operating independently Source is immutable and append-only, sending data to two destinations </a:t>
            </a:r>
            <a:r>
              <a:rPr lang="en-IN" sz="1700" dirty="0" smtClean="0">
                <a:latin typeface="Helvetica" panose="020B0604020202020204" pitchFamily="34" charset="0"/>
                <a:cs typeface="Helvetica" panose="020B0604020202020204" pitchFamily="34" charset="0"/>
              </a:rPr>
              <a:t>              : Stream </a:t>
            </a:r>
            <a:r>
              <a:rPr lang="en-IN" sz="1700" dirty="0">
                <a:latin typeface="Helvetica" panose="020B0604020202020204" pitchFamily="34" charset="0"/>
                <a:cs typeface="Helvetica" panose="020B0604020202020204" pitchFamily="34" charset="0"/>
              </a:rPr>
              <a:t>and </a:t>
            </a:r>
            <a:r>
              <a:rPr lang="en-IN" sz="1700" dirty="0" smtClean="0">
                <a:latin typeface="Helvetica" panose="020B0604020202020204" pitchFamily="34" charset="0"/>
                <a:cs typeface="Helvetica" panose="020B0604020202020204" pitchFamily="34" charset="0"/>
              </a:rPr>
              <a:t>Batch</a:t>
            </a:r>
          </a:p>
          <a:p>
            <a:pPr marL="285750" indent="-285750" algn="just">
              <a:buFont typeface="Wingdings" panose="05000000000000000000" pitchFamily="2" charset="2"/>
              <a:buChar char="Ø"/>
            </a:pPr>
            <a:endParaRPr lang="en-IN" sz="1700" dirty="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r>
              <a:rPr lang="en-IN" sz="1700" dirty="0">
                <a:latin typeface="Helvetica" panose="020B0604020202020204" pitchFamily="34" charset="0"/>
                <a:cs typeface="Helvetica" panose="020B0604020202020204" pitchFamily="34" charset="0"/>
              </a:rPr>
              <a:t>In-stream processing serves data with lowest possible latency in speed layer, usually NoSQL </a:t>
            </a:r>
            <a:r>
              <a:rPr lang="en-IN" sz="1700" dirty="0" smtClean="0">
                <a:latin typeface="Helvetica" panose="020B0604020202020204" pitchFamily="34" charset="0"/>
                <a:cs typeface="Helvetica" panose="020B0604020202020204" pitchFamily="34" charset="0"/>
              </a:rPr>
              <a:t>DB</a:t>
            </a:r>
          </a:p>
          <a:p>
            <a:pPr marL="285750" indent="-285750" algn="just">
              <a:buFont typeface="Wingdings" panose="05000000000000000000" pitchFamily="2" charset="2"/>
              <a:buChar char="Ø"/>
            </a:pPr>
            <a:endParaRPr lang="en-IN" sz="1700" dirty="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r>
              <a:rPr lang="en-IN" sz="1700" dirty="0">
                <a:latin typeface="Helvetica" panose="020B0604020202020204" pitchFamily="34" charset="0"/>
                <a:cs typeface="Helvetica" panose="020B0604020202020204" pitchFamily="34" charset="0"/>
              </a:rPr>
              <a:t>Batch layer process and transforms data in data warehouse, creating precomputed and aggregated views of data </a:t>
            </a:r>
            <a:endParaRPr lang="en-IN" sz="1700" dirty="0" smtClean="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endParaRPr lang="en-IN" sz="1700" dirty="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r>
              <a:rPr lang="en-IN" sz="1700" dirty="0">
                <a:latin typeface="Helvetica" panose="020B0604020202020204" pitchFamily="34" charset="0"/>
                <a:cs typeface="Helvetica" panose="020B0604020202020204" pitchFamily="34" charset="0"/>
              </a:rPr>
              <a:t>Serving layer provides a combined view by aggregating query results from two layers(option 1) or separate service layers(option 2</a:t>
            </a:r>
            <a:r>
              <a:rPr lang="en-IN" sz="1700" dirty="0" smtClean="0">
                <a:latin typeface="Helvetica" panose="020B0604020202020204" pitchFamily="34" charset="0"/>
                <a:cs typeface="Helvetica" panose="020B0604020202020204" pitchFamily="34" charset="0"/>
              </a:rPr>
              <a:t>)</a:t>
            </a:r>
          </a:p>
          <a:p>
            <a:pPr marL="285750" indent="-285750" algn="just">
              <a:buFont typeface="Wingdings" panose="05000000000000000000" pitchFamily="2" charset="2"/>
              <a:buChar char="Ø"/>
            </a:pPr>
            <a:endParaRPr lang="en-IN" sz="1700" dirty="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r>
              <a:rPr lang="en-IN" sz="1700" b="1" u="sng" dirty="0">
                <a:latin typeface="Helvetica" panose="020B0604020202020204" pitchFamily="34" charset="0"/>
                <a:cs typeface="Helvetica" panose="020B0604020202020204" pitchFamily="34" charset="0"/>
              </a:rPr>
              <a:t>Challenge: </a:t>
            </a:r>
            <a:r>
              <a:rPr lang="en-IN" sz="1700" dirty="0">
                <a:latin typeface="Helvetica" panose="020B0604020202020204" pitchFamily="34" charset="0"/>
                <a:cs typeface="Helvetica" panose="020B0604020202020204" pitchFamily="34" charset="0"/>
              </a:rPr>
              <a:t>Managing multiple systems with different codebases is difficult, creating error-prone systems with code and data that are extremely difficult to reconcile!</a:t>
            </a:r>
          </a:p>
        </p:txBody>
      </p:sp>
    </p:spTree>
    <p:extLst>
      <p:ext uri="{BB962C8B-B14F-4D97-AF65-F5344CB8AC3E}">
        <p14:creationId xmlns:p14="http://schemas.microsoft.com/office/powerpoint/2010/main" val="3371295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bldLvl="2"/>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17243-167B-14A5-B055-2459F7D47D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2E604C-80DD-D7CC-6E30-9F096468F4F2}"/>
              </a:ext>
            </a:extLst>
          </p:cNvPr>
          <p:cNvSpPr>
            <a:spLocks noGrp="1"/>
          </p:cNvSpPr>
          <p:nvPr>
            <p:ph type="title"/>
          </p:nvPr>
        </p:nvSpPr>
        <p:spPr/>
        <p:txBody>
          <a:bodyPr/>
          <a:lstStyle/>
          <a:p>
            <a:r>
              <a:rPr lang="en-US" dirty="0"/>
              <a:t>Kappa Architecture</a:t>
            </a:r>
          </a:p>
        </p:txBody>
      </p:sp>
      <p:sp>
        <p:nvSpPr>
          <p:cNvPr id="4" name="AutoShape 2" descr="Lambda Architecture with Unified Serving Layer">
            <a:extLst>
              <a:ext uri="{FF2B5EF4-FFF2-40B4-BE49-F238E27FC236}">
                <a16:creationId xmlns:a16="http://schemas.microsoft.com/office/drawing/2014/main" id="{3E3C0D65-0BFF-9FAC-2E8D-C84560BE070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TextBox 11">
            <a:extLst>
              <a:ext uri="{FF2B5EF4-FFF2-40B4-BE49-F238E27FC236}">
                <a16:creationId xmlns:a16="http://schemas.microsoft.com/office/drawing/2014/main" id="{522AC647-B06B-35CB-0149-F22596D7BFD1}"/>
              </a:ext>
            </a:extLst>
          </p:cNvPr>
          <p:cNvSpPr txBox="1"/>
          <p:nvPr/>
        </p:nvSpPr>
        <p:spPr>
          <a:xfrm>
            <a:off x="76200" y="1064835"/>
            <a:ext cx="4154581" cy="4801314"/>
          </a:xfrm>
          <a:prstGeom prst="rect">
            <a:avLst/>
          </a:prstGeom>
          <a:noFill/>
        </p:spPr>
        <p:txBody>
          <a:bodyPr wrap="square" rtlCol="0">
            <a:spAutoFit/>
          </a:bodyPr>
          <a:lstStyle/>
          <a:p>
            <a:pPr marL="285750" indent="-285750" algn="just">
              <a:buFont typeface="Wingdings" panose="05000000000000000000" pitchFamily="2" charset="2"/>
              <a:buChar char="Ø"/>
            </a:pPr>
            <a:r>
              <a:rPr lang="en-IN" dirty="0">
                <a:latin typeface="Helvetica" panose="020B0604020202020204" pitchFamily="34" charset="0"/>
                <a:cs typeface="Helvetica" panose="020B0604020202020204" pitchFamily="34" charset="0"/>
              </a:rPr>
              <a:t>As a response to shortcomings of Lambda architecture, Jay Kreps proposed an </a:t>
            </a:r>
            <a:r>
              <a:rPr lang="en-IN" dirty="0" smtClean="0">
                <a:latin typeface="Helvetica" panose="020B0604020202020204" pitchFamily="34" charset="0"/>
                <a:cs typeface="Helvetica" panose="020B0604020202020204" pitchFamily="34" charset="0"/>
              </a:rPr>
              <a:t>alternative</a:t>
            </a:r>
          </a:p>
          <a:p>
            <a:pPr marL="285750" indent="-285750" algn="just">
              <a:buFont typeface="Wingdings" panose="05000000000000000000" pitchFamily="2" charset="2"/>
              <a:buChar char="Ø"/>
            </a:pPr>
            <a:endParaRPr lang="en-IN" dirty="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r>
              <a:rPr lang="en-IN" dirty="0">
                <a:latin typeface="Helvetica" panose="020B0604020202020204" pitchFamily="34" charset="0"/>
                <a:cs typeface="Helvetica" panose="020B0604020202020204" pitchFamily="34" charset="0"/>
              </a:rPr>
              <a:t>Just use stream processing platform as backbone for all data handling </a:t>
            </a:r>
            <a:endParaRPr lang="en-IN" dirty="0" smtClean="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endParaRPr lang="en-IN" dirty="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r>
              <a:rPr lang="en-IN" dirty="0">
                <a:latin typeface="Helvetica" panose="020B0604020202020204" pitchFamily="34" charset="0"/>
                <a:cs typeface="Helvetica" panose="020B0604020202020204" pitchFamily="34" charset="0"/>
              </a:rPr>
              <a:t>Ingestion, storage and serving – facilitating a true event based </a:t>
            </a:r>
            <a:r>
              <a:rPr lang="en-IN" dirty="0" smtClean="0">
                <a:latin typeface="Helvetica" panose="020B0604020202020204" pitchFamily="34" charset="0"/>
                <a:cs typeface="Helvetica" panose="020B0604020202020204" pitchFamily="34" charset="0"/>
              </a:rPr>
              <a:t>architecture</a:t>
            </a:r>
          </a:p>
          <a:p>
            <a:pPr marL="285750" indent="-285750" algn="just">
              <a:buFont typeface="Wingdings" panose="05000000000000000000" pitchFamily="2" charset="2"/>
              <a:buChar char="Ø"/>
            </a:pPr>
            <a:endParaRPr lang="en-IN" dirty="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r>
              <a:rPr lang="en-IN" dirty="0">
                <a:latin typeface="Helvetica" panose="020B0604020202020204" pitchFamily="34" charset="0"/>
                <a:cs typeface="Helvetica" panose="020B0604020202020204" pitchFamily="34" charset="0"/>
              </a:rPr>
              <a:t>Real-time and batch processing can be applied seamlessly to same data </a:t>
            </a:r>
            <a:endParaRPr lang="en-IN" dirty="0" smtClean="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endParaRPr lang="en-IN" dirty="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r>
              <a:rPr lang="en-IN" dirty="0">
                <a:latin typeface="Helvetica" panose="020B0604020202020204" pitchFamily="34" charset="0"/>
                <a:cs typeface="Helvetica" panose="020B0604020202020204" pitchFamily="34" charset="0"/>
              </a:rPr>
              <a:t>By reading live event stream directly and replaying large chucks of data for batch processing </a:t>
            </a:r>
          </a:p>
        </p:txBody>
      </p:sp>
      <p:sp>
        <p:nvSpPr>
          <p:cNvPr id="6" name="TextBox 5">
            <a:extLst>
              <a:ext uri="{FF2B5EF4-FFF2-40B4-BE49-F238E27FC236}">
                <a16:creationId xmlns:a16="http://schemas.microsoft.com/office/drawing/2014/main" id="{295402C1-8781-E636-05DD-99B6897AE339}"/>
              </a:ext>
            </a:extLst>
          </p:cNvPr>
          <p:cNvSpPr txBox="1"/>
          <p:nvPr/>
        </p:nvSpPr>
        <p:spPr>
          <a:xfrm>
            <a:off x="4343400" y="3976506"/>
            <a:ext cx="7333129" cy="2723823"/>
          </a:xfrm>
          <a:prstGeom prst="rect">
            <a:avLst/>
          </a:prstGeom>
          <a:noFill/>
        </p:spPr>
        <p:txBody>
          <a:bodyPr wrap="square" rtlCol="0">
            <a:spAutoFit/>
          </a:bodyPr>
          <a:lstStyle/>
          <a:p>
            <a:pPr>
              <a:lnSpc>
                <a:spcPct val="150000"/>
              </a:lnSpc>
            </a:pPr>
            <a:r>
              <a:rPr lang="en-IN" b="1" u="sng" dirty="0" smtClean="0">
                <a:latin typeface="Helvetica" panose="020B0604020202020204" pitchFamily="34" charset="0"/>
                <a:cs typeface="Helvetica" panose="020B0604020202020204" pitchFamily="34" charset="0"/>
              </a:rPr>
              <a:t>Challenges</a:t>
            </a:r>
            <a:r>
              <a:rPr lang="en-IN" b="1" u="sng" dirty="0">
                <a:latin typeface="Helvetica" panose="020B0604020202020204" pitchFamily="34" charset="0"/>
                <a:cs typeface="Helvetica" panose="020B0604020202020204" pitchFamily="34" charset="0"/>
              </a:rPr>
              <a:t>:</a:t>
            </a:r>
          </a:p>
          <a:p>
            <a:pPr marL="285750" indent="-285750">
              <a:buFont typeface="Wingdings" panose="05000000000000000000" pitchFamily="2" charset="2"/>
              <a:buChar char="Ø"/>
            </a:pPr>
            <a:r>
              <a:rPr lang="en-IN" dirty="0">
                <a:latin typeface="Helvetica" panose="020B0604020202020204" pitchFamily="34" charset="0"/>
                <a:cs typeface="Helvetica" panose="020B0604020202020204" pitchFamily="34" charset="0"/>
              </a:rPr>
              <a:t>Streaming itself is still a bit of mystery to many companies – easy to talk, harder to </a:t>
            </a:r>
            <a:r>
              <a:rPr lang="en-IN" dirty="0" smtClean="0">
                <a:latin typeface="Helvetica" panose="020B0604020202020204" pitchFamily="34" charset="0"/>
                <a:cs typeface="Helvetica" panose="020B0604020202020204" pitchFamily="34" charset="0"/>
              </a:rPr>
              <a:t>execute</a:t>
            </a:r>
          </a:p>
          <a:p>
            <a:pPr marL="285750" indent="-285750">
              <a:buFont typeface="Wingdings" panose="05000000000000000000" pitchFamily="2" charset="2"/>
              <a:buChar char="Ø"/>
            </a:pPr>
            <a:endParaRPr lang="en-IN" dirty="0">
              <a:latin typeface="Helvetica" panose="020B0604020202020204" pitchFamily="34" charset="0"/>
              <a:cs typeface="Helvetica" panose="020B0604020202020204" pitchFamily="34" charset="0"/>
            </a:endParaRPr>
          </a:p>
          <a:p>
            <a:pPr marL="285750" indent="-285750">
              <a:lnSpc>
                <a:spcPct val="150000"/>
              </a:lnSpc>
              <a:buFont typeface="Wingdings" panose="05000000000000000000" pitchFamily="2" charset="2"/>
              <a:buChar char="Ø"/>
            </a:pPr>
            <a:r>
              <a:rPr lang="en-IN" dirty="0">
                <a:latin typeface="Helvetica" panose="020B0604020202020204" pitchFamily="34" charset="0"/>
                <a:cs typeface="Helvetica" panose="020B0604020202020204" pitchFamily="34" charset="0"/>
              </a:rPr>
              <a:t>Turns out to be complicated and expensive in </a:t>
            </a:r>
            <a:r>
              <a:rPr lang="en-IN" dirty="0" smtClean="0">
                <a:latin typeface="Helvetica" panose="020B0604020202020204" pitchFamily="34" charset="0"/>
                <a:cs typeface="Helvetica" panose="020B0604020202020204" pitchFamily="34" charset="0"/>
              </a:rPr>
              <a:t>practice</a:t>
            </a:r>
          </a:p>
          <a:p>
            <a:pPr marL="285750" indent="-285750">
              <a:lnSpc>
                <a:spcPct val="150000"/>
              </a:lnSpc>
              <a:buFont typeface="Wingdings" panose="05000000000000000000" pitchFamily="2" charset="2"/>
              <a:buChar char="Ø"/>
            </a:pPr>
            <a:endParaRPr lang="en-IN" dirty="0">
              <a:latin typeface="Helvetica" panose="020B0604020202020204" pitchFamily="34" charset="0"/>
              <a:cs typeface="Helvetica" panose="020B0604020202020204" pitchFamily="34" charset="0"/>
            </a:endParaRPr>
          </a:p>
          <a:p>
            <a:pPr marL="285750" indent="-285750">
              <a:buFont typeface="Wingdings" panose="05000000000000000000" pitchFamily="2" charset="2"/>
              <a:buChar char="Ø"/>
            </a:pPr>
            <a:r>
              <a:rPr lang="en-IN" dirty="0">
                <a:latin typeface="Helvetica" panose="020B0604020202020204" pitchFamily="34" charset="0"/>
                <a:cs typeface="Helvetica" panose="020B0604020202020204" pitchFamily="34" charset="0"/>
              </a:rPr>
              <a:t>Batch storage and processing remain much more efficient and cost-effective for enormous historical data</a:t>
            </a:r>
          </a:p>
        </p:txBody>
      </p:sp>
      <p:pic>
        <p:nvPicPr>
          <p:cNvPr id="8" name="Picture 7">
            <a:extLst>
              <a:ext uri="{FF2B5EF4-FFF2-40B4-BE49-F238E27FC236}">
                <a16:creationId xmlns:a16="http://schemas.microsoft.com/office/drawing/2014/main" id="{FDF2716F-693E-D56A-F3B3-6CE15F9EFBC7}"/>
              </a:ext>
            </a:extLst>
          </p:cNvPr>
          <p:cNvPicPr>
            <a:picLocks noChangeAspect="1"/>
          </p:cNvPicPr>
          <p:nvPr/>
        </p:nvPicPr>
        <p:blipFill>
          <a:blip r:embed="rId2"/>
          <a:stretch>
            <a:fillRect/>
          </a:stretch>
        </p:blipFill>
        <p:spPr>
          <a:xfrm>
            <a:off x="4545946" y="1125020"/>
            <a:ext cx="7458075" cy="2809875"/>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cxnSp>
        <p:nvCxnSpPr>
          <p:cNvPr id="15" name="Straight Connector 14">
            <a:extLst>
              <a:ext uri="{FF2B5EF4-FFF2-40B4-BE49-F238E27FC236}">
                <a16:creationId xmlns:a16="http://schemas.microsoft.com/office/drawing/2014/main" id="{00BF8AC3-F6AE-2AB4-6A83-E3F77603EAC1}"/>
              </a:ext>
            </a:extLst>
          </p:cNvPr>
          <p:cNvCxnSpPr/>
          <p:nvPr/>
        </p:nvCxnSpPr>
        <p:spPr>
          <a:xfrm>
            <a:off x="4230781" y="1064835"/>
            <a:ext cx="0" cy="5793165"/>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688572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build="p"/>
      <p:bldP spid="6"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939A4-1CBC-6191-CAA4-9C1D584EE7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150BF3-011B-A341-065E-56D297ECE265}"/>
              </a:ext>
            </a:extLst>
          </p:cNvPr>
          <p:cNvSpPr>
            <a:spLocks noGrp="1"/>
          </p:cNvSpPr>
          <p:nvPr>
            <p:ph type="title"/>
          </p:nvPr>
        </p:nvSpPr>
        <p:spPr>
          <a:xfrm>
            <a:off x="831850" y="1709738"/>
            <a:ext cx="10515600" cy="2852737"/>
          </a:xfrm>
        </p:spPr>
        <p:txBody>
          <a:bodyPr anchor="b">
            <a:normAutofit/>
          </a:bodyPr>
          <a:lstStyle/>
          <a:p>
            <a:r>
              <a:rPr lang="en-US" dirty="0"/>
              <a:t>Generalized Architecture of </a:t>
            </a:r>
            <a:br>
              <a:rPr lang="en-US" dirty="0"/>
            </a:br>
            <a:r>
              <a:rPr lang="en-US" dirty="0"/>
              <a:t>Big Data Systems</a:t>
            </a:r>
          </a:p>
        </p:txBody>
      </p:sp>
    </p:spTree>
    <p:extLst>
      <p:ext uri="{BB962C8B-B14F-4D97-AF65-F5344CB8AC3E}">
        <p14:creationId xmlns:p14="http://schemas.microsoft.com/office/powerpoint/2010/main" val="11030550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741C1-883C-8937-8287-F712B5CDEB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AF1355-8613-978E-03A8-39E750118066}"/>
              </a:ext>
            </a:extLst>
          </p:cNvPr>
          <p:cNvSpPr>
            <a:spLocks noGrp="1"/>
          </p:cNvSpPr>
          <p:nvPr>
            <p:ph type="title"/>
          </p:nvPr>
        </p:nvSpPr>
        <p:spPr/>
        <p:txBody>
          <a:bodyPr/>
          <a:lstStyle/>
          <a:p>
            <a:r>
              <a:rPr lang="en-US" dirty="0"/>
              <a:t>Introduction</a:t>
            </a:r>
          </a:p>
        </p:txBody>
      </p:sp>
      <p:sp>
        <p:nvSpPr>
          <p:cNvPr id="6" name="Text Placeholder 5">
            <a:extLst>
              <a:ext uri="{FF2B5EF4-FFF2-40B4-BE49-F238E27FC236}">
                <a16:creationId xmlns:a16="http://schemas.microsoft.com/office/drawing/2014/main" id="{2F11E40A-B569-EFE4-4813-6C5BCD1089D2}"/>
              </a:ext>
            </a:extLst>
          </p:cNvPr>
          <p:cNvSpPr>
            <a:spLocks noGrp="1"/>
          </p:cNvSpPr>
          <p:nvPr>
            <p:ph type="body" sz="quarter" idx="13"/>
          </p:nvPr>
        </p:nvSpPr>
        <p:spPr>
          <a:xfrm>
            <a:off x="228600" y="1143000"/>
            <a:ext cx="10160000" cy="457200"/>
          </a:xfrm>
        </p:spPr>
        <p:txBody>
          <a:bodyPr/>
          <a:lstStyle/>
          <a:p>
            <a:pPr marL="0" indent="0">
              <a:buNone/>
            </a:pPr>
            <a:r>
              <a:rPr lang="en-US" dirty="0"/>
              <a:t>Per </a:t>
            </a:r>
            <a:r>
              <a:rPr lang="en-US" dirty="0">
                <a:hlinkClick r:id="rId2"/>
              </a:rPr>
              <a:t>https://www.forbes.com/sites/sap/2015/02/19/how-big-data-keeps-planes-in-the-air/</a:t>
            </a:r>
            <a:r>
              <a:rPr lang="en-US" dirty="0"/>
              <a:t> </a:t>
            </a:r>
          </a:p>
        </p:txBody>
      </p:sp>
      <p:pic>
        <p:nvPicPr>
          <p:cNvPr id="8" name="Picture 7">
            <a:extLst>
              <a:ext uri="{FF2B5EF4-FFF2-40B4-BE49-F238E27FC236}">
                <a16:creationId xmlns:a16="http://schemas.microsoft.com/office/drawing/2014/main" id="{C8B56755-01CF-9340-80A7-1FED000DFCF6}"/>
              </a:ext>
            </a:extLst>
          </p:cNvPr>
          <p:cNvPicPr>
            <a:picLocks noChangeAspect="1"/>
          </p:cNvPicPr>
          <p:nvPr/>
        </p:nvPicPr>
        <p:blipFill>
          <a:blip r:embed="rId3"/>
          <a:stretch>
            <a:fillRect/>
          </a:stretch>
        </p:blipFill>
        <p:spPr>
          <a:xfrm>
            <a:off x="1066800" y="1694328"/>
            <a:ext cx="9321800" cy="1963271"/>
          </a:xfrm>
          <a:prstGeom prst="rect">
            <a:avLst/>
          </a:prstGeom>
        </p:spPr>
      </p:pic>
      <p:sp>
        <p:nvSpPr>
          <p:cNvPr id="9" name="TextBox 8">
            <a:extLst>
              <a:ext uri="{FF2B5EF4-FFF2-40B4-BE49-F238E27FC236}">
                <a16:creationId xmlns:a16="http://schemas.microsoft.com/office/drawing/2014/main" id="{F343ABD3-F1E9-0178-0B5D-CF3D10D59787}"/>
              </a:ext>
            </a:extLst>
          </p:cNvPr>
          <p:cNvSpPr txBox="1"/>
          <p:nvPr/>
        </p:nvSpPr>
        <p:spPr>
          <a:xfrm>
            <a:off x="152400" y="3683675"/>
            <a:ext cx="11874500" cy="2723823"/>
          </a:xfrm>
          <a:prstGeom prst="rect">
            <a:avLst/>
          </a:prstGeom>
          <a:noFill/>
        </p:spPr>
        <p:txBody>
          <a:bodyPr wrap="square" rtlCol="0">
            <a:spAutoFit/>
          </a:bodyPr>
          <a:lstStyle/>
          <a:p>
            <a:pPr algn="just">
              <a:lnSpc>
                <a:spcPct val="150000"/>
              </a:lnSpc>
            </a:pPr>
            <a:r>
              <a:rPr lang="en-US" b="1" u="sng" dirty="0">
                <a:latin typeface="Helvetica" panose="020B0604020202020204" pitchFamily="34" charset="0"/>
                <a:cs typeface="Helvetica" panose="020B0604020202020204" pitchFamily="34" charset="0"/>
              </a:rPr>
              <a:t>What is Big Data?</a:t>
            </a:r>
          </a:p>
          <a:p>
            <a:pPr marL="285750" indent="-285750" algn="just">
              <a:lnSpc>
                <a:spcPct val="150000"/>
              </a:lnSpc>
              <a:buFont typeface="Wingdings" panose="05000000000000000000" pitchFamily="2" charset="2"/>
              <a:buChar char="Ø"/>
            </a:pPr>
            <a:r>
              <a:rPr lang="en-US" dirty="0">
                <a:latin typeface="Helvetica" panose="020B0604020202020204" pitchFamily="34" charset="0"/>
                <a:cs typeface="Helvetica" panose="020B0604020202020204" pitchFamily="34" charset="0"/>
              </a:rPr>
              <a:t>Big data refers to massive, complex data sets that traditional data management systems cannot handle</a:t>
            </a:r>
            <a:r>
              <a:rPr lang="en-US" dirty="0" smtClean="0">
                <a:latin typeface="Helvetica" panose="020B0604020202020204" pitchFamily="34" charset="0"/>
                <a:cs typeface="Helvetica" panose="020B0604020202020204" pitchFamily="34" charset="0"/>
              </a:rPr>
              <a:t>.</a:t>
            </a:r>
          </a:p>
          <a:p>
            <a:pPr marL="285750" indent="-285750" algn="just">
              <a:lnSpc>
                <a:spcPct val="150000"/>
              </a:lnSpc>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r>
              <a:rPr lang="en-US" dirty="0">
                <a:latin typeface="Helvetica" panose="020B0604020202020204" pitchFamily="34" charset="0"/>
                <a:cs typeface="Helvetica" panose="020B0604020202020204" pitchFamily="34" charset="0"/>
              </a:rPr>
              <a:t>When properly collected, managed and analyzed, big data can help organizations discover new insights and make better business decisions</a:t>
            </a:r>
            <a:r>
              <a:rPr lang="en-US" dirty="0" smtClean="0">
                <a:latin typeface="Helvetica" panose="020B0604020202020204" pitchFamily="34" charset="0"/>
                <a:cs typeface="Helvetica" panose="020B0604020202020204" pitchFamily="34" charset="0"/>
              </a:rPr>
              <a:t>.</a:t>
            </a:r>
          </a:p>
          <a:p>
            <a:pPr marL="285750" indent="-285750" algn="just">
              <a:buFont typeface="Wingdings" panose="05000000000000000000" pitchFamily="2" charset="2"/>
              <a:buChar char="Ø"/>
            </a:pPr>
            <a:endParaRPr lang="en-US" dirty="0">
              <a:latin typeface="Helvetica" panose="020B0604020202020204" pitchFamily="34" charset="0"/>
              <a:cs typeface="Helvetica" panose="020B0604020202020204" pitchFamily="34" charset="0"/>
            </a:endParaRPr>
          </a:p>
          <a:p>
            <a:pPr marL="285750" indent="-285750" algn="just">
              <a:buFont typeface="Wingdings" panose="05000000000000000000" pitchFamily="2" charset="2"/>
              <a:buChar char="Ø"/>
            </a:pPr>
            <a:r>
              <a:rPr lang="en-US" dirty="0" smtClean="0">
                <a:latin typeface="Helvetica" panose="020B0604020202020204" pitchFamily="34" charset="0"/>
                <a:cs typeface="Helvetica" panose="020B0604020202020204" pitchFamily="34" charset="0"/>
              </a:rPr>
              <a:t>Businesses </a:t>
            </a:r>
            <a:r>
              <a:rPr lang="en-US" dirty="0">
                <a:latin typeface="Helvetica" panose="020B0604020202020204" pitchFamily="34" charset="0"/>
                <a:cs typeface="Helvetica" panose="020B0604020202020204" pitchFamily="34" charset="0"/>
              </a:rPr>
              <a:t>collect large amounts of </a:t>
            </a:r>
            <a:r>
              <a:rPr lang="en-US" dirty="0">
                <a:latin typeface="Helvetica" panose="020B0604020202020204" pitchFamily="34" charset="0"/>
                <a:cs typeface="Helvetica" panose="020B0604020202020204" pitchFamily="34" charset="0"/>
                <a:hlinkClick r:id="rId4"/>
              </a:rPr>
              <a:t>data</a:t>
            </a:r>
            <a:r>
              <a:rPr lang="en-US" dirty="0">
                <a:latin typeface="Helvetica" panose="020B0604020202020204" pitchFamily="34" charset="0"/>
                <a:cs typeface="Helvetica" panose="020B0604020202020204" pitchFamily="34" charset="0"/>
              </a:rPr>
              <a:t>—often measured in terabytes or petabytes—on everything from customer transactions and social media impressions to internal processes and proprietary research</a:t>
            </a:r>
          </a:p>
        </p:txBody>
      </p:sp>
    </p:spTree>
    <p:extLst>
      <p:ext uri="{BB962C8B-B14F-4D97-AF65-F5344CB8AC3E}">
        <p14:creationId xmlns:p14="http://schemas.microsoft.com/office/powerpoint/2010/main" val="518935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9"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6193C-8BEE-E2C5-3604-A7EBE2596C78}"/>
              </a:ext>
            </a:extLst>
          </p:cNvPr>
          <p:cNvSpPr>
            <a:spLocks noGrp="1"/>
          </p:cNvSpPr>
          <p:nvPr>
            <p:ph type="title"/>
          </p:nvPr>
        </p:nvSpPr>
        <p:spPr/>
        <p:txBody>
          <a:bodyPr/>
          <a:lstStyle/>
          <a:p>
            <a:r>
              <a:rPr lang="en-US" dirty="0"/>
              <a:t>Traditional Data vs Big Data</a:t>
            </a:r>
          </a:p>
        </p:txBody>
      </p:sp>
      <p:sp>
        <p:nvSpPr>
          <p:cNvPr id="3" name="Text Placeholder 2">
            <a:extLst>
              <a:ext uri="{FF2B5EF4-FFF2-40B4-BE49-F238E27FC236}">
                <a16:creationId xmlns:a16="http://schemas.microsoft.com/office/drawing/2014/main" id="{A7587C2C-2D51-79AC-7D0E-B72245423E59}"/>
              </a:ext>
            </a:extLst>
          </p:cNvPr>
          <p:cNvSpPr>
            <a:spLocks noGrp="1"/>
          </p:cNvSpPr>
          <p:nvPr>
            <p:ph type="body" sz="quarter" idx="13"/>
          </p:nvPr>
        </p:nvSpPr>
        <p:spPr>
          <a:xfrm>
            <a:off x="260839" y="1600200"/>
            <a:ext cx="5238261" cy="4648200"/>
          </a:xfrm>
        </p:spPr>
        <p:txBody>
          <a:bodyPr>
            <a:normAutofit/>
          </a:bodyPr>
          <a:lstStyle/>
          <a:p>
            <a:pPr algn="just">
              <a:lnSpc>
                <a:spcPct val="100000"/>
              </a:lnSpc>
              <a:spcBef>
                <a:spcPts val="0"/>
              </a:spcBef>
              <a:buFont typeface="Wingdings" panose="05000000000000000000" pitchFamily="2" charset="2"/>
              <a:buChar char="Ø"/>
            </a:pPr>
            <a:r>
              <a:rPr lang="en-US" dirty="0" smtClean="0"/>
              <a:t>Primarily </a:t>
            </a:r>
            <a:r>
              <a:rPr lang="en-US" dirty="0"/>
              <a:t>consists of structured data stored in </a:t>
            </a:r>
            <a:r>
              <a:rPr lang="en-US" dirty="0">
                <a:hlinkClick r:id="rId2"/>
              </a:rPr>
              <a:t>relational databases</a:t>
            </a:r>
            <a:r>
              <a:rPr lang="en-US" dirty="0"/>
              <a:t>. These databases organize data into clearly defined tables, making it easy to query using standard tools like </a:t>
            </a:r>
            <a:r>
              <a:rPr lang="en-US" dirty="0" smtClean="0">
                <a:hlinkClick r:id="rId3"/>
              </a:rPr>
              <a:t>SQL</a:t>
            </a:r>
            <a:endParaRPr lang="en-US" dirty="0" smtClean="0"/>
          </a:p>
          <a:p>
            <a:pPr algn="just">
              <a:lnSpc>
                <a:spcPct val="100000"/>
              </a:lnSpc>
              <a:spcBef>
                <a:spcPts val="0"/>
              </a:spcBef>
              <a:buFont typeface="Wingdings" panose="05000000000000000000" pitchFamily="2" charset="2"/>
              <a:buChar char="Ø"/>
            </a:pPr>
            <a:endParaRPr lang="en-US" dirty="0"/>
          </a:p>
          <a:p>
            <a:pPr algn="just">
              <a:lnSpc>
                <a:spcPct val="100000"/>
              </a:lnSpc>
              <a:spcBef>
                <a:spcPts val="0"/>
              </a:spcBef>
              <a:buFont typeface="Wingdings" panose="05000000000000000000" pitchFamily="2" charset="2"/>
              <a:buChar char="Ø"/>
            </a:pPr>
            <a:endParaRPr lang="en-US" dirty="0"/>
          </a:p>
          <a:p>
            <a:pPr algn="just">
              <a:lnSpc>
                <a:spcPct val="100000"/>
              </a:lnSpc>
              <a:spcBef>
                <a:spcPts val="0"/>
              </a:spcBef>
              <a:buFont typeface="Wingdings" panose="05000000000000000000" pitchFamily="2" charset="2"/>
              <a:buChar char="Ø"/>
            </a:pPr>
            <a:r>
              <a:rPr lang="en-US" dirty="0"/>
              <a:t>Traditional data analytics typically involves statistical methods and is well-suited for datasets with predictable formats and relatively small sizes.</a:t>
            </a:r>
          </a:p>
        </p:txBody>
      </p:sp>
      <p:cxnSp>
        <p:nvCxnSpPr>
          <p:cNvPr id="6" name="Straight Connector 5">
            <a:extLst>
              <a:ext uri="{FF2B5EF4-FFF2-40B4-BE49-F238E27FC236}">
                <a16:creationId xmlns:a16="http://schemas.microsoft.com/office/drawing/2014/main" id="{47B43F54-DC50-2883-2C54-A0B55B155A37}"/>
              </a:ext>
            </a:extLst>
          </p:cNvPr>
          <p:cNvCxnSpPr>
            <a:cxnSpLocks/>
          </p:cNvCxnSpPr>
          <p:nvPr/>
        </p:nvCxnSpPr>
        <p:spPr>
          <a:xfrm flipH="1">
            <a:off x="6096000" y="905379"/>
            <a:ext cx="12700" cy="5952621"/>
          </a:xfrm>
          <a:prstGeom prst="line">
            <a:avLst/>
          </a:prstGeom>
        </p:spPr>
        <p:style>
          <a:lnRef idx="3">
            <a:schemeClr val="dk1"/>
          </a:lnRef>
          <a:fillRef idx="0">
            <a:schemeClr val="dk1"/>
          </a:fillRef>
          <a:effectRef idx="2">
            <a:schemeClr val="dk1"/>
          </a:effectRef>
          <a:fontRef idx="minor">
            <a:schemeClr val="tx1"/>
          </a:fontRef>
        </p:style>
      </p:cxnSp>
      <p:sp>
        <p:nvSpPr>
          <p:cNvPr id="7" name="Text Placeholder 2">
            <a:extLst>
              <a:ext uri="{FF2B5EF4-FFF2-40B4-BE49-F238E27FC236}">
                <a16:creationId xmlns:a16="http://schemas.microsoft.com/office/drawing/2014/main" id="{AE34B525-F1B1-3AE6-6273-79CD60C60BD1}"/>
              </a:ext>
            </a:extLst>
          </p:cNvPr>
          <p:cNvSpPr txBox="1">
            <a:spLocks/>
          </p:cNvSpPr>
          <p:nvPr/>
        </p:nvSpPr>
        <p:spPr>
          <a:xfrm>
            <a:off x="6477000" y="1259541"/>
            <a:ext cx="5238261" cy="4988859"/>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Helvetica" panose="020B0604020202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Helvetica" panose="020B0604020202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Helvetica" panose="020B0604020202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Helvetica" panose="020B0604020202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Helvetica" panose="020B06040202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00000"/>
              </a:lnSpc>
              <a:spcBef>
                <a:spcPts val="0"/>
              </a:spcBef>
              <a:buFont typeface="Wingdings" panose="05000000000000000000" pitchFamily="2" charset="2"/>
              <a:buChar char="Ø"/>
            </a:pPr>
            <a:r>
              <a:rPr lang="en-US" dirty="0" smtClean="0"/>
              <a:t>Encompasses </a:t>
            </a:r>
            <a:r>
              <a:rPr lang="en-US" dirty="0"/>
              <a:t>massive datasets in various formats, including </a:t>
            </a:r>
            <a:r>
              <a:rPr lang="en-US" dirty="0">
                <a:hlinkClick r:id="rId4"/>
              </a:rPr>
              <a:t>structured, semi-structured and unstructured data</a:t>
            </a:r>
            <a:r>
              <a:rPr lang="en-US" dirty="0" smtClean="0"/>
              <a:t>.</a:t>
            </a:r>
          </a:p>
          <a:p>
            <a:pPr algn="just">
              <a:lnSpc>
                <a:spcPct val="100000"/>
              </a:lnSpc>
              <a:spcBef>
                <a:spcPts val="0"/>
              </a:spcBef>
              <a:buFont typeface="Wingdings" panose="05000000000000000000" pitchFamily="2" charset="2"/>
              <a:buChar char="Ø"/>
            </a:pPr>
            <a:endParaRPr lang="en-US" dirty="0"/>
          </a:p>
          <a:p>
            <a:pPr algn="just">
              <a:lnSpc>
                <a:spcPct val="100000"/>
              </a:lnSpc>
              <a:spcBef>
                <a:spcPts val="0"/>
              </a:spcBef>
              <a:buFont typeface="Wingdings" panose="05000000000000000000" pitchFamily="2" charset="2"/>
              <a:buChar char="Ø"/>
            </a:pPr>
            <a:endParaRPr lang="en-US" dirty="0" smtClean="0"/>
          </a:p>
          <a:p>
            <a:pPr algn="just">
              <a:lnSpc>
                <a:spcPct val="100000"/>
              </a:lnSpc>
              <a:spcBef>
                <a:spcPts val="0"/>
              </a:spcBef>
              <a:buFont typeface="Wingdings" panose="05000000000000000000" pitchFamily="2" charset="2"/>
              <a:buChar char="Ø"/>
            </a:pPr>
            <a:r>
              <a:rPr lang="en-US" dirty="0" smtClean="0"/>
              <a:t>Complexity </a:t>
            </a:r>
            <a:r>
              <a:rPr lang="en-US" dirty="0"/>
              <a:t>demands advanced analytical approaches—such as machine learning, </a:t>
            </a:r>
            <a:r>
              <a:rPr lang="en-US" dirty="0">
                <a:hlinkClick r:id="rId5"/>
              </a:rPr>
              <a:t>data mining</a:t>
            </a:r>
            <a:r>
              <a:rPr lang="en-US" dirty="0"/>
              <a:t> and </a:t>
            </a:r>
            <a:r>
              <a:rPr lang="en-US" dirty="0">
                <a:hlinkClick r:id="rId6"/>
              </a:rPr>
              <a:t>data visualization</a:t>
            </a:r>
            <a:r>
              <a:rPr lang="en-US" dirty="0"/>
              <a:t>—to extract meaningful insights. </a:t>
            </a:r>
            <a:endParaRPr lang="en-US" dirty="0" smtClean="0"/>
          </a:p>
          <a:p>
            <a:pPr algn="just">
              <a:lnSpc>
                <a:spcPct val="100000"/>
              </a:lnSpc>
              <a:spcBef>
                <a:spcPts val="0"/>
              </a:spcBef>
              <a:buFont typeface="Wingdings" panose="05000000000000000000" pitchFamily="2" charset="2"/>
              <a:buChar char="Ø"/>
            </a:pPr>
            <a:endParaRPr lang="en-US" dirty="0"/>
          </a:p>
          <a:p>
            <a:pPr algn="just">
              <a:lnSpc>
                <a:spcPct val="100000"/>
              </a:lnSpc>
              <a:spcBef>
                <a:spcPts val="0"/>
              </a:spcBef>
              <a:buFont typeface="Wingdings" panose="05000000000000000000" pitchFamily="2" charset="2"/>
              <a:buChar char="Ø"/>
            </a:pPr>
            <a:endParaRPr lang="en-US" dirty="0"/>
          </a:p>
          <a:p>
            <a:pPr algn="just">
              <a:lnSpc>
                <a:spcPct val="100000"/>
              </a:lnSpc>
              <a:spcBef>
                <a:spcPts val="0"/>
              </a:spcBef>
              <a:buFont typeface="Wingdings" panose="05000000000000000000" pitchFamily="2" charset="2"/>
              <a:buChar char="Ø"/>
            </a:pPr>
            <a:r>
              <a:rPr lang="en-US" dirty="0"/>
              <a:t>The sheer volume of big data also requires distributed processing systems to handle the data efficiently at scale. </a:t>
            </a:r>
          </a:p>
        </p:txBody>
      </p:sp>
    </p:spTree>
    <p:extLst>
      <p:ext uri="{BB962C8B-B14F-4D97-AF65-F5344CB8AC3E}">
        <p14:creationId xmlns:p14="http://schemas.microsoft.com/office/powerpoint/2010/main" val="893369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E2ACE1-0445-31A9-74C1-986F9FECC9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6AD7F3-9BAB-A442-27A4-3EB39684F29A}"/>
              </a:ext>
            </a:extLst>
          </p:cNvPr>
          <p:cNvSpPr>
            <a:spLocks noGrp="1"/>
          </p:cNvSpPr>
          <p:nvPr>
            <p:ph type="title"/>
          </p:nvPr>
        </p:nvSpPr>
        <p:spPr>
          <a:xfrm>
            <a:off x="381000" y="152400"/>
            <a:ext cx="9321800" cy="696333"/>
          </a:xfrm>
        </p:spPr>
        <p:txBody>
          <a:bodyPr/>
          <a:lstStyle/>
          <a:p>
            <a:r>
              <a:rPr lang="en-US" dirty="0"/>
              <a:t>5 Vs of Big Data</a:t>
            </a:r>
          </a:p>
        </p:txBody>
      </p:sp>
      <p:graphicFrame>
        <p:nvGraphicFramePr>
          <p:cNvPr id="8" name="Diagram 7">
            <a:extLst>
              <a:ext uri="{FF2B5EF4-FFF2-40B4-BE49-F238E27FC236}">
                <a16:creationId xmlns:a16="http://schemas.microsoft.com/office/drawing/2014/main" id="{BF432046-45F7-5CBA-F8F3-F36927B22333}"/>
              </a:ext>
            </a:extLst>
          </p:cNvPr>
          <p:cNvGraphicFramePr/>
          <p:nvPr>
            <p:extLst>
              <p:ext uri="{D42A27DB-BD31-4B8C-83A1-F6EECF244321}">
                <p14:modId xmlns:p14="http://schemas.microsoft.com/office/powerpoint/2010/main" val="1710000312"/>
              </p:ext>
            </p:extLst>
          </p:nvPr>
        </p:nvGraphicFramePr>
        <p:xfrm>
          <a:off x="381000" y="960792"/>
          <a:ext cx="11582400" cy="58972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5170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graphicEl>
                                              <a:dgm id="{8674E359-8FAE-491B-AAEC-1E586D7D5931}"/>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graphicEl>
                                              <a:dgm id="{E7B1B7F3-D4E0-4B9C-8B5E-D87556073E44}"/>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graphicEl>
                                              <a:dgm id="{A73E6DCD-9BD7-413D-9CBE-F1535B9205F7}"/>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graphicEl>
                                              <a:dgm id="{E2046809-15D9-4EA5-ADA2-1CA56981F5CE}"/>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graphicEl>
                                              <a:dgm id="{20E97681-CCAD-49FE-8105-BBF84705302C}"/>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graphicEl>
                                              <a:dgm id="{F4878815-B9C9-4FEF-8353-386DDE242285}"/>
                                            </p:graphic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graphicEl>
                                              <a:dgm id="{41E66D46-2379-424D-B459-F0128943F3F7}"/>
                                            </p:graphic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graphicEl>
                                              <a:dgm id="{9276CC32-F8F0-46E5-9F4E-7AC17D3864C0}"/>
                                            </p:graphic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
                                            <p:graphicEl>
                                              <a:dgm id="{72578F5C-9AB9-45A6-9BA7-240A0ECE9FBF}"/>
                                            </p:graphic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
                                            <p:graphicEl>
                                              <a:dgm id="{067B1973-D832-41FA-80E8-0B0C883EFDE6}"/>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8" grpId="0">
        <p:bldSub>
          <a:bldDgm bld="one"/>
        </p:bldSub>
      </p:bldGraphic>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13374-2085-39D0-6E6F-743C27E21CFE}"/>
              </a:ext>
            </a:extLst>
          </p:cNvPr>
          <p:cNvSpPr>
            <a:spLocks noGrp="1"/>
          </p:cNvSpPr>
          <p:nvPr>
            <p:ph type="title"/>
          </p:nvPr>
        </p:nvSpPr>
        <p:spPr/>
        <p:txBody>
          <a:bodyPr/>
          <a:lstStyle/>
          <a:p>
            <a:r>
              <a:rPr lang="en-US" dirty="0"/>
              <a:t>Components of Big Data Architecture</a:t>
            </a:r>
          </a:p>
        </p:txBody>
      </p:sp>
      <p:sp>
        <p:nvSpPr>
          <p:cNvPr id="7" name="AutoShape 2" descr="Diagram that shows the overall data pipeline.">
            <a:extLst>
              <a:ext uri="{FF2B5EF4-FFF2-40B4-BE49-F238E27FC236}">
                <a16:creationId xmlns:a16="http://schemas.microsoft.com/office/drawing/2014/main" id="{8B77F9C1-E533-F9AE-4690-A6272F66183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9" name="Picture 8">
            <a:extLst>
              <a:ext uri="{FF2B5EF4-FFF2-40B4-BE49-F238E27FC236}">
                <a16:creationId xmlns:a16="http://schemas.microsoft.com/office/drawing/2014/main" id="{72A05274-EE45-F3F2-D479-9855D43A55A2}"/>
              </a:ext>
            </a:extLst>
          </p:cNvPr>
          <p:cNvPicPr>
            <a:picLocks noChangeAspect="1"/>
          </p:cNvPicPr>
          <p:nvPr/>
        </p:nvPicPr>
        <p:blipFill>
          <a:blip r:embed="rId2"/>
          <a:stretch>
            <a:fillRect/>
          </a:stretch>
        </p:blipFill>
        <p:spPr>
          <a:xfrm>
            <a:off x="0" y="1177357"/>
            <a:ext cx="12192000" cy="5520074"/>
          </a:xfrm>
          <a:prstGeom prst="rect">
            <a:avLst/>
          </a:prstGeom>
        </p:spPr>
      </p:pic>
    </p:spTree>
    <p:extLst>
      <p:ext uri="{BB962C8B-B14F-4D97-AF65-F5344CB8AC3E}">
        <p14:creationId xmlns:p14="http://schemas.microsoft.com/office/powerpoint/2010/main" val="8498056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D2F01-270E-71B7-3608-4507DF0A01B0}"/>
              </a:ext>
            </a:extLst>
          </p:cNvPr>
          <p:cNvSpPr>
            <a:spLocks noGrp="1"/>
          </p:cNvSpPr>
          <p:nvPr>
            <p:ph type="title"/>
          </p:nvPr>
        </p:nvSpPr>
        <p:spPr/>
        <p:txBody>
          <a:bodyPr/>
          <a:lstStyle/>
          <a:p>
            <a:r>
              <a:rPr lang="en-US" dirty="0"/>
              <a:t>Big Data Architecture</a:t>
            </a:r>
          </a:p>
        </p:txBody>
      </p:sp>
      <p:sp>
        <p:nvSpPr>
          <p:cNvPr id="3" name="Text Placeholder 2">
            <a:extLst>
              <a:ext uri="{FF2B5EF4-FFF2-40B4-BE49-F238E27FC236}">
                <a16:creationId xmlns:a16="http://schemas.microsoft.com/office/drawing/2014/main" id="{935E36E1-F8F8-E4D4-297D-23EE50129403}"/>
              </a:ext>
            </a:extLst>
          </p:cNvPr>
          <p:cNvSpPr>
            <a:spLocks noGrp="1"/>
          </p:cNvSpPr>
          <p:nvPr>
            <p:ph type="body" sz="quarter" idx="13"/>
          </p:nvPr>
        </p:nvSpPr>
        <p:spPr>
          <a:xfrm>
            <a:off x="152400" y="1143000"/>
            <a:ext cx="5638800" cy="5410200"/>
          </a:xfrm>
        </p:spPr>
        <p:txBody>
          <a:bodyPr>
            <a:noAutofit/>
          </a:bodyPr>
          <a:lstStyle/>
          <a:p>
            <a:pPr algn="just">
              <a:lnSpc>
                <a:spcPct val="100000"/>
              </a:lnSpc>
              <a:spcBef>
                <a:spcPts val="0"/>
              </a:spcBef>
              <a:buFont typeface="Wingdings" panose="05000000000000000000" pitchFamily="2" charset="2"/>
              <a:buChar char="Ø"/>
            </a:pPr>
            <a:r>
              <a:rPr lang="en-US" dirty="0" smtClean="0"/>
              <a:t>Manages </a:t>
            </a:r>
            <a:r>
              <a:rPr lang="en-US" dirty="0"/>
              <a:t>the ingestion, processing, and analysis of data that's too large or complex for traditional database systems. </a:t>
            </a:r>
            <a:endParaRPr lang="en-US" dirty="0" smtClean="0"/>
          </a:p>
          <a:p>
            <a:pPr algn="just">
              <a:lnSpc>
                <a:spcPct val="100000"/>
              </a:lnSpc>
              <a:spcBef>
                <a:spcPts val="0"/>
              </a:spcBef>
              <a:buFont typeface="Wingdings" panose="05000000000000000000" pitchFamily="2" charset="2"/>
              <a:buChar char="Ø"/>
            </a:pPr>
            <a:endParaRPr lang="en-US" dirty="0"/>
          </a:p>
          <a:p>
            <a:pPr algn="just">
              <a:lnSpc>
                <a:spcPct val="100000"/>
              </a:lnSpc>
              <a:spcBef>
                <a:spcPts val="0"/>
              </a:spcBef>
              <a:buFont typeface="Wingdings" panose="05000000000000000000" pitchFamily="2" charset="2"/>
              <a:buChar char="Ø"/>
            </a:pPr>
            <a:r>
              <a:rPr lang="en-US" dirty="0"/>
              <a:t>The threshold for entering the realm of big data varies among organizations, depending on their tools and user capabilities</a:t>
            </a:r>
            <a:r>
              <a:rPr lang="en-US" dirty="0" smtClean="0"/>
              <a:t>.</a:t>
            </a:r>
          </a:p>
          <a:p>
            <a:pPr algn="just">
              <a:lnSpc>
                <a:spcPct val="100000"/>
              </a:lnSpc>
              <a:spcBef>
                <a:spcPts val="0"/>
              </a:spcBef>
              <a:buFont typeface="Wingdings" panose="05000000000000000000" pitchFamily="2" charset="2"/>
              <a:buChar char="Ø"/>
            </a:pPr>
            <a:endParaRPr lang="en-US" dirty="0"/>
          </a:p>
          <a:p>
            <a:pPr algn="just">
              <a:lnSpc>
                <a:spcPct val="100000"/>
              </a:lnSpc>
              <a:spcBef>
                <a:spcPts val="0"/>
              </a:spcBef>
              <a:buFont typeface="Wingdings" panose="05000000000000000000" pitchFamily="2" charset="2"/>
              <a:buChar char="Ø"/>
            </a:pPr>
            <a:r>
              <a:rPr lang="en-US" dirty="0"/>
              <a:t>Some data arrives at a rapid pace and requires continuous collection and observation. </a:t>
            </a:r>
            <a:endParaRPr lang="en-US" dirty="0" smtClean="0"/>
          </a:p>
          <a:p>
            <a:pPr algn="just">
              <a:lnSpc>
                <a:spcPct val="100000"/>
              </a:lnSpc>
              <a:spcBef>
                <a:spcPts val="0"/>
              </a:spcBef>
              <a:buFont typeface="Wingdings" panose="05000000000000000000" pitchFamily="2" charset="2"/>
              <a:buChar char="Ø"/>
            </a:pPr>
            <a:endParaRPr lang="en-US" dirty="0"/>
          </a:p>
          <a:p>
            <a:pPr algn="just">
              <a:lnSpc>
                <a:spcPct val="100000"/>
              </a:lnSpc>
              <a:spcBef>
                <a:spcPts val="0"/>
              </a:spcBef>
              <a:buFont typeface="Wingdings" panose="05000000000000000000" pitchFamily="2" charset="2"/>
              <a:buChar char="Ø"/>
            </a:pPr>
            <a:r>
              <a:rPr lang="en-US" dirty="0"/>
              <a:t>Some data arrives more slowly, but in large chunks, and often in the form of decades of historical data. </a:t>
            </a:r>
          </a:p>
        </p:txBody>
      </p:sp>
      <p:sp>
        <p:nvSpPr>
          <p:cNvPr id="5" name="Text Placeholder 2">
            <a:extLst>
              <a:ext uri="{FF2B5EF4-FFF2-40B4-BE49-F238E27FC236}">
                <a16:creationId xmlns:a16="http://schemas.microsoft.com/office/drawing/2014/main" id="{2425C7BE-EDF7-81E3-DAF6-10350955E310}"/>
              </a:ext>
            </a:extLst>
          </p:cNvPr>
          <p:cNvSpPr txBox="1">
            <a:spLocks/>
          </p:cNvSpPr>
          <p:nvPr/>
        </p:nvSpPr>
        <p:spPr>
          <a:xfrm>
            <a:off x="6261847" y="938379"/>
            <a:ext cx="5777753" cy="575905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Helvetica" panose="020B0604020202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Helvetica" panose="020B0604020202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Helvetica" panose="020B0604020202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Helvetica" panose="020B0604020202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Helvetica" panose="020B06040202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50000"/>
              </a:lnSpc>
              <a:buFont typeface="Arial" panose="020B0604020202020204" pitchFamily="34" charset="0"/>
              <a:buNone/>
            </a:pPr>
            <a:r>
              <a:rPr lang="en-US" b="1" u="sng" dirty="0"/>
              <a:t>Typical big data workloads:</a:t>
            </a:r>
          </a:p>
          <a:p>
            <a:pPr algn="just">
              <a:lnSpc>
                <a:spcPct val="150000"/>
              </a:lnSpc>
              <a:buFont typeface="Wingdings" panose="05000000000000000000" pitchFamily="2" charset="2"/>
              <a:buChar char="Ø"/>
            </a:pPr>
            <a:r>
              <a:rPr lang="en-US" dirty="0"/>
              <a:t>Batch processing of big data sources at rest</a:t>
            </a:r>
          </a:p>
          <a:p>
            <a:pPr algn="just">
              <a:lnSpc>
                <a:spcPct val="150000"/>
              </a:lnSpc>
              <a:buFont typeface="Wingdings" panose="05000000000000000000" pitchFamily="2" charset="2"/>
              <a:buChar char="Ø"/>
            </a:pPr>
            <a:r>
              <a:rPr lang="en-US" dirty="0"/>
              <a:t>Real-time processing of big data in motion</a:t>
            </a:r>
          </a:p>
          <a:p>
            <a:pPr algn="just">
              <a:lnSpc>
                <a:spcPct val="150000"/>
              </a:lnSpc>
              <a:buFont typeface="Wingdings" panose="05000000000000000000" pitchFamily="2" charset="2"/>
              <a:buChar char="Ø"/>
            </a:pPr>
            <a:r>
              <a:rPr lang="en-US" dirty="0"/>
              <a:t>Interactive exploration of big data</a:t>
            </a:r>
          </a:p>
          <a:p>
            <a:pPr algn="just">
              <a:lnSpc>
                <a:spcPct val="150000"/>
              </a:lnSpc>
              <a:buFont typeface="Wingdings" panose="05000000000000000000" pitchFamily="2" charset="2"/>
              <a:buChar char="Ø"/>
            </a:pPr>
            <a:r>
              <a:rPr lang="en-US" dirty="0"/>
              <a:t>Predictive analytics and machine learning</a:t>
            </a:r>
          </a:p>
          <a:p>
            <a:pPr marL="0" indent="0" algn="just">
              <a:lnSpc>
                <a:spcPct val="150000"/>
              </a:lnSpc>
              <a:buFont typeface="Arial" panose="020B0604020202020204" pitchFamily="34" charset="0"/>
              <a:buNone/>
            </a:pPr>
            <a:r>
              <a:rPr lang="en-US" b="1" u="sng" dirty="0"/>
              <a:t>When to go for Big data architecture</a:t>
            </a:r>
            <a:r>
              <a:rPr lang="en-US" b="1" u="sng" dirty="0" smtClean="0"/>
              <a:t>:</a:t>
            </a:r>
          </a:p>
          <a:p>
            <a:pPr algn="just">
              <a:lnSpc>
                <a:spcPct val="100000"/>
              </a:lnSpc>
              <a:spcBef>
                <a:spcPts val="0"/>
              </a:spcBef>
              <a:buFont typeface="Wingdings" panose="05000000000000000000" pitchFamily="2" charset="2"/>
              <a:buChar char="Ø"/>
            </a:pPr>
            <a:endParaRPr lang="en-US" dirty="0" smtClean="0"/>
          </a:p>
          <a:p>
            <a:pPr algn="just">
              <a:lnSpc>
                <a:spcPct val="100000"/>
              </a:lnSpc>
              <a:spcBef>
                <a:spcPts val="0"/>
              </a:spcBef>
              <a:buFont typeface="Wingdings" panose="05000000000000000000" pitchFamily="2" charset="2"/>
              <a:buChar char="Ø"/>
            </a:pPr>
            <a:r>
              <a:rPr lang="en-US" dirty="0" smtClean="0"/>
              <a:t>Store </a:t>
            </a:r>
            <a:r>
              <a:rPr lang="en-US" dirty="0"/>
              <a:t>and process data in volumes that are too large for a traditional </a:t>
            </a:r>
            <a:r>
              <a:rPr lang="en-US" dirty="0" smtClean="0"/>
              <a:t>database</a:t>
            </a:r>
          </a:p>
          <a:p>
            <a:pPr algn="just">
              <a:lnSpc>
                <a:spcPct val="100000"/>
              </a:lnSpc>
              <a:spcBef>
                <a:spcPts val="0"/>
              </a:spcBef>
              <a:buFont typeface="Wingdings" panose="05000000000000000000" pitchFamily="2" charset="2"/>
              <a:buChar char="Ø"/>
            </a:pPr>
            <a:endParaRPr lang="en-US" dirty="0"/>
          </a:p>
          <a:p>
            <a:pPr algn="just">
              <a:lnSpc>
                <a:spcPct val="100000"/>
              </a:lnSpc>
              <a:spcBef>
                <a:spcPts val="0"/>
              </a:spcBef>
              <a:buFont typeface="Wingdings" panose="05000000000000000000" pitchFamily="2" charset="2"/>
              <a:buChar char="Ø"/>
            </a:pPr>
            <a:r>
              <a:rPr lang="en-US" dirty="0"/>
              <a:t>Transform unstructured data for analysis and </a:t>
            </a:r>
            <a:r>
              <a:rPr lang="en-US" dirty="0" smtClean="0"/>
              <a:t>reporting</a:t>
            </a:r>
          </a:p>
          <a:p>
            <a:pPr algn="just">
              <a:lnSpc>
                <a:spcPct val="100000"/>
              </a:lnSpc>
              <a:spcBef>
                <a:spcPts val="0"/>
              </a:spcBef>
              <a:buFont typeface="Wingdings" panose="05000000000000000000" pitchFamily="2" charset="2"/>
              <a:buChar char="Ø"/>
            </a:pPr>
            <a:endParaRPr lang="en-US" dirty="0"/>
          </a:p>
          <a:p>
            <a:pPr algn="just">
              <a:lnSpc>
                <a:spcPct val="100000"/>
              </a:lnSpc>
              <a:spcBef>
                <a:spcPts val="0"/>
              </a:spcBef>
              <a:buFont typeface="Wingdings" panose="05000000000000000000" pitchFamily="2" charset="2"/>
              <a:buChar char="Ø"/>
            </a:pPr>
            <a:r>
              <a:rPr lang="en-US" dirty="0" smtClean="0"/>
              <a:t>Capture, process, and analyze unbounded streams of data in real time or with low latency</a:t>
            </a:r>
          </a:p>
          <a:p>
            <a:pPr marL="0" indent="0" algn="just">
              <a:lnSpc>
                <a:spcPct val="150000"/>
              </a:lnSpc>
              <a:buFont typeface="Arial" panose="020B0604020202020204" pitchFamily="34" charset="0"/>
              <a:buNone/>
            </a:pPr>
            <a:endParaRPr lang="en-US" dirty="0"/>
          </a:p>
          <a:p>
            <a:pPr marL="0" indent="0" algn="just">
              <a:lnSpc>
                <a:spcPct val="150000"/>
              </a:lnSpc>
              <a:buFont typeface="Arial" panose="020B0604020202020204" pitchFamily="34" charset="0"/>
              <a:buNone/>
            </a:pPr>
            <a:endParaRPr lang="en-US" dirty="0"/>
          </a:p>
        </p:txBody>
      </p:sp>
      <p:cxnSp>
        <p:nvCxnSpPr>
          <p:cNvPr id="6" name="Straight Connector 5">
            <a:extLst>
              <a:ext uri="{FF2B5EF4-FFF2-40B4-BE49-F238E27FC236}">
                <a16:creationId xmlns:a16="http://schemas.microsoft.com/office/drawing/2014/main" id="{20CAC0FF-846B-F623-6442-3A86B233F996}"/>
              </a:ext>
            </a:extLst>
          </p:cNvPr>
          <p:cNvCxnSpPr/>
          <p:nvPr/>
        </p:nvCxnSpPr>
        <p:spPr>
          <a:xfrm>
            <a:off x="6113369" y="1064835"/>
            <a:ext cx="0" cy="5793165"/>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685096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5">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1DBBC-9289-D19E-F52A-1D09A85D0F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C2DC5E-97D8-E192-FDAC-AEB7ACE53AE5}"/>
              </a:ext>
            </a:extLst>
          </p:cNvPr>
          <p:cNvSpPr>
            <a:spLocks noGrp="1"/>
          </p:cNvSpPr>
          <p:nvPr>
            <p:ph type="title"/>
          </p:nvPr>
        </p:nvSpPr>
        <p:spPr>
          <a:xfrm>
            <a:off x="609600" y="136709"/>
            <a:ext cx="9321800" cy="764364"/>
          </a:xfrm>
        </p:spPr>
        <p:txBody>
          <a:bodyPr/>
          <a:lstStyle/>
          <a:p>
            <a:r>
              <a:rPr lang="en-US" dirty="0"/>
              <a:t>Components of Big Data Architecture</a:t>
            </a:r>
          </a:p>
        </p:txBody>
      </p:sp>
      <p:sp>
        <p:nvSpPr>
          <p:cNvPr id="7" name="AutoShape 2" descr="Diagram that shows the overall data pipeline.">
            <a:extLst>
              <a:ext uri="{FF2B5EF4-FFF2-40B4-BE49-F238E27FC236}">
                <a16:creationId xmlns:a16="http://schemas.microsoft.com/office/drawing/2014/main" id="{3BBD230E-A23F-4C0B-86B1-35F168268ED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22A12BEF-10F8-2520-4E31-04444097753E}"/>
              </a:ext>
            </a:extLst>
          </p:cNvPr>
          <p:cNvSpPr txBox="1"/>
          <p:nvPr/>
        </p:nvSpPr>
        <p:spPr>
          <a:xfrm>
            <a:off x="114300" y="1066800"/>
            <a:ext cx="11658600" cy="5632311"/>
          </a:xfrm>
          <a:prstGeom prst="rect">
            <a:avLst/>
          </a:prstGeom>
          <a:noFill/>
        </p:spPr>
        <p:txBody>
          <a:bodyPr wrap="square" rtlCol="0">
            <a:spAutoFit/>
          </a:bodyPr>
          <a:lstStyle/>
          <a:p>
            <a:pPr marL="573088" lvl="1" indent="-231775" algn="just">
              <a:buFont typeface="Wingdings" panose="05000000000000000000" pitchFamily="2" charset="2"/>
              <a:buChar char="Ø"/>
            </a:pPr>
            <a:r>
              <a:rPr lang="en-IN" b="1" dirty="0">
                <a:latin typeface="Helvetica" panose="020B0604020202020204" pitchFamily="34" charset="0"/>
                <a:cs typeface="Helvetica" panose="020B0604020202020204" pitchFamily="34" charset="0"/>
              </a:rPr>
              <a:t>Data </a:t>
            </a:r>
            <a:r>
              <a:rPr lang="en-IN" b="1" dirty="0" smtClean="0">
                <a:latin typeface="Helvetica" panose="020B0604020202020204" pitchFamily="34" charset="0"/>
                <a:cs typeface="Helvetica" panose="020B0604020202020204" pitchFamily="34" charset="0"/>
              </a:rPr>
              <a:t>Sources</a:t>
            </a:r>
            <a:endParaRPr lang="en-IN" b="1" dirty="0">
              <a:latin typeface="Helvetica" panose="020B0604020202020204" pitchFamily="34" charset="0"/>
              <a:cs typeface="Helvetica" panose="020B0604020202020204" pitchFamily="34" charset="0"/>
            </a:endParaRPr>
          </a:p>
          <a:p>
            <a:pPr marL="573088" lvl="2" indent="-231775" algn="just"/>
            <a:r>
              <a:rPr lang="en-IN" dirty="0">
                <a:latin typeface="Helvetica" panose="020B0604020202020204" pitchFamily="34" charset="0"/>
                <a:cs typeface="Helvetica" panose="020B0604020202020204" pitchFamily="34" charset="0"/>
              </a:rPr>
              <a:t>	</a:t>
            </a:r>
            <a:endParaRPr lang="en-IN" dirty="0" smtClean="0">
              <a:latin typeface="Helvetica" panose="020B0604020202020204" pitchFamily="34" charset="0"/>
              <a:cs typeface="Helvetica" panose="020B0604020202020204" pitchFamily="34" charset="0"/>
            </a:endParaRPr>
          </a:p>
          <a:p>
            <a:pPr marL="573088" lvl="2" indent="-231775" algn="just"/>
            <a:r>
              <a:rPr lang="en-IN" dirty="0">
                <a:latin typeface="Helvetica" panose="020B0604020202020204" pitchFamily="34" charset="0"/>
                <a:cs typeface="Helvetica" panose="020B0604020202020204" pitchFamily="34" charset="0"/>
              </a:rPr>
              <a:t>	</a:t>
            </a:r>
            <a:r>
              <a:rPr lang="en-IN" dirty="0" smtClean="0">
                <a:latin typeface="Helvetica" panose="020B0604020202020204" pitchFamily="34" charset="0"/>
                <a:cs typeface="Helvetica" panose="020B0604020202020204" pitchFamily="34" charset="0"/>
              </a:rPr>
              <a:t>All </a:t>
            </a:r>
            <a:r>
              <a:rPr lang="en-IN" dirty="0">
                <a:latin typeface="Helvetica" panose="020B0604020202020204" pitchFamily="34" charset="0"/>
                <a:cs typeface="Helvetica" panose="020B0604020202020204" pitchFamily="34" charset="0"/>
              </a:rPr>
              <a:t>big data solutions start with one or more data sources like databases, files, IoT devices </a:t>
            </a:r>
            <a:r>
              <a:rPr lang="en-IN" dirty="0" err="1" smtClean="0">
                <a:latin typeface="Helvetica" panose="020B0604020202020204" pitchFamily="34" charset="0"/>
                <a:cs typeface="Helvetica" panose="020B0604020202020204" pitchFamily="34" charset="0"/>
              </a:rPr>
              <a:t>etc</a:t>
            </a:r>
            <a:endParaRPr lang="en-IN" dirty="0" smtClean="0">
              <a:latin typeface="Helvetica" panose="020B0604020202020204" pitchFamily="34" charset="0"/>
              <a:cs typeface="Helvetica" panose="020B0604020202020204" pitchFamily="34" charset="0"/>
            </a:endParaRPr>
          </a:p>
          <a:p>
            <a:pPr marL="573088" lvl="2" indent="-231775" algn="just"/>
            <a:endParaRPr lang="en-IN" dirty="0">
              <a:latin typeface="Helvetica" panose="020B0604020202020204" pitchFamily="34" charset="0"/>
              <a:cs typeface="Helvetica" panose="020B0604020202020204" pitchFamily="34" charset="0"/>
            </a:endParaRPr>
          </a:p>
          <a:p>
            <a:pPr marL="573088" lvl="1" indent="-231775" algn="just">
              <a:buFont typeface="Wingdings" panose="05000000000000000000" pitchFamily="2" charset="2"/>
              <a:buChar char="Ø"/>
            </a:pPr>
            <a:r>
              <a:rPr lang="en-US" b="1" dirty="0">
                <a:latin typeface="Helvetica" panose="020B0604020202020204" pitchFamily="34" charset="0"/>
                <a:cs typeface="Helvetica" panose="020B0604020202020204" pitchFamily="34" charset="0"/>
              </a:rPr>
              <a:t>Data Storage</a:t>
            </a:r>
          </a:p>
          <a:p>
            <a:pPr marL="573088" lvl="2" indent="-231775" algn="just"/>
            <a:endParaRPr lang="en-IN" dirty="0" smtClean="0">
              <a:latin typeface="Helvetica" panose="020B0604020202020204" pitchFamily="34" charset="0"/>
              <a:cs typeface="Helvetica" panose="020B0604020202020204" pitchFamily="34" charset="0"/>
            </a:endParaRPr>
          </a:p>
          <a:p>
            <a:pPr marL="573088" lvl="2" indent="-231775" algn="just"/>
            <a:r>
              <a:rPr lang="en-IN" dirty="0">
                <a:latin typeface="Helvetica" panose="020B0604020202020204" pitchFamily="34" charset="0"/>
                <a:cs typeface="Helvetica" panose="020B0604020202020204" pitchFamily="34" charset="0"/>
              </a:rPr>
              <a:t>	Data for batch processing operations is typically stored in a distributed file store that can hold high volumes of large files in various formats. </a:t>
            </a:r>
            <a:endParaRPr lang="en-IN" dirty="0" smtClean="0">
              <a:latin typeface="Helvetica" panose="020B0604020202020204" pitchFamily="34" charset="0"/>
              <a:cs typeface="Helvetica" panose="020B0604020202020204" pitchFamily="34" charset="0"/>
            </a:endParaRPr>
          </a:p>
          <a:p>
            <a:pPr marL="573088" lvl="2" indent="-231775" algn="just"/>
            <a:endParaRPr lang="en-IN" dirty="0">
              <a:latin typeface="Helvetica" panose="020B0604020202020204" pitchFamily="34" charset="0"/>
              <a:cs typeface="Helvetica" panose="020B0604020202020204" pitchFamily="34" charset="0"/>
            </a:endParaRPr>
          </a:p>
          <a:p>
            <a:pPr marL="573088" lvl="1" indent="-231775" algn="just">
              <a:buFont typeface="Wingdings" panose="05000000000000000000" pitchFamily="2" charset="2"/>
              <a:buChar char="Ø"/>
            </a:pPr>
            <a:r>
              <a:rPr lang="en-IN" b="1" dirty="0">
                <a:latin typeface="Helvetica" panose="020B0604020202020204" pitchFamily="34" charset="0"/>
                <a:cs typeface="Helvetica" panose="020B0604020202020204" pitchFamily="34" charset="0"/>
              </a:rPr>
              <a:t>Batch </a:t>
            </a:r>
            <a:r>
              <a:rPr lang="en-IN" b="1" dirty="0" smtClean="0">
                <a:latin typeface="Helvetica" panose="020B0604020202020204" pitchFamily="34" charset="0"/>
                <a:cs typeface="Helvetica" panose="020B0604020202020204" pitchFamily="34" charset="0"/>
              </a:rPr>
              <a:t>Processing</a:t>
            </a:r>
            <a:endParaRPr lang="en-IN" b="1" dirty="0">
              <a:latin typeface="Helvetica" panose="020B0604020202020204" pitchFamily="34" charset="0"/>
              <a:cs typeface="Helvetica" panose="020B0604020202020204" pitchFamily="34" charset="0"/>
            </a:endParaRPr>
          </a:p>
          <a:p>
            <a:pPr marL="573088" lvl="2" indent="-231775" algn="just"/>
            <a:r>
              <a:rPr lang="en-IN" dirty="0">
                <a:latin typeface="Helvetica" panose="020B0604020202020204" pitchFamily="34" charset="0"/>
                <a:cs typeface="Helvetica" panose="020B0604020202020204" pitchFamily="34" charset="0"/>
              </a:rPr>
              <a:t>	</a:t>
            </a:r>
            <a:endParaRPr lang="en-IN" dirty="0" smtClean="0">
              <a:latin typeface="Helvetica" panose="020B0604020202020204" pitchFamily="34" charset="0"/>
              <a:cs typeface="Helvetica" panose="020B0604020202020204" pitchFamily="34" charset="0"/>
            </a:endParaRPr>
          </a:p>
          <a:p>
            <a:pPr marL="573088" lvl="2" indent="-231775" algn="just"/>
            <a:r>
              <a:rPr lang="en-IN" dirty="0">
                <a:latin typeface="Helvetica" panose="020B0604020202020204" pitchFamily="34" charset="0"/>
                <a:cs typeface="Helvetica" panose="020B0604020202020204" pitchFamily="34" charset="0"/>
              </a:rPr>
              <a:t>	</a:t>
            </a:r>
            <a:r>
              <a:rPr lang="en-IN" dirty="0" smtClean="0">
                <a:latin typeface="Helvetica" panose="020B0604020202020204" pitchFamily="34" charset="0"/>
                <a:cs typeface="Helvetica" panose="020B0604020202020204" pitchFamily="34" charset="0"/>
              </a:rPr>
              <a:t>Because </a:t>
            </a:r>
            <a:r>
              <a:rPr lang="en-IN" dirty="0">
                <a:latin typeface="Helvetica" panose="020B0604020202020204" pitchFamily="34" charset="0"/>
                <a:cs typeface="Helvetica" panose="020B0604020202020204" pitchFamily="34" charset="0"/>
              </a:rPr>
              <a:t>the data sets are so large, often a big data solution must process data files using long-running batch jobs to filter, aggregate, and otherwise prepare the data for analysis. Usually these jobs involve reading source files, processing them, and writing the output to new files. </a:t>
            </a:r>
          </a:p>
          <a:p>
            <a:pPr marL="573088" lvl="1" indent="-231775" algn="just">
              <a:buFont typeface="Wingdings" panose="05000000000000000000" pitchFamily="2" charset="2"/>
              <a:buChar char="Ø"/>
            </a:pPr>
            <a:endParaRPr lang="en-IN" dirty="0" smtClean="0">
              <a:latin typeface="Helvetica" panose="020B0604020202020204" pitchFamily="34" charset="0"/>
              <a:cs typeface="Helvetica" panose="020B0604020202020204" pitchFamily="34" charset="0"/>
            </a:endParaRPr>
          </a:p>
          <a:p>
            <a:pPr marL="573088" lvl="1" indent="-231775" algn="just">
              <a:buFont typeface="Wingdings" panose="05000000000000000000" pitchFamily="2" charset="2"/>
              <a:buChar char="Ø"/>
            </a:pPr>
            <a:r>
              <a:rPr lang="en-IN" b="1" dirty="0" smtClean="0">
                <a:latin typeface="Helvetica" panose="020B0604020202020204" pitchFamily="34" charset="0"/>
                <a:cs typeface="Helvetica" panose="020B0604020202020204" pitchFamily="34" charset="0"/>
              </a:rPr>
              <a:t>Real-Time Message Ingestion</a:t>
            </a:r>
            <a:endParaRPr lang="en-IN" b="1" dirty="0">
              <a:latin typeface="Helvetica" panose="020B0604020202020204" pitchFamily="34" charset="0"/>
              <a:cs typeface="Helvetica" panose="020B0604020202020204" pitchFamily="34" charset="0"/>
            </a:endParaRPr>
          </a:p>
          <a:p>
            <a:pPr marL="573088" lvl="1" indent="-231775" algn="just"/>
            <a:r>
              <a:rPr lang="en-IN" dirty="0" smtClean="0">
                <a:latin typeface="Helvetica" panose="020B0604020202020204" pitchFamily="34" charset="0"/>
                <a:cs typeface="Helvetica" panose="020B0604020202020204" pitchFamily="34" charset="0"/>
              </a:rPr>
              <a:t>	</a:t>
            </a:r>
          </a:p>
          <a:p>
            <a:pPr marL="573088" lvl="1" indent="-231775" algn="just"/>
            <a:r>
              <a:rPr lang="en-IN" dirty="0" smtClean="0">
                <a:latin typeface="Helvetica" panose="020B0604020202020204" pitchFamily="34" charset="0"/>
                <a:cs typeface="Helvetica" panose="020B0604020202020204" pitchFamily="34" charset="0"/>
              </a:rPr>
              <a:t>	If </a:t>
            </a:r>
            <a:r>
              <a:rPr lang="en-IN" dirty="0">
                <a:latin typeface="Helvetica" panose="020B0604020202020204" pitchFamily="34" charset="0"/>
                <a:cs typeface="Helvetica" panose="020B0604020202020204" pitchFamily="34" charset="0"/>
              </a:rPr>
              <a:t>the solution includes real-time sources, the architecture must include a way to capture and store real-time     </a:t>
            </a:r>
            <a:r>
              <a:rPr lang="en-IN" dirty="0" smtClean="0">
                <a:latin typeface="Helvetica" panose="020B0604020202020204" pitchFamily="34" charset="0"/>
                <a:cs typeface="Helvetica" panose="020B0604020202020204" pitchFamily="34" charset="0"/>
              </a:rPr>
              <a:t>messages </a:t>
            </a:r>
            <a:r>
              <a:rPr lang="en-IN" dirty="0">
                <a:latin typeface="Helvetica" panose="020B0604020202020204" pitchFamily="34" charset="0"/>
                <a:cs typeface="Helvetica" panose="020B0604020202020204" pitchFamily="34" charset="0"/>
              </a:rPr>
              <a:t>for stream processing. </a:t>
            </a:r>
          </a:p>
          <a:p>
            <a:pPr lvl="2" algn="just">
              <a:buFont typeface="Wingdings" panose="05000000000000000000" pitchFamily="2" charset="2"/>
              <a:buChar char="ü"/>
            </a:pPr>
            <a:endParaRPr lang="en-IN"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3575037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BE9889-D4E9-3790-6B04-60A5CC51A6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CA1A6E-5BBB-A55A-1505-E0B745340027}"/>
              </a:ext>
            </a:extLst>
          </p:cNvPr>
          <p:cNvSpPr>
            <a:spLocks noGrp="1"/>
          </p:cNvSpPr>
          <p:nvPr>
            <p:ph type="title"/>
          </p:nvPr>
        </p:nvSpPr>
        <p:spPr/>
        <p:txBody>
          <a:bodyPr/>
          <a:lstStyle/>
          <a:p>
            <a:r>
              <a:rPr lang="en-US" dirty="0"/>
              <a:t>Components of Big Data Architecture</a:t>
            </a:r>
          </a:p>
        </p:txBody>
      </p:sp>
      <p:sp>
        <p:nvSpPr>
          <p:cNvPr id="7" name="AutoShape 2" descr="Diagram that shows the overall data pipeline.">
            <a:extLst>
              <a:ext uri="{FF2B5EF4-FFF2-40B4-BE49-F238E27FC236}">
                <a16:creationId xmlns:a16="http://schemas.microsoft.com/office/drawing/2014/main" id="{DF177465-8B97-53BB-785E-7721E8FEDB7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TextBox 2">
            <a:extLst>
              <a:ext uri="{FF2B5EF4-FFF2-40B4-BE49-F238E27FC236}">
                <a16:creationId xmlns:a16="http://schemas.microsoft.com/office/drawing/2014/main" id="{2B81A9B0-DC07-9483-146A-94CCE5BEFD54}"/>
              </a:ext>
            </a:extLst>
          </p:cNvPr>
          <p:cNvSpPr txBox="1"/>
          <p:nvPr/>
        </p:nvSpPr>
        <p:spPr>
          <a:xfrm>
            <a:off x="76200" y="1066800"/>
            <a:ext cx="11734800" cy="5632311"/>
          </a:xfrm>
          <a:prstGeom prst="rect">
            <a:avLst/>
          </a:prstGeom>
          <a:noFill/>
        </p:spPr>
        <p:txBody>
          <a:bodyPr wrap="square" rtlCol="0">
            <a:spAutoFit/>
          </a:bodyPr>
          <a:lstStyle/>
          <a:p>
            <a:pPr marL="533400" lvl="2" indent="-261938" algn="just">
              <a:buFont typeface="Wingdings" panose="05000000000000000000" pitchFamily="2" charset="2"/>
              <a:buChar char="Ø"/>
            </a:pPr>
            <a:r>
              <a:rPr lang="en-IN" b="1" dirty="0">
                <a:latin typeface="Helvetica" panose="020B0604020202020204" pitchFamily="34" charset="0"/>
                <a:cs typeface="Helvetica" panose="020B0604020202020204" pitchFamily="34" charset="0"/>
              </a:rPr>
              <a:t>Stream </a:t>
            </a:r>
            <a:r>
              <a:rPr lang="en-IN" b="1" dirty="0" smtClean="0">
                <a:latin typeface="Helvetica" panose="020B0604020202020204" pitchFamily="34" charset="0"/>
                <a:cs typeface="Helvetica" panose="020B0604020202020204" pitchFamily="34" charset="0"/>
              </a:rPr>
              <a:t>processing</a:t>
            </a:r>
          </a:p>
          <a:p>
            <a:pPr marL="533400" lvl="2" indent="-261938" algn="just">
              <a:buFont typeface="Wingdings" panose="05000000000000000000" pitchFamily="2" charset="2"/>
              <a:buChar char="Ø"/>
            </a:pPr>
            <a:endParaRPr lang="en-IN" b="1" dirty="0">
              <a:latin typeface="Helvetica" panose="020B0604020202020204" pitchFamily="34" charset="0"/>
              <a:cs typeface="Helvetica" panose="020B0604020202020204" pitchFamily="34" charset="0"/>
            </a:endParaRPr>
          </a:p>
          <a:p>
            <a:pPr marL="533400" lvl="2" indent="-261938" algn="just"/>
            <a:r>
              <a:rPr lang="en-IN" dirty="0">
                <a:latin typeface="Helvetica" panose="020B0604020202020204" pitchFamily="34" charset="0"/>
                <a:cs typeface="Helvetica" panose="020B0604020202020204" pitchFamily="34" charset="0"/>
              </a:rPr>
              <a:t>	</a:t>
            </a:r>
            <a:r>
              <a:rPr lang="en-IN" dirty="0" smtClean="0">
                <a:latin typeface="Helvetica" panose="020B0604020202020204" pitchFamily="34" charset="0"/>
                <a:cs typeface="Helvetica" panose="020B0604020202020204" pitchFamily="34" charset="0"/>
              </a:rPr>
              <a:t>After </a:t>
            </a:r>
            <a:r>
              <a:rPr lang="en-IN" dirty="0">
                <a:latin typeface="Helvetica" panose="020B0604020202020204" pitchFamily="34" charset="0"/>
                <a:cs typeface="Helvetica" panose="020B0604020202020204" pitchFamily="34" charset="0"/>
              </a:rPr>
              <a:t>capturing real-time messages, the solution must process them by filtering, aggregating, and otherwise </a:t>
            </a:r>
            <a:r>
              <a:rPr lang="en-IN" dirty="0" smtClean="0">
                <a:latin typeface="Helvetica" panose="020B0604020202020204" pitchFamily="34" charset="0"/>
                <a:cs typeface="Helvetica" panose="020B0604020202020204" pitchFamily="34" charset="0"/>
              </a:rPr>
              <a:t>preparing </a:t>
            </a:r>
            <a:r>
              <a:rPr lang="en-IN" dirty="0">
                <a:latin typeface="Helvetica" panose="020B0604020202020204" pitchFamily="34" charset="0"/>
                <a:cs typeface="Helvetica" panose="020B0604020202020204" pitchFamily="34" charset="0"/>
              </a:rPr>
              <a:t>the data for analysis. The processed stream data is then written to an output sink. </a:t>
            </a:r>
            <a:endParaRPr lang="en-IN" dirty="0" smtClean="0">
              <a:latin typeface="Helvetica" panose="020B0604020202020204" pitchFamily="34" charset="0"/>
              <a:cs typeface="Helvetica" panose="020B0604020202020204" pitchFamily="34" charset="0"/>
            </a:endParaRPr>
          </a:p>
          <a:p>
            <a:pPr marL="533400" lvl="2" indent="-261938" algn="just"/>
            <a:endParaRPr lang="en-IN" dirty="0">
              <a:latin typeface="Helvetica" panose="020B0604020202020204" pitchFamily="34" charset="0"/>
              <a:cs typeface="Helvetica" panose="020B0604020202020204" pitchFamily="34" charset="0"/>
            </a:endParaRPr>
          </a:p>
          <a:p>
            <a:pPr marL="533400" lvl="1" indent="-261938" algn="just">
              <a:buFont typeface="Wingdings" panose="05000000000000000000" pitchFamily="2" charset="2"/>
              <a:buChar char="Ø"/>
            </a:pPr>
            <a:r>
              <a:rPr lang="en-IN" b="1" dirty="0">
                <a:latin typeface="Helvetica" panose="020B0604020202020204" pitchFamily="34" charset="0"/>
                <a:cs typeface="Helvetica" panose="020B0604020202020204" pitchFamily="34" charset="0"/>
              </a:rPr>
              <a:t>Analytical data store</a:t>
            </a:r>
          </a:p>
          <a:p>
            <a:pPr marL="533400" lvl="2" indent="-261938" algn="just"/>
            <a:endParaRPr lang="en-IN" dirty="0" smtClean="0">
              <a:latin typeface="Helvetica" panose="020B0604020202020204" pitchFamily="34" charset="0"/>
              <a:cs typeface="Helvetica" panose="020B0604020202020204" pitchFamily="34" charset="0"/>
            </a:endParaRPr>
          </a:p>
          <a:p>
            <a:pPr marL="533400" lvl="2" indent="-261938" algn="just"/>
            <a:r>
              <a:rPr lang="en-IN" dirty="0" smtClean="0">
                <a:latin typeface="Helvetica" panose="020B0604020202020204" pitchFamily="34" charset="0"/>
                <a:cs typeface="Helvetica" panose="020B0604020202020204" pitchFamily="34" charset="0"/>
              </a:rPr>
              <a:t>	Many </a:t>
            </a:r>
            <a:r>
              <a:rPr lang="en-IN" dirty="0">
                <a:latin typeface="Helvetica" panose="020B0604020202020204" pitchFamily="34" charset="0"/>
                <a:cs typeface="Helvetica" panose="020B0604020202020204" pitchFamily="34" charset="0"/>
              </a:rPr>
              <a:t>big data solutions prepare data for analysis and then serve the processed data in a structured format that can be queried using analytical tools. The analytical data store used to serve these queries can be a Kimball-style relational data warehouse, as seen in most traditional business intelligence (BI) solutions</a:t>
            </a:r>
            <a:r>
              <a:rPr lang="en-IN" dirty="0" smtClean="0">
                <a:latin typeface="Helvetica" panose="020B0604020202020204" pitchFamily="34" charset="0"/>
                <a:cs typeface="Helvetica" panose="020B0604020202020204" pitchFamily="34" charset="0"/>
              </a:rPr>
              <a:t>.</a:t>
            </a:r>
          </a:p>
          <a:p>
            <a:pPr marL="533400" lvl="2" indent="-261938" algn="just"/>
            <a:endParaRPr lang="en-IN" dirty="0">
              <a:latin typeface="Helvetica" panose="020B0604020202020204" pitchFamily="34" charset="0"/>
              <a:cs typeface="Helvetica" panose="020B0604020202020204" pitchFamily="34" charset="0"/>
            </a:endParaRPr>
          </a:p>
          <a:p>
            <a:pPr marL="533400" lvl="1" indent="-261938" algn="just">
              <a:buFont typeface="Wingdings" panose="05000000000000000000" pitchFamily="2" charset="2"/>
              <a:buChar char="Ø"/>
            </a:pPr>
            <a:r>
              <a:rPr lang="en-IN" b="1" dirty="0">
                <a:latin typeface="Helvetica" panose="020B0604020202020204" pitchFamily="34" charset="0"/>
                <a:cs typeface="Helvetica" panose="020B0604020202020204" pitchFamily="34" charset="0"/>
              </a:rPr>
              <a:t>Analysis and reporting</a:t>
            </a:r>
          </a:p>
          <a:p>
            <a:pPr marL="533400" lvl="2" indent="-261938" algn="just"/>
            <a:r>
              <a:rPr lang="en-IN" dirty="0" smtClean="0">
                <a:latin typeface="Helvetica" panose="020B0604020202020204" pitchFamily="34" charset="0"/>
                <a:cs typeface="Helvetica" panose="020B0604020202020204" pitchFamily="34" charset="0"/>
              </a:rPr>
              <a:t>	</a:t>
            </a:r>
          </a:p>
          <a:p>
            <a:pPr marL="533400" lvl="2" indent="-261938" algn="just"/>
            <a:r>
              <a:rPr lang="en-IN" dirty="0">
                <a:latin typeface="Helvetica" panose="020B0604020202020204" pitchFamily="34" charset="0"/>
                <a:cs typeface="Helvetica" panose="020B0604020202020204" pitchFamily="34" charset="0"/>
              </a:rPr>
              <a:t>	</a:t>
            </a:r>
            <a:r>
              <a:rPr lang="en-IN" dirty="0" smtClean="0">
                <a:latin typeface="Helvetica" panose="020B0604020202020204" pitchFamily="34" charset="0"/>
                <a:cs typeface="Helvetica" panose="020B0604020202020204" pitchFamily="34" charset="0"/>
              </a:rPr>
              <a:t>The </a:t>
            </a:r>
            <a:r>
              <a:rPr lang="en-IN" dirty="0">
                <a:latin typeface="Helvetica" panose="020B0604020202020204" pitchFamily="34" charset="0"/>
                <a:cs typeface="Helvetica" panose="020B0604020202020204" pitchFamily="34" charset="0"/>
              </a:rPr>
              <a:t>goal of most big data solutions is to provide insights into the data through analysis and reporting. </a:t>
            </a:r>
            <a:endParaRPr lang="en-IN" dirty="0" smtClean="0">
              <a:latin typeface="Helvetica" panose="020B0604020202020204" pitchFamily="34" charset="0"/>
              <a:cs typeface="Helvetica" panose="020B0604020202020204" pitchFamily="34" charset="0"/>
            </a:endParaRPr>
          </a:p>
          <a:p>
            <a:pPr marL="533400" lvl="2" indent="-261938" algn="just"/>
            <a:endParaRPr lang="en-IN" dirty="0">
              <a:latin typeface="Helvetica" panose="020B0604020202020204" pitchFamily="34" charset="0"/>
              <a:cs typeface="Helvetica" panose="020B0604020202020204" pitchFamily="34" charset="0"/>
            </a:endParaRPr>
          </a:p>
          <a:p>
            <a:pPr marL="533400" lvl="1" indent="-261938" algn="just">
              <a:buFont typeface="Wingdings" panose="05000000000000000000" pitchFamily="2" charset="2"/>
              <a:buChar char="Ø"/>
            </a:pPr>
            <a:r>
              <a:rPr lang="en-IN" b="1" dirty="0">
                <a:latin typeface="Helvetica" panose="020B0604020202020204" pitchFamily="34" charset="0"/>
                <a:cs typeface="Helvetica" panose="020B0604020202020204" pitchFamily="34" charset="0"/>
              </a:rPr>
              <a:t>Orchestration</a:t>
            </a:r>
          </a:p>
          <a:p>
            <a:pPr marL="533400" lvl="2" indent="-261938" algn="just"/>
            <a:r>
              <a:rPr lang="en-IN" dirty="0" smtClean="0">
                <a:latin typeface="Helvetica" panose="020B0604020202020204" pitchFamily="34" charset="0"/>
                <a:cs typeface="Helvetica" panose="020B0604020202020204" pitchFamily="34" charset="0"/>
              </a:rPr>
              <a:t>	Most </a:t>
            </a:r>
            <a:r>
              <a:rPr lang="en-IN" dirty="0">
                <a:latin typeface="Helvetica" panose="020B0604020202020204" pitchFamily="34" charset="0"/>
                <a:cs typeface="Helvetica" panose="020B0604020202020204" pitchFamily="34" charset="0"/>
              </a:rPr>
              <a:t>big data solutions consist of repeated data processing operations, encapsulated in workflows, that transform source data, move data between multiple sources and sinks, load the processed data into an analytical data store, or push the results straight to a report or dashboard. To automate these workflows, you can use an orchestration technology such Azure Data Factory or Apache Oozie and Sqoop.</a:t>
            </a:r>
            <a:endParaRPr lang="en-US" dirty="0">
              <a:latin typeface="Helvetica" panose="020B0604020202020204" pitchFamily="34" charset="0"/>
              <a:cs typeface="Helvetica" panose="020B0604020202020204" pitchFamily="34" charset="0"/>
            </a:endParaRPr>
          </a:p>
        </p:txBody>
      </p:sp>
    </p:spTree>
    <p:extLst>
      <p:ext uri="{BB962C8B-B14F-4D97-AF65-F5344CB8AC3E}">
        <p14:creationId xmlns:p14="http://schemas.microsoft.com/office/powerpoint/2010/main" val="3408056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3"/>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Big </a:t>
            </a:r>
            <a:r>
              <a:rPr lang="en-IN" dirty="0" smtClean="0"/>
              <a:t>Data Architecture </a:t>
            </a:r>
            <a:r>
              <a:rPr lang="en-IN" dirty="0"/>
              <a:t>Benefits</a:t>
            </a:r>
          </a:p>
        </p:txBody>
      </p:sp>
      <p:sp>
        <p:nvSpPr>
          <p:cNvPr id="3" name="Text Placeholder 2"/>
          <p:cNvSpPr>
            <a:spLocks noGrp="1"/>
          </p:cNvSpPr>
          <p:nvPr>
            <p:ph type="body" sz="quarter" idx="13"/>
          </p:nvPr>
        </p:nvSpPr>
        <p:spPr>
          <a:xfrm>
            <a:off x="266700" y="1219200"/>
            <a:ext cx="11658600" cy="5325831"/>
          </a:xfrm>
        </p:spPr>
        <p:txBody>
          <a:bodyPr>
            <a:noAutofit/>
          </a:bodyPr>
          <a:lstStyle/>
          <a:p>
            <a:pPr marL="533400" indent="-261938" algn="just">
              <a:lnSpc>
                <a:spcPct val="100000"/>
              </a:lnSpc>
              <a:buFont typeface="Wingdings" panose="05000000000000000000" pitchFamily="2" charset="2"/>
              <a:buChar char="Ø"/>
            </a:pPr>
            <a:r>
              <a:rPr lang="en-IN" b="1" dirty="0"/>
              <a:t>Technology choices </a:t>
            </a:r>
          </a:p>
          <a:p>
            <a:pPr marL="533400" lvl="1" indent="-261938" algn="just">
              <a:lnSpc>
                <a:spcPct val="100000"/>
              </a:lnSpc>
              <a:buNone/>
            </a:pPr>
            <a:r>
              <a:rPr lang="en-IN" sz="1800" dirty="0" smtClean="0"/>
              <a:t>	Variety </a:t>
            </a:r>
            <a:r>
              <a:rPr lang="en-IN" sz="1800" dirty="0"/>
              <a:t>of technology options in open source and from vendors are available </a:t>
            </a:r>
            <a:endParaRPr lang="en-IN" sz="1800" dirty="0" smtClean="0"/>
          </a:p>
          <a:p>
            <a:pPr marL="533400" lvl="1" indent="-261938" algn="just">
              <a:lnSpc>
                <a:spcPct val="100000"/>
              </a:lnSpc>
              <a:buNone/>
            </a:pPr>
            <a:endParaRPr lang="en-IN" sz="1800" dirty="0"/>
          </a:p>
          <a:p>
            <a:pPr marL="533400" indent="-261938" algn="just">
              <a:lnSpc>
                <a:spcPct val="100000"/>
              </a:lnSpc>
              <a:buFont typeface="Wingdings" panose="05000000000000000000" pitchFamily="2" charset="2"/>
              <a:buChar char="Ø"/>
            </a:pPr>
            <a:r>
              <a:rPr lang="en-IN" b="1" dirty="0"/>
              <a:t>Performance through parallelism</a:t>
            </a:r>
          </a:p>
          <a:p>
            <a:pPr marL="533400" lvl="1" indent="-261938" algn="just">
              <a:lnSpc>
                <a:spcPct val="100000"/>
              </a:lnSpc>
              <a:buNone/>
            </a:pPr>
            <a:r>
              <a:rPr lang="en-IN" sz="1800" dirty="0" smtClean="0"/>
              <a:t>	Big </a:t>
            </a:r>
            <a:r>
              <a:rPr lang="en-IN" sz="1800" dirty="0"/>
              <a:t>data solutions take advantage of parallelism, enabling high-performance solutions that scale to large volumes of data</a:t>
            </a:r>
            <a:r>
              <a:rPr lang="en-IN" sz="1800" dirty="0" smtClean="0"/>
              <a:t>.</a:t>
            </a:r>
          </a:p>
          <a:p>
            <a:pPr marL="533400" lvl="1" indent="-261938" algn="just">
              <a:lnSpc>
                <a:spcPct val="100000"/>
              </a:lnSpc>
              <a:buNone/>
            </a:pPr>
            <a:endParaRPr lang="en-IN" sz="1800" dirty="0"/>
          </a:p>
          <a:p>
            <a:pPr marL="533400" indent="-261938" algn="just">
              <a:lnSpc>
                <a:spcPct val="100000"/>
              </a:lnSpc>
              <a:buFont typeface="Wingdings" panose="05000000000000000000" pitchFamily="2" charset="2"/>
              <a:buChar char="Ø"/>
            </a:pPr>
            <a:r>
              <a:rPr lang="en-IN" b="1" dirty="0" smtClean="0"/>
              <a:t>Elastic </a:t>
            </a:r>
            <a:r>
              <a:rPr lang="en-IN" b="1" dirty="0"/>
              <a:t>scale</a:t>
            </a:r>
          </a:p>
          <a:p>
            <a:pPr marL="533400" lvl="1" indent="-261938" algn="just">
              <a:lnSpc>
                <a:spcPct val="100000"/>
              </a:lnSpc>
              <a:buNone/>
            </a:pPr>
            <a:r>
              <a:rPr lang="en-IN" sz="1800" dirty="0" smtClean="0"/>
              <a:t>	All </a:t>
            </a:r>
            <a:r>
              <a:rPr lang="en-IN" sz="1800" dirty="0"/>
              <a:t>of the components in the big data architecture support scale-out provisioning, so that you can adjust your solution to small or large workloads, and pay only for the resources that you use</a:t>
            </a:r>
            <a:r>
              <a:rPr lang="en-IN" sz="1800" dirty="0" smtClean="0"/>
              <a:t>.</a:t>
            </a:r>
          </a:p>
          <a:p>
            <a:pPr marL="533400" lvl="1" indent="-261938" algn="just">
              <a:lnSpc>
                <a:spcPct val="100000"/>
              </a:lnSpc>
              <a:buNone/>
            </a:pPr>
            <a:endParaRPr lang="en-IN" sz="1800" dirty="0"/>
          </a:p>
          <a:p>
            <a:pPr marL="533400" indent="-261938" algn="just">
              <a:lnSpc>
                <a:spcPct val="100000"/>
              </a:lnSpc>
              <a:buFont typeface="Wingdings" panose="05000000000000000000" pitchFamily="2" charset="2"/>
              <a:buChar char="Ø"/>
            </a:pPr>
            <a:r>
              <a:rPr lang="en-IN" b="1" dirty="0"/>
              <a:t>Interoperability with existing solutions</a:t>
            </a:r>
          </a:p>
          <a:p>
            <a:pPr marL="533400" lvl="1" indent="-261938" algn="just">
              <a:lnSpc>
                <a:spcPct val="100000"/>
              </a:lnSpc>
              <a:buNone/>
            </a:pPr>
            <a:r>
              <a:rPr lang="en-IN" sz="1800" dirty="0" smtClean="0"/>
              <a:t>	The </a:t>
            </a:r>
            <a:r>
              <a:rPr lang="en-IN" sz="1800" dirty="0"/>
              <a:t>components of the big data architecture are also used for </a:t>
            </a:r>
            <a:r>
              <a:rPr lang="en-IN" sz="1800" dirty="0" err="1"/>
              <a:t>IoT</a:t>
            </a:r>
            <a:r>
              <a:rPr lang="en-IN" sz="1800" dirty="0"/>
              <a:t> processing and enterprise BI solutions, enabling you to create an integrated solution across data workloads.</a:t>
            </a:r>
          </a:p>
        </p:txBody>
      </p:sp>
    </p:spTree>
    <p:extLst>
      <p:ext uri="{BB962C8B-B14F-4D97-AF65-F5344CB8AC3E}">
        <p14:creationId xmlns:p14="http://schemas.microsoft.com/office/powerpoint/2010/main" val="1541127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Big </a:t>
            </a:r>
            <a:r>
              <a:rPr lang="en-IN" dirty="0" smtClean="0"/>
              <a:t>Data Architecture </a:t>
            </a:r>
            <a:r>
              <a:rPr lang="en-IN" dirty="0"/>
              <a:t>Challenges</a:t>
            </a:r>
          </a:p>
        </p:txBody>
      </p:sp>
      <p:sp>
        <p:nvSpPr>
          <p:cNvPr id="3" name="Text Placeholder 2"/>
          <p:cNvSpPr>
            <a:spLocks noGrp="1"/>
          </p:cNvSpPr>
          <p:nvPr>
            <p:ph type="body" sz="quarter" idx="13"/>
          </p:nvPr>
        </p:nvSpPr>
        <p:spPr>
          <a:xfrm>
            <a:off x="228600" y="1219200"/>
            <a:ext cx="11811000" cy="5478231"/>
          </a:xfrm>
        </p:spPr>
        <p:txBody>
          <a:bodyPr>
            <a:normAutofit/>
          </a:bodyPr>
          <a:lstStyle/>
          <a:p>
            <a:pPr marL="533400" indent="-352425">
              <a:lnSpc>
                <a:spcPct val="110000"/>
              </a:lnSpc>
              <a:buFont typeface="Wingdings" panose="05000000000000000000" pitchFamily="2" charset="2"/>
              <a:buChar char="Ø"/>
            </a:pPr>
            <a:r>
              <a:rPr lang="en-IN" b="1" dirty="0"/>
              <a:t>Complexity</a:t>
            </a:r>
          </a:p>
          <a:p>
            <a:pPr marL="533400" lvl="1" indent="-352425">
              <a:lnSpc>
                <a:spcPct val="110000"/>
              </a:lnSpc>
              <a:buNone/>
            </a:pPr>
            <a:r>
              <a:rPr lang="en-IN" sz="1800" dirty="0" smtClean="0"/>
              <a:t>	Big </a:t>
            </a:r>
            <a:r>
              <a:rPr lang="en-IN" sz="1800" dirty="0"/>
              <a:t>data solutions can be extremely complex, with numerous components to handle data ingestion from multiple data sources. It can be challenging to build, test, and troubleshoot big data processes.</a:t>
            </a:r>
          </a:p>
          <a:p>
            <a:pPr marL="533400" indent="-352425">
              <a:lnSpc>
                <a:spcPct val="110000"/>
              </a:lnSpc>
              <a:buFont typeface="Wingdings" panose="05000000000000000000" pitchFamily="2" charset="2"/>
              <a:buChar char="Ø"/>
            </a:pPr>
            <a:endParaRPr lang="en-IN" dirty="0"/>
          </a:p>
          <a:p>
            <a:pPr marL="533400" indent="-352425">
              <a:lnSpc>
                <a:spcPct val="110000"/>
              </a:lnSpc>
              <a:buFont typeface="Wingdings" panose="05000000000000000000" pitchFamily="2" charset="2"/>
              <a:buChar char="Ø"/>
            </a:pPr>
            <a:r>
              <a:rPr lang="en-IN" b="1" dirty="0" err="1"/>
              <a:t>Skillset</a:t>
            </a:r>
            <a:r>
              <a:rPr lang="en-IN" b="1" dirty="0"/>
              <a:t> </a:t>
            </a:r>
          </a:p>
          <a:p>
            <a:pPr marL="533400" lvl="1" indent="-352425">
              <a:lnSpc>
                <a:spcPct val="110000"/>
              </a:lnSpc>
              <a:buNone/>
            </a:pPr>
            <a:r>
              <a:rPr lang="en-IN" sz="1800" dirty="0" smtClean="0"/>
              <a:t>	Many </a:t>
            </a:r>
            <a:r>
              <a:rPr lang="en-IN" sz="1800" dirty="0"/>
              <a:t>big data technologies are highly specialized, and use frameworks and languages that are not typical of more general application architectures. On the other hand, big data technologies are evolving new APIs that build on more established languages. </a:t>
            </a:r>
          </a:p>
          <a:p>
            <a:pPr marL="533400" lvl="1" indent="-352425">
              <a:lnSpc>
                <a:spcPct val="110000"/>
              </a:lnSpc>
              <a:buFont typeface="Wingdings" panose="05000000000000000000" pitchFamily="2" charset="2"/>
              <a:buChar char="Ø"/>
            </a:pPr>
            <a:endParaRPr lang="en-IN" sz="1800" dirty="0"/>
          </a:p>
          <a:p>
            <a:pPr marL="533400" indent="-352425">
              <a:lnSpc>
                <a:spcPct val="110000"/>
              </a:lnSpc>
              <a:buFont typeface="Wingdings" panose="05000000000000000000" pitchFamily="2" charset="2"/>
              <a:buChar char="Ø"/>
            </a:pPr>
            <a:r>
              <a:rPr lang="en-IN" b="1" dirty="0"/>
              <a:t>Technology maturity</a:t>
            </a:r>
          </a:p>
          <a:p>
            <a:pPr marL="533400" lvl="1" indent="-352425">
              <a:lnSpc>
                <a:spcPct val="110000"/>
              </a:lnSpc>
              <a:buNone/>
            </a:pPr>
            <a:r>
              <a:rPr lang="en-IN" sz="1800" dirty="0" smtClean="0"/>
              <a:t>	Many </a:t>
            </a:r>
            <a:r>
              <a:rPr lang="en-IN" sz="1800" dirty="0"/>
              <a:t>of the technologies used in big data are evolving. While core Hadoop technologies such as Hive and Pig have stabilized, emerging technologies such as Spark introduce extensive changes and enhancements with each new release</a:t>
            </a:r>
            <a:r>
              <a:rPr lang="en-IN" sz="1800" dirty="0" smtClean="0"/>
              <a:t>.</a:t>
            </a:r>
            <a:endParaRPr lang="en-IN" dirty="0"/>
          </a:p>
        </p:txBody>
      </p:sp>
    </p:spTree>
    <p:extLst>
      <p:ext uri="{BB962C8B-B14F-4D97-AF65-F5344CB8AC3E}">
        <p14:creationId xmlns:p14="http://schemas.microsoft.com/office/powerpoint/2010/main" val="394868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654F0D-21E1-B451-9C6B-01D6C79DA3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9F9663-5DE9-ADD5-3CA6-A728D4CE0D20}"/>
              </a:ext>
            </a:extLst>
          </p:cNvPr>
          <p:cNvSpPr>
            <a:spLocks noGrp="1"/>
          </p:cNvSpPr>
          <p:nvPr>
            <p:ph type="title"/>
          </p:nvPr>
        </p:nvSpPr>
        <p:spPr>
          <a:xfrm>
            <a:off x="831850" y="1709738"/>
            <a:ext cx="10515600" cy="2852737"/>
          </a:xfrm>
        </p:spPr>
        <p:txBody>
          <a:bodyPr anchor="b">
            <a:normAutofit/>
          </a:bodyPr>
          <a:lstStyle/>
          <a:p>
            <a:r>
              <a:rPr lang="en-US" dirty="0"/>
              <a:t>Lambda &amp; Kappa for </a:t>
            </a:r>
            <a:br>
              <a:rPr lang="en-US" dirty="0"/>
            </a:br>
            <a:r>
              <a:rPr lang="en-US" dirty="0"/>
              <a:t>Big Data Systems</a:t>
            </a:r>
          </a:p>
        </p:txBody>
      </p:sp>
    </p:spTree>
    <p:extLst>
      <p:ext uri="{BB962C8B-B14F-4D97-AF65-F5344CB8AC3E}">
        <p14:creationId xmlns:p14="http://schemas.microsoft.com/office/powerpoint/2010/main" val="396685408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EE593D-6AA6-BA31-8DF6-D7DC78E1D6C9}"/>
              </a:ext>
            </a:extLst>
          </p:cNvPr>
          <p:cNvSpPr>
            <a:spLocks noGrp="1"/>
          </p:cNvSpPr>
          <p:nvPr>
            <p:ph type="title"/>
          </p:nvPr>
        </p:nvSpPr>
        <p:spPr/>
        <p:txBody>
          <a:bodyPr/>
          <a:lstStyle/>
          <a:p>
            <a:r>
              <a:rPr lang="en-US" dirty="0"/>
              <a:t>Big Data Processing</a:t>
            </a:r>
          </a:p>
        </p:txBody>
      </p:sp>
      <p:sp>
        <p:nvSpPr>
          <p:cNvPr id="3" name="Text Placeholder 2">
            <a:extLst>
              <a:ext uri="{FF2B5EF4-FFF2-40B4-BE49-F238E27FC236}">
                <a16:creationId xmlns:a16="http://schemas.microsoft.com/office/drawing/2014/main" id="{89998728-373E-C0E3-02B2-41C9D9D43B23}"/>
              </a:ext>
            </a:extLst>
          </p:cNvPr>
          <p:cNvSpPr>
            <a:spLocks noGrp="1"/>
          </p:cNvSpPr>
          <p:nvPr>
            <p:ph type="body" sz="quarter" idx="13"/>
          </p:nvPr>
        </p:nvSpPr>
        <p:spPr>
          <a:xfrm>
            <a:off x="152400" y="1019063"/>
            <a:ext cx="12039600" cy="5678368"/>
          </a:xfrm>
        </p:spPr>
        <p:txBody>
          <a:bodyPr>
            <a:normAutofit/>
          </a:bodyPr>
          <a:lstStyle/>
          <a:p>
            <a:pPr marL="0" indent="0">
              <a:lnSpc>
                <a:spcPct val="150000"/>
              </a:lnSpc>
              <a:buNone/>
            </a:pPr>
            <a:r>
              <a:rPr lang="en-US" b="1" u="sng" dirty="0"/>
              <a:t>Challenge: </a:t>
            </a:r>
          </a:p>
          <a:p>
            <a:pPr>
              <a:lnSpc>
                <a:spcPct val="150000"/>
              </a:lnSpc>
              <a:buFont typeface="Wingdings" panose="05000000000000000000" pitchFamily="2" charset="2"/>
              <a:buChar char="Ø"/>
            </a:pPr>
            <a:r>
              <a:rPr lang="en-US" dirty="0" smtClean="0"/>
              <a:t>Working </a:t>
            </a:r>
            <a:r>
              <a:rPr lang="en-US" dirty="0"/>
              <a:t>with large datasets, can take a long time to run the type of queries that clients need</a:t>
            </a:r>
          </a:p>
          <a:p>
            <a:pPr marL="0" indent="0">
              <a:lnSpc>
                <a:spcPct val="150000"/>
              </a:lnSpc>
              <a:buNone/>
            </a:pPr>
            <a:r>
              <a:rPr lang="en-US" b="1" u="sng" dirty="0"/>
              <a:t>An Approach:</a:t>
            </a:r>
          </a:p>
          <a:p>
            <a:pPr>
              <a:lnSpc>
                <a:spcPct val="100000"/>
              </a:lnSpc>
              <a:spcBef>
                <a:spcPts val="0"/>
              </a:spcBef>
              <a:buFont typeface="Wingdings" panose="05000000000000000000" pitchFamily="2" charset="2"/>
              <a:buChar char="Ø"/>
            </a:pPr>
            <a:endParaRPr lang="en-US" dirty="0" smtClean="0"/>
          </a:p>
          <a:p>
            <a:pPr>
              <a:lnSpc>
                <a:spcPct val="100000"/>
              </a:lnSpc>
              <a:spcBef>
                <a:spcPts val="0"/>
              </a:spcBef>
              <a:buFont typeface="Wingdings" panose="05000000000000000000" pitchFamily="2" charset="2"/>
              <a:buChar char="Ø"/>
            </a:pPr>
            <a:r>
              <a:rPr lang="en-US" dirty="0" smtClean="0"/>
              <a:t>These </a:t>
            </a:r>
            <a:r>
              <a:rPr lang="en-US" dirty="0"/>
              <a:t>queries can't be performed in real time, and they often require distributed processing algorithms such as </a:t>
            </a:r>
            <a:r>
              <a:rPr lang="en-US" dirty="0">
                <a:hlinkClick r:id="rId2"/>
              </a:rPr>
              <a:t>MapReduce</a:t>
            </a:r>
            <a:r>
              <a:rPr lang="en-US" dirty="0"/>
              <a:t> that operate in parallel across the entire dataset. </a:t>
            </a:r>
          </a:p>
          <a:p>
            <a:pPr>
              <a:lnSpc>
                <a:spcPct val="150000"/>
              </a:lnSpc>
              <a:buFont typeface="Wingdings" panose="05000000000000000000" pitchFamily="2" charset="2"/>
              <a:buChar char="Ø"/>
            </a:pPr>
            <a:r>
              <a:rPr lang="en-US" dirty="0"/>
              <a:t>The query results are stored separately from the raw data and used for further querying.</a:t>
            </a:r>
          </a:p>
          <a:p>
            <a:pPr marL="0" indent="0">
              <a:lnSpc>
                <a:spcPct val="150000"/>
              </a:lnSpc>
              <a:buNone/>
            </a:pPr>
            <a:r>
              <a:rPr lang="en-US" b="1" u="sng" dirty="0"/>
              <a:t>Drawbacks of this approach:</a:t>
            </a:r>
          </a:p>
          <a:p>
            <a:pPr>
              <a:lnSpc>
                <a:spcPct val="150000"/>
              </a:lnSpc>
              <a:buFont typeface="Wingdings" panose="05000000000000000000" pitchFamily="2" charset="2"/>
              <a:buChar char="Ø"/>
            </a:pPr>
            <a:r>
              <a:rPr lang="en-US" dirty="0"/>
              <a:t>It introduces latency. If processing takes a few hours, a query might return results that are several hours old</a:t>
            </a:r>
          </a:p>
          <a:p>
            <a:pPr>
              <a:lnSpc>
                <a:spcPct val="100000"/>
              </a:lnSpc>
              <a:spcBef>
                <a:spcPts val="0"/>
              </a:spcBef>
              <a:buFont typeface="Wingdings" panose="05000000000000000000" pitchFamily="2" charset="2"/>
              <a:buChar char="Ø"/>
            </a:pPr>
            <a:endParaRPr lang="en-US" dirty="0" smtClean="0"/>
          </a:p>
          <a:p>
            <a:pPr>
              <a:lnSpc>
                <a:spcPct val="100000"/>
              </a:lnSpc>
              <a:spcBef>
                <a:spcPts val="0"/>
              </a:spcBef>
              <a:buFont typeface="Wingdings" panose="05000000000000000000" pitchFamily="2" charset="2"/>
              <a:buChar char="Ø"/>
            </a:pPr>
            <a:r>
              <a:rPr lang="en-US" dirty="0" smtClean="0"/>
              <a:t>Ideally</a:t>
            </a:r>
            <a:r>
              <a:rPr lang="en-US" dirty="0"/>
              <a:t>, should get some results in real time, potentially with a loss of accuracy, and combine these results with the results from batch analytics.</a:t>
            </a:r>
          </a:p>
        </p:txBody>
      </p:sp>
    </p:spTree>
    <p:extLst>
      <p:ext uri="{BB962C8B-B14F-4D97-AF65-F5344CB8AC3E}">
        <p14:creationId xmlns:p14="http://schemas.microsoft.com/office/powerpoint/2010/main" val="1685064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EB492-49B4-DF33-C64F-776AFF059C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1A33DE-F6B1-ACAB-945F-4F3DB06710AC}"/>
              </a:ext>
            </a:extLst>
          </p:cNvPr>
          <p:cNvSpPr>
            <a:spLocks noGrp="1"/>
          </p:cNvSpPr>
          <p:nvPr>
            <p:ph type="title"/>
          </p:nvPr>
        </p:nvSpPr>
        <p:spPr>
          <a:xfrm>
            <a:off x="152400" y="228600"/>
            <a:ext cx="9321800" cy="696333"/>
          </a:xfrm>
        </p:spPr>
        <p:txBody>
          <a:bodyPr/>
          <a:lstStyle/>
          <a:p>
            <a:r>
              <a:rPr lang="en-US" dirty="0"/>
              <a:t>Lambda Architecture for Big Data Processing</a:t>
            </a:r>
          </a:p>
        </p:txBody>
      </p:sp>
      <p:sp>
        <p:nvSpPr>
          <p:cNvPr id="3" name="Text Placeholder 2">
            <a:extLst>
              <a:ext uri="{FF2B5EF4-FFF2-40B4-BE49-F238E27FC236}">
                <a16:creationId xmlns:a16="http://schemas.microsoft.com/office/drawing/2014/main" id="{071DBD7A-AC39-A2FD-6774-737A39F95D9F}"/>
              </a:ext>
            </a:extLst>
          </p:cNvPr>
          <p:cNvSpPr>
            <a:spLocks noGrp="1"/>
          </p:cNvSpPr>
          <p:nvPr>
            <p:ph type="body" sz="quarter" idx="13"/>
          </p:nvPr>
        </p:nvSpPr>
        <p:spPr>
          <a:xfrm>
            <a:off x="76200" y="3962400"/>
            <a:ext cx="12039600" cy="2743200"/>
          </a:xfrm>
        </p:spPr>
        <p:txBody>
          <a:bodyPr>
            <a:normAutofit/>
          </a:bodyPr>
          <a:lstStyle/>
          <a:p>
            <a:pPr marL="0" indent="0">
              <a:lnSpc>
                <a:spcPct val="150000"/>
              </a:lnSpc>
              <a:buNone/>
            </a:pPr>
            <a:r>
              <a:rPr lang="en-US" b="1" u="sng" dirty="0"/>
              <a:t>Solution:</a:t>
            </a:r>
          </a:p>
          <a:p>
            <a:pPr algn="just">
              <a:lnSpc>
                <a:spcPct val="100000"/>
              </a:lnSpc>
              <a:spcBef>
                <a:spcPts val="0"/>
              </a:spcBef>
              <a:buFont typeface="Wingdings" panose="05000000000000000000" pitchFamily="2" charset="2"/>
              <a:buChar char="Ø"/>
            </a:pPr>
            <a:r>
              <a:rPr lang="en-US" dirty="0"/>
              <a:t>The </a:t>
            </a:r>
            <a:r>
              <a:rPr lang="en-US" b="1" dirty="0"/>
              <a:t>Lambda architecture</a:t>
            </a:r>
            <a:r>
              <a:rPr lang="en-US" dirty="0"/>
              <a:t> addresses this problem by creating two paths for dataflow. All data that comes into the system goes through the following two paths</a:t>
            </a:r>
            <a:r>
              <a:rPr lang="en-US" dirty="0" smtClean="0"/>
              <a:t>:</a:t>
            </a:r>
          </a:p>
          <a:p>
            <a:pPr algn="just">
              <a:lnSpc>
                <a:spcPct val="100000"/>
              </a:lnSpc>
              <a:spcBef>
                <a:spcPts val="0"/>
              </a:spcBef>
              <a:buFont typeface="Wingdings" panose="05000000000000000000" pitchFamily="2" charset="2"/>
              <a:buChar char="Ø"/>
            </a:pPr>
            <a:endParaRPr lang="en-US" dirty="0"/>
          </a:p>
          <a:p>
            <a:pPr lvl="1">
              <a:lnSpc>
                <a:spcPct val="100000"/>
              </a:lnSpc>
              <a:spcBef>
                <a:spcPts val="0"/>
              </a:spcBef>
              <a:buFont typeface="Wingdings" panose="05000000000000000000" pitchFamily="2" charset="2"/>
              <a:buChar char="§"/>
            </a:pPr>
            <a:r>
              <a:rPr lang="en-US" sz="1800" dirty="0"/>
              <a:t>A </a:t>
            </a:r>
            <a:r>
              <a:rPr lang="en-US" sz="1800" b="1" dirty="0"/>
              <a:t>batch layer</a:t>
            </a:r>
            <a:r>
              <a:rPr lang="en-US" sz="1800" dirty="0"/>
              <a:t> (cold path) stores all the incoming data in its raw form and performs batch processing on the data. The result of this processing is stored as a batch view</a:t>
            </a:r>
            <a:r>
              <a:rPr lang="en-US" sz="1800" dirty="0" smtClean="0"/>
              <a:t>.</a:t>
            </a:r>
          </a:p>
          <a:p>
            <a:pPr lvl="1">
              <a:lnSpc>
                <a:spcPct val="100000"/>
              </a:lnSpc>
              <a:spcBef>
                <a:spcPts val="0"/>
              </a:spcBef>
              <a:buFont typeface="Wingdings" panose="05000000000000000000" pitchFamily="2" charset="2"/>
              <a:buChar char="§"/>
            </a:pPr>
            <a:endParaRPr lang="en-US" sz="1800" dirty="0"/>
          </a:p>
          <a:p>
            <a:pPr lvl="1">
              <a:lnSpc>
                <a:spcPct val="100000"/>
              </a:lnSpc>
              <a:spcBef>
                <a:spcPts val="0"/>
              </a:spcBef>
              <a:buFont typeface="Wingdings" panose="05000000000000000000" pitchFamily="2" charset="2"/>
              <a:buChar char="§"/>
            </a:pPr>
            <a:r>
              <a:rPr lang="en-US" sz="1800" dirty="0"/>
              <a:t>A </a:t>
            </a:r>
            <a:r>
              <a:rPr lang="en-US" sz="1800" b="1" dirty="0"/>
              <a:t>speed layer</a:t>
            </a:r>
            <a:r>
              <a:rPr lang="en-US" sz="1800" dirty="0"/>
              <a:t> (hot path) analyzes data in real time. This layer is designed for low latency, at the expense of accuracy.</a:t>
            </a:r>
            <a:endParaRPr lang="en-US" b="1" u="sng" dirty="0"/>
          </a:p>
        </p:txBody>
      </p:sp>
      <p:pic>
        <p:nvPicPr>
          <p:cNvPr id="5" name="Picture 4">
            <a:extLst>
              <a:ext uri="{FF2B5EF4-FFF2-40B4-BE49-F238E27FC236}">
                <a16:creationId xmlns:a16="http://schemas.microsoft.com/office/drawing/2014/main" id="{DEA3A755-622F-56F2-1F39-1EF84B3CB41F}"/>
              </a:ext>
            </a:extLst>
          </p:cNvPr>
          <p:cNvPicPr>
            <a:picLocks noChangeAspect="1"/>
          </p:cNvPicPr>
          <p:nvPr/>
        </p:nvPicPr>
        <p:blipFill>
          <a:blip r:embed="rId2"/>
          <a:stretch>
            <a:fillRect/>
          </a:stretch>
        </p:blipFill>
        <p:spPr>
          <a:xfrm>
            <a:off x="2862262" y="924933"/>
            <a:ext cx="7881938" cy="3470839"/>
          </a:xfrm>
          <a:prstGeom prst="rect">
            <a:avLst/>
          </a:prstGeom>
        </p:spPr>
      </p:pic>
    </p:spTree>
    <p:extLst>
      <p:ext uri="{BB962C8B-B14F-4D97-AF65-F5344CB8AC3E}">
        <p14:creationId xmlns:p14="http://schemas.microsoft.com/office/powerpoint/2010/main" val="262283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bldLvl="2"/>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287EC-891D-5ACA-4B1F-AC8B5BAC2A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5B03A5-267D-2019-857D-F66542937BE3}"/>
              </a:ext>
            </a:extLst>
          </p:cNvPr>
          <p:cNvSpPr>
            <a:spLocks noGrp="1"/>
          </p:cNvSpPr>
          <p:nvPr>
            <p:ph type="title"/>
          </p:nvPr>
        </p:nvSpPr>
        <p:spPr/>
        <p:txBody>
          <a:bodyPr/>
          <a:lstStyle/>
          <a:p>
            <a:r>
              <a:rPr lang="en-US" dirty="0"/>
              <a:t>Lambda Architecture for Big Data Processing</a:t>
            </a:r>
          </a:p>
        </p:txBody>
      </p:sp>
      <p:sp>
        <p:nvSpPr>
          <p:cNvPr id="3" name="Text Placeholder 2">
            <a:extLst>
              <a:ext uri="{FF2B5EF4-FFF2-40B4-BE49-F238E27FC236}">
                <a16:creationId xmlns:a16="http://schemas.microsoft.com/office/drawing/2014/main" id="{96F3942D-2DA5-ADE7-B16A-BEBCE6F4038C}"/>
              </a:ext>
            </a:extLst>
          </p:cNvPr>
          <p:cNvSpPr>
            <a:spLocks noGrp="1"/>
          </p:cNvSpPr>
          <p:nvPr>
            <p:ph type="body" sz="quarter" idx="13"/>
          </p:nvPr>
        </p:nvSpPr>
        <p:spPr>
          <a:xfrm>
            <a:off x="76200" y="1102721"/>
            <a:ext cx="5638800" cy="5678368"/>
          </a:xfrm>
        </p:spPr>
        <p:txBody>
          <a:bodyPr>
            <a:normAutofit/>
          </a:bodyPr>
          <a:lstStyle/>
          <a:p>
            <a:pPr marL="0" indent="0" algn="just">
              <a:lnSpc>
                <a:spcPct val="100000"/>
              </a:lnSpc>
              <a:spcBef>
                <a:spcPts val="0"/>
              </a:spcBef>
              <a:buNone/>
            </a:pPr>
            <a:r>
              <a:rPr lang="en-US" b="1" u="sng" dirty="0"/>
              <a:t>Batch Layer(cold path)</a:t>
            </a:r>
          </a:p>
          <a:p>
            <a:pPr algn="just">
              <a:lnSpc>
                <a:spcPct val="100000"/>
              </a:lnSpc>
              <a:spcBef>
                <a:spcPts val="0"/>
              </a:spcBef>
              <a:buFont typeface="Wingdings" panose="05000000000000000000" pitchFamily="2" charset="2"/>
              <a:buChar char="Ø"/>
            </a:pPr>
            <a:endParaRPr lang="en-US" dirty="0" smtClean="0"/>
          </a:p>
          <a:p>
            <a:pPr algn="just">
              <a:lnSpc>
                <a:spcPct val="100000"/>
              </a:lnSpc>
              <a:spcBef>
                <a:spcPts val="0"/>
              </a:spcBef>
              <a:buFont typeface="Wingdings" panose="05000000000000000000" pitchFamily="2" charset="2"/>
              <a:buChar char="Ø"/>
            </a:pPr>
            <a:r>
              <a:rPr lang="en-US" dirty="0" smtClean="0"/>
              <a:t>Feeds </a:t>
            </a:r>
            <a:r>
              <a:rPr lang="en-US" dirty="0"/>
              <a:t>into a </a:t>
            </a:r>
            <a:r>
              <a:rPr lang="en-US" b="1" dirty="0"/>
              <a:t>serving layer</a:t>
            </a:r>
            <a:r>
              <a:rPr lang="en-US" dirty="0"/>
              <a:t> that indexes the batch view for efficient querying. </a:t>
            </a:r>
            <a:endParaRPr lang="en-US" dirty="0" smtClean="0"/>
          </a:p>
          <a:p>
            <a:pPr algn="just">
              <a:lnSpc>
                <a:spcPct val="100000"/>
              </a:lnSpc>
              <a:spcBef>
                <a:spcPts val="0"/>
              </a:spcBef>
              <a:buFont typeface="Wingdings" panose="05000000000000000000" pitchFamily="2" charset="2"/>
              <a:buChar char="Ø"/>
            </a:pPr>
            <a:endParaRPr lang="en-US" dirty="0"/>
          </a:p>
          <a:p>
            <a:pPr algn="just">
              <a:lnSpc>
                <a:spcPct val="100000"/>
              </a:lnSpc>
              <a:spcBef>
                <a:spcPts val="0"/>
              </a:spcBef>
              <a:buFont typeface="Wingdings" panose="05000000000000000000" pitchFamily="2" charset="2"/>
              <a:buChar char="Ø"/>
            </a:pPr>
            <a:r>
              <a:rPr lang="en-US" dirty="0" smtClean="0"/>
              <a:t>Data </a:t>
            </a:r>
            <a:r>
              <a:rPr lang="en-US" dirty="0"/>
              <a:t>that flows into the cold path isn't subject to the same low latency requirements</a:t>
            </a:r>
            <a:r>
              <a:rPr lang="en-US" dirty="0" smtClean="0"/>
              <a:t>.</a:t>
            </a:r>
          </a:p>
          <a:p>
            <a:pPr algn="just">
              <a:lnSpc>
                <a:spcPct val="100000"/>
              </a:lnSpc>
              <a:spcBef>
                <a:spcPts val="0"/>
              </a:spcBef>
              <a:buFont typeface="Wingdings" panose="05000000000000000000" pitchFamily="2" charset="2"/>
              <a:buChar char="Ø"/>
            </a:pPr>
            <a:endParaRPr lang="en-US" dirty="0"/>
          </a:p>
          <a:p>
            <a:pPr algn="just">
              <a:lnSpc>
                <a:spcPct val="100000"/>
              </a:lnSpc>
              <a:spcBef>
                <a:spcPts val="0"/>
              </a:spcBef>
              <a:buFont typeface="Wingdings" panose="05000000000000000000" pitchFamily="2" charset="2"/>
              <a:buChar char="Ø"/>
            </a:pPr>
            <a:r>
              <a:rPr lang="en-US" dirty="0" smtClean="0"/>
              <a:t>Provides </a:t>
            </a:r>
            <a:r>
              <a:rPr lang="en-US" dirty="0"/>
              <a:t>high accuracy computation across large datasets but can take a long time</a:t>
            </a:r>
            <a:r>
              <a:rPr lang="en-US" dirty="0" smtClean="0"/>
              <a:t>.</a:t>
            </a:r>
          </a:p>
          <a:p>
            <a:pPr algn="just">
              <a:lnSpc>
                <a:spcPct val="100000"/>
              </a:lnSpc>
              <a:spcBef>
                <a:spcPts val="0"/>
              </a:spcBef>
              <a:buFont typeface="Wingdings" panose="05000000000000000000" pitchFamily="2" charset="2"/>
              <a:buChar char="Ø"/>
            </a:pPr>
            <a:endParaRPr lang="en-US" dirty="0"/>
          </a:p>
          <a:p>
            <a:pPr algn="just">
              <a:lnSpc>
                <a:spcPct val="100000"/>
              </a:lnSpc>
              <a:spcBef>
                <a:spcPts val="0"/>
              </a:spcBef>
              <a:buFont typeface="Wingdings" panose="05000000000000000000" pitchFamily="2" charset="2"/>
              <a:buChar char="Ø"/>
            </a:pPr>
            <a:r>
              <a:rPr lang="en-US" dirty="0" smtClean="0"/>
              <a:t>The </a:t>
            </a:r>
            <a:r>
              <a:rPr lang="en-US" dirty="0"/>
              <a:t>client selects results from the cold path to display less timely but more accurate data</a:t>
            </a:r>
            <a:r>
              <a:rPr lang="en-US" dirty="0" smtClean="0"/>
              <a:t>.</a:t>
            </a:r>
          </a:p>
          <a:p>
            <a:pPr algn="just">
              <a:lnSpc>
                <a:spcPct val="100000"/>
              </a:lnSpc>
              <a:spcBef>
                <a:spcPts val="0"/>
              </a:spcBef>
              <a:buFont typeface="Wingdings" panose="05000000000000000000" pitchFamily="2" charset="2"/>
              <a:buChar char="Ø"/>
            </a:pPr>
            <a:endParaRPr lang="en-US" dirty="0"/>
          </a:p>
          <a:p>
            <a:pPr algn="just">
              <a:lnSpc>
                <a:spcPct val="100000"/>
              </a:lnSpc>
              <a:spcBef>
                <a:spcPts val="0"/>
              </a:spcBef>
              <a:buFont typeface="Wingdings" panose="05000000000000000000" pitchFamily="2" charset="2"/>
              <a:buChar char="Ø"/>
            </a:pPr>
            <a:r>
              <a:rPr lang="en-US" dirty="0"/>
              <a:t>The raw data that's stored here is immutable. </a:t>
            </a:r>
          </a:p>
          <a:p>
            <a:pPr lvl="1" algn="just">
              <a:lnSpc>
                <a:spcPct val="100000"/>
              </a:lnSpc>
              <a:spcBef>
                <a:spcPts val="0"/>
              </a:spcBef>
              <a:buFont typeface="Wingdings" panose="05000000000000000000" pitchFamily="2" charset="2"/>
              <a:buChar char="§"/>
            </a:pPr>
            <a:endParaRPr lang="en-US" sz="1800" b="1" u="sng" dirty="0"/>
          </a:p>
        </p:txBody>
      </p:sp>
      <p:sp>
        <p:nvSpPr>
          <p:cNvPr id="4" name="Text Placeholder 2">
            <a:extLst>
              <a:ext uri="{FF2B5EF4-FFF2-40B4-BE49-F238E27FC236}">
                <a16:creationId xmlns:a16="http://schemas.microsoft.com/office/drawing/2014/main" id="{30404B44-11EC-8BD0-D811-711F664F1C43}"/>
              </a:ext>
            </a:extLst>
          </p:cNvPr>
          <p:cNvSpPr txBox="1">
            <a:spLocks/>
          </p:cNvSpPr>
          <p:nvPr/>
        </p:nvSpPr>
        <p:spPr>
          <a:xfrm>
            <a:off x="5943600" y="1038679"/>
            <a:ext cx="6019800" cy="5438321"/>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1800" kern="1200">
                <a:solidFill>
                  <a:schemeClr val="tx1"/>
                </a:solidFill>
                <a:latin typeface="Helvetica" panose="020B060402020203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Helvetica" panose="020B060402020203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Helvetica" panose="020B060402020203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Helvetica" panose="020B060402020203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Helvetica" panose="020B06040202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lnSpc>
                <a:spcPct val="100000"/>
              </a:lnSpc>
              <a:spcBef>
                <a:spcPts val="0"/>
              </a:spcBef>
              <a:buNone/>
            </a:pPr>
            <a:r>
              <a:rPr lang="en-US" b="1" u="sng" dirty="0"/>
              <a:t>Speed Layer(hot path)</a:t>
            </a:r>
          </a:p>
          <a:p>
            <a:pPr algn="just">
              <a:lnSpc>
                <a:spcPct val="100000"/>
              </a:lnSpc>
              <a:spcBef>
                <a:spcPts val="0"/>
              </a:spcBef>
              <a:buFont typeface="Wingdings" panose="05000000000000000000" pitchFamily="2" charset="2"/>
              <a:buChar char="Ø"/>
            </a:pPr>
            <a:endParaRPr lang="en-US" dirty="0" smtClean="0"/>
          </a:p>
          <a:p>
            <a:pPr algn="just">
              <a:lnSpc>
                <a:spcPct val="100000"/>
              </a:lnSpc>
              <a:spcBef>
                <a:spcPts val="0"/>
              </a:spcBef>
              <a:buFont typeface="Wingdings" panose="05000000000000000000" pitchFamily="2" charset="2"/>
              <a:buChar char="Ø"/>
            </a:pPr>
            <a:r>
              <a:rPr lang="en-US" dirty="0" smtClean="0"/>
              <a:t>Updates </a:t>
            </a:r>
            <a:r>
              <a:rPr lang="en-US" dirty="0"/>
              <a:t>the serving layer with incremental updates based on the most recent data.</a:t>
            </a:r>
          </a:p>
          <a:p>
            <a:pPr algn="just">
              <a:lnSpc>
                <a:spcPct val="100000"/>
              </a:lnSpc>
              <a:spcBef>
                <a:spcPts val="0"/>
              </a:spcBef>
              <a:buFont typeface="Wingdings" panose="05000000000000000000" pitchFamily="2" charset="2"/>
              <a:buChar char="Ø"/>
            </a:pPr>
            <a:endParaRPr lang="en-US" dirty="0" smtClean="0"/>
          </a:p>
          <a:p>
            <a:pPr algn="just">
              <a:lnSpc>
                <a:spcPct val="100000"/>
              </a:lnSpc>
              <a:spcBef>
                <a:spcPts val="0"/>
              </a:spcBef>
              <a:buFont typeface="Wingdings" panose="05000000000000000000" pitchFamily="2" charset="2"/>
              <a:buChar char="Ø"/>
            </a:pPr>
            <a:r>
              <a:rPr lang="en-US" dirty="0" smtClean="0"/>
              <a:t>Data </a:t>
            </a:r>
            <a:r>
              <a:rPr lang="en-US" dirty="0"/>
              <a:t>that flows into the hot path must be processed quickly because of latency requirements that the speed layer imposes.</a:t>
            </a:r>
          </a:p>
          <a:p>
            <a:pPr algn="just">
              <a:lnSpc>
                <a:spcPct val="100000"/>
              </a:lnSpc>
              <a:spcBef>
                <a:spcPts val="0"/>
              </a:spcBef>
              <a:buFont typeface="Wingdings" panose="05000000000000000000" pitchFamily="2" charset="2"/>
              <a:buChar char="Ø"/>
            </a:pPr>
            <a:endParaRPr lang="en-US" dirty="0" smtClean="0"/>
          </a:p>
          <a:p>
            <a:pPr algn="just">
              <a:lnSpc>
                <a:spcPct val="100000"/>
              </a:lnSpc>
              <a:spcBef>
                <a:spcPts val="0"/>
              </a:spcBef>
              <a:buFont typeface="Wingdings" panose="05000000000000000000" pitchFamily="2" charset="2"/>
              <a:buChar char="Ø"/>
            </a:pPr>
            <a:r>
              <a:rPr lang="en-US" dirty="0" smtClean="0"/>
              <a:t>Quick </a:t>
            </a:r>
            <a:r>
              <a:rPr lang="en-US" dirty="0"/>
              <a:t>processing ensures that data is ready for immediate use but can introduce inaccuracy.</a:t>
            </a:r>
          </a:p>
          <a:p>
            <a:pPr algn="just">
              <a:lnSpc>
                <a:spcPct val="100000"/>
              </a:lnSpc>
              <a:spcBef>
                <a:spcPts val="0"/>
              </a:spcBef>
              <a:buFont typeface="Wingdings" panose="05000000000000000000" pitchFamily="2" charset="2"/>
              <a:buChar char="Ø"/>
            </a:pPr>
            <a:endParaRPr lang="en-US" dirty="0" smtClean="0"/>
          </a:p>
          <a:p>
            <a:pPr algn="just">
              <a:lnSpc>
                <a:spcPct val="100000"/>
              </a:lnSpc>
              <a:spcBef>
                <a:spcPts val="0"/>
              </a:spcBef>
              <a:buFont typeface="Wingdings" panose="05000000000000000000" pitchFamily="2" charset="2"/>
              <a:buChar char="Ø"/>
            </a:pPr>
            <a:r>
              <a:rPr lang="en-US" dirty="0" smtClean="0"/>
              <a:t>If </a:t>
            </a:r>
            <a:r>
              <a:rPr lang="en-US" dirty="0"/>
              <a:t>the client needs to display timely, yet potentially less accurate data in real time, it acquires its result from the hot path. </a:t>
            </a:r>
          </a:p>
          <a:p>
            <a:pPr algn="just">
              <a:lnSpc>
                <a:spcPct val="100000"/>
              </a:lnSpc>
              <a:spcBef>
                <a:spcPts val="0"/>
              </a:spcBef>
              <a:buFont typeface="Wingdings" panose="05000000000000000000" pitchFamily="2" charset="2"/>
              <a:buChar char="Ø"/>
            </a:pPr>
            <a:endParaRPr lang="en-US" dirty="0" smtClean="0"/>
          </a:p>
          <a:p>
            <a:pPr algn="just">
              <a:lnSpc>
                <a:spcPct val="100000"/>
              </a:lnSpc>
              <a:spcBef>
                <a:spcPts val="0"/>
              </a:spcBef>
              <a:buFont typeface="Wingdings" panose="05000000000000000000" pitchFamily="2" charset="2"/>
              <a:buChar char="Ø"/>
            </a:pPr>
            <a:r>
              <a:rPr lang="en-US" dirty="0" smtClean="0"/>
              <a:t>Changes </a:t>
            </a:r>
            <a:r>
              <a:rPr lang="en-US" dirty="0"/>
              <a:t>to the value of a particular datum are stored as a new time-stamped event record.</a:t>
            </a:r>
            <a:endParaRPr lang="en-US" b="1" u="sng" dirty="0"/>
          </a:p>
        </p:txBody>
      </p:sp>
      <p:cxnSp>
        <p:nvCxnSpPr>
          <p:cNvPr id="6" name="Straight Connector 5">
            <a:extLst>
              <a:ext uri="{FF2B5EF4-FFF2-40B4-BE49-F238E27FC236}">
                <a16:creationId xmlns:a16="http://schemas.microsoft.com/office/drawing/2014/main" id="{11929F1A-401A-BCF4-354F-A47588B31A55}"/>
              </a:ext>
            </a:extLst>
          </p:cNvPr>
          <p:cNvCxnSpPr/>
          <p:nvPr/>
        </p:nvCxnSpPr>
        <p:spPr>
          <a:xfrm>
            <a:off x="5943600" y="1019063"/>
            <a:ext cx="0" cy="5793165"/>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906149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BD8DB8-7B29-B11A-B822-D11FF712CA36}"/>
              </a:ext>
            </a:extLst>
          </p:cNvPr>
          <p:cNvSpPr>
            <a:spLocks noGrp="1"/>
          </p:cNvSpPr>
          <p:nvPr>
            <p:ph type="title"/>
          </p:nvPr>
        </p:nvSpPr>
        <p:spPr/>
        <p:txBody>
          <a:bodyPr>
            <a:normAutofit/>
          </a:bodyPr>
          <a:lstStyle/>
          <a:p>
            <a:r>
              <a:rPr lang="en-US" dirty="0"/>
              <a:t>Lambda Architecture for ML Workflows</a:t>
            </a:r>
          </a:p>
        </p:txBody>
      </p:sp>
      <p:sp>
        <p:nvSpPr>
          <p:cNvPr id="3" name="Text Placeholder 2">
            <a:extLst>
              <a:ext uri="{FF2B5EF4-FFF2-40B4-BE49-F238E27FC236}">
                <a16:creationId xmlns:a16="http://schemas.microsoft.com/office/drawing/2014/main" id="{96D52EF5-29A0-06CC-C6F5-68B7AA2A7225}"/>
              </a:ext>
            </a:extLst>
          </p:cNvPr>
          <p:cNvSpPr>
            <a:spLocks noGrp="1"/>
          </p:cNvSpPr>
          <p:nvPr>
            <p:ph type="body" sz="quarter" idx="13"/>
          </p:nvPr>
        </p:nvSpPr>
        <p:spPr>
          <a:xfrm>
            <a:off x="228600" y="1295400"/>
            <a:ext cx="11734800" cy="4724400"/>
          </a:xfrm>
        </p:spPr>
        <p:txBody>
          <a:bodyPr>
            <a:normAutofit/>
          </a:bodyPr>
          <a:lstStyle/>
          <a:p>
            <a:pPr marL="285750" indent="-285750">
              <a:lnSpc>
                <a:spcPct val="100000"/>
              </a:lnSpc>
              <a:spcBef>
                <a:spcPts val="0"/>
              </a:spcBef>
              <a:buFont typeface="Wingdings" panose="05000000000000000000" pitchFamily="2" charset="2"/>
              <a:buChar char="Ø"/>
            </a:pPr>
            <a:r>
              <a:rPr lang="en-US" dirty="0"/>
              <a:t>Lambda architectures support machine learning workloads by providing both historical data for model training and real-time data for inference. </a:t>
            </a:r>
            <a:endParaRPr lang="en-US" dirty="0" smtClean="0"/>
          </a:p>
          <a:p>
            <a:pPr marL="285750" indent="-285750">
              <a:lnSpc>
                <a:spcPct val="100000"/>
              </a:lnSpc>
              <a:spcBef>
                <a:spcPts val="0"/>
              </a:spcBef>
              <a:buFont typeface="Wingdings" panose="05000000000000000000" pitchFamily="2" charset="2"/>
              <a:buChar char="Ø"/>
            </a:pPr>
            <a:endParaRPr lang="en-US" dirty="0"/>
          </a:p>
          <a:p>
            <a:pPr marL="285750" indent="-285750">
              <a:lnSpc>
                <a:spcPct val="100000"/>
              </a:lnSpc>
              <a:spcBef>
                <a:spcPts val="0"/>
              </a:spcBef>
              <a:buFont typeface="Wingdings" panose="05000000000000000000" pitchFamily="2" charset="2"/>
              <a:buChar char="Ø"/>
            </a:pPr>
            <a:r>
              <a:rPr lang="en-US" dirty="0"/>
              <a:t>The batch layer enables training on comprehensive historical datasets using Fabric Data Science workloads. </a:t>
            </a:r>
            <a:endParaRPr lang="en-US" dirty="0" smtClean="0"/>
          </a:p>
          <a:p>
            <a:pPr marL="285750" indent="-285750">
              <a:lnSpc>
                <a:spcPct val="100000"/>
              </a:lnSpc>
              <a:spcBef>
                <a:spcPts val="0"/>
              </a:spcBef>
              <a:buFont typeface="Wingdings" panose="05000000000000000000" pitchFamily="2" charset="2"/>
              <a:buChar char="Ø"/>
            </a:pPr>
            <a:endParaRPr lang="en-US" dirty="0"/>
          </a:p>
          <a:p>
            <a:pPr marL="285750" indent="-285750">
              <a:lnSpc>
                <a:spcPct val="100000"/>
              </a:lnSpc>
              <a:spcBef>
                <a:spcPts val="0"/>
              </a:spcBef>
              <a:buFont typeface="Wingdings" panose="05000000000000000000" pitchFamily="2" charset="2"/>
              <a:buChar char="Ø"/>
            </a:pPr>
            <a:r>
              <a:rPr lang="en-US" dirty="0"/>
              <a:t>The speed layer facilitates real-time model inference and scoring. </a:t>
            </a:r>
            <a:endParaRPr lang="en-US" dirty="0" smtClean="0"/>
          </a:p>
          <a:p>
            <a:pPr marL="285750" indent="-285750">
              <a:lnSpc>
                <a:spcPct val="100000"/>
              </a:lnSpc>
              <a:spcBef>
                <a:spcPts val="0"/>
              </a:spcBef>
              <a:buFont typeface="Wingdings" panose="05000000000000000000" pitchFamily="2" charset="2"/>
              <a:buChar char="Ø"/>
            </a:pPr>
            <a:endParaRPr lang="en-US" dirty="0"/>
          </a:p>
          <a:p>
            <a:pPr marL="285750" indent="-285750">
              <a:lnSpc>
                <a:spcPct val="100000"/>
              </a:lnSpc>
              <a:spcBef>
                <a:spcPts val="0"/>
              </a:spcBef>
              <a:buFont typeface="Wingdings" panose="05000000000000000000" pitchFamily="2" charset="2"/>
              <a:buChar char="Ø"/>
            </a:pPr>
            <a:r>
              <a:rPr lang="en-US" dirty="0"/>
              <a:t>This dual approach allows for models trained on complete historical data while providing immediate predictions on incoming data streams.</a:t>
            </a:r>
            <a:endParaRPr lang="en-US" dirty="0">
              <a:latin typeface="Helvetica" panose="020B0604020202020204" pitchFamily="34" charset="0"/>
              <a:cs typeface="Helvetica" panose="020B0604020202020204" pitchFamily="34" charset="0"/>
            </a:endParaRPr>
          </a:p>
          <a:p>
            <a:pPr>
              <a:lnSpc>
                <a:spcPct val="100000"/>
              </a:lnSpc>
              <a:spcBef>
                <a:spcPts val="0"/>
              </a:spcBef>
              <a:buFont typeface="Wingdings" panose="05000000000000000000" pitchFamily="2" charset="2"/>
              <a:buChar char="Ø"/>
            </a:pPr>
            <a:endParaRPr lang="en-US" dirty="0"/>
          </a:p>
        </p:txBody>
      </p:sp>
    </p:spTree>
    <p:extLst>
      <p:ext uri="{BB962C8B-B14F-4D97-AF65-F5344CB8AC3E}">
        <p14:creationId xmlns:p14="http://schemas.microsoft.com/office/powerpoint/2010/main" val="2274619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56E88-726A-0BE8-1F51-395FF2FD30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10EC3A-3F19-61E8-E36D-F7855DA7DE6F}"/>
              </a:ext>
            </a:extLst>
          </p:cNvPr>
          <p:cNvSpPr>
            <a:spLocks noGrp="1"/>
          </p:cNvSpPr>
          <p:nvPr>
            <p:ph type="title"/>
          </p:nvPr>
        </p:nvSpPr>
        <p:spPr/>
        <p:txBody>
          <a:bodyPr/>
          <a:lstStyle/>
          <a:p>
            <a:r>
              <a:rPr lang="en-US" dirty="0"/>
              <a:t>Kappa Architecture for Big Data Processing</a:t>
            </a:r>
          </a:p>
        </p:txBody>
      </p:sp>
      <p:sp>
        <p:nvSpPr>
          <p:cNvPr id="3" name="Text Placeholder 2">
            <a:extLst>
              <a:ext uri="{FF2B5EF4-FFF2-40B4-BE49-F238E27FC236}">
                <a16:creationId xmlns:a16="http://schemas.microsoft.com/office/drawing/2014/main" id="{1C25B29E-8A8A-8DBA-9D33-EF3AD2D265EC}"/>
              </a:ext>
            </a:extLst>
          </p:cNvPr>
          <p:cNvSpPr>
            <a:spLocks noGrp="1"/>
          </p:cNvSpPr>
          <p:nvPr>
            <p:ph type="body" sz="quarter" idx="13"/>
          </p:nvPr>
        </p:nvSpPr>
        <p:spPr>
          <a:xfrm>
            <a:off x="228600" y="1143000"/>
            <a:ext cx="11811000" cy="5554431"/>
          </a:xfrm>
        </p:spPr>
        <p:txBody>
          <a:bodyPr>
            <a:noAutofit/>
          </a:bodyPr>
          <a:lstStyle/>
          <a:p>
            <a:pPr>
              <a:lnSpc>
                <a:spcPct val="100000"/>
              </a:lnSpc>
              <a:spcBef>
                <a:spcPts val="0"/>
              </a:spcBef>
              <a:buFont typeface="Wingdings" panose="05000000000000000000" pitchFamily="2" charset="2"/>
              <a:buChar char="Ø"/>
            </a:pPr>
            <a:r>
              <a:rPr lang="en-US" dirty="0"/>
              <a:t>It has the same basic goals as the Lambda architecture, but all data flows through a single path via a stream processing system</a:t>
            </a:r>
            <a:r>
              <a:rPr lang="en-US" dirty="0" smtClean="0"/>
              <a:t>.</a:t>
            </a:r>
          </a:p>
          <a:p>
            <a:pPr>
              <a:lnSpc>
                <a:spcPct val="100000"/>
              </a:lnSpc>
              <a:spcBef>
                <a:spcPts val="0"/>
              </a:spcBef>
              <a:buFont typeface="Wingdings" panose="05000000000000000000" pitchFamily="2" charset="2"/>
              <a:buChar char="Ø"/>
            </a:pPr>
            <a:endParaRPr lang="en-US" dirty="0"/>
          </a:p>
          <a:p>
            <a:pPr>
              <a:lnSpc>
                <a:spcPct val="100000"/>
              </a:lnSpc>
              <a:spcBef>
                <a:spcPts val="0"/>
              </a:spcBef>
              <a:buFont typeface="Wingdings" panose="05000000000000000000" pitchFamily="2" charset="2"/>
              <a:buChar char="Ø"/>
            </a:pPr>
            <a:r>
              <a:rPr lang="en-US" dirty="0"/>
              <a:t>Similar to the Lambda architecture's batch layer, the event data is immutable and all of it is collected, instead of a subset of data. </a:t>
            </a:r>
            <a:endParaRPr lang="en-US" dirty="0" smtClean="0"/>
          </a:p>
          <a:p>
            <a:pPr>
              <a:lnSpc>
                <a:spcPct val="100000"/>
              </a:lnSpc>
              <a:spcBef>
                <a:spcPts val="0"/>
              </a:spcBef>
              <a:buFont typeface="Wingdings" panose="05000000000000000000" pitchFamily="2" charset="2"/>
              <a:buChar char="Ø"/>
            </a:pPr>
            <a:endParaRPr lang="en-US" dirty="0"/>
          </a:p>
          <a:p>
            <a:pPr>
              <a:lnSpc>
                <a:spcPct val="100000"/>
              </a:lnSpc>
              <a:spcBef>
                <a:spcPts val="0"/>
              </a:spcBef>
              <a:buFont typeface="Wingdings" panose="05000000000000000000" pitchFamily="2" charset="2"/>
              <a:buChar char="Ø"/>
            </a:pPr>
            <a:r>
              <a:rPr lang="en-US" dirty="0"/>
              <a:t>The data is ingested as a stream of events into a distributed, fault-tolerant unified log. </a:t>
            </a:r>
            <a:endParaRPr lang="en-US" dirty="0" smtClean="0"/>
          </a:p>
          <a:p>
            <a:pPr>
              <a:lnSpc>
                <a:spcPct val="100000"/>
              </a:lnSpc>
              <a:spcBef>
                <a:spcPts val="0"/>
              </a:spcBef>
              <a:buFont typeface="Wingdings" panose="05000000000000000000" pitchFamily="2" charset="2"/>
              <a:buChar char="Ø"/>
            </a:pPr>
            <a:endParaRPr lang="en-US" dirty="0"/>
          </a:p>
          <a:p>
            <a:pPr>
              <a:lnSpc>
                <a:spcPct val="100000"/>
              </a:lnSpc>
              <a:spcBef>
                <a:spcPts val="0"/>
              </a:spcBef>
              <a:buFont typeface="Wingdings" panose="05000000000000000000" pitchFamily="2" charset="2"/>
              <a:buChar char="Ø"/>
            </a:pPr>
            <a:r>
              <a:rPr lang="en-US" dirty="0"/>
              <a:t>These events are ordered, and the current state of an event is changed only by a new event being appended</a:t>
            </a:r>
            <a:r>
              <a:rPr lang="en-US" dirty="0" smtClean="0"/>
              <a:t>.</a:t>
            </a:r>
          </a:p>
          <a:p>
            <a:pPr>
              <a:lnSpc>
                <a:spcPct val="100000"/>
              </a:lnSpc>
              <a:spcBef>
                <a:spcPts val="0"/>
              </a:spcBef>
              <a:buFont typeface="Wingdings" panose="05000000000000000000" pitchFamily="2" charset="2"/>
              <a:buChar char="Ø"/>
            </a:pPr>
            <a:endParaRPr lang="en-US" b="1" i="1" dirty="0"/>
          </a:p>
          <a:p>
            <a:pPr>
              <a:lnSpc>
                <a:spcPct val="100000"/>
              </a:lnSpc>
              <a:spcBef>
                <a:spcPts val="0"/>
              </a:spcBef>
              <a:buFont typeface="Wingdings" panose="05000000000000000000" pitchFamily="2" charset="2"/>
              <a:buChar char="Ø"/>
            </a:pPr>
            <a:r>
              <a:rPr lang="en-US" dirty="0"/>
              <a:t>Similar to the Lambda architecture's speed layer, all event processing is performed on the input stream and persisted as a real-time view</a:t>
            </a:r>
            <a:r>
              <a:rPr lang="en-US" dirty="0" smtClean="0"/>
              <a:t>.</a:t>
            </a:r>
          </a:p>
          <a:p>
            <a:pPr>
              <a:lnSpc>
                <a:spcPct val="100000"/>
              </a:lnSpc>
              <a:spcBef>
                <a:spcPts val="0"/>
              </a:spcBef>
              <a:buFont typeface="Wingdings" panose="05000000000000000000" pitchFamily="2" charset="2"/>
              <a:buChar char="Ø"/>
            </a:pPr>
            <a:endParaRPr lang="en-US" dirty="0"/>
          </a:p>
          <a:p>
            <a:pPr>
              <a:lnSpc>
                <a:spcPct val="100000"/>
              </a:lnSpc>
              <a:spcBef>
                <a:spcPts val="0"/>
              </a:spcBef>
              <a:buFont typeface="Wingdings" panose="05000000000000000000" pitchFamily="2" charset="2"/>
              <a:buChar char="Ø"/>
            </a:pPr>
            <a:r>
              <a:rPr lang="en-US" dirty="0" smtClean="0"/>
              <a:t>If </a:t>
            </a:r>
            <a:r>
              <a:rPr lang="en-US" dirty="0"/>
              <a:t>you need to recompute the entire dataset (equivalent to what the batch layer does in the Lambda architecture), you can replay the stream</a:t>
            </a:r>
            <a:r>
              <a:rPr lang="en-US" dirty="0" smtClean="0"/>
              <a:t>.</a:t>
            </a:r>
          </a:p>
          <a:p>
            <a:pPr>
              <a:lnSpc>
                <a:spcPct val="100000"/>
              </a:lnSpc>
              <a:spcBef>
                <a:spcPts val="0"/>
              </a:spcBef>
              <a:buFont typeface="Wingdings" panose="05000000000000000000" pitchFamily="2" charset="2"/>
              <a:buChar char="Ø"/>
            </a:pPr>
            <a:endParaRPr lang="en-US" dirty="0"/>
          </a:p>
          <a:p>
            <a:pPr>
              <a:lnSpc>
                <a:spcPct val="100000"/>
              </a:lnSpc>
              <a:spcBef>
                <a:spcPts val="0"/>
              </a:spcBef>
              <a:buFont typeface="Wingdings" panose="05000000000000000000" pitchFamily="2" charset="2"/>
              <a:buChar char="Ø"/>
            </a:pPr>
            <a:r>
              <a:rPr lang="en-US" dirty="0"/>
              <a:t>This process typically uses parallelism to complete the computation in a timely fashion.</a:t>
            </a:r>
            <a:endParaRPr lang="en-US" b="1" i="1" dirty="0"/>
          </a:p>
        </p:txBody>
      </p:sp>
    </p:spTree>
    <p:extLst>
      <p:ext uri="{BB962C8B-B14F-4D97-AF65-F5344CB8AC3E}">
        <p14:creationId xmlns:p14="http://schemas.microsoft.com/office/powerpoint/2010/main" val="595285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10E52-E931-A045-87D7-B6A944A9DFCC}"/>
              </a:ext>
            </a:extLst>
          </p:cNvPr>
          <p:cNvSpPr>
            <a:spLocks noGrp="1"/>
          </p:cNvSpPr>
          <p:nvPr>
            <p:ph type="title"/>
          </p:nvPr>
        </p:nvSpPr>
        <p:spPr/>
        <p:txBody>
          <a:bodyPr/>
          <a:lstStyle/>
          <a:p>
            <a:r>
              <a:rPr lang="en-US" dirty="0"/>
              <a:t>Kappa Architecture for Big Data Processing</a:t>
            </a:r>
          </a:p>
        </p:txBody>
      </p:sp>
      <p:sp>
        <p:nvSpPr>
          <p:cNvPr id="3" name="Text Placeholder 2">
            <a:extLst>
              <a:ext uri="{FF2B5EF4-FFF2-40B4-BE49-F238E27FC236}">
                <a16:creationId xmlns:a16="http://schemas.microsoft.com/office/drawing/2014/main" id="{D3C8A172-5515-F240-BD0B-4E70CB49D7E8}"/>
              </a:ext>
            </a:extLst>
          </p:cNvPr>
          <p:cNvSpPr>
            <a:spLocks noGrp="1"/>
          </p:cNvSpPr>
          <p:nvPr>
            <p:ph type="body" sz="quarter" idx="13"/>
          </p:nvPr>
        </p:nvSpPr>
        <p:spPr>
          <a:xfrm>
            <a:off x="228600" y="954357"/>
            <a:ext cx="11811000" cy="5554431"/>
          </a:xfrm>
        </p:spPr>
        <p:txBody>
          <a:bodyPr>
            <a:noAutofit/>
          </a:bodyPr>
          <a:lstStyle/>
          <a:p>
            <a:pPr marL="0" indent="0">
              <a:lnSpc>
                <a:spcPct val="150000"/>
              </a:lnSpc>
              <a:buNone/>
            </a:pPr>
            <a:r>
              <a:rPr lang="en-US" b="1" u="sng" dirty="0"/>
              <a:t>Drawbacks of Lambda Architecture:</a:t>
            </a:r>
          </a:p>
          <a:p>
            <a:pPr>
              <a:lnSpc>
                <a:spcPct val="150000"/>
              </a:lnSpc>
              <a:buFont typeface="Wingdings" panose="05000000000000000000" pitchFamily="2" charset="2"/>
              <a:buChar char="Ø"/>
            </a:pPr>
            <a:r>
              <a:rPr lang="en-US" dirty="0"/>
              <a:t>Complex</a:t>
            </a:r>
          </a:p>
          <a:p>
            <a:pPr>
              <a:lnSpc>
                <a:spcPct val="150000"/>
              </a:lnSpc>
              <a:buFont typeface="Wingdings" panose="05000000000000000000" pitchFamily="2" charset="2"/>
              <a:buChar char="Ø"/>
            </a:pPr>
            <a:r>
              <a:rPr lang="en-US" dirty="0"/>
              <a:t>Processing logic appears in two different places, the cold and hot paths, via different frameworks. </a:t>
            </a:r>
          </a:p>
          <a:p>
            <a:pPr>
              <a:lnSpc>
                <a:spcPct val="150000"/>
              </a:lnSpc>
              <a:buFont typeface="Wingdings" panose="05000000000000000000" pitchFamily="2" charset="2"/>
              <a:buChar char="Ø"/>
            </a:pPr>
            <a:r>
              <a:rPr lang="en-US" dirty="0"/>
              <a:t>This process leads to duplicate computation logic and complex management of the architecture for both paths.</a:t>
            </a:r>
          </a:p>
          <a:p>
            <a:pPr>
              <a:lnSpc>
                <a:spcPct val="150000"/>
              </a:lnSpc>
              <a:buFont typeface="Wingdings" panose="05000000000000000000" pitchFamily="2" charset="2"/>
              <a:buChar char="Ø"/>
            </a:pPr>
            <a:endParaRPr lang="en-US" dirty="0"/>
          </a:p>
          <a:p>
            <a:pPr marL="0" indent="0">
              <a:lnSpc>
                <a:spcPct val="150000"/>
              </a:lnSpc>
              <a:buNone/>
            </a:pPr>
            <a:r>
              <a:rPr lang="en-US" b="1" u="sng" dirty="0"/>
              <a:t>Solution: </a:t>
            </a:r>
          </a:p>
          <a:p>
            <a:pPr marL="0" indent="0">
              <a:lnSpc>
                <a:spcPct val="150000"/>
              </a:lnSpc>
              <a:buNone/>
            </a:pPr>
            <a:r>
              <a:rPr lang="en-US" b="1" i="1" dirty="0"/>
              <a:t>Kappa Architecture</a:t>
            </a:r>
          </a:p>
          <a:p>
            <a:pPr>
              <a:lnSpc>
                <a:spcPct val="150000"/>
              </a:lnSpc>
              <a:buFont typeface="Wingdings" panose="05000000000000000000" pitchFamily="2" charset="2"/>
              <a:buChar char="Ø"/>
            </a:pPr>
            <a:endParaRPr lang="en-US" b="1" i="1" dirty="0"/>
          </a:p>
        </p:txBody>
      </p:sp>
      <p:pic>
        <p:nvPicPr>
          <p:cNvPr id="8" name="Picture 7">
            <a:extLst>
              <a:ext uri="{FF2B5EF4-FFF2-40B4-BE49-F238E27FC236}">
                <a16:creationId xmlns:a16="http://schemas.microsoft.com/office/drawing/2014/main" id="{D11A42DD-5FB2-F714-67CE-6717EA9CF4FB}"/>
              </a:ext>
            </a:extLst>
          </p:cNvPr>
          <p:cNvPicPr>
            <a:picLocks noChangeAspect="1"/>
          </p:cNvPicPr>
          <p:nvPr/>
        </p:nvPicPr>
        <p:blipFill>
          <a:blip r:embed="rId2"/>
          <a:stretch>
            <a:fillRect/>
          </a:stretch>
        </p:blipFill>
        <p:spPr>
          <a:xfrm>
            <a:off x="4058210" y="3373206"/>
            <a:ext cx="7896225" cy="3324225"/>
          </a:xfrm>
          <a:prstGeom prst="rect">
            <a:avLst/>
          </a:prstGeom>
        </p:spPr>
      </p:pic>
    </p:spTree>
    <p:extLst>
      <p:ext uri="{BB962C8B-B14F-4D97-AF65-F5344CB8AC3E}">
        <p14:creationId xmlns:p14="http://schemas.microsoft.com/office/powerpoint/2010/main" val="3908720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AD9BAE-7576-F490-FC39-24FEF2C7AB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24FD03-78DD-577C-6839-9856424088A4}"/>
              </a:ext>
            </a:extLst>
          </p:cNvPr>
          <p:cNvSpPr>
            <a:spLocks noGrp="1"/>
          </p:cNvSpPr>
          <p:nvPr>
            <p:ph type="title"/>
          </p:nvPr>
        </p:nvSpPr>
        <p:spPr/>
        <p:txBody>
          <a:bodyPr>
            <a:normAutofit/>
          </a:bodyPr>
          <a:lstStyle/>
          <a:p>
            <a:r>
              <a:rPr lang="en-US" dirty="0"/>
              <a:t>Kappa Architecture for ML Workflows</a:t>
            </a:r>
          </a:p>
        </p:txBody>
      </p:sp>
      <p:sp>
        <p:nvSpPr>
          <p:cNvPr id="3" name="Text Placeholder 2">
            <a:extLst>
              <a:ext uri="{FF2B5EF4-FFF2-40B4-BE49-F238E27FC236}">
                <a16:creationId xmlns:a16="http://schemas.microsoft.com/office/drawing/2014/main" id="{D1067FE5-35A0-A9E7-50FC-F0A477B786FB}"/>
              </a:ext>
            </a:extLst>
          </p:cNvPr>
          <p:cNvSpPr>
            <a:spLocks noGrp="1"/>
          </p:cNvSpPr>
          <p:nvPr>
            <p:ph type="body" sz="quarter" idx="13"/>
          </p:nvPr>
        </p:nvSpPr>
        <p:spPr>
          <a:xfrm>
            <a:off x="228600" y="1295400"/>
            <a:ext cx="11734800" cy="4724400"/>
          </a:xfrm>
        </p:spPr>
        <p:txBody>
          <a:bodyPr>
            <a:normAutofit/>
          </a:bodyPr>
          <a:lstStyle/>
          <a:p>
            <a:pPr marL="285750" indent="-285750" algn="just">
              <a:lnSpc>
                <a:spcPct val="100000"/>
              </a:lnSpc>
              <a:spcBef>
                <a:spcPts val="0"/>
              </a:spcBef>
              <a:buFont typeface="Wingdings" panose="05000000000000000000" pitchFamily="2" charset="2"/>
              <a:buChar char="Ø"/>
            </a:pPr>
            <a:r>
              <a:rPr lang="en-US" dirty="0"/>
              <a:t>Kappa architectures enable unified machine learning workflows by processing all data through a single streaming pipeline</a:t>
            </a:r>
            <a:r>
              <a:rPr lang="en-US" dirty="0" smtClean="0"/>
              <a:t>.</a:t>
            </a:r>
          </a:p>
          <a:p>
            <a:pPr marL="285750" indent="-285750" algn="just">
              <a:lnSpc>
                <a:spcPct val="100000"/>
              </a:lnSpc>
              <a:spcBef>
                <a:spcPts val="0"/>
              </a:spcBef>
              <a:buFont typeface="Wingdings" panose="05000000000000000000" pitchFamily="2" charset="2"/>
              <a:buChar char="Ø"/>
            </a:pPr>
            <a:endParaRPr lang="en-US" dirty="0"/>
          </a:p>
          <a:p>
            <a:pPr marL="285750" indent="-285750" algn="just">
              <a:lnSpc>
                <a:spcPct val="100000"/>
              </a:lnSpc>
              <a:spcBef>
                <a:spcPts val="0"/>
              </a:spcBef>
              <a:buFont typeface="Wingdings" panose="05000000000000000000" pitchFamily="2" charset="2"/>
              <a:buChar char="Ø"/>
            </a:pPr>
            <a:r>
              <a:rPr lang="en-US" dirty="0"/>
              <a:t>This approach simplifies model deployment and maintenance since the same processing logic applies to both historical and real-time data. </a:t>
            </a:r>
            <a:endParaRPr lang="en-US" dirty="0" smtClean="0"/>
          </a:p>
          <a:p>
            <a:pPr marL="285750" indent="-285750" algn="just">
              <a:lnSpc>
                <a:spcPct val="100000"/>
              </a:lnSpc>
              <a:spcBef>
                <a:spcPts val="0"/>
              </a:spcBef>
              <a:buFont typeface="Wingdings" panose="05000000000000000000" pitchFamily="2" charset="2"/>
              <a:buChar char="Ø"/>
            </a:pPr>
            <a:endParaRPr lang="en-US" dirty="0"/>
          </a:p>
          <a:p>
            <a:pPr marL="285750" indent="-285750" algn="just">
              <a:lnSpc>
                <a:spcPct val="100000"/>
              </a:lnSpc>
              <a:spcBef>
                <a:spcPts val="0"/>
              </a:spcBef>
              <a:buFont typeface="Wingdings" panose="05000000000000000000" pitchFamily="2" charset="2"/>
              <a:buChar char="Ø"/>
            </a:pPr>
            <a:r>
              <a:rPr lang="en-US" dirty="0"/>
              <a:t>Can use Fabric Data Science workloads to build models that process streaming data, enabling continuous learning and real-time adaptation. </a:t>
            </a:r>
            <a:endParaRPr lang="en-US" dirty="0" smtClean="0"/>
          </a:p>
          <a:p>
            <a:pPr marL="285750" indent="-285750" algn="just">
              <a:lnSpc>
                <a:spcPct val="100000"/>
              </a:lnSpc>
              <a:spcBef>
                <a:spcPts val="0"/>
              </a:spcBef>
              <a:buFont typeface="Wingdings" panose="05000000000000000000" pitchFamily="2" charset="2"/>
              <a:buChar char="Ø"/>
            </a:pPr>
            <a:endParaRPr lang="en-US" dirty="0"/>
          </a:p>
          <a:p>
            <a:pPr marL="285750" indent="-285750" algn="just">
              <a:lnSpc>
                <a:spcPct val="100000"/>
              </a:lnSpc>
              <a:spcBef>
                <a:spcPts val="0"/>
              </a:spcBef>
              <a:buFont typeface="Wingdings" panose="05000000000000000000" pitchFamily="2" charset="2"/>
              <a:buChar char="Ø"/>
            </a:pPr>
            <a:r>
              <a:rPr lang="en-US" dirty="0"/>
              <a:t>The architecture supports online learning algorithms that update models incrementally as new data arrives.</a:t>
            </a:r>
          </a:p>
        </p:txBody>
      </p:sp>
    </p:spTree>
    <p:extLst>
      <p:ext uri="{BB962C8B-B14F-4D97-AF65-F5344CB8AC3E}">
        <p14:creationId xmlns:p14="http://schemas.microsoft.com/office/powerpoint/2010/main" val="336652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5C736-48AF-F9D5-AE8B-550E4D7C669A}"/>
              </a:ext>
            </a:extLst>
          </p:cNvPr>
          <p:cNvSpPr>
            <a:spLocks noGrp="1"/>
          </p:cNvSpPr>
          <p:nvPr>
            <p:ph type="title"/>
          </p:nvPr>
        </p:nvSpPr>
        <p:spPr/>
        <p:txBody>
          <a:bodyPr/>
          <a:lstStyle/>
          <a:p>
            <a:r>
              <a:rPr lang="en-US" dirty="0"/>
              <a:t>References:</a:t>
            </a:r>
          </a:p>
        </p:txBody>
      </p:sp>
      <p:sp>
        <p:nvSpPr>
          <p:cNvPr id="3" name="Text Placeholder 2">
            <a:extLst>
              <a:ext uri="{FF2B5EF4-FFF2-40B4-BE49-F238E27FC236}">
                <a16:creationId xmlns:a16="http://schemas.microsoft.com/office/drawing/2014/main" id="{01CF7771-506F-AA5E-D539-3C3CF0998C38}"/>
              </a:ext>
            </a:extLst>
          </p:cNvPr>
          <p:cNvSpPr>
            <a:spLocks noGrp="1"/>
          </p:cNvSpPr>
          <p:nvPr>
            <p:ph type="body" sz="quarter" idx="13"/>
          </p:nvPr>
        </p:nvSpPr>
        <p:spPr>
          <a:xfrm>
            <a:off x="533400" y="1143000"/>
            <a:ext cx="10160000" cy="5029200"/>
          </a:xfrm>
        </p:spPr>
        <p:txBody>
          <a:bodyPr>
            <a:normAutofit/>
          </a:bodyPr>
          <a:lstStyle/>
          <a:p>
            <a:r>
              <a:rPr lang="en-US" dirty="0"/>
              <a:t>Fundamentals of Data Engineering by Joe Reis and Matt Housley</a:t>
            </a:r>
          </a:p>
          <a:p>
            <a:r>
              <a:rPr lang="en-US" dirty="0"/>
              <a:t>The Data Warehouse Toolkit by Ralph Kimball </a:t>
            </a:r>
            <a:endParaRPr lang="en-US" dirty="0">
              <a:hlinkClick r:id="rId2"/>
            </a:endParaRPr>
          </a:p>
          <a:p>
            <a:r>
              <a:rPr lang="en-US" dirty="0">
                <a:hlinkClick r:id="rId2"/>
              </a:rPr>
              <a:t>https://www.mckinsey.com/capabilities/mckinsey-digital/our-insights/tech-forward/revisiting-data-architecture-for-next-gen-data-products</a:t>
            </a:r>
            <a:r>
              <a:rPr lang="en-US" dirty="0"/>
              <a:t> </a:t>
            </a:r>
          </a:p>
          <a:p>
            <a:r>
              <a:rPr lang="en-US" dirty="0">
                <a:hlinkClick r:id="rId3"/>
              </a:rPr>
              <a:t>https://www.researchgate.net/figure/Schematic-drawings-of-centralised-decentralised-and-hybrid-data-pooling-models-A_fig3_269170886</a:t>
            </a:r>
            <a:r>
              <a:rPr lang="en-US" dirty="0"/>
              <a:t> </a:t>
            </a:r>
          </a:p>
          <a:p>
            <a:r>
              <a:rPr lang="en-US" dirty="0">
                <a:hlinkClick r:id="rId4"/>
              </a:rPr>
              <a:t>https://www.linkedin.com/pulse/whats-data-lake-warehouse-house-mesh-right-you-your-rohit-yadav/</a:t>
            </a:r>
            <a:r>
              <a:rPr lang="en-US" dirty="0"/>
              <a:t> </a:t>
            </a:r>
          </a:p>
          <a:p>
            <a:r>
              <a:rPr lang="en-US" dirty="0">
                <a:hlinkClick r:id="rId5"/>
              </a:rPr>
              <a:t>https://www.kai-waehner.de/blog/2021/09/23/real-time-kappa-architecture-mainstream-replacing-batch-lambda/</a:t>
            </a:r>
            <a:r>
              <a:rPr lang="en-US" dirty="0"/>
              <a:t> </a:t>
            </a:r>
          </a:p>
          <a:p>
            <a:r>
              <a:rPr lang="en-US" dirty="0">
                <a:hlinkClick r:id="rId6"/>
              </a:rPr>
              <a:t>https://www.ibm.com/think/topics/big-data</a:t>
            </a:r>
            <a:r>
              <a:rPr lang="en-US" dirty="0"/>
              <a:t> </a:t>
            </a:r>
          </a:p>
          <a:p>
            <a:r>
              <a:rPr lang="en-US" dirty="0">
                <a:hlinkClick r:id="rId7"/>
              </a:rPr>
              <a:t>https://learn.microsoft.com/en-us/azure/architecture/databases/guide/big-data-architectures</a:t>
            </a:r>
            <a:r>
              <a:rPr lang="en-US" dirty="0"/>
              <a:t> </a:t>
            </a:r>
          </a:p>
        </p:txBody>
      </p:sp>
    </p:spTree>
    <p:extLst>
      <p:ext uri="{BB962C8B-B14F-4D97-AF65-F5344CB8AC3E}">
        <p14:creationId xmlns:p14="http://schemas.microsoft.com/office/powerpoint/2010/main" val="161506802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3657600"/>
            <a:ext cx="10515600" cy="904875"/>
          </a:xfrm>
        </p:spPr>
        <p:txBody>
          <a:bodyPr/>
          <a:lstStyle/>
          <a:p>
            <a:r>
              <a:rPr lang="en-US" dirty="0"/>
              <a:t>Thank You!</a:t>
            </a:r>
          </a:p>
        </p:txBody>
      </p:sp>
      <p:sp>
        <p:nvSpPr>
          <p:cNvPr id="3" name="Text Placeholder 2"/>
          <p:cNvSpPr>
            <a:spLocks noGrp="1"/>
          </p:cNvSpPr>
          <p:nvPr>
            <p:ph type="body" idx="1"/>
          </p:nvPr>
        </p:nvSpPr>
        <p:spPr>
          <a:xfrm>
            <a:off x="831850" y="5205413"/>
            <a:ext cx="10515600" cy="1500187"/>
          </a:xfrm>
        </p:spPr>
        <p:txBody>
          <a:bodyPr/>
          <a:lstStyle/>
          <a:p>
            <a:endParaRPr lang="en-US" dirty="0"/>
          </a:p>
        </p:txBody>
      </p:sp>
    </p:spTree>
    <p:extLst>
      <p:ext uri="{BB962C8B-B14F-4D97-AF65-F5344CB8AC3E}">
        <p14:creationId xmlns:p14="http://schemas.microsoft.com/office/powerpoint/2010/main" val="4195798294"/>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12968</TotalTime>
  <Words>2847</Words>
  <Application>Microsoft Office PowerPoint</Application>
  <PresentationFormat>Widescreen</PresentationFormat>
  <Paragraphs>503</Paragraphs>
  <Slides>53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53</vt:i4>
      </vt:variant>
    </vt:vector>
  </HeadingPairs>
  <TitlesOfParts>
    <vt:vector size="60" baseType="lpstr">
      <vt:lpstr>Arial</vt:lpstr>
      <vt:lpstr>Calibri</vt:lpstr>
      <vt:lpstr>Calibri Light</vt:lpstr>
      <vt:lpstr>Helvetica</vt:lpstr>
      <vt:lpstr>Helvetica Light</vt:lpstr>
      <vt:lpstr>Wingdings</vt:lpstr>
      <vt:lpstr>Office Theme</vt:lpstr>
      <vt:lpstr>Data Architectures</vt:lpstr>
      <vt:lpstr>Agenda</vt:lpstr>
      <vt:lpstr>Introduction</vt:lpstr>
      <vt:lpstr>Definitions</vt:lpstr>
      <vt:lpstr>Why ?</vt:lpstr>
      <vt:lpstr>Aspects</vt:lpstr>
      <vt:lpstr>Categorization</vt:lpstr>
      <vt:lpstr>Categorization</vt:lpstr>
      <vt:lpstr>Categorization  – By Centralization</vt:lpstr>
      <vt:lpstr>Centralized Data Architecture</vt:lpstr>
      <vt:lpstr>Decentralized Data Architecture</vt:lpstr>
      <vt:lpstr>Hybrid Data Architecture</vt:lpstr>
      <vt:lpstr>Legend Data Architecture</vt:lpstr>
      <vt:lpstr>Categorization  – By Storage </vt:lpstr>
      <vt:lpstr>PowerPoint Presentation</vt:lpstr>
      <vt:lpstr>Data Warehouse Schema</vt:lpstr>
      <vt:lpstr>Star Schema</vt:lpstr>
      <vt:lpstr>Star Schema - Contd</vt:lpstr>
      <vt:lpstr>Snow Flake Schema</vt:lpstr>
      <vt:lpstr>Snow Flake Schema - contd</vt:lpstr>
      <vt:lpstr>PowerPoint Presentation</vt:lpstr>
      <vt:lpstr>Data Marts</vt:lpstr>
      <vt:lpstr>PowerPoint Presentation</vt:lpstr>
      <vt:lpstr>Data Lake</vt:lpstr>
      <vt:lpstr>PowerPoint Presentation</vt:lpstr>
      <vt:lpstr>Categorization  – By Governance </vt:lpstr>
      <vt:lpstr>DataMesh</vt:lpstr>
      <vt:lpstr>DataMesh</vt:lpstr>
      <vt:lpstr>DataFabric</vt:lpstr>
      <vt:lpstr>Categorization  – By Processing </vt:lpstr>
      <vt:lpstr>Lambda Architecture</vt:lpstr>
      <vt:lpstr>Lambda Architecture</vt:lpstr>
      <vt:lpstr>Kappa Architecture</vt:lpstr>
      <vt:lpstr>Generalized Architecture of  Big Data Systems</vt:lpstr>
      <vt:lpstr>Introduction</vt:lpstr>
      <vt:lpstr>Traditional Data vs Big Data</vt:lpstr>
      <vt:lpstr>5 Vs of Big Data</vt:lpstr>
      <vt:lpstr>Components of Big Data Architecture</vt:lpstr>
      <vt:lpstr>Big Data Architecture</vt:lpstr>
      <vt:lpstr>Components of Big Data Architecture</vt:lpstr>
      <vt:lpstr>Components of Big Data Architecture</vt:lpstr>
      <vt:lpstr>Big Data Architecture Benefits</vt:lpstr>
      <vt:lpstr>Big Data Architecture Challenges</vt:lpstr>
      <vt:lpstr>Lambda &amp; Kappa for  Big Data Systems</vt:lpstr>
      <vt:lpstr>Big Data Processing</vt:lpstr>
      <vt:lpstr>Lambda Architecture for Big Data Processing</vt:lpstr>
      <vt:lpstr>Lambda Architecture for Big Data Processing</vt:lpstr>
      <vt:lpstr>Lambda Architecture for ML Workflows</vt:lpstr>
      <vt:lpstr>Kappa Architecture for Big Data Processing</vt:lpstr>
      <vt:lpstr>Kappa Architecture for Big Data Processing</vt:lpstr>
      <vt:lpstr>Kappa Architecture for ML Workflows</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Admin</cp:lastModifiedBy>
  <cp:revision>590</cp:revision>
  <dcterms:created xsi:type="dcterms:W3CDTF">2018-10-16T06:13:57Z</dcterms:created>
  <dcterms:modified xsi:type="dcterms:W3CDTF">2026-01-21T05:34:35Z</dcterms:modified>
</cp:coreProperties>
</file>