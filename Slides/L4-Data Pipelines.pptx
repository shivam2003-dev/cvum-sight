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81"/>
  </p:notesMasterIdLst>
  <p:sldIdLst>
    <p:sldId id="266" r:id="rId2"/>
    <p:sldId id="284" r:id="rId3"/>
    <p:sldId id="344" r:id="rId4"/>
    <p:sldId id="343" r:id="rId5"/>
    <p:sldId id="345" r:id="rId6"/>
    <p:sldId id="346" r:id="rId7"/>
    <p:sldId id="347" r:id="rId8"/>
    <p:sldId id="348" r:id="rId9"/>
    <p:sldId id="369" r:id="rId10"/>
    <p:sldId id="349" r:id="rId11"/>
    <p:sldId id="350" r:id="rId12"/>
    <p:sldId id="351" r:id="rId13"/>
    <p:sldId id="352" r:id="rId14"/>
    <p:sldId id="353" r:id="rId15"/>
    <p:sldId id="354" r:id="rId16"/>
    <p:sldId id="355" r:id="rId17"/>
    <p:sldId id="370" r:id="rId18"/>
    <p:sldId id="356" r:id="rId19"/>
    <p:sldId id="357" r:id="rId20"/>
    <p:sldId id="358" r:id="rId21"/>
    <p:sldId id="359" r:id="rId22"/>
    <p:sldId id="360" r:id="rId23"/>
    <p:sldId id="365" r:id="rId24"/>
    <p:sldId id="361" r:id="rId25"/>
    <p:sldId id="362" r:id="rId26"/>
    <p:sldId id="363" r:id="rId27"/>
    <p:sldId id="364" r:id="rId28"/>
    <p:sldId id="366" r:id="rId29"/>
    <p:sldId id="368" r:id="rId30"/>
    <p:sldId id="371" r:id="rId31"/>
    <p:sldId id="367" r:id="rId32"/>
    <p:sldId id="372" r:id="rId33"/>
    <p:sldId id="373" r:id="rId34"/>
    <p:sldId id="399" r:id="rId35"/>
    <p:sldId id="398" r:id="rId36"/>
    <p:sldId id="400" r:id="rId37"/>
    <p:sldId id="401" r:id="rId38"/>
    <p:sldId id="402" r:id="rId39"/>
    <p:sldId id="403" r:id="rId40"/>
    <p:sldId id="404" r:id="rId41"/>
    <p:sldId id="407" r:id="rId42"/>
    <p:sldId id="408" r:id="rId43"/>
    <p:sldId id="409" r:id="rId44"/>
    <p:sldId id="410" r:id="rId45"/>
    <p:sldId id="412" r:id="rId46"/>
    <p:sldId id="414" r:id="rId47"/>
    <p:sldId id="415" r:id="rId48"/>
    <p:sldId id="416" r:id="rId49"/>
    <p:sldId id="405" r:id="rId50"/>
    <p:sldId id="374" r:id="rId51"/>
    <p:sldId id="375" r:id="rId52"/>
    <p:sldId id="376" r:id="rId53"/>
    <p:sldId id="382" r:id="rId54"/>
    <p:sldId id="377" r:id="rId55"/>
    <p:sldId id="379" r:id="rId56"/>
    <p:sldId id="380" r:id="rId57"/>
    <p:sldId id="384" r:id="rId58"/>
    <p:sldId id="387" r:id="rId59"/>
    <p:sldId id="383" r:id="rId60"/>
    <p:sldId id="385" r:id="rId61"/>
    <p:sldId id="378" r:id="rId62"/>
    <p:sldId id="388" r:id="rId63"/>
    <p:sldId id="389" r:id="rId64"/>
    <p:sldId id="391" r:id="rId65"/>
    <p:sldId id="392" r:id="rId66"/>
    <p:sldId id="393" r:id="rId67"/>
    <p:sldId id="390" r:id="rId68"/>
    <p:sldId id="394" r:id="rId69"/>
    <p:sldId id="395" r:id="rId70"/>
    <p:sldId id="396" r:id="rId71"/>
    <p:sldId id="397" r:id="rId72"/>
    <p:sldId id="417" r:id="rId73"/>
    <p:sldId id="418" r:id="rId74"/>
    <p:sldId id="419" r:id="rId75"/>
    <p:sldId id="420" r:id="rId76"/>
    <p:sldId id="421" r:id="rId77"/>
    <p:sldId id="406" r:id="rId78"/>
    <p:sldId id="342" r:id="rId79"/>
    <p:sldId id="268"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46AD46"/>
    <a:srgbClr val="1E2F64"/>
    <a:srgbClr val="150860"/>
    <a:srgbClr val="1C1573"/>
    <a:srgbClr val="283E84"/>
    <a:srgbClr val="211D7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0" autoAdjust="0"/>
    <p:restoredTop sz="96305" autoAdjust="0"/>
  </p:normalViewPr>
  <p:slideViewPr>
    <p:cSldViewPr>
      <p:cViewPr varScale="1">
        <p:scale>
          <a:sx n="106" d="100"/>
          <a:sy n="106" d="100"/>
        </p:scale>
        <p:origin x="924" y="114"/>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425C27-E157-422B-9C99-DDBFE1E2AB84}"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n-US"/>
        </a:p>
      </dgm:t>
    </dgm:pt>
    <dgm:pt modelId="{ED0FE9AC-DA86-4171-A78F-AF4EB489A6F1}">
      <dgm:prSet phldrT="[Text]" phldr="0" custT="1"/>
      <dgm:spPr/>
      <dgm:t>
        <a:bodyPr/>
        <a:lstStyle/>
        <a:p>
          <a:r>
            <a:rPr lang="en-US" sz="1800" dirty="0">
              <a:latin typeface="Helvetica" panose="020B0604020202020204" pitchFamily="34" charset="0"/>
              <a:cs typeface="Helvetica" panose="020B0604020202020204" pitchFamily="34" charset="0"/>
            </a:rPr>
            <a:t>Modes </a:t>
          </a:r>
          <a:r>
            <a:rPr lang="en-US" sz="1800">
              <a:latin typeface="Helvetica" panose="020B0604020202020204" pitchFamily="34" charset="0"/>
              <a:cs typeface="Helvetica" panose="020B0604020202020204" pitchFamily="34" charset="0"/>
            </a:rPr>
            <a:t>of DataFlow</a:t>
          </a:r>
          <a:endParaRPr lang="en-US" sz="1800" dirty="0">
            <a:latin typeface="Helvetica" panose="020B0604020202020204" pitchFamily="34" charset="0"/>
            <a:cs typeface="Helvetica" panose="020B0604020202020204" pitchFamily="34" charset="0"/>
          </a:endParaRPr>
        </a:p>
      </dgm:t>
    </dgm:pt>
    <dgm:pt modelId="{C258BB61-3C28-4BE5-B704-06ABE32F30A6}" type="parTrans" cxnId="{868D8442-DFEE-40EB-86DF-906E47081820}">
      <dgm:prSet/>
      <dgm:spPr/>
      <dgm:t>
        <a:bodyPr/>
        <a:lstStyle/>
        <a:p>
          <a:endParaRPr lang="en-US" sz="1800">
            <a:latin typeface="Helvetica" panose="020B0604020202020204" pitchFamily="34" charset="0"/>
            <a:cs typeface="Helvetica" panose="020B0604020202020204" pitchFamily="34" charset="0"/>
          </a:endParaRPr>
        </a:p>
      </dgm:t>
    </dgm:pt>
    <dgm:pt modelId="{0334DB4A-CD1E-4409-9056-E69F32A6A551}" type="sibTrans" cxnId="{868D8442-DFEE-40EB-86DF-906E47081820}">
      <dgm:prSet/>
      <dgm:spPr/>
      <dgm:t>
        <a:bodyPr/>
        <a:lstStyle/>
        <a:p>
          <a:endParaRPr lang="en-US" sz="1800">
            <a:latin typeface="Helvetica" panose="020B0604020202020204" pitchFamily="34" charset="0"/>
            <a:cs typeface="Helvetica" panose="020B0604020202020204" pitchFamily="34" charset="0"/>
          </a:endParaRPr>
        </a:p>
      </dgm:t>
    </dgm:pt>
    <dgm:pt modelId="{BE78ABED-CF14-4177-8902-A21FA98B22B9}">
      <dgm:prSet phldrT="[Text]" phldr="0" custT="1"/>
      <dgm:spPr/>
      <dgm:t>
        <a:bodyPr/>
        <a:lstStyle/>
        <a:p>
          <a:r>
            <a:rPr lang="en-US" sz="1800" dirty="0">
              <a:latin typeface="Helvetica" panose="020B0604020202020204" pitchFamily="34" charset="0"/>
              <a:cs typeface="Helvetica" panose="020B0604020202020204" pitchFamily="34" charset="0"/>
            </a:rPr>
            <a:t>Databases</a:t>
          </a:r>
        </a:p>
      </dgm:t>
    </dgm:pt>
    <dgm:pt modelId="{1543A696-AFA4-4DF1-A585-147BA70092BA}" type="parTrans" cxnId="{447DA92D-8F58-499E-93DF-B906C254BA75}">
      <dgm:prSet/>
      <dgm:spPr/>
      <dgm:t>
        <a:bodyPr/>
        <a:lstStyle/>
        <a:p>
          <a:endParaRPr lang="en-US" sz="1800">
            <a:latin typeface="Helvetica" panose="020B0604020202020204" pitchFamily="34" charset="0"/>
            <a:cs typeface="Helvetica" panose="020B0604020202020204" pitchFamily="34" charset="0"/>
          </a:endParaRPr>
        </a:p>
      </dgm:t>
    </dgm:pt>
    <dgm:pt modelId="{86D84FA2-CE86-4232-A216-5237E08E6DA0}" type="sibTrans" cxnId="{447DA92D-8F58-499E-93DF-B906C254BA75}">
      <dgm:prSet/>
      <dgm:spPr/>
      <dgm:t>
        <a:bodyPr/>
        <a:lstStyle/>
        <a:p>
          <a:endParaRPr lang="en-US" sz="1800">
            <a:latin typeface="Helvetica" panose="020B0604020202020204" pitchFamily="34" charset="0"/>
            <a:cs typeface="Helvetica" panose="020B0604020202020204" pitchFamily="34" charset="0"/>
          </a:endParaRPr>
        </a:p>
      </dgm:t>
    </dgm:pt>
    <dgm:pt modelId="{352B7B5E-165A-4F04-95EB-B864750DE7FD}">
      <dgm:prSet phldrT="[Text]" phldr="0" custT="1"/>
      <dgm:spPr/>
      <dgm:t>
        <a:bodyPr/>
        <a:lstStyle/>
        <a:p>
          <a:r>
            <a:rPr lang="en-US" sz="1800" dirty="0">
              <a:latin typeface="Helvetica" panose="020B0604020202020204" pitchFamily="34" charset="0"/>
              <a:cs typeface="Helvetica" panose="020B0604020202020204" pitchFamily="34" charset="0"/>
            </a:rPr>
            <a:t>Services</a:t>
          </a:r>
        </a:p>
      </dgm:t>
    </dgm:pt>
    <dgm:pt modelId="{3CDA00E2-EE37-4774-B244-F2B1D672D10C}" type="parTrans" cxnId="{D52AC259-EBD8-4B35-9177-DE5FC0B637DB}">
      <dgm:prSet/>
      <dgm:spPr/>
      <dgm:t>
        <a:bodyPr/>
        <a:lstStyle/>
        <a:p>
          <a:endParaRPr lang="en-US" sz="1800">
            <a:latin typeface="Helvetica" panose="020B0604020202020204" pitchFamily="34" charset="0"/>
            <a:cs typeface="Helvetica" panose="020B0604020202020204" pitchFamily="34" charset="0"/>
          </a:endParaRPr>
        </a:p>
      </dgm:t>
    </dgm:pt>
    <dgm:pt modelId="{B9B428DE-D736-4987-83B2-27B75EC13E1F}" type="sibTrans" cxnId="{D52AC259-EBD8-4B35-9177-DE5FC0B637DB}">
      <dgm:prSet/>
      <dgm:spPr/>
      <dgm:t>
        <a:bodyPr/>
        <a:lstStyle/>
        <a:p>
          <a:endParaRPr lang="en-US" sz="1800">
            <a:latin typeface="Helvetica" panose="020B0604020202020204" pitchFamily="34" charset="0"/>
            <a:cs typeface="Helvetica" panose="020B0604020202020204" pitchFamily="34" charset="0"/>
          </a:endParaRPr>
        </a:p>
      </dgm:t>
    </dgm:pt>
    <dgm:pt modelId="{5C3C9FE8-B08A-42A7-A1E2-36826A18359B}">
      <dgm:prSet phldrT="[Text]" phldr="0" custT="1"/>
      <dgm:spPr/>
      <dgm:t>
        <a:bodyPr/>
        <a:lstStyle/>
        <a:p>
          <a:r>
            <a:rPr lang="en-US" sz="1800" dirty="0">
              <a:latin typeface="Helvetica" panose="020B0604020202020204" pitchFamily="34" charset="0"/>
              <a:cs typeface="Helvetica" panose="020B0604020202020204" pitchFamily="34" charset="0"/>
            </a:rPr>
            <a:t>Message Passing</a:t>
          </a:r>
        </a:p>
      </dgm:t>
    </dgm:pt>
    <dgm:pt modelId="{05AED577-3C7A-4E6C-9863-7CC466DEF9D1}" type="parTrans" cxnId="{A965E0C2-17AF-4B55-A8BD-A8360E3CD3C6}">
      <dgm:prSet/>
      <dgm:spPr/>
      <dgm:t>
        <a:bodyPr/>
        <a:lstStyle/>
        <a:p>
          <a:endParaRPr lang="en-US" sz="1800">
            <a:latin typeface="Helvetica" panose="020B0604020202020204" pitchFamily="34" charset="0"/>
            <a:cs typeface="Helvetica" panose="020B0604020202020204" pitchFamily="34" charset="0"/>
          </a:endParaRPr>
        </a:p>
      </dgm:t>
    </dgm:pt>
    <dgm:pt modelId="{FE51F467-402F-4978-A998-BD2C1950D9A1}" type="sibTrans" cxnId="{A965E0C2-17AF-4B55-A8BD-A8360E3CD3C6}">
      <dgm:prSet/>
      <dgm:spPr/>
      <dgm:t>
        <a:bodyPr/>
        <a:lstStyle/>
        <a:p>
          <a:endParaRPr lang="en-US" sz="1800">
            <a:latin typeface="Helvetica" panose="020B0604020202020204" pitchFamily="34" charset="0"/>
            <a:cs typeface="Helvetica" panose="020B0604020202020204" pitchFamily="34" charset="0"/>
          </a:endParaRPr>
        </a:p>
      </dgm:t>
    </dgm:pt>
    <dgm:pt modelId="{7E6105C6-1D3B-4741-9A99-CE864D45E376}" type="pres">
      <dgm:prSet presAssocID="{CE425C27-E157-422B-9C99-DDBFE1E2AB84}" presName="hierChild1" presStyleCnt="0">
        <dgm:presLayoutVars>
          <dgm:orgChart val="1"/>
          <dgm:chPref val="1"/>
          <dgm:dir/>
          <dgm:animOne val="branch"/>
          <dgm:animLvl val="lvl"/>
          <dgm:resizeHandles/>
        </dgm:presLayoutVars>
      </dgm:prSet>
      <dgm:spPr/>
      <dgm:t>
        <a:bodyPr/>
        <a:lstStyle/>
        <a:p>
          <a:endParaRPr lang="en-US"/>
        </a:p>
      </dgm:t>
    </dgm:pt>
    <dgm:pt modelId="{7A7316D9-6FAA-42C7-9CD0-F7FF197A9117}" type="pres">
      <dgm:prSet presAssocID="{ED0FE9AC-DA86-4171-A78F-AF4EB489A6F1}" presName="hierRoot1" presStyleCnt="0">
        <dgm:presLayoutVars>
          <dgm:hierBranch val="init"/>
        </dgm:presLayoutVars>
      </dgm:prSet>
      <dgm:spPr/>
    </dgm:pt>
    <dgm:pt modelId="{FF1BBFED-010F-4344-87B9-15AFA58F709C}" type="pres">
      <dgm:prSet presAssocID="{ED0FE9AC-DA86-4171-A78F-AF4EB489A6F1}" presName="rootComposite1" presStyleCnt="0"/>
      <dgm:spPr/>
    </dgm:pt>
    <dgm:pt modelId="{A57DF41B-4953-421A-A942-A84CF694837B}" type="pres">
      <dgm:prSet presAssocID="{ED0FE9AC-DA86-4171-A78F-AF4EB489A6F1}" presName="rootText1" presStyleLbl="node0" presStyleIdx="0" presStyleCnt="1">
        <dgm:presLayoutVars>
          <dgm:chPref val="3"/>
        </dgm:presLayoutVars>
      </dgm:prSet>
      <dgm:spPr/>
      <dgm:t>
        <a:bodyPr/>
        <a:lstStyle/>
        <a:p>
          <a:endParaRPr lang="en-US"/>
        </a:p>
      </dgm:t>
    </dgm:pt>
    <dgm:pt modelId="{C117A128-110F-4637-8B3C-40C3F78E4F50}" type="pres">
      <dgm:prSet presAssocID="{ED0FE9AC-DA86-4171-A78F-AF4EB489A6F1}" presName="rootConnector1" presStyleLbl="node1" presStyleIdx="0" presStyleCnt="0"/>
      <dgm:spPr/>
      <dgm:t>
        <a:bodyPr/>
        <a:lstStyle/>
        <a:p>
          <a:endParaRPr lang="en-US"/>
        </a:p>
      </dgm:t>
    </dgm:pt>
    <dgm:pt modelId="{13C21BC8-C798-4819-AC93-F325EA3D62F0}" type="pres">
      <dgm:prSet presAssocID="{ED0FE9AC-DA86-4171-A78F-AF4EB489A6F1}" presName="hierChild2" presStyleCnt="0"/>
      <dgm:spPr/>
    </dgm:pt>
    <dgm:pt modelId="{FD3FD53F-E690-4DB4-ACDC-BE93E383F258}" type="pres">
      <dgm:prSet presAssocID="{1543A696-AFA4-4DF1-A585-147BA70092BA}" presName="Name37" presStyleLbl="parChTrans1D2" presStyleIdx="0" presStyleCnt="3"/>
      <dgm:spPr/>
      <dgm:t>
        <a:bodyPr/>
        <a:lstStyle/>
        <a:p>
          <a:endParaRPr lang="en-US"/>
        </a:p>
      </dgm:t>
    </dgm:pt>
    <dgm:pt modelId="{A3F40005-ECC3-47D8-B77B-6DD59F377CFA}" type="pres">
      <dgm:prSet presAssocID="{BE78ABED-CF14-4177-8902-A21FA98B22B9}" presName="hierRoot2" presStyleCnt="0">
        <dgm:presLayoutVars>
          <dgm:hierBranch val="init"/>
        </dgm:presLayoutVars>
      </dgm:prSet>
      <dgm:spPr/>
    </dgm:pt>
    <dgm:pt modelId="{D4723F71-F2B8-4948-B9CF-F17C773C4E97}" type="pres">
      <dgm:prSet presAssocID="{BE78ABED-CF14-4177-8902-A21FA98B22B9}" presName="rootComposite" presStyleCnt="0"/>
      <dgm:spPr/>
    </dgm:pt>
    <dgm:pt modelId="{A8F50B1D-C74B-46E3-A719-29A25571C07E}" type="pres">
      <dgm:prSet presAssocID="{BE78ABED-CF14-4177-8902-A21FA98B22B9}" presName="rootText" presStyleLbl="node2" presStyleIdx="0" presStyleCnt="3">
        <dgm:presLayoutVars>
          <dgm:chPref val="3"/>
        </dgm:presLayoutVars>
      </dgm:prSet>
      <dgm:spPr/>
      <dgm:t>
        <a:bodyPr/>
        <a:lstStyle/>
        <a:p>
          <a:endParaRPr lang="en-US"/>
        </a:p>
      </dgm:t>
    </dgm:pt>
    <dgm:pt modelId="{2814CA22-45D3-45BB-B484-5E02E17B1894}" type="pres">
      <dgm:prSet presAssocID="{BE78ABED-CF14-4177-8902-A21FA98B22B9}" presName="rootConnector" presStyleLbl="node2" presStyleIdx="0" presStyleCnt="3"/>
      <dgm:spPr/>
      <dgm:t>
        <a:bodyPr/>
        <a:lstStyle/>
        <a:p>
          <a:endParaRPr lang="en-US"/>
        </a:p>
      </dgm:t>
    </dgm:pt>
    <dgm:pt modelId="{7D7CF317-2327-452C-A84B-13413CD1646E}" type="pres">
      <dgm:prSet presAssocID="{BE78ABED-CF14-4177-8902-A21FA98B22B9}" presName="hierChild4" presStyleCnt="0"/>
      <dgm:spPr/>
    </dgm:pt>
    <dgm:pt modelId="{DD7DB3DD-BEF6-4FB1-BBE6-8C9C903D2616}" type="pres">
      <dgm:prSet presAssocID="{BE78ABED-CF14-4177-8902-A21FA98B22B9}" presName="hierChild5" presStyleCnt="0"/>
      <dgm:spPr/>
    </dgm:pt>
    <dgm:pt modelId="{B0D5FB49-3804-4EB0-9814-CC55FD66C980}" type="pres">
      <dgm:prSet presAssocID="{3CDA00E2-EE37-4774-B244-F2B1D672D10C}" presName="Name37" presStyleLbl="parChTrans1D2" presStyleIdx="1" presStyleCnt="3"/>
      <dgm:spPr/>
      <dgm:t>
        <a:bodyPr/>
        <a:lstStyle/>
        <a:p>
          <a:endParaRPr lang="en-US"/>
        </a:p>
      </dgm:t>
    </dgm:pt>
    <dgm:pt modelId="{A81F7D15-BD19-4D68-B888-9F573E9FFDAA}" type="pres">
      <dgm:prSet presAssocID="{352B7B5E-165A-4F04-95EB-B864750DE7FD}" presName="hierRoot2" presStyleCnt="0">
        <dgm:presLayoutVars>
          <dgm:hierBranch val="init"/>
        </dgm:presLayoutVars>
      </dgm:prSet>
      <dgm:spPr/>
    </dgm:pt>
    <dgm:pt modelId="{8C4C432B-0A36-45A4-8FCB-91585D027551}" type="pres">
      <dgm:prSet presAssocID="{352B7B5E-165A-4F04-95EB-B864750DE7FD}" presName="rootComposite" presStyleCnt="0"/>
      <dgm:spPr/>
    </dgm:pt>
    <dgm:pt modelId="{4101AB0A-8D92-4E82-A199-62E7F7E88DDF}" type="pres">
      <dgm:prSet presAssocID="{352B7B5E-165A-4F04-95EB-B864750DE7FD}" presName="rootText" presStyleLbl="node2" presStyleIdx="1" presStyleCnt="3">
        <dgm:presLayoutVars>
          <dgm:chPref val="3"/>
        </dgm:presLayoutVars>
      </dgm:prSet>
      <dgm:spPr/>
      <dgm:t>
        <a:bodyPr/>
        <a:lstStyle/>
        <a:p>
          <a:endParaRPr lang="en-US"/>
        </a:p>
      </dgm:t>
    </dgm:pt>
    <dgm:pt modelId="{CFE18657-C216-43A1-A54B-9C9172DB5B7A}" type="pres">
      <dgm:prSet presAssocID="{352B7B5E-165A-4F04-95EB-B864750DE7FD}" presName="rootConnector" presStyleLbl="node2" presStyleIdx="1" presStyleCnt="3"/>
      <dgm:spPr/>
      <dgm:t>
        <a:bodyPr/>
        <a:lstStyle/>
        <a:p>
          <a:endParaRPr lang="en-US"/>
        </a:p>
      </dgm:t>
    </dgm:pt>
    <dgm:pt modelId="{867BC4B7-88B2-410E-BE5A-49A6C1C25696}" type="pres">
      <dgm:prSet presAssocID="{352B7B5E-165A-4F04-95EB-B864750DE7FD}" presName="hierChild4" presStyleCnt="0"/>
      <dgm:spPr/>
    </dgm:pt>
    <dgm:pt modelId="{223CD954-C768-4BE0-A692-C8750C731365}" type="pres">
      <dgm:prSet presAssocID="{352B7B5E-165A-4F04-95EB-B864750DE7FD}" presName="hierChild5" presStyleCnt="0"/>
      <dgm:spPr/>
    </dgm:pt>
    <dgm:pt modelId="{41E2DF1F-2952-4716-9794-C27BF06A0716}" type="pres">
      <dgm:prSet presAssocID="{05AED577-3C7A-4E6C-9863-7CC466DEF9D1}" presName="Name37" presStyleLbl="parChTrans1D2" presStyleIdx="2" presStyleCnt="3"/>
      <dgm:spPr/>
      <dgm:t>
        <a:bodyPr/>
        <a:lstStyle/>
        <a:p>
          <a:endParaRPr lang="en-US"/>
        </a:p>
      </dgm:t>
    </dgm:pt>
    <dgm:pt modelId="{056F1156-7260-4597-BFEE-54B1D4DE2B03}" type="pres">
      <dgm:prSet presAssocID="{5C3C9FE8-B08A-42A7-A1E2-36826A18359B}" presName="hierRoot2" presStyleCnt="0">
        <dgm:presLayoutVars>
          <dgm:hierBranch val="init"/>
        </dgm:presLayoutVars>
      </dgm:prSet>
      <dgm:spPr/>
    </dgm:pt>
    <dgm:pt modelId="{E56E07DD-4061-4A4B-BA18-D9FFDC055B9C}" type="pres">
      <dgm:prSet presAssocID="{5C3C9FE8-B08A-42A7-A1E2-36826A18359B}" presName="rootComposite" presStyleCnt="0"/>
      <dgm:spPr/>
    </dgm:pt>
    <dgm:pt modelId="{1A4666C3-1FD6-4F11-AF41-C71F42F7E0A3}" type="pres">
      <dgm:prSet presAssocID="{5C3C9FE8-B08A-42A7-A1E2-36826A18359B}" presName="rootText" presStyleLbl="node2" presStyleIdx="2" presStyleCnt="3">
        <dgm:presLayoutVars>
          <dgm:chPref val="3"/>
        </dgm:presLayoutVars>
      </dgm:prSet>
      <dgm:spPr/>
      <dgm:t>
        <a:bodyPr/>
        <a:lstStyle/>
        <a:p>
          <a:endParaRPr lang="en-US"/>
        </a:p>
      </dgm:t>
    </dgm:pt>
    <dgm:pt modelId="{A14406F8-CD20-458E-AD5E-425FBC50F7EF}" type="pres">
      <dgm:prSet presAssocID="{5C3C9FE8-B08A-42A7-A1E2-36826A18359B}" presName="rootConnector" presStyleLbl="node2" presStyleIdx="2" presStyleCnt="3"/>
      <dgm:spPr/>
      <dgm:t>
        <a:bodyPr/>
        <a:lstStyle/>
        <a:p>
          <a:endParaRPr lang="en-US"/>
        </a:p>
      </dgm:t>
    </dgm:pt>
    <dgm:pt modelId="{F0A8A9F7-F287-4B0E-A33A-EF6D9DECF222}" type="pres">
      <dgm:prSet presAssocID="{5C3C9FE8-B08A-42A7-A1E2-36826A18359B}" presName="hierChild4" presStyleCnt="0"/>
      <dgm:spPr/>
    </dgm:pt>
    <dgm:pt modelId="{AB702FFD-33EB-45B9-B6D3-355AF24D8415}" type="pres">
      <dgm:prSet presAssocID="{5C3C9FE8-B08A-42A7-A1E2-36826A18359B}" presName="hierChild5" presStyleCnt="0"/>
      <dgm:spPr/>
    </dgm:pt>
    <dgm:pt modelId="{ED41A376-1B08-48F8-9C1F-DA397B0B218A}" type="pres">
      <dgm:prSet presAssocID="{ED0FE9AC-DA86-4171-A78F-AF4EB489A6F1}" presName="hierChild3" presStyleCnt="0"/>
      <dgm:spPr/>
    </dgm:pt>
  </dgm:ptLst>
  <dgm:cxnLst>
    <dgm:cxn modelId="{D01739B5-D840-47EF-83FD-7DE525886EBF}" type="presOf" srcId="{BE78ABED-CF14-4177-8902-A21FA98B22B9}" destId="{2814CA22-45D3-45BB-B484-5E02E17B1894}" srcOrd="1" destOrd="0" presId="urn:microsoft.com/office/officeart/2005/8/layout/orgChart1"/>
    <dgm:cxn modelId="{3BA553EC-69B5-479D-8340-059004B796C3}" type="presOf" srcId="{CE425C27-E157-422B-9C99-DDBFE1E2AB84}" destId="{7E6105C6-1D3B-4741-9A99-CE864D45E376}" srcOrd="0" destOrd="0" presId="urn:microsoft.com/office/officeart/2005/8/layout/orgChart1"/>
    <dgm:cxn modelId="{A965E0C2-17AF-4B55-A8BD-A8360E3CD3C6}" srcId="{ED0FE9AC-DA86-4171-A78F-AF4EB489A6F1}" destId="{5C3C9FE8-B08A-42A7-A1E2-36826A18359B}" srcOrd="2" destOrd="0" parTransId="{05AED577-3C7A-4E6C-9863-7CC466DEF9D1}" sibTransId="{FE51F467-402F-4978-A998-BD2C1950D9A1}"/>
    <dgm:cxn modelId="{447DA92D-8F58-499E-93DF-B906C254BA75}" srcId="{ED0FE9AC-DA86-4171-A78F-AF4EB489A6F1}" destId="{BE78ABED-CF14-4177-8902-A21FA98B22B9}" srcOrd="0" destOrd="0" parTransId="{1543A696-AFA4-4DF1-A585-147BA70092BA}" sibTransId="{86D84FA2-CE86-4232-A216-5237E08E6DA0}"/>
    <dgm:cxn modelId="{D52AC259-EBD8-4B35-9177-DE5FC0B637DB}" srcId="{ED0FE9AC-DA86-4171-A78F-AF4EB489A6F1}" destId="{352B7B5E-165A-4F04-95EB-B864750DE7FD}" srcOrd="1" destOrd="0" parTransId="{3CDA00E2-EE37-4774-B244-F2B1D672D10C}" sibTransId="{B9B428DE-D736-4987-83B2-27B75EC13E1F}"/>
    <dgm:cxn modelId="{2FA28ABF-8F48-4F23-A36E-925D2E6A7C52}" type="presOf" srcId="{5C3C9FE8-B08A-42A7-A1E2-36826A18359B}" destId="{A14406F8-CD20-458E-AD5E-425FBC50F7EF}" srcOrd="1" destOrd="0" presId="urn:microsoft.com/office/officeart/2005/8/layout/orgChart1"/>
    <dgm:cxn modelId="{2005E33D-764D-4378-923B-20E75CA901AC}" type="presOf" srcId="{05AED577-3C7A-4E6C-9863-7CC466DEF9D1}" destId="{41E2DF1F-2952-4716-9794-C27BF06A0716}" srcOrd="0" destOrd="0" presId="urn:microsoft.com/office/officeart/2005/8/layout/orgChart1"/>
    <dgm:cxn modelId="{38E24E94-1D42-4F7F-A515-C71D4DD4CB7A}" type="presOf" srcId="{3CDA00E2-EE37-4774-B244-F2B1D672D10C}" destId="{B0D5FB49-3804-4EB0-9814-CC55FD66C980}" srcOrd="0" destOrd="0" presId="urn:microsoft.com/office/officeart/2005/8/layout/orgChart1"/>
    <dgm:cxn modelId="{DBDC2D7D-FFEC-4353-AB27-F000564A6227}" type="presOf" srcId="{ED0FE9AC-DA86-4171-A78F-AF4EB489A6F1}" destId="{C117A128-110F-4637-8B3C-40C3F78E4F50}" srcOrd="1" destOrd="0" presId="urn:microsoft.com/office/officeart/2005/8/layout/orgChart1"/>
    <dgm:cxn modelId="{868D8442-DFEE-40EB-86DF-906E47081820}" srcId="{CE425C27-E157-422B-9C99-DDBFE1E2AB84}" destId="{ED0FE9AC-DA86-4171-A78F-AF4EB489A6F1}" srcOrd="0" destOrd="0" parTransId="{C258BB61-3C28-4BE5-B704-06ABE32F30A6}" sibTransId="{0334DB4A-CD1E-4409-9056-E69F32A6A551}"/>
    <dgm:cxn modelId="{C2B5F7E7-BF2E-471C-90BF-F461164CC30D}" type="presOf" srcId="{1543A696-AFA4-4DF1-A585-147BA70092BA}" destId="{FD3FD53F-E690-4DB4-ACDC-BE93E383F258}" srcOrd="0" destOrd="0" presId="urn:microsoft.com/office/officeart/2005/8/layout/orgChart1"/>
    <dgm:cxn modelId="{BA923180-6108-43E1-8FE0-CACA30716F14}" type="presOf" srcId="{ED0FE9AC-DA86-4171-A78F-AF4EB489A6F1}" destId="{A57DF41B-4953-421A-A942-A84CF694837B}" srcOrd="0" destOrd="0" presId="urn:microsoft.com/office/officeart/2005/8/layout/orgChart1"/>
    <dgm:cxn modelId="{5DB946B3-AE95-4482-A490-EF6C13256DD7}" type="presOf" srcId="{5C3C9FE8-B08A-42A7-A1E2-36826A18359B}" destId="{1A4666C3-1FD6-4F11-AF41-C71F42F7E0A3}" srcOrd="0" destOrd="0" presId="urn:microsoft.com/office/officeart/2005/8/layout/orgChart1"/>
    <dgm:cxn modelId="{B244CA57-B2E9-4722-A28D-812FA5FB312B}" type="presOf" srcId="{352B7B5E-165A-4F04-95EB-B864750DE7FD}" destId="{CFE18657-C216-43A1-A54B-9C9172DB5B7A}" srcOrd="1" destOrd="0" presId="urn:microsoft.com/office/officeart/2005/8/layout/orgChart1"/>
    <dgm:cxn modelId="{A2CF8CB8-2D62-4327-A494-89D81FF7B01D}" type="presOf" srcId="{BE78ABED-CF14-4177-8902-A21FA98B22B9}" destId="{A8F50B1D-C74B-46E3-A719-29A25571C07E}" srcOrd="0" destOrd="0" presId="urn:microsoft.com/office/officeart/2005/8/layout/orgChart1"/>
    <dgm:cxn modelId="{DFE2E1FC-999B-4EF7-A2B0-18F77EB10071}" type="presOf" srcId="{352B7B5E-165A-4F04-95EB-B864750DE7FD}" destId="{4101AB0A-8D92-4E82-A199-62E7F7E88DDF}" srcOrd="0" destOrd="0" presId="urn:microsoft.com/office/officeart/2005/8/layout/orgChart1"/>
    <dgm:cxn modelId="{A1DA6ECB-B20A-4F07-8ACF-6542E14458A1}" type="presParOf" srcId="{7E6105C6-1D3B-4741-9A99-CE864D45E376}" destId="{7A7316D9-6FAA-42C7-9CD0-F7FF197A9117}" srcOrd="0" destOrd="0" presId="urn:microsoft.com/office/officeart/2005/8/layout/orgChart1"/>
    <dgm:cxn modelId="{1AEA12A0-92D7-49DA-A2E2-782BC7C34D46}" type="presParOf" srcId="{7A7316D9-6FAA-42C7-9CD0-F7FF197A9117}" destId="{FF1BBFED-010F-4344-87B9-15AFA58F709C}" srcOrd="0" destOrd="0" presId="urn:microsoft.com/office/officeart/2005/8/layout/orgChart1"/>
    <dgm:cxn modelId="{320317AA-E5EF-434D-9380-6C3A9C56224B}" type="presParOf" srcId="{FF1BBFED-010F-4344-87B9-15AFA58F709C}" destId="{A57DF41B-4953-421A-A942-A84CF694837B}" srcOrd="0" destOrd="0" presId="urn:microsoft.com/office/officeart/2005/8/layout/orgChart1"/>
    <dgm:cxn modelId="{3E021610-4ED0-430E-91BD-A18B03F6BCDA}" type="presParOf" srcId="{FF1BBFED-010F-4344-87B9-15AFA58F709C}" destId="{C117A128-110F-4637-8B3C-40C3F78E4F50}" srcOrd="1" destOrd="0" presId="urn:microsoft.com/office/officeart/2005/8/layout/orgChart1"/>
    <dgm:cxn modelId="{51FE39CA-64C4-4272-83F9-DECF603BE619}" type="presParOf" srcId="{7A7316D9-6FAA-42C7-9CD0-F7FF197A9117}" destId="{13C21BC8-C798-4819-AC93-F325EA3D62F0}" srcOrd="1" destOrd="0" presId="urn:microsoft.com/office/officeart/2005/8/layout/orgChart1"/>
    <dgm:cxn modelId="{7137964D-646B-49FD-80C6-01259899105F}" type="presParOf" srcId="{13C21BC8-C798-4819-AC93-F325EA3D62F0}" destId="{FD3FD53F-E690-4DB4-ACDC-BE93E383F258}" srcOrd="0" destOrd="0" presId="urn:microsoft.com/office/officeart/2005/8/layout/orgChart1"/>
    <dgm:cxn modelId="{9B1CD89F-7C60-4950-BD12-5B21C1CE56CA}" type="presParOf" srcId="{13C21BC8-C798-4819-AC93-F325EA3D62F0}" destId="{A3F40005-ECC3-47D8-B77B-6DD59F377CFA}" srcOrd="1" destOrd="0" presId="urn:microsoft.com/office/officeart/2005/8/layout/orgChart1"/>
    <dgm:cxn modelId="{4599B814-E690-4940-9A6B-9DD2B24494A1}" type="presParOf" srcId="{A3F40005-ECC3-47D8-B77B-6DD59F377CFA}" destId="{D4723F71-F2B8-4948-B9CF-F17C773C4E97}" srcOrd="0" destOrd="0" presId="urn:microsoft.com/office/officeart/2005/8/layout/orgChart1"/>
    <dgm:cxn modelId="{30B540DA-0182-403E-8E3D-9884568B9DB9}" type="presParOf" srcId="{D4723F71-F2B8-4948-B9CF-F17C773C4E97}" destId="{A8F50B1D-C74B-46E3-A719-29A25571C07E}" srcOrd="0" destOrd="0" presId="urn:microsoft.com/office/officeart/2005/8/layout/orgChart1"/>
    <dgm:cxn modelId="{7B505A9D-0419-47E8-9FB6-D87CE42822F2}" type="presParOf" srcId="{D4723F71-F2B8-4948-B9CF-F17C773C4E97}" destId="{2814CA22-45D3-45BB-B484-5E02E17B1894}" srcOrd="1" destOrd="0" presId="urn:microsoft.com/office/officeart/2005/8/layout/orgChart1"/>
    <dgm:cxn modelId="{197704D2-DDA0-4806-806A-92F00A350CF8}" type="presParOf" srcId="{A3F40005-ECC3-47D8-B77B-6DD59F377CFA}" destId="{7D7CF317-2327-452C-A84B-13413CD1646E}" srcOrd="1" destOrd="0" presId="urn:microsoft.com/office/officeart/2005/8/layout/orgChart1"/>
    <dgm:cxn modelId="{F0DCDFDC-1178-466B-95E5-B195391768A2}" type="presParOf" srcId="{A3F40005-ECC3-47D8-B77B-6DD59F377CFA}" destId="{DD7DB3DD-BEF6-4FB1-BBE6-8C9C903D2616}" srcOrd="2" destOrd="0" presId="urn:microsoft.com/office/officeart/2005/8/layout/orgChart1"/>
    <dgm:cxn modelId="{4DCF5D1F-6CED-4580-9EF3-05F4478EAA9D}" type="presParOf" srcId="{13C21BC8-C798-4819-AC93-F325EA3D62F0}" destId="{B0D5FB49-3804-4EB0-9814-CC55FD66C980}" srcOrd="2" destOrd="0" presId="urn:microsoft.com/office/officeart/2005/8/layout/orgChart1"/>
    <dgm:cxn modelId="{9A4A2CFA-2AF3-4F66-8D30-44D82996159C}" type="presParOf" srcId="{13C21BC8-C798-4819-AC93-F325EA3D62F0}" destId="{A81F7D15-BD19-4D68-B888-9F573E9FFDAA}" srcOrd="3" destOrd="0" presId="urn:microsoft.com/office/officeart/2005/8/layout/orgChart1"/>
    <dgm:cxn modelId="{7300FDDA-B848-4FCC-B1E0-F714CBBEB38D}" type="presParOf" srcId="{A81F7D15-BD19-4D68-B888-9F573E9FFDAA}" destId="{8C4C432B-0A36-45A4-8FCB-91585D027551}" srcOrd="0" destOrd="0" presId="urn:microsoft.com/office/officeart/2005/8/layout/orgChart1"/>
    <dgm:cxn modelId="{846E3FB4-1986-44F7-8F10-550DDFC98174}" type="presParOf" srcId="{8C4C432B-0A36-45A4-8FCB-91585D027551}" destId="{4101AB0A-8D92-4E82-A199-62E7F7E88DDF}" srcOrd="0" destOrd="0" presId="urn:microsoft.com/office/officeart/2005/8/layout/orgChart1"/>
    <dgm:cxn modelId="{5B703D03-978A-4605-85BF-DF1DBF7B130C}" type="presParOf" srcId="{8C4C432B-0A36-45A4-8FCB-91585D027551}" destId="{CFE18657-C216-43A1-A54B-9C9172DB5B7A}" srcOrd="1" destOrd="0" presId="urn:microsoft.com/office/officeart/2005/8/layout/orgChart1"/>
    <dgm:cxn modelId="{E24168D4-ECB1-4908-A8DE-2C74C688EC2F}" type="presParOf" srcId="{A81F7D15-BD19-4D68-B888-9F573E9FFDAA}" destId="{867BC4B7-88B2-410E-BE5A-49A6C1C25696}" srcOrd="1" destOrd="0" presId="urn:microsoft.com/office/officeart/2005/8/layout/orgChart1"/>
    <dgm:cxn modelId="{9AEA27BA-9071-40A0-B910-7C0989DC4443}" type="presParOf" srcId="{A81F7D15-BD19-4D68-B888-9F573E9FFDAA}" destId="{223CD954-C768-4BE0-A692-C8750C731365}" srcOrd="2" destOrd="0" presId="urn:microsoft.com/office/officeart/2005/8/layout/orgChart1"/>
    <dgm:cxn modelId="{6DB20B7B-0AAC-4FE8-ADC2-29CF832C4B20}" type="presParOf" srcId="{13C21BC8-C798-4819-AC93-F325EA3D62F0}" destId="{41E2DF1F-2952-4716-9794-C27BF06A0716}" srcOrd="4" destOrd="0" presId="urn:microsoft.com/office/officeart/2005/8/layout/orgChart1"/>
    <dgm:cxn modelId="{ED82EC86-4B00-4600-80DA-FBB2EA2CA9E8}" type="presParOf" srcId="{13C21BC8-C798-4819-AC93-F325EA3D62F0}" destId="{056F1156-7260-4597-BFEE-54B1D4DE2B03}" srcOrd="5" destOrd="0" presId="urn:microsoft.com/office/officeart/2005/8/layout/orgChart1"/>
    <dgm:cxn modelId="{2CF1FF9F-2F40-4C3B-A9AE-4B0C92FB36FB}" type="presParOf" srcId="{056F1156-7260-4597-BFEE-54B1D4DE2B03}" destId="{E56E07DD-4061-4A4B-BA18-D9FFDC055B9C}" srcOrd="0" destOrd="0" presId="urn:microsoft.com/office/officeart/2005/8/layout/orgChart1"/>
    <dgm:cxn modelId="{DCA32931-8899-4F07-97B1-B7A336549948}" type="presParOf" srcId="{E56E07DD-4061-4A4B-BA18-D9FFDC055B9C}" destId="{1A4666C3-1FD6-4F11-AF41-C71F42F7E0A3}" srcOrd="0" destOrd="0" presId="urn:microsoft.com/office/officeart/2005/8/layout/orgChart1"/>
    <dgm:cxn modelId="{930C9E35-3C87-47DE-A83F-254FCF3A6CD9}" type="presParOf" srcId="{E56E07DD-4061-4A4B-BA18-D9FFDC055B9C}" destId="{A14406F8-CD20-458E-AD5E-425FBC50F7EF}" srcOrd="1" destOrd="0" presId="urn:microsoft.com/office/officeart/2005/8/layout/orgChart1"/>
    <dgm:cxn modelId="{FC11EEA3-F17B-4BF7-9B38-72FD6D1C9809}" type="presParOf" srcId="{056F1156-7260-4597-BFEE-54B1D4DE2B03}" destId="{F0A8A9F7-F287-4B0E-A33A-EF6D9DECF222}" srcOrd="1" destOrd="0" presId="urn:microsoft.com/office/officeart/2005/8/layout/orgChart1"/>
    <dgm:cxn modelId="{57D5A8D7-162F-4BB1-97BC-5BC2FC16CC13}" type="presParOf" srcId="{056F1156-7260-4597-BFEE-54B1D4DE2B03}" destId="{AB702FFD-33EB-45B9-B6D3-355AF24D8415}" srcOrd="2" destOrd="0" presId="urn:microsoft.com/office/officeart/2005/8/layout/orgChart1"/>
    <dgm:cxn modelId="{E0BB6060-6B46-450B-B641-F70456E5CE57}" type="presParOf" srcId="{7A7316D9-6FAA-42C7-9CD0-F7FF197A9117}" destId="{ED41A376-1B08-48F8-9C1F-DA397B0B218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2DF1F-2952-4716-9794-C27BF06A0716}">
      <dsp:nvSpPr>
        <dsp:cNvPr id="0" name=""/>
        <dsp:cNvSpPr/>
      </dsp:nvSpPr>
      <dsp:spPr>
        <a:xfrm>
          <a:off x="4064000" y="1295656"/>
          <a:ext cx="2875309" cy="499020"/>
        </a:xfrm>
        <a:custGeom>
          <a:avLst/>
          <a:gdLst/>
          <a:ahLst/>
          <a:cxnLst/>
          <a:rect l="0" t="0" r="0" b="0"/>
          <a:pathLst>
            <a:path>
              <a:moveTo>
                <a:pt x="0" y="0"/>
              </a:moveTo>
              <a:lnTo>
                <a:pt x="0" y="249510"/>
              </a:lnTo>
              <a:lnTo>
                <a:pt x="2875309" y="249510"/>
              </a:lnTo>
              <a:lnTo>
                <a:pt x="2875309" y="49902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D5FB49-3804-4EB0-9814-CC55FD66C980}">
      <dsp:nvSpPr>
        <dsp:cNvPr id="0" name=""/>
        <dsp:cNvSpPr/>
      </dsp:nvSpPr>
      <dsp:spPr>
        <a:xfrm>
          <a:off x="4018280" y="1295656"/>
          <a:ext cx="91440" cy="499020"/>
        </a:xfrm>
        <a:custGeom>
          <a:avLst/>
          <a:gdLst/>
          <a:ahLst/>
          <a:cxnLst/>
          <a:rect l="0" t="0" r="0" b="0"/>
          <a:pathLst>
            <a:path>
              <a:moveTo>
                <a:pt x="45720" y="0"/>
              </a:moveTo>
              <a:lnTo>
                <a:pt x="45720" y="49902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3FD53F-E690-4DB4-ACDC-BE93E383F258}">
      <dsp:nvSpPr>
        <dsp:cNvPr id="0" name=""/>
        <dsp:cNvSpPr/>
      </dsp:nvSpPr>
      <dsp:spPr>
        <a:xfrm>
          <a:off x="1188690" y="1295656"/>
          <a:ext cx="2875309" cy="499020"/>
        </a:xfrm>
        <a:custGeom>
          <a:avLst/>
          <a:gdLst/>
          <a:ahLst/>
          <a:cxnLst/>
          <a:rect l="0" t="0" r="0" b="0"/>
          <a:pathLst>
            <a:path>
              <a:moveTo>
                <a:pt x="2875309" y="0"/>
              </a:moveTo>
              <a:lnTo>
                <a:pt x="2875309" y="249510"/>
              </a:lnTo>
              <a:lnTo>
                <a:pt x="0" y="249510"/>
              </a:lnTo>
              <a:lnTo>
                <a:pt x="0" y="49902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7DF41B-4953-421A-A942-A84CF694837B}">
      <dsp:nvSpPr>
        <dsp:cNvPr id="0" name=""/>
        <dsp:cNvSpPr/>
      </dsp:nvSpPr>
      <dsp:spPr>
        <a:xfrm>
          <a:off x="2875855" y="107511"/>
          <a:ext cx="2376289" cy="118814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latin typeface="Helvetica" panose="020B0604020202020204" pitchFamily="34" charset="0"/>
              <a:cs typeface="Helvetica" panose="020B0604020202020204" pitchFamily="34" charset="0"/>
            </a:rPr>
            <a:t>Modes </a:t>
          </a:r>
          <a:r>
            <a:rPr lang="en-US" sz="1800" kern="1200">
              <a:latin typeface="Helvetica" panose="020B0604020202020204" pitchFamily="34" charset="0"/>
              <a:cs typeface="Helvetica" panose="020B0604020202020204" pitchFamily="34" charset="0"/>
            </a:rPr>
            <a:t>of DataFlow</a:t>
          </a:r>
          <a:endParaRPr lang="en-US" sz="1800" kern="1200" dirty="0">
            <a:latin typeface="Helvetica" panose="020B0604020202020204" pitchFamily="34" charset="0"/>
            <a:cs typeface="Helvetica" panose="020B0604020202020204" pitchFamily="34" charset="0"/>
          </a:endParaRPr>
        </a:p>
      </dsp:txBody>
      <dsp:txXfrm>
        <a:off x="2875855" y="107511"/>
        <a:ext cx="2376289" cy="1188144"/>
      </dsp:txXfrm>
    </dsp:sp>
    <dsp:sp modelId="{A8F50B1D-C74B-46E3-A719-29A25571C07E}">
      <dsp:nvSpPr>
        <dsp:cNvPr id="0" name=""/>
        <dsp:cNvSpPr/>
      </dsp:nvSpPr>
      <dsp:spPr>
        <a:xfrm>
          <a:off x="545" y="1794676"/>
          <a:ext cx="2376289" cy="118814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latin typeface="Helvetica" panose="020B0604020202020204" pitchFamily="34" charset="0"/>
              <a:cs typeface="Helvetica" panose="020B0604020202020204" pitchFamily="34" charset="0"/>
            </a:rPr>
            <a:t>Databases</a:t>
          </a:r>
        </a:p>
      </dsp:txBody>
      <dsp:txXfrm>
        <a:off x="545" y="1794676"/>
        <a:ext cx="2376289" cy="1188144"/>
      </dsp:txXfrm>
    </dsp:sp>
    <dsp:sp modelId="{4101AB0A-8D92-4E82-A199-62E7F7E88DDF}">
      <dsp:nvSpPr>
        <dsp:cNvPr id="0" name=""/>
        <dsp:cNvSpPr/>
      </dsp:nvSpPr>
      <dsp:spPr>
        <a:xfrm>
          <a:off x="2875855" y="1794676"/>
          <a:ext cx="2376289" cy="118814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latin typeface="Helvetica" panose="020B0604020202020204" pitchFamily="34" charset="0"/>
              <a:cs typeface="Helvetica" panose="020B0604020202020204" pitchFamily="34" charset="0"/>
            </a:rPr>
            <a:t>Services</a:t>
          </a:r>
        </a:p>
      </dsp:txBody>
      <dsp:txXfrm>
        <a:off x="2875855" y="1794676"/>
        <a:ext cx="2376289" cy="1188144"/>
      </dsp:txXfrm>
    </dsp:sp>
    <dsp:sp modelId="{1A4666C3-1FD6-4F11-AF41-C71F42F7E0A3}">
      <dsp:nvSpPr>
        <dsp:cNvPr id="0" name=""/>
        <dsp:cNvSpPr/>
      </dsp:nvSpPr>
      <dsp:spPr>
        <a:xfrm>
          <a:off x="5751165" y="1794676"/>
          <a:ext cx="2376289" cy="118814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latin typeface="Helvetica" panose="020B0604020202020204" pitchFamily="34" charset="0"/>
              <a:cs typeface="Helvetica" panose="020B0604020202020204" pitchFamily="34" charset="0"/>
            </a:rPr>
            <a:t>Message Passing</a:t>
          </a:r>
        </a:p>
      </dsp:txBody>
      <dsp:txXfrm>
        <a:off x="5751165" y="1794676"/>
        <a:ext cx="2376289" cy="118814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1DED4-035E-4548-AB9E-F9B1FE638F58}" type="slidenum">
              <a:rPr lang="en-US" smtClean="0"/>
              <a:t>61</a:t>
            </a:fld>
            <a:endParaRPr lang="en-US"/>
          </a:p>
        </p:txBody>
      </p:sp>
    </p:spTree>
    <p:extLst>
      <p:ext uri="{BB962C8B-B14F-4D97-AF65-F5344CB8AC3E}">
        <p14:creationId xmlns:p14="http://schemas.microsoft.com/office/powerpoint/2010/main" val="17613809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mausam.imd.gov.in/event/evolution.pdf"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existek.com/blog/hospital-managment-system/" TargetMode="Externa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altexsoft.com/blog/rest-api-design/" TargetMode="External"/><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www.infoworld.com/article/2158174/what-is-service-oriented-architecture.html" TargetMode="Externa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www.ibm.com/think/topics/soa-vs-microservices" TargetMode="External"/><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blog.bytebytego.com/p/a-deep-dive-into-http-from-http-1" TargetMode="External"/><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altexsoft.com/blog/rest-api-design/" TargetMode="External"/><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www.researchgate.net/figure/SOAP-protocol-SOAP-is-the-master-leader-in-communications-Its-main-purpose-is-to-send_fig1_327054573" TargetMode="External"/><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pubs.opengroup.org/onlinepubs/9629399/chap6.htm" TargetMode="External"/><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s://dev.to/apoorvtyagi/introduction-to-asynchronous-processing-and-message-queues-27od" TargetMode="External"/><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hyperlink" Target="https://neptune.ai/blog/modern-data-stack" TargetMode="Externa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hyperlink" Target="https://neptune.ai/blog/modern-data-stack" TargetMode="Externa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www.ibm.com/think/topics/automation" TargetMode="External"/><Relationship Id="rId2" Type="http://schemas.openxmlformats.org/officeDocument/2006/relationships/hyperlink" Target="https://www.ibm.com/think/topics/cloud-computing" TargetMode="External"/><Relationship Id="rId1" Type="http://schemas.openxmlformats.org/officeDocument/2006/relationships/slideLayout" Target="../slideLayouts/slideLayout3.xml"/><Relationship Id="rId6" Type="http://schemas.openxmlformats.org/officeDocument/2006/relationships/hyperlink" Target="https://www.ibm.com/think/topics/workflow" TargetMode="External"/><Relationship Id="rId5" Type="http://schemas.openxmlformats.org/officeDocument/2006/relationships/hyperlink" Target="https://www.ibm.com/think/topics/artificial-intelligence" TargetMode="External"/><Relationship Id="rId4" Type="http://schemas.openxmlformats.org/officeDocument/2006/relationships/hyperlink" Target="https://www.ibm.com/think/topics/self-service-analytics" TargetMode="External"/></Relationships>
</file>

<file path=ppt/slides/_rels/slide38.xml.rels><?xml version="1.0" encoding="UTF-8" standalone="yes"?>
<Relationships xmlns="http://schemas.openxmlformats.org/package/2006/relationships"><Relationship Id="rId2" Type="http://schemas.openxmlformats.org/officeDocument/2006/relationships/hyperlink" Target="https://www.ibm.com/think/topics/monolithic-architecture" TargetMode="Externa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hyperlink" Target="https://cloud.google.com/bigquery/" TargetMode="External"/><Relationship Id="rId13" Type="http://schemas.openxmlformats.org/officeDocument/2006/relationships/hyperlink" Target="https://cloud.google.com/storage/" TargetMode="External"/><Relationship Id="rId18" Type="http://schemas.openxmlformats.org/officeDocument/2006/relationships/hyperlink" Target="https://www.starburst.io/" TargetMode="External"/><Relationship Id="rId26" Type="http://schemas.openxmlformats.org/officeDocument/2006/relationships/hyperlink" Target="https://redash.io/" TargetMode="External"/><Relationship Id="rId3" Type="http://schemas.openxmlformats.org/officeDocument/2006/relationships/hyperlink" Target="https://hevodata.com/" TargetMode="External"/><Relationship Id="rId21" Type="http://schemas.openxmlformats.org/officeDocument/2006/relationships/hyperlink" Target="https://www.matillion.com/" TargetMode="External"/><Relationship Id="rId7" Type="http://schemas.openxmlformats.org/officeDocument/2006/relationships/hyperlink" Target="https://airflow.apache.org/" TargetMode="External"/><Relationship Id="rId12" Type="http://schemas.openxmlformats.org/officeDocument/2006/relationships/hyperlink" Target="https://docs.microsoft.com/en-us/azure/storage/blobs/data-lake-storage-introduction" TargetMode="External"/><Relationship Id="rId17" Type="http://schemas.openxmlformats.org/officeDocument/2006/relationships/hyperlink" Target="https://prestodb.io/" TargetMode="External"/><Relationship Id="rId25" Type="http://schemas.openxmlformats.org/officeDocument/2006/relationships/hyperlink" Target="https://looker.com/" TargetMode="External"/><Relationship Id="rId2" Type="http://schemas.openxmlformats.org/officeDocument/2006/relationships/hyperlink" Target="https://fivetran.com/" TargetMode="External"/><Relationship Id="rId16" Type="http://schemas.openxmlformats.org/officeDocument/2006/relationships/hyperlink" Target="https://aws.amazon.com/athena/" TargetMode="External"/><Relationship Id="rId20" Type="http://schemas.openxmlformats.org/officeDocument/2006/relationships/hyperlink" Target="https://www.getdbt.com/" TargetMode="External"/><Relationship Id="rId29" Type="http://schemas.openxmlformats.org/officeDocument/2006/relationships/hyperlink" Target="https://superset.apache.org/" TargetMode="External"/><Relationship Id="rId1" Type="http://schemas.openxmlformats.org/officeDocument/2006/relationships/slideLayout" Target="../slideLayouts/slideLayout3.xml"/><Relationship Id="rId6" Type="http://schemas.openxmlformats.org/officeDocument/2006/relationships/hyperlink" Target="https://streamsets.com/" TargetMode="External"/><Relationship Id="rId11" Type="http://schemas.openxmlformats.org/officeDocument/2006/relationships/hyperlink" Target="https://aws.amazon.com/s3/" TargetMode="External"/><Relationship Id="rId24" Type="http://schemas.openxmlformats.org/officeDocument/2006/relationships/hyperlink" Target="https://www.iso.org/standard/63555.html" TargetMode="External"/><Relationship Id="rId5" Type="http://schemas.openxmlformats.org/officeDocument/2006/relationships/hyperlink" Target="https://www.singer.io/" TargetMode="External"/><Relationship Id="rId15" Type="http://schemas.openxmlformats.org/officeDocument/2006/relationships/hyperlink" Target="https://spark.apache.org/" TargetMode="External"/><Relationship Id="rId23" Type="http://schemas.openxmlformats.org/officeDocument/2006/relationships/hyperlink" Target="https://www.r-project.org/" TargetMode="External"/><Relationship Id="rId28" Type="http://schemas.openxmlformats.org/officeDocument/2006/relationships/hyperlink" Target="https://www.sisense.com/" TargetMode="External"/><Relationship Id="rId10" Type="http://schemas.openxmlformats.org/officeDocument/2006/relationships/hyperlink" Target="https://www.snowflake.com/" TargetMode="External"/><Relationship Id="rId19" Type="http://schemas.openxmlformats.org/officeDocument/2006/relationships/hyperlink" Target="https://www.dremio.com/" TargetMode="External"/><Relationship Id="rId4" Type="http://schemas.openxmlformats.org/officeDocument/2006/relationships/hyperlink" Target="https://www.stitchdata.com/" TargetMode="External"/><Relationship Id="rId9" Type="http://schemas.openxmlformats.org/officeDocument/2006/relationships/hyperlink" Target="https://aws.amazon.com/redshift/" TargetMode="External"/><Relationship Id="rId14" Type="http://schemas.openxmlformats.org/officeDocument/2006/relationships/hyperlink" Target="https://databricks.com/" TargetMode="External"/><Relationship Id="rId22" Type="http://schemas.openxmlformats.org/officeDocument/2006/relationships/hyperlink" Target="https://www.python.org/" TargetMode="External"/><Relationship Id="rId27" Type="http://schemas.openxmlformats.org/officeDocument/2006/relationships/hyperlink" Target="https://www.sigmacomputing.com/" TargetMode="External"/><Relationship Id="rId30" Type="http://schemas.openxmlformats.org/officeDocument/2006/relationships/hyperlink" Target="https://www.tableau.com/" TargetMode="External"/></Relationships>
</file>

<file path=ppt/slides/_rels/slide47.xml.rels><?xml version="1.0" encoding="UTF-8" standalone="yes"?>
<Relationships xmlns="http://schemas.openxmlformats.org/package/2006/relationships"><Relationship Id="rId8" Type="http://schemas.openxmlformats.org/officeDocument/2006/relationships/hyperlink" Target="https://eng.uber.com/databook/" TargetMode="External"/><Relationship Id="rId3" Type="http://schemas.openxmlformats.org/officeDocument/2006/relationships/hyperlink" Target="https://atlas.apache.org/" TargetMode="External"/><Relationship Id="rId7" Type="http://schemas.openxmlformats.org/officeDocument/2006/relationships/hyperlink" Target="https://engineering.fb.com/2020/10/09/data-infrastructure/nemo/" TargetMode="External"/><Relationship Id="rId12" Type="http://schemas.openxmlformats.org/officeDocument/2006/relationships/hyperlink" Target="https://ranger.apache.org/" TargetMode="External"/><Relationship Id="rId2" Type="http://schemas.openxmlformats.org/officeDocument/2006/relationships/hyperlink" Target="https://atlan.com/" TargetMode="External"/><Relationship Id="rId1" Type="http://schemas.openxmlformats.org/officeDocument/2006/relationships/slideLayout" Target="../slideLayouts/slideLayout3.xml"/><Relationship Id="rId6" Type="http://schemas.openxmlformats.org/officeDocument/2006/relationships/hyperlink" Target="https://medium.com/airbnb-engineering/democratizing-data-at-airbnb-852d76c51770" TargetMode="External"/><Relationship Id="rId11" Type="http://schemas.openxmlformats.org/officeDocument/2006/relationships/hyperlink" Target="https://privacera.com/" TargetMode="External"/><Relationship Id="rId5" Type="http://schemas.openxmlformats.org/officeDocument/2006/relationships/hyperlink" Target="https://eng.lyft.com/amundsen-lyfts-data-discovery-metadata-engine-62d27254fbb9" TargetMode="External"/><Relationship Id="rId10" Type="http://schemas.openxmlformats.org/officeDocument/2006/relationships/hyperlink" Target="https://www.okera.com/" TargetMode="External"/><Relationship Id="rId4" Type="http://schemas.openxmlformats.org/officeDocument/2006/relationships/hyperlink" Target="https://github.com/linkedin/datahub" TargetMode="External"/><Relationship Id="rId9" Type="http://schemas.openxmlformats.org/officeDocument/2006/relationships/hyperlink" Target="https://www.immuta.com/" TargetMode="External"/></Relationships>
</file>

<file path=ppt/slides/_rels/slide48.xml.rels><?xml version="1.0" encoding="UTF-8" standalone="yes"?>
<Relationships xmlns="http://schemas.openxmlformats.org/package/2006/relationships"><Relationship Id="rId8" Type="http://schemas.openxmlformats.org/officeDocument/2006/relationships/hyperlink" Target="https://www.datarobot.com/" TargetMode="External"/><Relationship Id="rId13" Type="http://schemas.openxmlformats.org/officeDocument/2006/relationships/hyperlink" Target="https://atlan.com/" TargetMode="External"/><Relationship Id="rId3" Type="http://schemas.openxmlformats.org/officeDocument/2006/relationships/hyperlink" Target="https://kafka.apache.org/" TargetMode="External"/><Relationship Id="rId7" Type="http://schemas.openxmlformats.org/officeDocument/2006/relationships/hyperlink" Target="https://www.dataiku.com/" TargetMode="External"/><Relationship Id="rId12" Type="http://schemas.openxmlformats.org/officeDocument/2006/relationships/hyperlink" Target="https://snowplowanalytics.com/" TargetMode="External"/><Relationship Id="rId2" Type="http://schemas.openxmlformats.org/officeDocument/2006/relationships/hyperlink" Target="https://www.confluent.io/" TargetMode="External"/><Relationship Id="rId1" Type="http://schemas.openxmlformats.org/officeDocument/2006/relationships/slideLayout" Target="../slideLayouts/slideLayout3.xml"/><Relationship Id="rId6" Type="http://schemas.openxmlformats.org/officeDocument/2006/relationships/hyperlink" Target="https://jupyter.org/" TargetMode="External"/><Relationship Id="rId11" Type="http://schemas.openxmlformats.org/officeDocument/2006/relationships/hyperlink" Target="https://segment.com/" TargetMode="External"/><Relationship Id="rId5" Type="http://schemas.openxmlformats.org/officeDocument/2006/relationships/hyperlink" Target="https://imply.io/" TargetMode="External"/><Relationship Id="rId15" Type="http://schemas.openxmlformats.org/officeDocument/2006/relationships/hyperlink" Target="https://greatexpectations.io/" TargetMode="External"/><Relationship Id="rId10" Type="http://schemas.openxmlformats.org/officeDocument/2006/relationships/hyperlink" Target="https://aws.amazon.com/sagemaker/" TargetMode="External"/><Relationship Id="rId4" Type="http://schemas.openxmlformats.org/officeDocument/2006/relationships/hyperlink" Target="https://druid.apache.org/" TargetMode="External"/><Relationship Id="rId9" Type="http://schemas.openxmlformats.org/officeDocument/2006/relationships/hyperlink" Target="https://www.dominodatalab.com/" TargetMode="External"/><Relationship Id="rId14" Type="http://schemas.openxmlformats.org/officeDocument/2006/relationships/hyperlink" Target="https://github.com/awslabs/deequ"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www.ibm.com/think/topics/user-experience" TargetMode="External"/><Relationship Id="rId2" Type="http://schemas.openxmlformats.org/officeDocument/2006/relationships/hyperlink" Target="https://www.ibm.com/think/topics/ai-personalization" TargetMode="External"/><Relationship Id="rId1" Type="http://schemas.openxmlformats.org/officeDocument/2006/relationships/slideLayout" Target="../slideLayouts/slideLayout3.xml"/><Relationship Id="rId6" Type="http://schemas.openxmlformats.org/officeDocument/2006/relationships/hyperlink" Target="https://www.ibm.com/think/topics/content-delivery-networks" TargetMode="External"/><Relationship Id="rId5" Type="http://schemas.openxmlformats.org/officeDocument/2006/relationships/hyperlink" Target="https://www.ibm.com/think/topics/recommendation-engine" TargetMode="External"/><Relationship Id="rId4" Type="http://schemas.openxmlformats.org/officeDocument/2006/relationships/hyperlink" Target="https://www.ibm.com/think/topics/saa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hyperlink" Target="https://www.ibm.com/think/topics/data-breach" TargetMode="External"/><Relationship Id="rId2" Type="http://schemas.openxmlformats.org/officeDocument/2006/relationships/hyperlink" Target="https://www.ibm.com/think/topics/demand-planning" TargetMode="External"/><Relationship Id="rId1" Type="http://schemas.openxmlformats.org/officeDocument/2006/relationships/slideLayout" Target="../slideLayouts/slideLayout3.xml"/><Relationship Id="rId4" Type="http://schemas.openxmlformats.org/officeDocument/2006/relationships/hyperlink" Target="https://www.ibm.com/think/topics/api" TargetMode="External"/></Relationships>
</file>

<file path=ppt/slides/_rels/slide78.xml.rels><?xml version="1.0" encoding="UTF-8" standalone="yes"?>
<Relationships xmlns="http://schemas.openxmlformats.org/package/2006/relationships"><Relationship Id="rId3" Type="http://schemas.openxmlformats.org/officeDocument/2006/relationships/hyperlink" Target="https://medium.com/@andymadson/the-evolution-of-data-pipelines-from-etl-to-elt-and-beyond-2e04deac7062" TargetMode="External"/><Relationship Id="rId7" Type="http://schemas.openxmlformats.org/officeDocument/2006/relationships/hyperlink" Target="https://www.ibm.com/think/topics/modern-data-stack" TargetMode="External"/><Relationship Id="rId2" Type="http://schemas.openxmlformats.org/officeDocument/2006/relationships/hyperlink" Target="https://www.ibm.com/think/topics/data-pipeline" TargetMode="External"/><Relationship Id="rId1" Type="http://schemas.openxmlformats.org/officeDocument/2006/relationships/slideLayout" Target="../slideLayouts/slideLayout3.xml"/><Relationship Id="rId6" Type="http://schemas.openxmlformats.org/officeDocument/2006/relationships/hyperlink" Target="https://underthehood.meltwater.com/blog/2019/07/12/micro-pipelines-analyzing-big-data-with-tiny-apps/" TargetMode="External"/><Relationship Id="rId5" Type="http://schemas.openxmlformats.org/officeDocument/2006/relationships/hyperlink" Target="https://www.altexsoft.com/blog/data-pipeline-components-and-types/" TargetMode="External"/><Relationship Id="rId4" Type="http://schemas.openxmlformats.org/officeDocument/2006/relationships/hyperlink" Target="https://www.infoworld.com/article/2158174/what-is-service-oriented-architecture.html"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973663" y="2532184"/>
            <a:ext cx="8245231" cy="1793631"/>
          </a:xfrm>
        </p:spPr>
        <p:txBody>
          <a:bodyPr/>
          <a:lstStyle/>
          <a:p>
            <a:r>
              <a:rPr lang="en-US" dirty="0"/>
              <a:t>Data Pipelines</a:t>
            </a:r>
          </a:p>
        </p:txBody>
      </p:sp>
      <p:sp>
        <p:nvSpPr>
          <p:cNvPr id="6" name="Subtitle 5"/>
          <p:cNvSpPr>
            <a:spLocks noGrp="1"/>
          </p:cNvSpPr>
          <p:nvPr>
            <p:ph type="subTitle" idx="1"/>
          </p:nvPr>
        </p:nvSpPr>
        <p:spPr/>
        <p:txBody>
          <a:bodyPr/>
          <a:lstStyle/>
          <a:p>
            <a:r>
              <a:rPr lang="en-US" sz="1800" dirty="0" smtClean="0">
                <a:solidFill>
                  <a:srgbClr val="211D71"/>
                </a:solidFill>
              </a:rPr>
              <a:t>Sunil </a:t>
            </a:r>
            <a:r>
              <a:rPr lang="en-US" sz="1800" dirty="0" err="1" smtClean="0">
                <a:solidFill>
                  <a:srgbClr val="211D71"/>
                </a:solidFill>
              </a:rPr>
              <a:t>Bhutada</a:t>
            </a:r>
            <a:endParaRPr lang="en-US" sz="1800" dirty="0">
              <a:solidFill>
                <a:srgbClr val="211D71"/>
              </a:solidFill>
            </a:endParaRPr>
          </a:p>
        </p:txBody>
      </p:sp>
    </p:spTree>
    <p:extLst>
      <p:ext uri="{BB962C8B-B14F-4D97-AF65-F5344CB8AC3E}">
        <p14:creationId xmlns:p14="http://schemas.microsoft.com/office/powerpoint/2010/main" val="3797254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p>
        </p:txBody>
      </p:sp>
      <p:sp>
        <p:nvSpPr>
          <p:cNvPr id="3" name="Text Placeholder 2"/>
          <p:cNvSpPr>
            <a:spLocks noGrp="1"/>
          </p:cNvSpPr>
          <p:nvPr>
            <p:ph type="body" sz="quarter" idx="13"/>
          </p:nvPr>
        </p:nvSpPr>
        <p:spPr>
          <a:xfrm>
            <a:off x="457200" y="1352550"/>
            <a:ext cx="6553200" cy="4152900"/>
          </a:xfrm>
        </p:spPr>
        <p:txBody>
          <a:bodyPr>
            <a:normAutofit fontScale="92500" lnSpcReduction="20000"/>
          </a:bodyPr>
          <a:lstStyle/>
          <a:p>
            <a:pPr marL="361950" indent="-361950" algn="just">
              <a:buFont typeface="Wingdings" panose="05000000000000000000" pitchFamily="2" charset="2"/>
              <a:buChar char="Ø"/>
            </a:pPr>
            <a:r>
              <a:rPr lang="en-US" dirty="0" smtClean="0"/>
              <a:t>Introduction</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dirty="0"/>
              <a:t>Modes of Data </a:t>
            </a:r>
            <a:r>
              <a:rPr lang="en-US" dirty="0" smtClean="0"/>
              <a:t>Flow</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dirty="0"/>
              <a:t>Modern Data </a:t>
            </a:r>
            <a:r>
              <a:rPr lang="en-US" dirty="0" smtClean="0"/>
              <a:t>Stack</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dirty="0"/>
              <a:t>Data </a:t>
            </a:r>
            <a:r>
              <a:rPr lang="en-US" dirty="0" smtClean="0"/>
              <a:t>Pipelines</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dirty="0"/>
              <a:t>Data Pipeline </a:t>
            </a:r>
            <a:r>
              <a:rPr lang="en-US" dirty="0" smtClean="0"/>
              <a:t>Architecture</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dirty="0"/>
              <a:t>Data Pipeline </a:t>
            </a:r>
            <a:r>
              <a:rPr lang="en-US" dirty="0" smtClean="0"/>
              <a:t>Implementation</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dirty="0"/>
              <a:t>Data Pipeline - Tools / </a:t>
            </a:r>
            <a:r>
              <a:rPr lang="en-US" dirty="0" smtClean="0"/>
              <a:t>Platforms</a:t>
            </a:r>
            <a:endParaRPr lang="en-US" dirty="0"/>
          </a:p>
        </p:txBody>
      </p:sp>
    </p:spTree>
    <p:extLst>
      <p:ext uri="{BB962C8B-B14F-4D97-AF65-F5344CB8AC3E}">
        <p14:creationId xmlns:p14="http://schemas.microsoft.com/office/powerpoint/2010/main" val="18474810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F77CC-7EF2-5670-78EA-310BDD27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66A91-0CE3-B19D-BD45-6B5C3AF5725C}"/>
              </a:ext>
            </a:extLst>
          </p:cNvPr>
          <p:cNvSpPr>
            <a:spLocks noGrp="1"/>
          </p:cNvSpPr>
          <p:nvPr>
            <p:ph type="title"/>
          </p:nvPr>
        </p:nvSpPr>
        <p:spPr>
          <a:xfrm>
            <a:off x="831850" y="1709738"/>
            <a:ext cx="10515600" cy="2852737"/>
          </a:xfrm>
        </p:spPr>
        <p:txBody>
          <a:bodyPr anchor="b">
            <a:normAutofit/>
          </a:bodyPr>
          <a:lstStyle/>
          <a:p>
            <a:r>
              <a:rPr lang="en-US" dirty="0"/>
              <a:t>Introduction</a:t>
            </a:r>
          </a:p>
        </p:txBody>
      </p:sp>
    </p:spTree>
    <p:extLst>
      <p:ext uri="{BB962C8B-B14F-4D97-AF65-F5344CB8AC3E}">
        <p14:creationId xmlns:p14="http://schemas.microsoft.com/office/powerpoint/2010/main" val="10407770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D336A-C92D-2711-DD05-2DDDD9619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77097-2777-40E0-5035-C1BE0654A21E}"/>
              </a:ext>
            </a:extLst>
          </p:cNvPr>
          <p:cNvSpPr>
            <a:spLocks noGrp="1"/>
          </p:cNvSpPr>
          <p:nvPr>
            <p:ph type="title"/>
          </p:nvPr>
        </p:nvSpPr>
        <p:spPr/>
        <p:txBody>
          <a:bodyPr/>
          <a:lstStyle/>
          <a:p>
            <a:r>
              <a:rPr lang="en-US" dirty="0"/>
              <a:t>Have you seen this?</a:t>
            </a:r>
          </a:p>
        </p:txBody>
      </p:sp>
      <p:pic>
        <p:nvPicPr>
          <p:cNvPr id="7" name="Picture 6">
            <a:extLst>
              <a:ext uri="{FF2B5EF4-FFF2-40B4-BE49-F238E27FC236}">
                <a16:creationId xmlns:a16="http://schemas.microsoft.com/office/drawing/2014/main" id="{73708668-8081-A1F7-A51A-E9CDC10F7D5B}"/>
              </a:ext>
            </a:extLst>
          </p:cNvPr>
          <p:cNvPicPr>
            <a:picLocks noChangeAspect="1"/>
          </p:cNvPicPr>
          <p:nvPr/>
        </p:nvPicPr>
        <p:blipFill>
          <a:blip r:embed="rId2"/>
          <a:stretch>
            <a:fillRect/>
          </a:stretch>
        </p:blipFill>
        <p:spPr>
          <a:xfrm>
            <a:off x="228600" y="947345"/>
            <a:ext cx="11317941" cy="4978541"/>
          </a:xfrm>
          <a:prstGeom prst="rect">
            <a:avLst/>
          </a:prstGeom>
        </p:spPr>
      </p:pic>
    </p:spTree>
    <p:extLst>
      <p:ext uri="{BB962C8B-B14F-4D97-AF65-F5344CB8AC3E}">
        <p14:creationId xmlns:p14="http://schemas.microsoft.com/office/powerpoint/2010/main" val="219441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E0796-8F2A-7718-6187-38EB8D8553AC}"/>
              </a:ext>
            </a:extLst>
          </p:cNvPr>
          <p:cNvSpPr>
            <a:spLocks noGrp="1"/>
          </p:cNvSpPr>
          <p:nvPr>
            <p:ph type="title"/>
          </p:nvPr>
        </p:nvSpPr>
        <p:spPr/>
        <p:txBody>
          <a:bodyPr/>
          <a:lstStyle/>
          <a:p>
            <a:r>
              <a:rPr lang="en-US" dirty="0"/>
              <a:t>IMD source systems </a:t>
            </a:r>
          </a:p>
        </p:txBody>
      </p:sp>
      <p:sp>
        <p:nvSpPr>
          <p:cNvPr id="5" name="TextBox 4">
            <a:extLst>
              <a:ext uri="{FF2B5EF4-FFF2-40B4-BE49-F238E27FC236}">
                <a16:creationId xmlns:a16="http://schemas.microsoft.com/office/drawing/2014/main" id="{3CA5AF4A-6CDB-5868-797C-BD6D382A9AB4}"/>
              </a:ext>
            </a:extLst>
          </p:cNvPr>
          <p:cNvSpPr txBox="1"/>
          <p:nvPr/>
        </p:nvSpPr>
        <p:spPr>
          <a:xfrm>
            <a:off x="228600" y="1371982"/>
            <a:ext cx="11734800" cy="4939814"/>
          </a:xfrm>
          <a:prstGeom prst="rect">
            <a:avLst/>
          </a:prstGeom>
          <a:noFill/>
        </p:spPr>
        <p:txBody>
          <a:bodyPr wrap="square" rtlCol="0">
            <a:spAutoFit/>
          </a:bodyPr>
          <a:lstStyle/>
          <a:p>
            <a:pPr>
              <a:lnSpc>
                <a:spcPct val="150000"/>
              </a:lnSpc>
            </a:pPr>
            <a:r>
              <a:rPr lang="en-US" b="1" dirty="0">
                <a:latin typeface="Helvetica" panose="020B0604020202020204" pitchFamily="34" charset="0"/>
                <a:cs typeface="Helvetica" panose="020B0604020202020204" pitchFamily="34" charset="0"/>
              </a:rPr>
              <a:t>Per </a:t>
            </a:r>
            <a:r>
              <a:rPr lang="en-US" b="1" dirty="0">
                <a:latin typeface="Helvetica" panose="020B0604020202020204" pitchFamily="34" charset="0"/>
                <a:cs typeface="Helvetica" panose="020B0604020202020204" pitchFamily="34" charset="0"/>
                <a:hlinkClick r:id="rId2"/>
              </a:rPr>
              <a:t>https://mausam.imd.gov.in/event/evolution.pdf</a:t>
            </a:r>
            <a:r>
              <a:rPr lang="en-US" b="1" dirty="0">
                <a:latin typeface="Helvetica" panose="020B0604020202020204" pitchFamily="34" charset="0"/>
                <a:cs typeface="Helvetica" panose="020B0604020202020204" pitchFamily="34" charset="0"/>
              </a:rPr>
              <a:t> </a:t>
            </a:r>
          </a:p>
          <a:p>
            <a:pPr marL="285750" indent="-285750">
              <a:lnSpc>
                <a:spcPct val="150000"/>
              </a:lnSpc>
              <a:buFont typeface="Wingdings" panose="05000000000000000000" pitchFamily="2" charset="2"/>
              <a:buChar char="Ø"/>
            </a:pPr>
            <a:r>
              <a:rPr lang="en-US" b="1" dirty="0">
                <a:latin typeface="Helvetica" panose="020B0604020202020204" pitchFamily="34" charset="0"/>
                <a:cs typeface="Helvetica" panose="020B0604020202020204" pitchFamily="34" charset="0"/>
              </a:rPr>
              <a:t>806 Automatic Weather Stations (AWS)</a:t>
            </a:r>
            <a:endParaRPr lang="en-US" dirty="0">
              <a:latin typeface="Helvetica" panose="020B0604020202020204" pitchFamily="34" charset="0"/>
              <a:cs typeface="Helvetica" panose="020B0604020202020204" pitchFamily="34" charset="0"/>
            </a:endParaRPr>
          </a:p>
          <a:p>
            <a:pPr marL="285750" indent="-285750">
              <a:lnSpc>
                <a:spcPct val="150000"/>
              </a:lnSpc>
              <a:buFont typeface="Wingdings" panose="05000000000000000000" pitchFamily="2" charset="2"/>
              <a:buChar char="Ø"/>
            </a:pPr>
            <a:r>
              <a:rPr lang="en-US" b="1" dirty="0">
                <a:latin typeface="Helvetica" panose="020B0604020202020204" pitchFamily="34" charset="0"/>
                <a:cs typeface="Helvetica" panose="020B0604020202020204" pitchFamily="34" charset="0"/>
              </a:rPr>
              <a:t>1,382 Automatic Rain Gauges (ARG)</a:t>
            </a:r>
            <a:endParaRPr lang="en-US" dirty="0">
              <a:latin typeface="Helvetica" panose="020B0604020202020204" pitchFamily="34" charset="0"/>
              <a:cs typeface="Helvetica" panose="020B0604020202020204" pitchFamily="34" charset="0"/>
            </a:endParaRPr>
          </a:p>
          <a:p>
            <a:pPr marL="285750" indent="-285750">
              <a:lnSpc>
                <a:spcPct val="150000"/>
              </a:lnSpc>
              <a:buFont typeface="Wingdings" panose="05000000000000000000" pitchFamily="2" charset="2"/>
              <a:buChar char="Ø"/>
            </a:pPr>
            <a:r>
              <a:rPr lang="en-US" b="1" dirty="0">
                <a:latin typeface="Helvetica" panose="020B0604020202020204" pitchFamily="34" charset="0"/>
                <a:cs typeface="Helvetica" panose="020B0604020202020204" pitchFamily="34" charset="0"/>
              </a:rPr>
              <a:t>5,896 District-wise Rainfall Monitoring Scheme (DRMS) stations</a:t>
            </a:r>
            <a:endParaRPr lang="en-US" dirty="0">
              <a:latin typeface="Helvetica" panose="020B0604020202020204" pitchFamily="34" charset="0"/>
              <a:cs typeface="Helvetica" panose="020B0604020202020204" pitchFamily="34" charset="0"/>
            </a:endParaRPr>
          </a:p>
          <a:p>
            <a:pPr marL="285750" indent="-285750">
              <a:lnSpc>
                <a:spcPct val="150000"/>
              </a:lnSpc>
              <a:buFont typeface="Wingdings" panose="05000000000000000000" pitchFamily="2" charset="2"/>
              <a:buChar char="Ø"/>
            </a:pPr>
            <a:r>
              <a:rPr lang="en-US" b="1" dirty="0">
                <a:latin typeface="Helvetica" panose="020B0604020202020204" pitchFamily="34" charset="0"/>
                <a:cs typeface="Helvetica" panose="020B0604020202020204" pitchFamily="34" charset="0"/>
              </a:rPr>
              <a:t>200 </a:t>
            </a:r>
            <a:r>
              <a:rPr lang="en-US" b="1" dirty="0" err="1">
                <a:latin typeface="Helvetica" panose="020B0604020202020204" pitchFamily="34" charset="0"/>
                <a:cs typeface="Helvetica" panose="020B0604020202020204" pitchFamily="34" charset="0"/>
              </a:rPr>
              <a:t>Agro</a:t>
            </a:r>
            <a:r>
              <a:rPr lang="en-US" b="1" dirty="0">
                <a:latin typeface="Helvetica" panose="020B0604020202020204" pitchFamily="34" charset="0"/>
                <a:cs typeface="Helvetica" panose="020B0604020202020204" pitchFamily="34" charset="0"/>
              </a:rPr>
              <a:t>-Automated Weather Stations (</a:t>
            </a:r>
            <a:r>
              <a:rPr lang="en-US" b="1" dirty="0" err="1">
                <a:latin typeface="Helvetica" panose="020B0604020202020204" pitchFamily="34" charset="0"/>
                <a:cs typeface="Helvetica" panose="020B0604020202020204" pitchFamily="34" charset="0"/>
              </a:rPr>
              <a:t>Agro</a:t>
            </a:r>
            <a:r>
              <a:rPr lang="en-US" b="1" dirty="0">
                <a:latin typeface="Helvetica" panose="020B0604020202020204" pitchFamily="34" charset="0"/>
                <a:cs typeface="Helvetica" panose="020B0604020202020204" pitchFamily="34" charset="0"/>
              </a:rPr>
              <a:t>-AWS)</a:t>
            </a:r>
            <a:r>
              <a:rPr lang="en-US" dirty="0">
                <a:latin typeface="Helvetica" panose="020B0604020202020204" pitchFamily="34" charset="0"/>
                <a:cs typeface="Helvetica" panose="020B0604020202020204" pitchFamily="34" charset="0"/>
              </a:rPr>
              <a:t> and other </a:t>
            </a:r>
            <a:r>
              <a:rPr lang="en-US" dirty="0" err="1">
                <a:latin typeface="Helvetica" panose="020B0604020202020204" pitchFamily="34" charset="0"/>
                <a:cs typeface="Helvetica" panose="020B0604020202020204" pitchFamily="34" charset="0"/>
              </a:rPr>
              <a:t>Agromet</a:t>
            </a:r>
            <a:r>
              <a:rPr lang="en-US" dirty="0">
                <a:latin typeface="Helvetica" panose="020B0604020202020204" pitchFamily="34" charset="0"/>
                <a:cs typeface="Helvetica" panose="020B0604020202020204" pitchFamily="34" charset="0"/>
              </a:rPr>
              <a:t> observatories</a:t>
            </a:r>
          </a:p>
          <a:p>
            <a:pPr marL="285750" indent="-285750" algn="just">
              <a:lnSpc>
                <a:spcPct val="150000"/>
              </a:lnSpc>
              <a:buFont typeface="Wingdings" panose="05000000000000000000" pitchFamily="2" charset="2"/>
              <a:buChar char="Ø"/>
            </a:pPr>
            <a:r>
              <a:rPr lang="en-US" b="1" dirty="0">
                <a:latin typeface="Helvetica" panose="020B0604020202020204" pitchFamily="34" charset="0"/>
                <a:cs typeface="Helvetica" panose="020B0604020202020204" pitchFamily="34" charset="0"/>
              </a:rPr>
              <a:t>56 Radiosonde/</a:t>
            </a:r>
            <a:r>
              <a:rPr lang="en-US" b="1" dirty="0" err="1">
                <a:latin typeface="Helvetica" panose="020B0604020202020204" pitchFamily="34" charset="0"/>
                <a:cs typeface="Helvetica" panose="020B0604020202020204" pitchFamily="34" charset="0"/>
              </a:rPr>
              <a:t>Radiowind</a:t>
            </a:r>
            <a:r>
              <a:rPr lang="en-US" b="1" dirty="0">
                <a:latin typeface="Helvetica" panose="020B0604020202020204" pitchFamily="34" charset="0"/>
                <a:cs typeface="Helvetica" panose="020B0604020202020204" pitchFamily="34" charset="0"/>
              </a:rPr>
              <a:t> (RS/RW) stations</a:t>
            </a:r>
            <a:r>
              <a:rPr lang="en-US" dirty="0">
                <a:latin typeface="Helvetica" panose="020B0604020202020204" pitchFamily="34" charset="0"/>
                <a:cs typeface="Helvetica" panose="020B0604020202020204" pitchFamily="34" charset="0"/>
              </a:rPr>
              <a:t> for upper-air observations</a:t>
            </a:r>
          </a:p>
          <a:p>
            <a:pPr marL="285750" indent="-285750">
              <a:lnSpc>
                <a:spcPct val="150000"/>
              </a:lnSpc>
              <a:buFont typeface="Wingdings" panose="05000000000000000000" pitchFamily="2" charset="2"/>
              <a:buChar char="Ø"/>
            </a:pPr>
            <a:r>
              <a:rPr lang="en-US" b="1" dirty="0">
                <a:latin typeface="Helvetica" panose="020B0604020202020204" pitchFamily="34" charset="0"/>
                <a:cs typeface="Helvetica" panose="020B0604020202020204" pitchFamily="34" charset="0"/>
              </a:rPr>
              <a:t>39 Doppler Weather Radars (DWRs)</a:t>
            </a:r>
            <a:endParaRPr lang="en-US" dirty="0">
              <a:latin typeface="Helvetica" panose="020B0604020202020204" pitchFamily="34" charset="0"/>
              <a:cs typeface="Helvetica" panose="020B0604020202020204" pitchFamily="34" charset="0"/>
            </a:endParaRPr>
          </a:p>
          <a:p>
            <a:pPr marL="285750" indent="-285750">
              <a:lnSpc>
                <a:spcPct val="150000"/>
              </a:lnSpc>
              <a:buFont typeface="Wingdings" panose="05000000000000000000" pitchFamily="2" charset="2"/>
              <a:buChar char="Ø"/>
            </a:pPr>
            <a:r>
              <a:rPr lang="en-US" b="1" dirty="0">
                <a:latin typeface="Helvetica" panose="020B0604020202020204" pitchFamily="34" charset="0"/>
                <a:cs typeface="Helvetica" panose="020B0604020202020204" pitchFamily="34" charset="0"/>
              </a:rPr>
              <a:t>Two geostationary satellites (INSAT-3D and INSAT-3DR)</a:t>
            </a:r>
            <a:r>
              <a:rPr lang="en-US" dirty="0">
                <a:latin typeface="Helvetica" panose="020B0604020202020204" pitchFamily="34" charset="0"/>
                <a:cs typeface="Helvetica" panose="020B0604020202020204" pitchFamily="34" charset="0"/>
              </a:rPr>
              <a:t>, which also relay data from the AWS/ARG </a:t>
            </a:r>
            <a:r>
              <a:rPr lang="en-US" dirty="0" smtClean="0">
                <a:latin typeface="Helvetica" panose="020B0604020202020204" pitchFamily="34" charset="0"/>
                <a:cs typeface="Helvetica" panose="020B0604020202020204" pitchFamily="34" charset="0"/>
              </a:rPr>
              <a:t>network</a:t>
            </a:r>
          </a:p>
          <a:p>
            <a:pPr marL="285750" indent="-285750">
              <a:buFont typeface="Wingdings" panose="05000000000000000000" pitchFamily="2" charset="2"/>
              <a:buChar char="Ø"/>
            </a:pPr>
            <a:r>
              <a:rPr lang="en-US" b="1" dirty="0" smtClean="0">
                <a:latin typeface="Helvetica" panose="020B0604020202020204" pitchFamily="34" charset="0"/>
                <a:cs typeface="Helvetica" panose="020B0604020202020204" pitchFamily="34" charset="0"/>
              </a:rPr>
              <a:t>Other </a:t>
            </a:r>
            <a:r>
              <a:rPr lang="en-US" b="1" dirty="0">
                <a:latin typeface="Helvetica" panose="020B0604020202020204" pitchFamily="34" charset="0"/>
                <a:cs typeface="Helvetica" panose="020B0604020202020204" pitchFamily="34" charset="0"/>
              </a:rPr>
              <a:t>specialized networks</a:t>
            </a:r>
            <a:r>
              <a:rPr lang="en-US" dirty="0">
                <a:latin typeface="Helvetica" panose="020B0604020202020204" pitchFamily="34" charset="0"/>
                <a:cs typeface="Helvetica" panose="020B0604020202020204" pitchFamily="34" charset="0"/>
              </a:rPr>
              <a:t> for monitoring ozone (multiple stations), precipitation chemistry (11 stations), aerosols (12 locations), black carbon (16 stations), and lightning (83 sensors</a:t>
            </a:r>
            <a:r>
              <a:rPr lang="en-US" dirty="0" smtClean="0">
                <a:latin typeface="Helvetica" panose="020B0604020202020204" pitchFamily="34" charset="0"/>
                <a:cs typeface="Helvetica" panose="020B0604020202020204" pitchFamily="34" charset="0"/>
              </a:rPr>
              <a:t>).</a:t>
            </a:r>
          </a:p>
          <a:p>
            <a:pPr marL="285750" indent="-285750">
              <a:lnSpc>
                <a:spcPct val="150000"/>
              </a:lnSpc>
              <a:buFont typeface="Wingdings" panose="05000000000000000000" pitchFamily="2" charset="2"/>
              <a:buChar char="Ø"/>
            </a:pPr>
            <a:r>
              <a:rPr lang="en-US" b="1" dirty="0" smtClean="0">
                <a:latin typeface="Helvetica" panose="020B0604020202020204" pitchFamily="34" charset="0"/>
                <a:cs typeface="Helvetica" panose="020B0604020202020204" pitchFamily="34" charset="0"/>
              </a:rPr>
              <a:t>Numerous </a:t>
            </a:r>
            <a:r>
              <a:rPr lang="en-US" b="1" dirty="0">
                <a:latin typeface="Helvetica" panose="020B0604020202020204" pitchFamily="34" charset="0"/>
                <a:cs typeface="Helvetica" panose="020B0604020202020204" pitchFamily="34" charset="0"/>
              </a:rPr>
              <a:t>manual surface observatories</a:t>
            </a:r>
            <a:r>
              <a:rPr lang="en-US" dirty="0">
                <a:latin typeface="Helvetica" panose="020B0604020202020204" pitchFamily="34" charset="0"/>
                <a:cs typeface="Helvetica" panose="020B0604020202020204" pitchFamily="34" charset="0"/>
              </a:rPr>
              <a:t> (around 530, some of which are non-departmental).</a:t>
            </a:r>
          </a:p>
          <a:p>
            <a:pPr marL="285750" indent="-285750">
              <a:buFont typeface="Wingdings" panose="05000000000000000000" pitchFamily="2" charset="2"/>
              <a:buChar char="Ø"/>
            </a:pPr>
            <a:r>
              <a:rPr lang="en-US" b="1" dirty="0">
                <a:latin typeface="Helvetica" panose="020B0604020202020204" pitchFamily="34" charset="0"/>
                <a:cs typeface="Helvetica" panose="020B0604020202020204" pitchFamily="34" charset="0"/>
              </a:rPr>
              <a:t>Other systems</a:t>
            </a:r>
            <a:r>
              <a:rPr lang="en-US" dirty="0">
                <a:latin typeface="Helvetica" panose="020B0604020202020204" pitchFamily="34" charset="0"/>
                <a:cs typeface="Helvetica" panose="020B0604020202020204" pitchFamily="34" charset="0"/>
              </a:rPr>
              <a:t> like High Wind Speed Recorders, Runway Visual Range (RVR) systems at airports, and the System for Air Quality Forecasting And Research (SAFAR) stations in major cities. </a:t>
            </a:r>
          </a:p>
        </p:txBody>
      </p:sp>
      <p:sp>
        <p:nvSpPr>
          <p:cNvPr id="6" name="TextBox 5">
            <a:extLst>
              <a:ext uri="{FF2B5EF4-FFF2-40B4-BE49-F238E27FC236}">
                <a16:creationId xmlns:a16="http://schemas.microsoft.com/office/drawing/2014/main" id="{4E736958-C6B4-1E72-B432-412F9845B31B}"/>
              </a:ext>
            </a:extLst>
          </p:cNvPr>
          <p:cNvSpPr txBox="1"/>
          <p:nvPr/>
        </p:nvSpPr>
        <p:spPr>
          <a:xfrm>
            <a:off x="322729" y="1003590"/>
            <a:ext cx="11734800" cy="369332"/>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Do you know from how many systems IMD collects data? Any guess?</a:t>
            </a:r>
          </a:p>
        </p:txBody>
      </p:sp>
      <p:sp>
        <p:nvSpPr>
          <p:cNvPr id="7" name="Explosion: 8 Points 6">
            <a:extLst>
              <a:ext uri="{FF2B5EF4-FFF2-40B4-BE49-F238E27FC236}">
                <a16:creationId xmlns:a16="http://schemas.microsoft.com/office/drawing/2014/main" id="{7B127585-9848-C833-3EF2-741852BB67F7}"/>
              </a:ext>
            </a:extLst>
          </p:cNvPr>
          <p:cNvSpPr/>
          <p:nvPr/>
        </p:nvSpPr>
        <p:spPr>
          <a:xfrm>
            <a:off x="8017435" y="160569"/>
            <a:ext cx="4285129" cy="3471824"/>
          </a:xfrm>
          <a:prstGeom prst="irregularSeal1">
            <a:avLst/>
          </a:prstGeom>
          <a:gradFill>
            <a:gsLst>
              <a:gs pos="0">
                <a:schemeClr val="accent2">
                  <a:lumMod val="110000"/>
                  <a:satMod val="105000"/>
                  <a:tint val="67000"/>
                  <a:alpha val="0"/>
                </a:schemeClr>
              </a:gs>
              <a:gs pos="50000">
                <a:schemeClr val="accent2">
                  <a:lumMod val="105000"/>
                  <a:satMod val="103000"/>
                  <a:tint val="73000"/>
                </a:schemeClr>
              </a:gs>
              <a:gs pos="100000">
                <a:schemeClr val="accent2">
                  <a:lumMod val="105000"/>
                  <a:satMod val="109000"/>
                  <a:tint val="81000"/>
                </a:schemeClr>
              </a:gs>
            </a:gsLst>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Why you need seamless flow of information?</a:t>
            </a:r>
          </a:p>
          <a:p>
            <a:pPr algn="ctr"/>
            <a:r>
              <a:rPr lang="en-US" dirty="0">
                <a:latin typeface="Helvetica" panose="020B0604020202020204" pitchFamily="34" charset="0"/>
                <a:cs typeface="Helvetica" panose="020B0604020202020204" pitchFamily="34" charset="0"/>
              </a:rPr>
              <a:t>This massive system now can say</a:t>
            </a:r>
          </a:p>
        </p:txBody>
      </p:sp>
      <p:sp>
        <p:nvSpPr>
          <p:cNvPr id="8" name="Explosion: 8 Points 7">
            <a:extLst>
              <a:ext uri="{FF2B5EF4-FFF2-40B4-BE49-F238E27FC236}">
                <a16:creationId xmlns:a16="http://schemas.microsoft.com/office/drawing/2014/main" id="{2FEB41A5-3142-5753-E7E8-A2C00128BD0C}"/>
              </a:ext>
            </a:extLst>
          </p:cNvPr>
          <p:cNvSpPr/>
          <p:nvPr/>
        </p:nvSpPr>
        <p:spPr>
          <a:xfrm>
            <a:off x="8382000" y="2881357"/>
            <a:ext cx="4285129" cy="3471824"/>
          </a:xfrm>
          <a:prstGeom prst="irregularSeal1">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path path="circle">
              <a:fillToRect r="100000" b="100000"/>
            </a:path>
            <a:tileRect l="-100000" t="-100000"/>
          </a:gra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Can we do it manually multiple times everyday?</a:t>
            </a:r>
          </a:p>
        </p:txBody>
      </p:sp>
    </p:spTree>
    <p:extLst>
      <p:ext uri="{BB962C8B-B14F-4D97-AF65-F5344CB8AC3E}">
        <p14:creationId xmlns:p14="http://schemas.microsoft.com/office/powerpoint/2010/main" val="3462720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18F22-302C-ACA0-4084-64F50BAE8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2379E-40C9-0183-B706-6B7117D1F82F}"/>
              </a:ext>
            </a:extLst>
          </p:cNvPr>
          <p:cNvSpPr>
            <a:spLocks noGrp="1"/>
          </p:cNvSpPr>
          <p:nvPr>
            <p:ph type="title"/>
          </p:nvPr>
        </p:nvSpPr>
        <p:spPr/>
        <p:txBody>
          <a:bodyPr/>
          <a:lstStyle/>
          <a:p>
            <a:r>
              <a:rPr lang="en-US" dirty="0"/>
              <a:t>Why?</a:t>
            </a:r>
          </a:p>
        </p:txBody>
      </p:sp>
      <p:sp>
        <p:nvSpPr>
          <p:cNvPr id="5" name="TextBox 4">
            <a:extLst>
              <a:ext uri="{FF2B5EF4-FFF2-40B4-BE49-F238E27FC236}">
                <a16:creationId xmlns:a16="http://schemas.microsoft.com/office/drawing/2014/main" id="{9D38884B-7273-46C2-1268-529B63DA23D1}"/>
              </a:ext>
            </a:extLst>
          </p:cNvPr>
          <p:cNvSpPr txBox="1"/>
          <p:nvPr/>
        </p:nvSpPr>
        <p:spPr>
          <a:xfrm>
            <a:off x="228600" y="1155680"/>
            <a:ext cx="11734800" cy="3693319"/>
          </a:xfrm>
          <a:prstGeom prst="rect">
            <a:avLst/>
          </a:prstGeom>
          <a:noFill/>
        </p:spPr>
        <p:txBody>
          <a:bodyPr wrap="square" rtlCol="0">
            <a:spAutoFit/>
          </a:bodyPr>
          <a:lstStyle/>
          <a:p>
            <a:pPr marL="361950" indent="-3619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Is it humanly possible to feed data</a:t>
            </a:r>
            <a:r>
              <a:rPr lang="en-US" dirty="0" smtClean="0">
                <a:latin typeface="Helvetica" panose="020B0604020202020204" pitchFamily="34" charset="0"/>
                <a:cs typeface="Helvetica" panose="020B0604020202020204" pitchFamily="34" charset="0"/>
              </a:rPr>
              <a:t>?</a:t>
            </a:r>
          </a:p>
          <a:p>
            <a:pPr marL="361950" indent="-361950" algn="just">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Why to do you need a data pipeline then</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r>
              <a:rPr lang="en-US" dirty="0">
                <a:latin typeface="Helvetica" panose="020B0604020202020204" pitchFamily="34" charset="0"/>
                <a:cs typeface="Helvetica" panose="020B0604020202020204" pitchFamily="34" charset="0"/>
              </a:rPr>
              <a:t>	</a:t>
            </a:r>
            <a:r>
              <a:rPr lang="en-US" dirty="0" smtClean="0">
                <a:latin typeface="Helvetica" panose="020B0604020202020204" pitchFamily="34" charset="0"/>
                <a:cs typeface="Helvetica" panose="020B0604020202020204" pitchFamily="34" charset="0"/>
              </a:rPr>
              <a:t>Well-designed </a:t>
            </a:r>
            <a:r>
              <a:rPr lang="en-US" dirty="0">
                <a:latin typeface="Helvetica" panose="020B0604020202020204" pitchFamily="34" charset="0"/>
                <a:cs typeface="Helvetica" panose="020B0604020202020204" pitchFamily="34" charset="0"/>
              </a:rPr>
              <a:t>pipeline is critical for handling the “5 V’s” of big data (volume, velocity, variety, veracity, </a:t>
            </a:r>
            <a:r>
              <a:rPr lang="en-US" dirty="0" smtClean="0">
                <a:latin typeface="Helvetica" panose="020B0604020202020204" pitchFamily="34" charset="0"/>
                <a:cs typeface="Helvetica" panose="020B0604020202020204" pitchFamily="34" charset="0"/>
              </a:rPr>
              <a:t>value</a:t>
            </a:r>
            <a:r>
              <a:rPr lang="en-US" dirty="0">
                <a:latin typeface="Helvetica" panose="020B0604020202020204" pitchFamily="34" charset="0"/>
                <a:cs typeface="Helvetica" panose="020B0604020202020204" pitchFamily="34" charset="0"/>
              </a:rPr>
              <a:t>) while remaining efficient to maintain. </a:t>
            </a:r>
            <a:endParaRPr lang="en-US" dirty="0" smtClean="0">
              <a:latin typeface="Helvetica" panose="020B0604020202020204" pitchFamily="34" charset="0"/>
              <a:cs typeface="Helvetica" panose="020B0604020202020204" pitchFamily="34" charset="0"/>
            </a:endParaRPr>
          </a:p>
          <a:p>
            <a:pPr marL="361950" indent="-361950" algn="just"/>
            <a:endParaRPr lang="en-US" dirty="0">
              <a:latin typeface="Helvetica" panose="020B0604020202020204" pitchFamily="34" charset="0"/>
              <a:cs typeface="Helvetica" panose="020B0604020202020204" pitchFamily="34" charset="0"/>
            </a:endParaRPr>
          </a:p>
          <a:p>
            <a:pPr marL="361950" indent="-3619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Now is this reason justified for the previous example </a:t>
            </a:r>
            <a:r>
              <a:rPr lang="en-US" dirty="0" smtClean="0">
                <a:latin typeface="Helvetica" panose="020B0604020202020204" pitchFamily="34" charset="0"/>
                <a:cs typeface="Helvetica" panose="020B0604020202020204" pitchFamily="34" charset="0"/>
              </a:rPr>
              <a:t>IMD?</a:t>
            </a:r>
          </a:p>
          <a:p>
            <a:pPr marL="361950" indent="-361950" algn="just">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At </a:t>
            </a:r>
            <a:r>
              <a:rPr lang="en-US" dirty="0">
                <a:latin typeface="Helvetica" panose="020B0604020202020204" pitchFamily="34" charset="0"/>
                <a:cs typeface="Helvetica" panose="020B0604020202020204" pitchFamily="34" charset="0"/>
              </a:rPr>
              <a:t>the </a:t>
            </a:r>
            <a:r>
              <a:rPr lang="en-US" b="1" dirty="0">
                <a:latin typeface="Helvetica" panose="020B0604020202020204" pitchFamily="34" charset="0"/>
                <a:cs typeface="Helvetica" panose="020B0604020202020204" pitchFamily="34" charset="0"/>
              </a:rPr>
              <a:t>heart of any data pipeline</a:t>
            </a:r>
            <a:r>
              <a:rPr lang="en-US" dirty="0">
                <a:latin typeface="Helvetica" panose="020B0604020202020204" pitchFamily="34" charset="0"/>
                <a:cs typeface="Helvetica" panose="020B0604020202020204" pitchFamily="34" charset="0"/>
              </a:rPr>
              <a:t>, it’s fundamentally about </a:t>
            </a:r>
            <a:r>
              <a:rPr lang="en-US" b="1" dirty="0">
                <a:latin typeface="Helvetica" panose="020B0604020202020204" pitchFamily="34" charset="0"/>
                <a:cs typeface="Helvetica" panose="020B0604020202020204" pitchFamily="34" charset="0"/>
              </a:rPr>
              <a:t>data flow</a:t>
            </a:r>
            <a:r>
              <a:rPr lang="en-US" dirty="0">
                <a:latin typeface="Helvetica" panose="020B0604020202020204" pitchFamily="34" charset="0"/>
                <a:cs typeface="Helvetica" panose="020B0604020202020204" pitchFamily="34" charset="0"/>
              </a:rPr>
              <a:t> — how data moves </a:t>
            </a:r>
            <a:r>
              <a:rPr lang="en-US" b="1" dirty="0">
                <a:latin typeface="Helvetica" panose="020B0604020202020204" pitchFamily="34" charset="0"/>
                <a:cs typeface="Helvetica" panose="020B0604020202020204" pitchFamily="34" charset="0"/>
              </a:rPr>
              <a:t>from one system to </a:t>
            </a:r>
            <a:r>
              <a:rPr lang="en-US" b="1" dirty="0" smtClean="0">
                <a:latin typeface="Helvetica" panose="020B0604020202020204" pitchFamily="34" charset="0"/>
                <a:cs typeface="Helvetica" panose="020B0604020202020204" pitchFamily="34" charset="0"/>
              </a:rPr>
              <a:t>another</a:t>
            </a:r>
            <a:r>
              <a:rPr lang="en-US" dirty="0">
                <a:latin typeface="Helvetica" panose="020B0604020202020204" pitchFamily="34" charset="0"/>
                <a:cs typeface="Helvetica" panose="020B0604020202020204" pitchFamily="34" charset="0"/>
              </a:rPr>
              <a:t>, often through a series of </a:t>
            </a:r>
            <a:r>
              <a:rPr lang="en-US" b="1" dirty="0">
                <a:latin typeface="Helvetica" panose="020B0604020202020204" pitchFamily="34" charset="0"/>
                <a:cs typeface="Helvetica" panose="020B0604020202020204" pitchFamily="34" charset="0"/>
              </a:rPr>
              <a:t>processing, transformation, and storage stages</a:t>
            </a:r>
            <a:r>
              <a:rPr lang="en-US" dirty="0" smtClean="0">
                <a:latin typeface="Helvetica" panose="020B0604020202020204" pitchFamily="34" charset="0"/>
                <a:cs typeface="Helvetica" panose="020B0604020202020204" pitchFamily="34" charset="0"/>
              </a:rPr>
              <a:t>.</a:t>
            </a:r>
            <a:r>
              <a:rPr lang="en-US" dirty="0">
                <a:latin typeface="Helvetica" panose="020B0604020202020204" pitchFamily="34" charset="0"/>
                <a:cs typeface="Helvetica" panose="020B0604020202020204" pitchFamily="34" charset="0"/>
              </a:rPr>
              <a:t>		 </a:t>
            </a:r>
          </a:p>
        </p:txBody>
      </p:sp>
    </p:spTree>
    <p:extLst>
      <p:ext uri="{BB962C8B-B14F-4D97-AF65-F5344CB8AC3E}">
        <p14:creationId xmlns:p14="http://schemas.microsoft.com/office/powerpoint/2010/main" val="82688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1533A-486C-91AB-21CF-0B8B705DA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565AA-A4FB-D554-3980-216E6A9B52ED}"/>
              </a:ext>
            </a:extLst>
          </p:cNvPr>
          <p:cNvSpPr>
            <a:spLocks noGrp="1"/>
          </p:cNvSpPr>
          <p:nvPr>
            <p:ph type="title"/>
          </p:nvPr>
        </p:nvSpPr>
        <p:spPr>
          <a:xfrm>
            <a:off x="831850" y="1709738"/>
            <a:ext cx="10515600" cy="2852737"/>
          </a:xfrm>
        </p:spPr>
        <p:txBody>
          <a:bodyPr anchor="b">
            <a:normAutofit/>
          </a:bodyPr>
          <a:lstStyle/>
          <a:p>
            <a:r>
              <a:rPr lang="en-US" dirty="0"/>
              <a:t>Modes of Data Flow</a:t>
            </a:r>
          </a:p>
        </p:txBody>
      </p:sp>
    </p:spTree>
    <p:extLst>
      <p:ext uri="{BB962C8B-B14F-4D97-AF65-F5344CB8AC3E}">
        <p14:creationId xmlns:p14="http://schemas.microsoft.com/office/powerpoint/2010/main" val="6457560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A2CA3-B9D5-D2A7-ACC4-BD196FCD7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A5D49-A6BF-CA75-5F4A-D36A4B7BB584}"/>
              </a:ext>
            </a:extLst>
          </p:cNvPr>
          <p:cNvSpPr>
            <a:spLocks noGrp="1"/>
          </p:cNvSpPr>
          <p:nvPr>
            <p:ph type="title"/>
          </p:nvPr>
        </p:nvSpPr>
        <p:spPr/>
        <p:txBody>
          <a:bodyPr/>
          <a:lstStyle/>
          <a:p>
            <a:r>
              <a:rPr lang="en-US" dirty="0"/>
              <a:t>Introduction</a:t>
            </a:r>
          </a:p>
        </p:txBody>
      </p:sp>
      <p:sp>
        <p:nvSpPr>
          <p:cNvPr id="3" name="TextBox 2">
            <a:extLst>
              <a:ext uri="{FF2B5EF4-FFF2-40B4-BE49-F238E27FC236}">
                <a16:creationId xmlns:a16="http://schemas.microsoft.com/office/drawing/2014/main" id="{FD5DE1F5-6F31-2C6B-E170-8152EECDB866}"/>
              </a:ext>
            </a:extLst>
          </p:cNvPr>
          <p:cNvSpPr txBox="1"/>
          <p:nvPr/>
        </p:nvSpPr>
        <p:spPr>
          <a:xfrm>
            <a:off x="533400" y="1043916"/>
            <a:ext cx="10972800" cy="96949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In our previous sessions we had seen data flowing from one system to another, do you remember?</a:t>
            </a:r>
          </a:p>
          <a:p>
            <a:pPr marL="285750" indent="-285750" algn="just">
              <a:lnSpc>
                <a:spcPct val="150000"/>
              </a:lnSpc>
              <a:buFont typeface="Wingdings" panose="05000000000000000000" pitchFamily="2" charset="2"/>
              <a:buChar char="Ø"/>
            </a:pPr>
            <a:r>
              <a:rPr lang="en-US" sz="100" dirty="0" smtClean="0">
                <a:latin typeface="Helvetica" panose="020B0604020202020204" pitchFamily="34" charset="0"/>
                <a:cs typeface="Helvetica" panose="020B0604020202020204" pitchFamily="34" charset="0"/>
              </a:rPr>
              <a:t>2</a:t>
            </a:r>
            <a:endParaRPr lang="en-US" sz="1000" dirty="0" smtClean="0">
              <a:latin typeface="Helvetica" panose="020B0604020202020204" pitchFamily="34" charset="0"/>
              <a:cs typeface="Helvetica" panose="020B0604020202020204" pitchFamily="34" charset="0"/>
            </a:endParaRPr>
          </a:p>
          <a:p>
            <a:pPr marL="285750" indent="-285750" algn="just">
              <a:lnSpc>
                <a:spcPct val="150000"/>
              </a:lnSpc>
              <a:buFont typeface="Wingdings" panose="05000000000000000000" pitchFamily="2" charset="2"/>
              <a:buChar char="Ø"/>
            </a:pPr>
            <a:endParaRPr lang="en-US" sz="100" dirty="0" smtClean="0">
              <a:latin typeface="Helvetica" panose="020B0604020202020204" pitchFamily="34" charset="0"/>
              <a:cs typeface="Helvetica" panose="020B0604020202020204" pitchFamily="34" charset="0"/>
            </a:endParaRPr>
          </a:p>
          <a:p>
            <a:pPr marL="285750" indent="-285750" algn="just">
              <a:lnSpc>
                <a:spcPct val="150000"/>
              </a:lnSpc>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Let </a:t>
            </a:r>
            <a:r>
              <a:rPr lang="en-US" dirty="0">
                <a:latin typeface="Helvetica" panose="020B0604020202020204" pitchFamily="34" charset="0"/>
                <a:cs typeface="Helvetica" panose="020B0604020202020204" pitchFamily="34" charset="0"/>
              </a:rPr>
              <a:t>us expand the same in this section</a:t>
            </a:r>
          </a:p>
        </p:txBody>
      </p:sp>
      <p:graphicFrame>
        <p:nvGraphicFramePr>
          <p:cNvPr id="4" name="Diagram 3">
            <a:extLst>
              <a:ext uri="{FF2B5EF4-FFF2-40B4-BE49-F238E27FC236}">
                <a16:creationId xmlns:a16="http://schemas.microsoft.com/office/drawing/2014/main" id="{25F2DA7D-3855-E1B1-D58B-68403B571AAD}"/>
              </a:ext>
            </a:extLst>
          </p:cNvPr>
          <p:cNvGraphicFramePr/>
          <p:nvPr>
            <p:extLst>
              <p:ext uri="{D42A27DB-BD31-4B8C-83A1-F6EECF244321}">
                <p14:modId xmlns:p14="http://schemas.microsoft.com/office/powerpoint/2010/main" val="2094804397"/>
              </p:ext>
            </p:extLst>
          </p:nvPr>
        </p:nvGraphicFramePr>
        <p:xfrm>
          <a:off x="1905000" y="3162445"/>
          <a:ext cx="8128000" cy="3090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549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4"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F395C-EC1F-E628-9DDF-B8B44A735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9918E-6510-C052-BD65-A7DD247BD3C7}"/>
              </a:ext>
            </a:extLst>
          </p:cNvPr>
          <p:cNvSpPr>
            <a:spLocks noGrp="1"/>
          </p:cNvSpPr>
          <p:nvPr>
            <p:ph type="title"/>
          </p:nvPr>
        </p:nvSpPr>
        <p:spPr>
          <a:xfrm>
            <a:off x="831850" y="1709738"/>
            <a:ext cx="10515600" cy="2852737"/>
          </a:xfrm>
        </p:spPr>
        <p:txBody>
          <a:bodyPr anchor="b">
            <a:normAutofit/>
          </a:bodyPr>
          <a:lstStyle/>
          <a:p>
            <a:r>
              <a:rPr lang="en-US" dirty="0"/>
              <a:t>Modes of Data Flow</a:t>
            </a:r>
            <a:br>
              <a:rPr lang="en-US" dirty="0"/>
            </a:br>
            <a:r>
              <a:rPr lang="en-US" dirty="0"/>
              <a:t>- Through Databases</a:t>
            </a:r>
          </a:p>
        </p:txBody>
      </p:sp>
    </p:spTree>
    <p:extLst>
      <p:ext uri="{BB962C8B-B14F-4D97-AF65-F5344CB8AC3E}">
        <p14:creationId xmlns:p14="http://schemas.microsoft.com/office/powerpoint/2010/main" val="32393744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1D6CE-69AC-7001-EE6B-BB41B0847EDB}"/>
              </a:ext>
            </a:extLst>
          </p:cNvPr>
          <p:cNvSpPr>
            <a:spLocks noGrp="1"/>
          </p:cNvSpPr>
          <p:nvPr>
            <p:ph type="title"/>
          </p:nvPr>
        </p:nvSpPr>
        <p:spPr/>
        <p:txBody>
          <a:bodyPr/>
          <a:lstStyle/>
          <a:p>
            <a:r>
              <a:rPr lang="en-US" dirty="0"/>
              <a:t>Example</a:t>
            </a:r>
          </a:p>
        </p:txBody>
      </p:sp>
      <p:sp>
        <p:nvSpPr>
          <p:cNvPr id="8" name="AutoShape 4" descr="Hospital management system components ">
            <a:extLst>
              <a:ext uri="{FF2B5EF4-FFF2-40B4-BE49-F238E27FC236}">
                <a16:creationId xmlns:a16="http://schemas.microsoft.com/office/drawing/2014/main" id="{4CF28D25-09B0-5980-2DF0-82EB9694A3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E255CA6-F45F-97CB-5450-9CEB0AD85A4D}"/>
              </a:ext>
            </a:extLst>
          </p:cNvPr>
          <p:cNvPicPr>
            <a:picLocks noChangeAspect="1"/>
          </p:cNvPicPr>
          <p:nvPr/>
        </p:nvPicPr>
        <p:blipFill>
          <a:blip r:embed="rId2"/>
          <a:stretch>
            <a:fillRect/>
          </a:stretch>
        </p:blipFill>
        <p:spPr>
          <a:xfrm>
            <a:off x="6902824" y="982902"/>
            <a:ext cx="5257800" cy="5719011"/>
          </a:xfrm>
          <a:prstGeom prst="rect">
            <a:avLst/>
          </a:prstGeom>
        </p:spPr>
      </p:pic>
      <p:sp>
        <p:nvSpPr>
          <p:cNvPr id="11" name="TextBox 10">
            <a:extLst>
              <a:ext uri="{FF2B5EF4-FFF2-40B4-BE49-F238E27FC236}">
                <a16:creationId xmlns:a16="http://schemas.microsoft.com/office/drawing/2014/main" id="{78742C93-9631-9962-C57C-F71FF8E12B58}"/>
              </a:ext>
            </a:extLst>
          </p:cNvPr>
          <p:cNvSpPr txBox="1"/>
          <p:nvPr/>
        </p:nvSpPr>
        <p:spPr>
          <a:xfrm>
            <a:off x="304800" y="1305341"/>
            <a:ext cx="6096000" cy="4247317"/>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Data exchange through databases, can you share an </a:t>
            </a:r>
            <a:r>
              <a:rPr lang="en-US" dirty="0" smtClean="0">
                <a:latin typeface="Helvetica" panose="020B0604020202020204" pitchFamily="34" charset="0"/>
                <a:cs typeface="Helvetica" panose="020B0604020202020204" pitchFamily="34" charset="0"/>
              </a:rPr>
              <a:t>example </a:t>
            </a:r>
            <a:r>
              <a:rPr lang="en-US" dirty="0">
                <a:latin typeface="Helvetica" panose="020B0604020202020204" pitchFamily="34" charset="0"/>
                <a:cs typeface="Helvetica" panose="020B0604020202020204" pitchFamily="34" charset="0"/>
              </a:rPr>
              <a:t>which comes to your mind immediately</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Hospital management </a:t>
            </a:r>
            <a:r>
              <a:rPr lang="en-US" dirty="0" smtClean="0">
                <a:latin typeface="Helvetica" panose="020B0604020202020204" pitchFamily="34" charset="0"/>
                <a:cs typeface="Helvetica" panose="020B0604020202020204" pitchFamily="34" charset="0"/>
              </a:rPr>
              <a:t>system</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These days all hospitals are automated for information </a:t>
            </a:r>
            <a:r>
              <a:rPr lang="en-US" dirty="0" smtClean="0">
                <a:latin typeface="Helvetica" panose="020B0604020202020204" pitchFamily="34" charset="0"/>
                <a:cs typeface="Helvetica" panose="020B0604020202020204" pitchFamily="34" charset="0"/>
              </a:rPr>
              <a:t>flow</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Have you seen these days though doctors give a printout, in the pharmacy the medicines are distributed based on the online prescription</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The </a:t>
            </a:r>
            <a:r>
              <a:rPr lang="en-US" dirty="0">
                <a:latin typeface="Helvetica" panose="020B0604020202020204" pitchFamily="34" charset="0"/>
                <a:cs typeface="Helvetica" panose="020B0604020202020204" pitchFamily="34" charset="0"/>
              </a:rPr>
              <a:t>application used by doctor and the pharmacist are different. So how the data is transferred or flown from one application to other?</a:t>
            </a:r>
          </a:p>
        </p:txBody>
      </p:sp>
      <p:sp>
        <p:nvSpPr>
          <p:cNvPr id="12" name="TextBox 11">
            <a:extLst>
              <a:ext uri="{FF2B5EF4-FFF2-40B4-BE49-F238E27FC236}">
                <a16:creationId xmlns:a16="http://schemas.microsoft.com/office/drawing/2014/main" id="{1D616BC8-530D-EC97-0FD0-DCE26E2F8389}"/>
              </a:ext>
            </a:extLst>
          </p:cNvPr>
          <p:cNvSpPr txBox="1"/>
          <p:nvPr/>
        </p:nvSpPr>
        <p:spPr>
          <a:xfrm>
            <a:off x="10968317" y="6438681"/>
            <a:ext cx="1187824" cy="261610"/>
          </a:xfrm>
          <a:prstGeom prst="rect">
            <a:avLst/>
          </a:prstGeom>
          <a:noFill/>
        </p:spPr>
        <p:txBody>
          <a:bodyPr wrap="square" rtlCol="0">
            <a:spAutoFit/>
          </a:bodyPr>
          <a:lstStyle/>
          <a:p>
            <a:pPr algn="ctr"/>
            <a:r>
              <a:rPr lang="en-US" sz="1100" dirty="0">
                <a:hlinkClick r:id="rId3"/>
              </a:rPr>
              <a:t>Image Source</a:t>
            </a:r>
            <a:endParaRPr lang="en-US" sz="1100" dirty="0"/>
          </a:p>
        </p:txBody>
      </p:sp>
    </p:spTree>
    <p:extLst>
      <p:ext uri="{BB962C8B-B14F-4D97-AF65-F5344CB8AC3E}">
        <p14:creationId xmlns:p14="http://schemas.microsoft.com/office/powerpoint/2010/main" val="3939008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7D3A4-3E96-4D20-5B70-64B6322232E3}"/>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Illustration</a:t>
            </a:r>
          </a:p>
        </p:txBody>
      </p:sp>
      <p:sp>
        <p:nvSpPr>
          <p:cNvPr id="5" name="Rectangle 4">
            <a:extLst>
              <a:ext uri="{FF2B5EF4-FFF2-40B4-BE49-F238E27FC236}">
                <a16:creationId xmlns:a16="http://schemas.microsoft.com/office/drawing/2014/main" id="{35AB99CF-DA67-D806-1898-86B51D60E910}"/>
              </a:ext>
            </a:extLst>
          </p:cNvPr>
          <p:cNvSpPr/>
          <p:nvPr/>
        </p:nvSpPr>
        <p:spPr>
          <a:xfrm>
            <a:off x="1892114" y="2243555"/>
            <a:ext cx="2667000" cy="570311"/>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Doctor’s application</a:t>
            </a:r>
          </a:p>
        </p:txBody>
      </p:sp>
      <p:pic>
        <p:nvPicPr>
          <p:cNvPr id="2050" name="Picture 2" descr="38 Free Pharmacy transparent PNG images">
            <a:extLst>
              <a:ext uri="{FF2B5EF4-FFF2-40B4-BE49-F238E27FC236}">
                <a16:creationId xmlns:a16="http://schemas.microsoft.com/office/drawing/2014/main" id="{34F1F62F-AB64-7FF6-FD17-BAA6FF4E0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5769" y="1084449"/>
            <a:ext cx="2143125" cy="2143125"/>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a:extLst/>
        </p:spPr>
      </p:pic>
      <p:pic>
        <p:nvPicPr>
          <p:cNvPr id="2054" name="Picture 6" descr="Doctor clip art Images - Free Download ...">
            <a:extLst>
              <a:ext uri="{FF2B5EF4-FFF2-40B4-BE49-F238E27FC236}">
                <a16:creationId xmlns:a16="http://schemas.microsoft.com/office/drawing/2014/main" id="{AA788C69-9FDA-420F-EB88-08A7AC763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1" y="1323623"/>
            <a:ext cx="1104899" cy="241017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2058" name="Picture 10" descr="Cartoon Business Man With Phone PNG ...">
            <a:extLst>
              <a:ext uri="{FF2B5EF4-FFF2-40B4-BE49-F238E27FC236}">
                <a16:creationId xmlns:a16="http://schemas.microsoft.com/office/drawing/2014/main" id="{43F9FF77-E785-3665-4306-F978CA1E0D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4846881"/>
            <a:ext cx="1914525" cy="1914525"/>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3F7D6B0-FC66-5E98-7078-C00E8D54A5CB}"/>
              </a:ext>
            </a:extLst>
          </p:cNvPr>
          <p:cNvSpPr/>
          <p:nvPr/>
        </p:nvSpPr>
        <p:spPr>
          <a:xfrm>
            <a:off x="7225273" y="2299060"/>
            <a:ext cx="2667000" cy="575845"/>
          </a:xfrm>
          <a:prstGeom prst="rect">
            <a:avLst/>
          </a:prstGeom>
          <a:solidFill>
            <a:schemeClr val="accent5">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Pharmacist’s application</a:t>
            </a:r>
          </a:p>
        </p:txBody>
      </p:sp>
      <p:sp>
        <p:nvSpPr>
          <p:cNvPr id="9" name="Rectangle 8">
            <a:extLst>
              <a:ext uri="{FF2B5EF4-FFF2-40B4-BE49-F238E27FC236}">
                <a16:creationId xmlns:a16="http://schemas.microsoft.com/office/drawing/2014/main" id="{25FE010E-F77B-630D-CA30-33A075AD47E9}"/>
              </a:ext>
            </a:extLst>
          </p:cNvPr>
          <p:cNvSpPr/>
          <p:nvPr/>
        </p:nvSpPr>
        <p:spPr>
          <a:xfrm>
            <a:off x="4827494" y="3799466"/>
            <a:ext cx="2667000" cy="543934"/>
          </a:xfrm>
          <a:prstGeom prst="rect">
            <a:avLst/>
          </a:prstGeom>
          <a:solidFill>
            <a:schemeClr val="accent5">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Patient’s Mobile app</a:t>
            </a:r>
          </a:p>
        </p:txBody>
      </p:sp>
      <p:sp>
        <p:nvSpPr>
          <p:cNvPr id="10" name="Cylinder 9">
            <a:extLst>
              <a:ext uri="{FF2B5EF4-FFF2-40B4-BE49-F238E27FC236}">
                <a16:creationId xmlns:a16="http://schemas.microsoft.com/office/drawing/2014/main" id="{43BBB268-E76F-B283-A117-6FBC869C6F37}"/>
              </a:ext>
            </a:extLst>
          </p:cNvPr>
          <p:cNvSpPr/>
          <p:nvPr/>
        </p:nvSpPr>
        <p:spPr>
          <a:xfrm>
            <a:off x="4558273" y="1919495"/>
            <a:ext cx="2667000" cy="1879968"/>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HMS DB</a:t>
            </a:r>
          </a:p>
        </p:txBody>
      </p:sp>
      <p:cxnSp>
        <p:nvCxnSpPr>
          <p:cNvPr id="12" name="Connector: Curved 11">
            <a:extLst>
              <a:ext uri="{FF2B5EF4-FFF2-40B4-BE49-F238E27FC236}">
                <a16:creationId xmlns:a16="http://schemas.microsoft.com/office/drawing/2014/main" id="{66176DBC-C46E-1ECB-8DD9-D5B714CE3466}"/>
              </a:ext>
            </a:extLst>
          </p:cNvPr>
          <p:cNvCxnSpPr>
            <a:stCxn id="2058" idx="1"/>
            <a:endCxn id="2054" idx="2"/>
          </p:cNvCxnSpPr>
          <p:nvPr/>
        </p:nvCxnSpPr>
        <p:spPr>
          <a:xfrm rot="10800000">
            <a:off x="895352" y="3733800"/>
            <a:ext cx="4057649" cy="2070344"/>
          </a:xfrm>
          <a:prstGeom prst="curvedConnector2">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C7D1A71D-9E98-2EED-8175-78C2C7E91DBB}"/>
              </a:ext>
            </a:extLst>
          </p:cNvPr>
          <p:cNvSpPr txBox="1"/>
          <p:nvPr/>
        </p:nvSpPr>
        <p:spPr>
          <a:xfrm>
            <a:off x="9561664" y="4833364"/>
            <a:ext cx="2381250"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Gets Medicine</a:t>
            </a:r>
          </a:p>
        </p:txBody>
      </p:sp>
      <p:cxnSp>
        <p:nvCxnSpPr>
          <p:cNvPr id="15" name="Straight Arrow Connector 14">
            <a:extLst>
              <a:ext uri="{FF2B5EF4-FFF2-40B4-BE49-F238E27FC236}">
                <a16:creationId xmlns:a16="http://schemas.microsoft.com/office/drawing/2014/main" id="{6A9E121B-C56C-7F9C-5673-7FFB7735AAB4}"/>
              </a:ext>
            </a:extLst>
          </p:cNvPr>
          <p:cNvCxnSpPr>
            <a:stCxn id="2054" idx="3"/>
            <a:endCxn id="5" idx="1"/>
          </p:cNvCxnSpPr>
          <p:nvPr/>
        </p:nvCxnSpPr>
        <p:spPr>
          <a:xfrm flipV="1">
            <a:off x="1447800" y="2528711"/>
            <a:ext cx="444314"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1822814A-BA1F-9AB2-087D-1A83822CCB54}"/>
              </a:ext>
            </a:extLst>
          </p:cNvPr>
          <p:cNvCxnSpPr>
            <a:endCxn id="2050" idx="2"/>
          </p:cNvCxnSpPr>
          <p:nvPr/>
        </p:nvCxnSpPr>
        <p:spPr>
          <a:xfrm flipV="1">
            <a:off x="6867525" y="3227574"/>
            <a:ext cx="4279807" cy="2576569"/>
          </a:xfrm>
          <a:prstGeom prst="curvedConnector2">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31991C78-092A-2C3F-F169-935A4BD689FD}"/>
              </a:ext>
            </a:extLst>
          </p:cNvPr>
          <p:cNvSpPr txBox="1"/>
          <p:nvPr/>
        </p:nvSpPr>
        <p:spPr>
          <a:xfrm>
            <a:off x="1748609" y="4515858"/>
            <a:ext cx="2381250"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Patient visits doctor</a:t>
            </a:r>
          </a:p>
        </p:txBody>
      </p:sp>
      <p:sp>
        <p:nvSpPr>
          <p:cNvPr id="24" name="TextBox 23">
            <a:extLst>
              <a:ext uri="{FF2B5EF4-FFF2-40B4-BE49-F238E27FC236}">
                <a16:creationId xmlns:a16="http://schemas.microsoft.com/office/drawing/2014/main" id="{61FA7327-3812-E905-8BE7-C0F091843EAD}"/>
              </a:ext>
            </a:extLst>
          </p:cNvPr>
          <p:cNvSpPr txBox="1"/>
          <p:nvPr/>
        </p:nvSpPr>
        <p:spPr>
          <a:xfrm>
            <a:off x="5914744" y="6206758"/>
            <a:ext cx="6134099" cy="338554"/>
          </a:xfrm>
          <a:prstGeom prst="rect">
            <a:avLst/>
          </a:prstGeom>
          <a:noFill/>
        </p:spPr>
        <p:txBody>
          <a:bodyPr wrap="square" rtlCol="0">
            <a:spAutoFit/>
          </a:bodyPr>
          <a:lstStyle/>
          <a:p>
            <a:pPr algn="ctr"/>
            <a:r>
              <a:rPr lang="en-US" sz="1600" dirty="0">
                <a:latin typeface="Helvetica" panose="020B0604020202020204" pitchFamily="34" charset="0"/>
                <a:cs typeface="Helvetica" panose="020B0604020202020204" pitchFamily="34" charset="0"/>
              </a:rPr>
              <a:t>Additionally view the doctor’s prescription on the mobile app</a:t>
            </a:r>
          </a:p>
        </p:txBody>
      </p:sp>
      <p:sp>
        <p:nvSpPr>
          <p:cNvPr id="25" name="TextBox 24">
            <a:extLst>
              <a:ext uri="{FF2B5EF4-FFF2-40B4-BE49-F238E27FC236}">
                <a16:creationId xmlns:a16="http://schemas.microsoft.com/office/drawing/2014/main" id="{6790E14F-F264-4FBA-B7EC-6327F314D827}"/>
              </a:ext>
            </a:extLst>
          </p:cNvPr>
          <p:cNvSpPr txBox="1"/>
          <p:nvPr/>
        </p:nvSpPr>
        <p:spPr>
          <a:xfrm>
            <a:off x="-305291" y="3799463"/>
            <a:ext cx="1748609"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Doctor</a:t>
            </a:r>
          </a:p>
        </p:txBody>
      </p:sp>
      <p:sp>
        <p:nvSpPr>
          <p:cNvPr id="26" name="TextBox 25">
            <a:extLst>
              <a:ext uri="{FF2B5EF4-FFF2-40B4-BE49-F238E27FC236}">
                <a16:creationId xmlns:a16="http://schemas.microsoft.com/office/drawing/2014/main" id="{8A904AE4-3D76-9F52-656F-A0ECD58E1351}"/>
              </a:ext>
            </a:extLst>
          </p:cNvPr>
          <p:cNvSpPr txBox="1"/>
          <p:nvPr/>
        </p:nvSpPr>
        <p:spPr>
          <a:xfrm>
            <a:off x="9877985" y="3277520"/>
            <a:ext cx="1748609"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Pharmacist</a:t>
            </a:r>
          </a:p>
        </p:txBody>
      </p:sp>
      <p:sp>
        <p:nvSpPr>
          <p:cNvPr id="27" name="TextBox 26">
            <a:extLst>
              <a:ext uri="{FF2B5EF4-FFF2-40B4-BE49-F238E27FC236}">
                <a16:creationId xmlns:a16="http://schemas.microsoft.com/office/drawing/2014/main" id="{E96EE846-8BB9-B797-C8F5-3888F6A2D45F}"/>
              </a:ext>
            </a:extLst>
          </p:cNvPr>
          <p:cNvSpPr txBox="1"/>
          <p:nvPr/>
        </p:nvSpPr>
        <p:spPr>
          <a:xfrm>
            <a:off x="3866403" y="6354746"/>
            <a:ext cx="1748609"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Patient</a:t>
            </a:r>
          </a:p>
        </p:txBody>
      </p:sp>
      <p:cxnSp>
        <p:nvCxnSpPr>
          <p:cNvPr id="28" name="Straight Arrow Connector 27">
            <a:extLst>
              <a:ext uri="{FF2B5EF4-FFF2-40B4-BE49-F238E27FC236}">
                <a16:creationId xmlns:a16="http://schemas.microsoft.com/office/drawing/2014/main" id="{5870D73C-EFBF-674F-1F0A-97AF780E3FD7}"/>
              </a:ext>
            </a:extLst>
          </p:cNvPr>
          <p:cNvCxnSpPr>
            <a:cxnSpLocks/>
            <a:endCxn id="8" idx="3"/>
          </p:cNvCxnSpPr>
          <p:nvPr/>
        </p:nvCxnSpPr>
        <p:spPr>
          <a:xfrm flipH="1">
            <a:off x="9892273" y="2586983"/>
            <a:ext cx="40761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4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3" grpId="0"/>
      <p:bldP spid="23" grpId="0"/>
      <p:bldP spid="24" grpId="0"/>
      <p:bldP spid="25" grpId="0"/>
      <p:bldP spid="26" grpId="0"/>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CB8E-4C62-374A-2CE1-4E752CA0459C}"/>
              </a:ext>
            </a:extLst>
          </p:cNvPr>
          <p:cNvSpPr>
            <a:spLocks noGrp="1"/>
          </p:cNvSpPr>
          <p:nvPr>
            <p:ph type="title"/>
          </p:nvPr>
        </p:nvSpPr>
        <p:spPr/>
        <p:txBody>
          <a:bodyPr/>
          <a:lstStyle/>
          <a:p>
            <a:r>
              <a:rPr lang="en-US" dirty="0"/>
              <a:t>Scenarios</a:t>
            </a:r>
          </a:p>
        </p:txBody>
      </p:sp>
      <p:sp>
        <p:nvSpPr>
          <p:cNvPr id="3" name="Text Placeholder 2">
            <a:extLst>
              <a:ext uri="{FF2B5EF4-FFF2-40B4-BE49-F238E27FC236}">
                <a16:creationId xmlns:a16="http://schemas.microsoft.com/office/drawing/2014/main" id="{01C849B9-CAA7-9BC5-06B4-1A154F212A63}"/>
              </a:ext>
            </a:extLst>
          </p:cNvPr>
          <p:cNvSpPr>
            <a:spLocks noGrp="1"/>
          </p:cNvSpPr>
          <p:nvPr>
            <p:ph type="body" sz="quarter" idx="13"/>
          </p:nvPr>
        </p:nvSpPr>
        <p:spPr>
          <a:xfrm>
            <a:off x="228600" y="1066800"/>
            <a:ext cx="11734800" cy="5334000"/>
          </a:xfrm>
        </p:spPr>
        <p:txBody>
          <a:bodyPr/>
          <a:lstStyle/>
          <a:p>
            <a:pPr marL="0" indent="0">
              <a:buNone/>
            </a:pPr>
            <a:r>
              <a:rPr lang="en-US" dirty="0"/>
              <a:t>	</a:t>
            </a:r>
          </a:p>
        </p:txBody>
      </p:sp>
      <p:sp>
        <p:nvSpPr>
          <p:cNvPr id="6" name="Rectangle 5">
            <a:extLst>
              <a:ext uri="{FF2B5EF4-FFF2-40B4-BE49-F238E27FC236}">
                <a16:creationId xmlns:a16="http://schemas.microsoft.com/office/drawing/2014/main" id="{E7F03239-1250-0A20-A215-CFD818F94916}"/>
              </a:ext>
            </a:extLst>
          </p:cNvPr>
          <p:cNvSpPr/>
          <p:nvPr/>
        </p:nvSpPr>
        <p:spPr>
          <a:xfrm>
            <a:off x="6350000" y="1283136"/>
            <a:ext cx="2286000" cy="286870"/>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Application / Process 1</a:t>
            </a:r>
          </a:p>
        </p:txBody>
      </p:sp>
      <p:sp>
        <p:nvSpPr>
          <p:cNvPr id="7" name="Cylinder 6">
            <a:extLst>
              <a:ext uri="{FF2B5EF4-FFF2-40B4-BE49-F238E27FC236}">
                <a16:creationId xmlns:a16="http://schemas.microsoft.com/office/drawing/2014/main" id="{A2336318-C060-2D80-ED92-6278697473F0}"/>
              </a:ext>
            </a:extLst>
          </p:cNvPr>
          <p:cNvSpPr/>
          <p:nvPr/>
        </p:nvSpPr>
        <p:spPr>
          <a:xfrm>
            <a:off x="8839200" y="1044389"/>
            <a:ext cx="635000" cy="764364"/>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DB</a:t>
            </a:r>
          </a:p>
        </p:txBody>
      </p:sp>
      <p:sp>
        <p:nvSpPr>
          <p:cNvPr id="8" name="Rectangle 7">
            <a:extLst>
              <a:ext uri="{FF2B5EF4-FFF2-40B4-BE49-F238E27FC236}">
                <a16:creationId xmlns:a16="http://schemas.microsoft.com/office/drawing/2014/main" id="{76B02055-B53D-43C9-B6B5-AB442B0E7E71}"/>
              </a:ext>
            </a:extLst>
          </p:cNvPr>
          <p:cNvSpPr/>
          <p:nvPr/>
        </p:nvSpPr>
        <p:spPr>
          <a:xfrm>
            <a:off x="9668435" y="1283136"/>
            <a:ext cx="2286000" cy="286870"/>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Application / Process 2</a:t>
            </a:r>
          </a:p>
        </p:txBody>
      </p:sp>
      <p:sp>
        <p:nvSpPr>
          <p:cNvPr id="9" name="Flowchart: Predefined Process 8">
            <a:extLst>
              <a:ext uri="{FF2B5EF4-FFF2-40B4-BE49-F238E27FC236}">
                <a16:creationId xmlns:a16="http://schemas.microsoft.com/office/drawing/2014/main" id="{C92FFB83-05C9-61F8-F270-DF04780900C7}"/>
              </a:ext>
            </a:extLst>
          </p:cNvPr>
          <p:cNvSpPr/>
          <p:nvPr/>
        </p:nvSpPr>
        <p:spPr>
          <a:xfrm>
            <a:off x="7239000" y="1808753"/>
            <a:ext cx="1405965" cy="401047"/>
          </a:xfrm>
          <a:prstGeom prst="flowChartPredefinedProcess">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Encodes</a:t>
            </a:r>
          </a:p>
        </p:txBody>
      </p:sp>
      <p:sp>
        <p:nvSpPr>
          <p:cNvPr id="10" name="Flowchart: Predefined Process 9">
            <a:extLst>
              <a:ext uri="{FF2B5EF4-FFF2-40B4-BE49-F238E27FC236}">
                <a16:creationId xmlns:a16="http://schemas.microsoft.com/office/drawing/2014/main" id="{C41D35F9-0018-652A-8DDF-F463158E6D68}"/>
              </a:ext>
            </a:extLst>
          </p:cNvPr>
          <p:cNvSpPr/>
          <p:nvPr/>
        </p:nvSpPr>
        <p:spPr>
          <a:xfrm>
            <a:off x="9601200" y="1784224"/>
            <a:ext cx="1405965" cy="401047"/>
          </a:xfrm>
          <a:prstGeom prst="flowChartPredefinedProcess">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Decodes</a:t>
            </a:r>
          </a:p>
        </p:txBody>
      </p:sp>
      <p:cxnSp>
        <p:nvCxnSpPr>
          <p:cNvPr id="12" name="Connector: Curved 11">
            <a:extLst>
              <a:ext uri="{FF2B5EF4-FFF2-40B4-BE49-F238E27FC236}">
                <a16:creationId xmlns:a16="http://schemas.microsoft.com/office/drawing/2014/main" id="{3A224A6D-C968-CAB4-81C7-3C076743856F}"/>
              </a:ext>
            </a:extLst>
          </p:cNvPr>
          <p:cNvCxnSpPr>
            <a:stCxn id="6" idx="2"/>
            <a:endCxn id="9" idx="1"/>
          </p:cNvCxnSpPr>
          <p:nvPr/>
        </p:nvCxnSpPr>
        <p:spPr>
          <a:xfrm rot="5400000">
            <a:off x="7146365" y="1662641"/>
            <a:ext cx="439271" cy="254000"/>
          </a:xfrm>
          <a:prstGeom prst="curvedConnector4">
            <a:avLst>
              <a:gd name="adj1" fmla="val 27175"/>
              <a:gd name="adj2" fmla="val 190000"/>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Connector: Curved 13">
            <a:extLst>
              <a:ext uri="{FF2B5EF4-FFF2-40B4-BE49-F238E27FC236}">
                <a16:creationId xmlns:a16="http://schemas.microsoft.com/office/drawing/2014/main" id="{097C90F3-7A6D-547F-2F98-734015FB5D33}"/>
              </a:ext>
            </a:extLst>
          </p:cNvPr>
          <p:cNvCxnSpPr>
            <a:cxnSpLocks/>
            <a:stCxn id="10" idx="3"/>
            <a:endCxn id="8" idx="2"/>
          </p:cNvCxnSpPr>
          <p:nvPr/>
        </p:nvCxnSpPr>
        <p:spPr>
          <a:xfrm flipH="1" flipV="1">
            <a:off x="10811435" y="1570006"/>
            <a:ext cx="195730" cy="414742"/>
          </a:xfrm>
          <a:prstGeom prst="curvedConnector4">
            <a:avLst>
              <a:gd name="adj1" fmla="val -116794"/>
              <a:gd name="adj2" fmla="val 74175"/>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Connector: Curved 18">
            <a:extLst>
              <a:ext uri="{FF2B5EF4-FFF2-40B4-BE49-F238E27FC236}">
                <a16:creationId xmlns:a16="http://schemas.microsoft.com/office/drawing/2014/main" id="{066B3B85-549D-7D02-4AE7-FEA9EE1D7650}"/>
              </a:ext>
            </a:extLst>
          </p:cNvPr>
          <p:cNvCxnSpPr>
            <a:stCxn id="9" idx="3"/>
            <a:endCxn id="7" idx="3"/>
          </p:cNvCxnSpPr>
          <p:nvPr/>
        </p:nvCxnSpPr>
        <p:spPr>
          <a:xfrm flipV="1">
            <a:off x="8644965" y="1808753"/>
            <a:ext cx="511735" cy="200524"/>
          </a:xfrm>
          <a:prstGeom prst="curvedConnector2">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Connector: Curved 20">
            <a:extLst>
              <a:ext uri="{FF2B5EF4-FFF2-40B4-BE49-F238E27FC236}">
                <a16:creationId xmlns:a16="http://schemas.microsoft.com/office/drawing/2014/main" id="{E33862E5-2FDB-1964-0C77-AF4212D7997B}"/>
              </a:ext>
            </a:extLst>
          </p:cNvPr>
          <p:cNvCxnSpPr>
            <a:stCxn id="7" idx="3"/>
            <a:endCxn id="10" idx="1"/>
          </p:cNvCxnSpPr>
          <p:nvPr/>
        </p:nvCxnSpPr>
        <p:spPr>
          <a:xfrm rot="16200000" flipH="1">
            <a:off x="9324570" y="1640882"/>
            <a:ext cx="175994" cy="511735"/>
          </a:xfrm>
          <a:prstGeom prst="curvedConnector2">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F64F0281-FAE4-FDF5-F702-1555109CACEB}"/>
              </a:ext>
            </a:extLst>
          </p:cNvPr>
          <p:cNvSpPr txBox="1"/>
          <p:nvPr/>
        </p:nvSpPr>
        <p:spPr>
          <a:xfrm>
            <a:off x="152400" y="2495966"/>
            <a:ext cx="5845737" cy="1477328"/>
          </a:xfrm>
          <a:prstGeom prst="rect">
            <a:avLst/>
          </a:prstGeom>
          <a:noFill/>
        </p:spPr>
        <p:txBody>
          <a:bodyPr wrap="square" rtlCol="0">
            <a:spAutoFit/>
          </a:bodyPr>
          <a:lstStyle/>
          <a:p>
            <a:pPr algn="just"/>
            <a:r>
              <a:rPr lang="en-US" b="1" u="sng" dirty="0">
                <a:latin typeface="Helvetica" panose="020B0604020202020204" pitchFamily="34" charset="0"/>
                <a:cs typeface="Helvetica" panose="020B0604020202020204" pitchFamily="34" charset="0"/>
              </a:rPr>
              <a:t>Scenario 2: </a:t>
            </a:r>
            <a:r>
              <a:rPr lang="en-US" dirty="0" smtClean="0">
                <a:latin typeface="Helvetica" panose="020B0604020202020204" pitchFamily="34" charset="0"/>
                <a:cs typeface="Helvetica" panose="020B0604020202020204" pitchFamily="34" charset="0"/>
              </a:rPr>
              <a:t>A </a:t>
            </a:r>
            <a:r>
              <a:rPr lang="en-US" dirty="0">
                <a:latin typeface="Helvetica" panose="020B0604020202020204" pitchFamily="34" charset="0"/>
                <a:cs typeface="Helvetica" panose="020B0604020202020204" pitchFamily="34" charset="0"/>
              </a:rPr>
              <a:t>single process accessing the database, in which case the reader is simply a later version of the same process. Backward compatibility is clearly necessary here, otherwise won’t be able to decode what was previously wrote</a:t>
            </a:r>
          </a:p>
        </p:txBody>
      </p:sp>
      <p:cxnSp>
        <p:nvCxnSpPr>
          <p:cNvPr id="24" name="Straight Connector 23">
            <a:extLst>
              <a:ext uri="{FF2B5EF4-FFF2-40B4-BE49-F238E27FC236}">
                <a16:creationId xmlns:a16="http://schemas.microsoft.com/office/drawing/2014/main" id="{C6933316-AF41-F037-9044-28C43D1D9A92}"/>
              </a:ext>
            </a:extLst>
          </p:cNvPr>
          <p:cNvCxnSpPr>
            <a:cxnSpLocks/>
          </p:cNvCxnSpPr>
          <p:nvPr/>
        </p:nvCxnSpPr>
        <p:spPr>
          <a:xfrm>
            <a:off x="0" y="2475514"/>
            <a:ext cx="12192000" cy="4482"/>
          </a:xfrm>
          <a:prstGeom prst="line">
            <a:avLst/>
          </a:prstGeom>
          <a:ln w="28575" cap="flat" cmpd="sng" algn="ctr">
            <a:solidFill>
              <a:srgbClr val="7030A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Rectangle 25">
            <a:extLst>
              <a:ext uri="{FF2B5EF4-FFF2-40B4-BE49-F238E27FC236}">
                <a16:creationId xmlns:a16="http://schemas.microsoft.com/office/drawing/2014/main" id="{7F676B31-19CE-3027-8E21-D50E9E879AA5}"/>
              </a:ext>
            </a:extLst>
          </p:cNvPr>
          <p:cNvSpPr/>
          <p:nvPr/>
        </p:nvSpPr>
        <p:spPr>
          <a:xfrm>
            <a:off x="6268571" y="3381313"/>
            <a:ext cx="2300194" cy="438264"/>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Application / Process – V1.01</a:t>
            </a:r>
          </a:p>
        </p:txBody>
      </p:sp>
      <p:sp>
        <p:nvSpPr>
          <p:cNvPr id="27" name="Cylinder 26">
            <a:extLst>
              <a:ext uri="{FF2B5EF4-FFF2-40B4-BE49-F238E27FC236}">
                <a16:creationId xmlns:a16="http://schemas.microsoft.com/office/drawing/2014/main" id="{4D46B1DA-8623-45A9-61E3-7E5DEFEBA4B1}"/>
              </a:ext>
            </a:extLst>
          </p:cNvPr>
          <p:cNvSpPr/>
          <p:nvPr/>
        </p:nvSpPr>
        <p:spPr>
          <a:xfrm>
            <a:off x="8771965" y="3350436"/>
            <a:ext cx="635000" cy="764364"/>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DB</a:t>
            </a:r>
          </a:p>
        </p:txBody>
      </p:sp>
      <p:sp>
        <p:nvSpPr>
          <p:cNvPr id="28" name="Rectangle 27">
            <a:extLst>
              <a:ext uri="{FF2B5EF4-FFF2-40B4-BE49-F238E27FC236}">
                <a16:creationId xmlns:a16="http://schemas.microsoft.com/office/drawing/2014/main" id="{E7ADCCC0-0B63-EF6E-1F1D-9CF20268229C}"/>
              </a:ext>
            </a:extLst>
          </p:cNvPr>
          <p:cNvSpPr/>
          <p:nvPr/>
        </p:nvSpPr>
        <p:spPr>
          <a:xfrm>
            <a:off x="9601199" y="3388660"/>
            <a:ext cx="2362201" cy="447055"/>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Application / Process – V1.02</a:t>
            </a:r>
          </a:p>
        </p:txBody>
      </p:sp>
      <p:cxnSp>
        <p:nvCxnSpPr>
          <p:cNvPr id="30" name="Connector: Curved 29">
            <a:extLst>
              <a:ext uri="{FF2B5EF4-FFF2-40B4-BE49-F238E27FC236}">
                <a16:creationId xmlns:a16="http://schemas.microsoft.com/office/drawing/2014/main" id="{F2550201-EBB8-44CD-D227-97E57B27872B}"/>
              </a:ext>
            </a:extLst>
          </p:cNvPr>
          <p:cNvCxnSpPr>
            <a:cxnSpLocks/>
            <a:stCxn id="26" idx="2"/>
            <a:endCxn id="27" idx="2"/>
          </p:cNvCxnSpPr>
          <p:nvPr/>
        </p:nvCxnSpPr>
        <p:spPr>
          <a:xfrm rot="5400000" flipH="1" flipV="1">
            <a:off x="8051836" y="3099449"/>
            <a:ext cx="86959" cy="1353297"/>
          </a:xfrm>
          <a:prstGeom prst="curvedConnector4">
            <a:avLst>
              <a:gd name="adj1" fmla="val -262883"/>
              <a:gd name="adj2" fmla="val 92492"/>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Connector: Curved 31">
            <a:extLst>
              <a:ext uri="{FF2B5EF4-FFF2-40B4-BE49-F238E27FC236}">
                <a16:creationId xmlns:a16="http://schemas.microsoft.com/office/drawing/2014/main" id="{D4553135-1446-2A0D-FC4B-812E90E7FCFD}"/>
              </a:ext>
            </a:extLst>
          </p:cNvPr>
          <p:cNvCxnSpPr>
            <a:cxnSpLocks/>
            <a:stCxn id="27" idx="4"/>
            <a:endCxn id="28" idx="2"/>
          </p:cNvCxnSpPr>
          <p:nvPr/>
        </p:nvCxnSpPr>
        <p:spPr>
          <a:xfrm>
            <a:off x="9406965" y="3732618"/>
            <a:ext cx="1375335" cy="103097"/>
          </a:xfrm>
          <a:prstGeom prst="curvedConnector4">
            <a:avLst>
              <a:gd name="adj1" fmla="val 7061"/>
              <a:gd name="adj2" fmla="val 321733"/>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TextBox 32">
            <a:extLst>
              <a:ext uri="{FF2B5EF4-FFF2-40B4-BE49-F238E27FC236}">
                <a16:creationId xmlns:a16="http://schemas.microsoft.com/office/drawing/2014/main" id="{287BCD84-3C7C-C231-65A8-A6AFC98C4D42}"/>
              </a:ext>
            </a:extLst>
          </p:cNvPr>
          <p:cNvSpPr txBox="1"/>
          <p:nvPr/>
        </p:nvSpPr>
        <p:spPr>
          <a:xfrm>
            <a:off x="106707" y="1099430"/>
            <a:ext cx="6065744" cy="923330"/>
          </a:xfrm>
          <a:prstGeom prst="rect">
            <a:avLst/>
          </a:prstGeom>
          <a:noFill/>
        </p:spPr>
        <p:txBody>
          <a:bodyPr wrap="square" rtlCol="0">
            <a:spAutoFit/>
          </a:bodyPr>
          <a:lstStyle/>
          <a:p>
            <a:pPr algn="just"/>
            <a:r>
              <a:rPr lang="en-US" b="1" u="sng" dirty="0">
                <a:latin typeface="Helvetica" panose="020B0604020202020204" pitchFamily="34" charset="0"/>
                <a:cs typeface="Helvetica" panose="020B0604020202020204" pitchFamily="34" charset="0"/>
              </a:rPr>
              <a:t>Scenario 1: </a:t>
            </a:r>
            <a:r>
              <a:rPr lang="en-US" dirty="0" smtClean="0">
                <a:latin typeface="Helvetica" panose="020B0604020202020204" pitchFamily="34" charset="0"/>
                <a:cs typeface="Helvetica" panose="020B0604020202020204" pitchFamily="34" charset="0"/>
              </a:rPr>
              <a:t>The </a:t>
            </a:r>
            <a:r>
              <a:rPr lang="en-US" dirty="0">
                <a:latin typeface="Helvetica" panose="020B0604020202020204" pitchFamily="34" charset="0"/>
                <a:cs typeface="Helvetica" panose="020B0604020202020204" pitchFamily="34" charset="0"/>
              </a:rPr>
              <a:t>process that writes to the database encodes the data, and the process that reads from the database decodes it</a:t>
            </a:r>
          </a:p>
        </p:txBody>
      </p:sp>
      <p:cxnSp>
        <p:nvCxnSpPr>
          <p:cNvPr id="43" name="Straight Connector 42">
            <a:extLst>
              <a:ext uri="{FF2B5EF4-FFF2-40B4-BE49-F238E27FC236}">
                <a16:creationId xmlns:a16="http://schemas.microsoft.com/office/drawing/2014/main" id="{721D6FA8-D637-0130-E611-43716A0AFC52}"/>
              </a:ext>
            </a:extLst>
          </p:cNvPr>
          <p:cNvCxnSpPr>
            <a:cxnSpLocks/>
          </p:cNvCxnSpPr>
          <p:nvPr/>
        </p:nvCxnSpPr>
        <p:spPr>
          <a:xfrm>
            <a:off x="0" y="4636906"/>
            <a:ext cx="12192000" cy="4482"/>
          </a:xfrm>
          <a:prstGeom prst="line">
            <a:avLst/>
          </a:prstGeom>
          <a:ln w="28575" cap="flat" cmpd="sng" algn="ctr">
            <a:solidFill>
              <a:srgbClr val="7030A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4" name="TextBox 43">
            <a:extLst>
              <a:ext uri="{FF2B5EF4-FFF2-40B4-BE49-F238E27FC236}">
                <a16:creationId xmlns:a16="http://schemas.microsoft.com/office/drawing/2014/main" id="{77C7B949-051E-B39A-9777-8577F5BE9CB6}"/>
              </a:ext>
            </a:extLst>
          </p:cNvPr>
          <p:cNvSpPr txBox="1"/>
          <p:nvPr/>
        </p:nvSpPr>
        <p:spPr>
          <a:xfrm>
            <a:off x="228600" y="4692123"/>
            <a:ext cx="5845737" cy="1200329"/>
          </a:xfrm>
          <a:prstGeom prst="rect">
            <a:avLst/>
          </a:prstGeom>
          <a:noFill/>
        </p:spPr>
        <p:txBody>
          <a:bodyPr wrap="square" rtlCol="0">
            <a:spAutoFit/>
          </a:bodyPr>
          <a:lstStyle/>
          <a:p>
            <a:pPr algn="just"/>
            <a:r>
              <a:rPr lang="en-US" b="1" u="sng" dirty="0">
                <a:latin typeface="Helvetica" panose="020B0604020202020204" pitchFamily="34" charset="0"/>
                <a:cs typeface="Helvetica" panose="020B0604020202020204" pitchFamily="34" charset="0"/>
              </a:rPr>
              <a:t>Scenario 3: </a:t>
            </a:r>
            <a:r>
              <a:rPr lang="en-US" dirty="0" smtClean="0">
                <a:latin typeface="Helvetica" panose="020B0604020202020204" pitchFamily="34" charset="0"/>
                <a:cs typeface="Helvetica" panose="020B0604020202020204" pitchFamily="34" charset="0"/>
              </a:rPr>
              <a:t>Several </a:t>
            </a:r>
            <a:r>
              <a:rPr lang="en-US" dirty="0">
                <a:latin typeface="Helvetica" panose="020B0604020202020204" pitchFamily="34" charset="0"/>
                <a:cs typeface="Helvetica" panose="020B0604020202020204" pitchFamily="34" charset="0"/>
              </a:rPr>
              <a:t>different processes to be accessing a database at the same time. For example, several different applications or services, or several instances of the same service </a:t>
            </a:r>
          </a:p>
        </p:txBody>
      </p:sp>
      <p:sp>
        <p:nvSpPr>
          <p:cNvPr id="45" name="Rectangle 44">
            <a:extLst>
              <a:ext uri="{FF2B5EF4-FFF2-40B4-BE49-F238E27FC236}">
                <a16:creationId xmlns:a16="http://schemas.microsoft.com/office/drawing/2014/main" id="{4E080E51-231F-3D2D-20FD-A92DB260B424}"/>
              </a:ext>
            </a:extLst>
          </p:cNvPr>
          <p:cNvSpPr/>
          <p:nvPr/>
        </p:nvSpPr>
        <p:spPr>
          <a:xfrm>
            <a:off x="6268571" y="4890982"/>
            <a:ext cx="2300194" cy="438264"/>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Application / Process – 1</a:t>
            </a:r>
          </a:p>
        </p:txBody>
      </p:sp>
      <p:sp>
        <p:nvSpPr>
          <p:cNvPr id="46" name="Cylinder 45">
            <a:extLst>
              <a:ext uri="{FF2B5EF4-FFF2-40B4-BE49-F238E27FC236}">
                <a16:creationId xmlns:a16="http://schemas.microsoft.com/office/drawing/2014/main" id="{116FFC69-712B-0B04-67A1-03C8CAB9522D}"/>
              </a:ext>
            </a:extLst>
          </p:cNvPr>
          <p:cNvSpPr/>
          <p:nvPr/>
        </p:nvSpPr>
        <p:spPr>
          <a:xfrm>
            <a:off x="8771965" y="4860105"/>
            <a:ext cx="635000" cy="764364"/>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DB</a:t>
            </a:r>
          </a:p>
        </p:txBody>
      </p:sp>
      <p:sp>
        <p:nvSpPr>
          <p:cNvPr id="47" name="Rectangle 46">
            <a:extLst>
              <a:ext uri="{FF2B5EF4-FFF2-40B4-BE49-F238E27FC236}">
                <a16:creationId xmlns:a16="http://schemas.microsoft.com/office/drawing/2014/main" id="{F0D962EA-171B-30EC-BA1F-903C1B4DD57A}"/>
              </a:ext>
            </a:extLst>
          </p:cNvPr>
          <p:cNvSpPr/>
          <p:nvPr/>
        </p:nvSpPr>
        <p:spPr>
          <a:xfrm>
            <a:off x="9601199" y="4898329"/>
            <a:ext cx="2362201" cy="447055"/>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Application / Process – 4</a:t>
            </a:r>
          </a:p>
        </p:txBody>
      </p:sp>
      <p:cxnSp>
        <p:nvCxnSpPr>
          <p:cNvPr id="48" name="Connector: Curved 47">
            <a:extLst>
              <a:ext uri="{FF2B5EF4-FFF2-40B4-BE49-F238E27FC236}">
                <a16:creationId xmlns:a16="http://schemas.microsoft.com/office/drawing/2014/main" id="{51E61BC9-A5FC-A54E-5E61-217DB2E47954}"/>
              </a:ext>
            </a:extLst>
          </p:cNvPr>
          <p:cNvCxnSpPr>
            <a:cxnSpLocks/>
            <a:stCxn id="45" idx="2"/>
            <a:endCxn id="46" idx="2"/>
          </p:cNvCxnSpPr>
          <p:nvPr/>
        </p:nvCxnSpPr>
        <p:spPr>
          <a:xfrm rot="5400000" flipH="1" flipV="1">
            <a:off x="8051836" y="4609118"/>
            <a:ext cx="86959" cy="1353297"/>
          </a:xfrm>
          <a:prstGeom prst="curvedConnector4">
            <a:avLst>
              <a:gd name="adj1" fmla="val -262883"/>
              <a:gd name="adj2" fmla="val 92492"/>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9" name="Connector: Curved 48">
            <a:extLst>
              <a:ext uri="{FF2B5EF4-FFF2-40B4-BE49-F238E27FC236}">
                <a16:creationId xmlns:a16="http://schemas.microsoft.com/office/drawing/2014/main" id="{195CF547-BFF8-1375-CFE0-CFDF451E5156}"/>
              </a:ext>
            </a:extLst>
          </p:cNvPr>
          <p:cNvCxnSpPr>
            <a:cxnSpLocks/>
            <a:stCxn id="46" idx="4"/>
            <a:endCxn id="47" idx="2"/>
          </p:cNvCxnSpPr>
          <p:nvPr/>
        </p:nvCxnSpPr>
        <p:spPr>
          <a:xfrm>
            <a:off x="9406965" y="5242287"/>
            <a:ext cx="1375335" cy="103097"/>
          </a:xfrm>
          <a:prstGeom prst="curvedConnector4">
            <a:avLst>
              <a:gd name="adj1" fmla="val 7061"/>
              <a:gd name="adj2" fmla="val 321733"/>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0" name="Rectangle 49">
            <a:extLst>
              <a:ext uri="{FF2B5EF4-FFF2-40B4-BE49-F238E27FC236}">
                <a16:creationId xmlns:a16="http://schemas.microsoft.com/office/drawing/2014/main" id="{F5D2DC54-A14E-89DB-C81A-CD70370C2FB8}"/>
              </a:ext>
            </a:extLst>
          </p:cNvPr>
          <p:cNvSpPr/>
          <p:nvPr/>
        </p:nvSpPr>
        <p:spPr>
          <a:xfrm>
            <a:off x="9352430" y="5987904"/>
            <a:ext cx="2300194" cy="438264"/>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Application / Process – 3</a:t>
            </a:r>
          </a:p>
        </p:txBody>
      </p:sp>
      <p:sp>
        <p:nvSpPr>
          <p:cNvPr id="51" name="Rectangle 50">
            <a:extLst>
              <a:ext uri="{FF2B5EF4-FFF2-40B4-BE49-F238E27FC236}">
                <a16:creationId xmlns:a16="http://schemas.microsoft.com/office/drawing/2014/main" id="{7BDD63AA-EA00-899E-FF5D-9B050166C2D3}"/>
              </a:ext>
            </a:extLst>
          </p:cNvPr>
          <p:cNvSpPr/>
          <p:nvPr/>
        </p:nvSpPr>
        <p:spPr>
          <a:xfrm>
            <a:off x="6757894" y="6018710"/>
            <a:ext cx="2300194" cy="438264"/>
          </a:xfrm>
          <a:prstGeom prst="rect">
            <a:avLst/>
          </a:prstGeo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dk1"/>
                </a:solidFill>
                <a:latin typeface="Helvetica" panose="020B0604020202020204" pitchFamily="34" charset="0"/>
                <a:cs typeface="Helvetica" panose="020B0604020202020204" pitchFamily="34" charset="0"/>
              </a:rPr>
              <a:t>Application / Process – 2</a:t>
            </a:r>
          </a:p>
        </p:txBody>
      </p:sp>
      <p:cxnSp>
        <p:nvCxnSpPr>
          <p:cNvPr id="52" name="Connector: Curved 51">
            <a:extLst>
              <a:ext uri="{FF2B5EF4-FFF2-40B4-BE49-F238E27FC236}">
                <a16:creationId xmlns:a16="http://schemas.microsoft.com/office/drawing/2014/main" id="{A01D5F41-8E08-BB57-5623-FFABD5F413DB}"/>
              </a:ext>
            </a:extLst>
          </p:cNvPr>
          <p:cNvCxnSpPr>
            <a:cxnSpLocks/>
            <a:endCxn id="46" idx="3"/>
          </p:cNvCxnSpPr>
          <p:nvPr/>
        </p:nvCxnSpPr>
        <p:spPr>
          <a:xfrm rot="10800000">
            <a:off x="9089465" y="5624469"/>
            <a:ext cx="1692834" cy="344686"/>
          </a:xfrm>
          <a:prstGeom prst="curvedConnector2">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5" name="Connector: Curved 54">
            <a:extLst>
              <a:ext uri="{FF2B5EF4-FFF2-40B4-BE49-F238E27FC236}">
                <a16:creationId xmlns:a16="http://schemas.microsoft.com/office/drawing/2014/main" id="{72964B4D-EAEF-5223-99F9-2CB97485C24E}"/>
              </a:ext>
            </a:extLst>
          </p:cNvPr>
          <p:cNvCxnSpPr>
            <a:cxnSpLocks/>
            <a:stCxn id="46" idx="3"/>
            <a:endCxn id="51" idx="0"/>
          </p:cNvCxnSpPr>
          <p:nvPr/>
        </p:nvCxnSpPr>
        <p:spPr>
          <a:xfrm rot="5400000">
            <a:off x="8301608" y="5230852"/>
            <a:ext cx="394241" cy="1181474"/>
          </a:xfrm>
          <a:prstGeom prst="curvedConnector3">
            <a:avLst>
              <a:gd name="adj1" fmla="val 50000"/>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5044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22" grpId="0"/>
      <p:bldP spid="26" grpId="0" animBg="1"/>
      <p:bldP spid="27" grpId="0" animBg="1"/>
      <p:bldP spid="28" grpId="0" animBg="1"/>
      <p:bldP spid="33" grpId="0"/>
      <p:bldP spid="44" grpId="0"/>
      <p:bldP spid="45" grpId="0" animBg="1"/>
      <p:bldP spid="46" grpId="0" animBg="1"/>
      <p:bldP spid="47" grpId="0" animBg="1"/>
      <p:bldP spid="50" grpId="0" animBg="1"/>
      <p:bldP spid="5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F9DDF-BFAC-3D8D-11C3-CD08EC0E3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21C5A-B716-354A-9D8B-BA5DC716219E}"/>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Points to Remember</a:t>
            </a:r>
          </a:p>
        </p:txBody>
      </p:sp>
      <p:sp>
        <p:nvSpPr>
          <p:cNvPr id="33" name="TextBox 32">
            <a:extLst>
              <a:ext uri="{FF2B5EF4-FFF2-40B4-BE49-F238E27FC236}">
                <a16:creationId xmlns:a16="http://schemas.microsoft.com/office/drawing/2014/main" id="{C6227146-6375-64E9-EE51-03A1F3B3AF1D}"/>
              </a:ext>
            </a:extLst>
          </p:cNvPr>
          <p:cNvSpPr txBox="1"/>
          <p:nvPr/>
        </p:nvSpPr>
        <p:spPr>
          <a:xfrm>
            <a:off x="132784" y="1051322"/>
            <a:ext cx="11983016" cy="3139321"/>
          </a:xfrm>
          <a:prstGeom prst="rect">
            <a:avLst/>
          </a:prstGeom>
          <a:noFill/>
        </p:spPr>
        <p:txBody>
          <a:bodyPr wrap="square" rtlCol="0">
            <a:spAutoFit/>
          </a:bodyPr>
          <a:lstStyle/>
          <a:p>
            <a:pPr marL="533400" indent="-352425" algn="just"/>
            <a:r>
              <a:rPr lang="en-US" b="1" u="sng" dirty="0">
                <a:latin typeface="Helvetica" panose="020B0604020202020204" pitchFamily="34" charset="0"/>
                <a:cs typeface="Helvetica" panose="020B0604020202020204" pitchFamily="34" charset="0"/>
              </a:rPr>
              <a:t>In a changing environment</a:t>
            </a:r>
          </a:p>
          <a:p>
            <a:pPr marL="533400" indent="-352425"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Likely that some processes accessing the database will be running newer code and some will be running older code </a:t>
            </a:r>
            <a:endParaRPr lang="en-US" dirty="0" smtClean="0">
              <a:latin typeface="Helvetica" panose="020B0604020202020204" pitchFamily="34" charset="0"/>
              <a:cs typeface="Helvetica" panose="020B0604020202020204" pitchFamily="34" charset="0"/>
            </a:endParaRPr>
          </a:p>
          <a:p>
            <a:pPr marL="533400" indent="-352425"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533400" indent="-352425"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 new version is currently being deployed in a rolling upgrade, so some instances have been updated, while others haven’t yet</a:t>
            </a:r>
            <a:r>
              <a:rPr lang="en-US" dirty="0" smtClean="0">
                <a:latin typeface="Helvetica" panose="020B0604020202020204" pitchFamily="34" charset="0"/>
                <a:cs typeface="Helvetica" panose="020B0604020202020204" pitchFamily="34" charset="0"/>
              </a:rPr>
              <a:t>!</a:t>
            </a:r>
          </a:p>
          <a:p>
            <a:pPr marL="533400" indent="-352425"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533400" indent="-352425"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Means that a value in the database may be written by a newer version of the code, and subsequently read by an older version of the code that is still </a:t>
            </a:r>
            <a:r>
              <a:rPr lang="en-US" dirty="0" smtClean="0">
                <a:latin typeface="Helvetica" panose="020B0604020202020204" pitchFamily="34" charset="0"/>
                <a:cs typeface="Helvetica" panose="020B0604020202020204" pitchFamily="34" charset="0"/>
              </a:rPr>
              <a:t>running</a:t>
            </a:r>
          </a:p>
          <a:p>
            <a:pPr marL="533400" indent="-352425"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533400" indent="-352425" algn="just">
              <a:buFont typeface="Wingdings" panose="05000000000000000000" pitchFamily="2" charset="2"/>
              <a:buChar char="Ø"/>
            </a:pPr>
            <a:r>
              <a:rPr lang="en-US" b="1" u="sng" dirty="0">
                <a:latin typeface="Helvetica" panose="020B0604020202020204" pitchFamily="34" charset="0"/>
                <a:cs typeface="Helvetica" panose="020B0604020202020204" pitchFamily="34" charset="0"/>
              </a:rPr>
              <a:t>Forward </a:t>
            </a:r>
            <a:r>
              <a:rPr lang="en-US" b="1" u="sng" dirty="0" smtClean="0">
                <a:latin typeface="Helvetica" panose="020B0604020202020204" pitchFamily="34" charset="0"/>
                <a:cs typeface="Helvetica" panose="020B0604020202020204" pitchFamily="34" charset="0"/>
              </a:rPr>
              <a:t>Compatibility </a:t>
            </a:r>
            <a:r>
              <a:rPr lang="en-US" dirty="0">
                <a:latin typeface="Helvetica" panose="020B0604020202020204" pitchFamily="34" charset="0"/>
                <a:cs typeface="Helvetica" panose="020B0604020202020204" pitchFamily="34" charset="0"/>
              </a:rPr>
              <a:t>is also often required for databases</a:t>
            </a:r>
            <a:endParaRPr lang="en-IN" dirty="0">
              <a:latin typeface="Helvetica" panose="020B0604020202020204" pitchFamily="34" charset="0"/>
              <a:cs typeface="Helvetica" panose="020B0604020202020204" pitchFamily="34" charset="0"/>
            </a:endParaRPr>
          </a:p>
        </p:txBody>
      </p:sp>
      <p:cxnSp>
        <p:nvCxnSpPr>
          <p:cNvPr id="13" name="Straight Connector 12">
            <a:extLst>
              <a:ext uri="{FF2B5EF4-FFF2-40B4-BE49-F238E27FC236}">
                <a16:creationId xmlns:a16="http://schemas.microsoft.com/office/drawing/2014/main" id="{BB9C7572-FAA1-59B6-0606-323CD227B987}"/>
              </a:ext>
            </a:extLst>
          </p:cNvPr>
          <p:cNvCxnSpPr>
            <a:cxnSpLocks/>
          </p:cNvCxnSpPr>
          <p:nvPr/>
        </p:nvCxnSpPr>
        <p:spPr>
          <a:xfrm>
            <a:off x="457200" y="5334000"/>
            <a:ext cx="10820400" cy="0"/>
          </a:xfrm>
          <a:prstGeom prst="line">
            <a:avLst/>
          </a:prstGeom>
          <a:ln w="762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Rectangle: Rounded Corners 14">
            <a:extLst>
              <a:ext uri="{FF2B5EF4-FFF2-40B4-BE49-F238E27FC236}">
                <a16:creationId xmlns:a16="http://schemas.microsoft.com/office/drawing/2014/main" id="{9A460B6D-8C5F-782F-CB17-0A530BFA8D57}"/>
              </a:ext>
            </a:extLst>
          </p:cNvPr>
          <p:cNvSpPr/>
          <p:nvPr/>
        </p:nvSpPr>
        <p:spPr>
          <a:xfrm>
            <a:off x="5334000" y="4419600"/>
            <a:ext cx="1295400" cy="9144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New System</a:t>
            </a:r>
          </a:p>
        </p:txBody>
      </p:sp>
      <p:sp>
        <p:nvSpPr>
          <p:cNvPr id="29" name="Oval 28">
            <a:extLst>
              <a:ext uri="{FF2B5EF4-FFF2-40B4-BE49-F238E27FC236}">
                <a16:creationId xmlns:a16="http://schemas.microsoft.com/office/drawing/2014/main" id="{5FF1F138-F9B6-AC2B-0DC6-9291F532BC3C}"/>
              </a:ext>
            </a:extLst>
          </p:cNvPr>
          <p:cNvSpPr/>
          <p:nvPr/>
        </p:nvSpPr>
        <p:spPr>
          <a:xfrm>
            <a:off x="1066800" y="5080748"/>
            <a:ext cx="587188" cy="55804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b="1" dirty="0">
                <a:latin typeface="Helvetica" panose="020B0604020202020204" pitchFamily="34" charset="0"/>
                <a:cs typeface="Helvetica" panose="020B0604020202020204" pitchFamily="34" charset="0"/>
              </a:rPr>
              <a:t>V1</a:t>
            </a:r>
          </a:p>
        </p:txBody>
      </p:sp>
      <p:sp>
        <p:nvSpPr>
          <p:cNvPr id="35" name="Oval 34">
            <a:extLst>
              <a:ext uri="{FF2B5EF4-FFF2-40B4-BE49-F238E27FC236}">
                <a16:creationId xmlns:a16="http://schemas.microsoft.com/office/drawing/2014/main" id="{1AABAF4D-8827-1B40-279B-9912434E22D4}"/>
              </a:ext>
            </a:extLst>
          </p:cNvPr>
          <p:cNvSpPr/>
          <p:nvPr/>
        </p:nvSpPr>
        <p:spPr>
          <a:xfrm>
            <a:off x="2460812" y="5089711"/>
            <a:ext cx="587188" cy="55804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b="1" dirty="0">
                <a:latin typeface="Helvetica" panose="020B0604020202020204" pitchFamily="34" charset="0"/>
                <a:cs typeface="Helvetica" panose="020B0604020202020204" pitchFamily="34" charset="0"/>
              </a:rPr>
              <a:t>V2</a:t>
            </a:r>
          </a:p>
        </p:txBody>
      </p:sp>
      <p:sp>
        <p:nvSpPr>
          <p:cNvPr id="36" name="Oval 35">
            <a:extLst>
              <a:ext uri="{FF2B5EF4-FFF2-40B4-BE49-F238E27FC236}">
                <a16:creationId xmlns:a16="http://schemas.microsoft.com/office/drawing/2014/main" id="{8751995A-95A7-D4C4-F5F9-9E51E2423433}"/>
              </a:ext>
            </a:extLst>
          </p:cNvPr>
          <p:cNvSpPr/>
          <p:nvPr/>
        </p:nvSpPr>
        <p:spPr>
          <a:xfrm>
            <a:off x="3913094" y="5089711"/>
            <a:ext cx="587188" cy="55804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b="1" dirty="0">
                <a:latin typeface="Helvetica" panose="020B0604020202020204" pitchFamily="34" charset="0"/>
                <a:cs typeface="Helvetica" panose="020B0604020202020204" pitchFamily="34" charset="0"/>
              </a:rPr>
              <a:t>V3</a:t>
            </a:r>
          </a:p>
        </p:txBody>
      </p:sp>
      <p:sp>
        <p:nvSpPr>
          <p:cNvPr id="37" name="Oval 36">
            <a:extLst>
              <a:ext uri="{FF2B5EF4-FFF2-40B4-BE49-F238E27FC236}">
                <a16:creationId xmlns:a16="http://schemas.microsoft.com/office/drawing/2014/main" id="{BAE7B196-0EAF-9935-30E2-C7D1153C6255}"/>
              </a:ext>
            </a:extLst>
          </p:cNvPr>
          <p:cNvSpPr/>
          <p:nvPr/>
        </p:nvSpPr>
        <p:spPr>
          <a:xfrm>
            <a:off x="7516906" y="5100920"/>
            <a:ext cx="587188" cy="46615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b="1" dirty="0">
                <a:latin typeface="Helvetica" panose="020B0604020202020204" pitchFamily="34" charset="0"/>
                <a:cs typeface="Helvetica" panose="020B0604020202020204" pitchFamily="34" charset="0"/>
              </a:rPr>
              <a:t>V4</a:t>
            </a:r>
          </a:p>
        </p:txBody>
      </p:sp>
      <p:sp>
        <p:nvSpPr>
          <p:cNvPr id="38" name="Oval 37">
            <a:extLst>
              <a:ext uri="{FF2B5EF4-FFF2-40B4-BE49-F238E27FC236}">
                <a16:creationId xmlns:a16="http://schemas.microsoft.com/office/drawing/2014/main" id="{B2F6DF1D-2DE2-E78A-0309-E9BCE48589BC}"/>
              </a:ext>
            </a:extLst>
          </p:cNvPr>
          <p:cNvSpPr/>
          <p:nvPr/>
        </p:nvSpPr>
        <p:spPr>
          <a:xfrm>
            <a:off x="9731188" y="5059455"/>
            <a:ext cx="587188" cy="55804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b="1" dirty="0">
                <a:latin typeface="Helvetica" panose="020B0604020202020204" pitchFamily="34" charset="0"/>
                <a:cs typeface="Helvetica" panose="020B0604020202020204" pitchFamily="34" charset="0"/>
              </a:rPr>
              <a:t>V5</a:t>
            </a:r>
          </a:p>
        </p:txBody>
      </p:sp>
      <p:sp>
        <p:nvSpPr>
          <p:cNvPr id="39" name="Arrow: Left 38">
            <a:extLst>
              <a:ext uri="{FF2B5EF4-FFF2-40B4-BE49-F238E27FC236}">
                <a16:creationId xmlns:a16="http://schemas.microsoft.com/office/drawing/2014/main" id="{2E8045DE-AB0F-DC84-97C2-48DEC7055692}"/>
              </a:ext>
            </a:extLst>
          </p:cNvPr>
          <p:cNvSpPr/>
          <p:nvPr/>
        </p:nvSpPr>
        <p:spPr>
          <a:xfrm>
            <a:off x="815788" y="5750850"/>
            <a:ext cx="5280212" cy="802346"/>
          </a:xfrm>
          <a:prstGeom prst="lef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Helvetica" panose="020B0604020202020204" pitchFamily="34" charset="0"/>
                <a:cs typeface="Helvetica" panose="020B0604020202020204" pitchFamily="34" charset="0"/>
              </a:rPr>
              <a:t>Reverse / Backward Compatibility</a:t>
            </a:r>
          </a:p>
        </p:txBody>
      </p:sp>
      <p:sp>
        <p:nvSpPr>
          <p:cNvPr id="40" name="Arrow: Right 39">
            <a:extLst>
              <a:ext uri="{FF2B5EF4-FFF2-40B4-BE49-F238E27FC236}">
                <a16:creationId xmlns:a16="http://schemas.microsoft.com/office/drawing/2014/main" id="{D2221CCE-B601-0519-C43E-AB66A9F8E7C3}"/>
              </a:ext>
            </a:extLst>
          </p:cNvPr>
          <p:cNvSpPr/>
          <p:nvPr/>
        </p:nvSpPr>
        <p:spPr>
          <a:xfrm>
            <a:off x="6113929" y="5750851"/>
            <a:ext cx="4724400" cy="802346"/>
          </a:xfrm>
          <a:prstGeom prst="rightArrow">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Helvetica" panose="020B0604020202020204" pitchFamily="34" charset="0"/>
                <a:cs typeface="Helvetica" panose="020B0604020202020204" pitchFamily="34" charset="0"/>
              </a:rPr>
              <a:t>Forward / Future Compatibility</a:t>
            </a:r>
          </a:p>
        </p:txBody>
      </p:sp>
    </p:spTree>
    <p:extLst>
      <p:ext uri="{BB962C8B-B14F-4D97-AF65-F5344CB8AC3E}">
        <p14:creationId xmlns:p14="http://schemas.microsoft.com/office/powerpoint/2010/main" val="54979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uild="p"/>
      <p:bldP spid="15" grpId="0" animBg="1"/>
      <p:bldP spid="29" grpId="0" animBg="1"/>
      <p:bldP spid="35" grpId="0" animBg="1"/>
      <p:bldP spid="36" grpId="0" animBg="1"/>
      <p:bldP spid="37" grpId="0" animBg="1"/>
      <p:bldP spid="38" grpId="0" animBg="1"/>
      <p:bldP spid="39" grpId="0" animBg="1"/>
      <p:bldP spid="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59CBC-918E-ACA9-B17E-0929FCA4694C}"/>
              </a:ext>
            </a:extLst>
          </p:cNvPr>
          <p:cNvSpPr>
            <a:spLocks noGrp="1"/>
          </p:cNvSpPr>
          <p:nvPr>
            <p:ph type="title"/>
          </p:nvPr>
        </p:nvSpPr>
        <p:spPr/>
        <p:txBody>
          <a:bodyPr/>
          <a:lstStyle/>
          <a:p>
            <a:r>
              <a:rPr lang="en-US" dirty="0"/>
              <a:t>Changes to data</a:t>
            </a:r>
          </a:p>
        </p:txBody>
      </p:sp>
      <p:pic>
        <p:nvPicPr>
          <p:cNvPr id="5" name="Picture 4">
            <a:extLst>
              <a:ext uri="{FF2B5EF4-FFF2-40B4-BE49-F238E27FC236}">
                <a16:creationId xmlns:a16="http://schemas.microsoft.com/office/drawing/2014/main" id="{F381FD85-23A7-718B-48F3-F5C0B906E287}"/>
              </a:ext>
            </a:extLst>
          </p:cNvPr>
          <p:cNvPicPr>
            <a:picLocks noChangeAspect="1"/>
          </p:cNvPicPr>
          <p:nvPr/>
        </p:nvPicPr>
        <p:blipFill>
          <a:blip r:embed="rId2"/>
          <a:stretch>
            <a:fillRect/>
          </a:stretch>
        </p:blipFill>
        <p:spPr>
          <a:xfrm>
            <a:off x="174625" y="1681161"/>
            <a:ext cx="5324475" cy="34956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33371C81-B7C1-4189-1A16-5F26E4858163}"/>
              </a:ext>
            </a:extLst>
          </p:cNvPr>
          <p:cNvSpPr txBox="1"/>
          <p:nvPr/>
        </p:nvSpPr>
        <p:spPr>
          <a:xfrm>
            <a:off x="5679329" y="1123240"/>
            <a:ext cx="5903071" cy="3693319"/>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If a field is added to a record schema, and the newer code writes a value for that new field to the database. Subsequently, an older version of the code (which doesn’t yet know about the new field) reads the record, updates it, and writes it </a:t>
            </a:r>
            <a:r>
              <a:rPr lang="en-US" dirty="0" smtClean="0">
                <a:latin typeface="Helvetica" panose="020B0604020202020204" pitchFamily="34" charset="0"/>
                <a:cs typeface="Helvetica" panose="020B0604020202020204" pitchFamily="34" charset="0"/>
              </a:rPr>
              <a:t>back</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In this situation, the desirable behavior is usually for the old code to keep the new field intact, even though it couldn’t be </a:t>
            </a:r>
            <a:r>
              <a:rPr lang="en-US" dirty="0" smtClean="0">
                <a:latin typeface="Helvetica" panose="020B0604020202020204" pitchFamily="34" charset="0"/>
                <a:cs typeface="Helvetica" panose="020B0604020202020204" pitchFamily="34" charset="0"/>
              </a:rPr>
              <a:t>interpreted</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encoding formats support such preservation of unknown fields, but sometimes need to take care at an application level</a:t>
            </a: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22770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A2F00-A955-4BFA-8A65-B262F3D1D1C6}"/>
              </a:ext>
            </a:extLst>
          </p:cNvPr>
          <p:cNvSpPr>
            <a:spLocks noGrp="1"/>
          </p:cNvSpPr>
          <p:nvPr>
            <p:ph type="title"/>
          </p:nvPr>
        </p:nvSpPr>
        <p:spPr/>
        <p:txBody>
          <a:bodyPr/>
          <a:lstStyle/>
          <a:p>
            <a:r>
              <a:rPr lang="en-US" dirty="0"/>
              <a:t>Points to Remember</a:t>
            </a:r>
          </a:p>
        </p:txBody>
      </p:sp>
      <p:sp>
        <p:nvSpPr>
          <p:cNvPr id="3" name="Text Placeholder 2">
            <a:extLst>
              <a:ext uri="{FF2B5EF4-FFF2-40B4-BE49-F238E27FC236}">
                <a16:creationId xmlns:a16="http://schemas.microsoft.com/office/drawing/2014/main" id="{BAECB134-FB33-D9B1-B479-6632B3EE1449}"/>
              </a:ext>
            </a:extLst>
          </p:cNvPr>
          <p:cNvSpPr>
            <a:spLocks noGrp="1"/>
          </p:cNvSpPr>
          <p:nvPr>
            <p:ph type="body" sz="quarter" idx="13"/>
          </p:nvPr>
        </p:nvSpPr>
        <p:spPr>
          <a:xfrm>
            <a:off x="275563" y="1066800"/>
            <a:ext cx="11154437" cy="5410200"/>
          </a:xfrm>
        </p:spPr>
        <p:txBody>
          <a:bodyPr>
            <a:noAutofit/>
          </a:bodyPr>
          <a:lstStyle/>
          <a:p>
            <a:pPr marL="533400" indent="-352425" algn="just">
              <a:lnSpc>
                <a:spcPct val="100000"/>
              </a:lnSpc>
              <a:buFont typeface="Wingdings" panose="05000000000000000000" pitchFamily="2" charset="2"/>
              <a:buChar char="Ø"/>
            </a:pPr>
            <a:r>
              <a:rPr lang="en-US" b="1" dirty="0"/>
              <a:t>Different values written at different </a:t>
            </a:r>
            <a:r>
              <a:rPr lang="en-US" b="1" dirty="0" smtClean="0"/>
              <a:t>times</a:t>
            </a:r>
          </a:p>
          <a:p>
            <a:pPr marL="533400" indent="-352425" algn="just">
              <a:lnSpc>
                <a:spcPct val="100000"/>
              </a:lnSpc>
              <a:buFont typeface="Wingdings" panose="05000000000000000000" pitchFamily="2" charset="2"/>
              <a:buChar char="Ø"/>
            </a:pPr>
            <a:endParaRPr lang="en-IN" dirty="0"/>
          </a:p>
          <a:p>
            <a:pPr marL="990600" lvl="2" indent="-352425" algn="just">
              <a:lnSpc>
                <a:spcPct val="100000"/>
              </a:lnSpc>
            </a:pPr>
            <a:r>
              <a:rPr lang="en-US" sz="1600" dirty="0" smtClean="0"/>
              <a:t>A Database </a:t>
            </a:r>
            <a:r>
              <a:rPr lang="en-US" sz="1600" dirty="0"/>
              <a:t>generally allows any value to be updated at any </a:t>
            </a:r>
            <a:r>
              <a:rPr lang="en-US" sz="1600" dirty="0" smtClean="0"/>
              <a:t>time</a:t>
            </a:r>
          </a:p>
          <a:p>
            <a:pPr marL="990600" lvl="2" indent="-352425" algn="just">
              <a:lnSpc>
                <a:spcPct val="100000"/>
              </a:lnSpc>
            </a:pPr>
            <a:endParaRPr lang="en-US" sz="1600" dirty="0"/>
          </a:p>
          <a:p>
            <a:pPr marL="990600" lvl="2" indent="-352425" algn="just">
              <a:lnSpc>
                <a:spcPct val="100000"/>
              </a:lnSpc>
              <a:buFont typeface="Wingdings" panose="05000000000000000000" pitchFamily="2" charset="2"/>
              <a:buChar char="§"/>
            </a:pPr>
            <a:r>
              <a:rPr lang="en-US" sz="1600" dirty="0"/>
              <a:t>Means within a single database may have some values that were written five milliseconds ago, and some values that were written five years </a:t>
            </a:r>
            <a:r>
              <a:rPr lang="en-US" sz="1600" dirty="0" smtClean="0"/>
              <a:t>ago</a:t>
            </a:r>
          </a:p>
          <a:p>
            <a:pPr marL="990600" lvl="2" indent="-352425" algn="just">
              <a:lnSpc>
                <a:spcPct val="100000"/>
              </a:lnSpc>
              <a:buFont typeface="Wingdings" panose="05000000000000000000" pitchFamily="2" charset="2"/>
              <a:buChar char="§"/>
            </a:pPr>
            <a:endParaRPr lang="en-US" sz="1600" dirty="0"/>
          </a:p>
          <a:p>
            <a:pPr marL="533400" indent="-352425" algn="just">
              <a:lnSpc>
                <a:spcPct val="100000"/>
              </a:lnSpc>
              <a:buFont typeface="Wingdings" panose="05000000000000000000" pitchFamily="2" charset="2"/>
              <a:buChar char="Ø"/>
            </a:pPr>
            <a:r>
              <a:rPr lang="en-US" b="1" dirty="0"/>
              <a:t>Data outlives </a:t>
            </a:r>
            <a:r>
              <a:rPr lang="en-US" b="1" dirty="0" smtClean="0"/>
              <a:t>code</a:t>
            </a:r>
          </a:p>
          <a:p>
            <a:pPr marL="533400" indent="-352425" algn="just">
              <a:lnSpc>
                <a:spcPct val="100000"/>
              </a:lnSpc>
              <a:buFont typeface="Wingdings" panose="05000000000000000000" pitchFamily="2" charset="2"/>
              <a:buChar char="Ø"/>
            </a:pPr>
            <a:endParaRPr lang="en-US" dirty="0"/>
          </a:p>
          <a:p>
            <a:pPr marL="990600" lvl="2" indent="-352425" algn="just">
              <a:lnSpc>
                <a:spcPct val="100000"/>
              </a:lnSpc>
              <a:buFont typeface="Wingdings" panose="05000000000000000000" pitchFamily="2" charset="2"/>
              <a:buChar char="§"/>
            </a:pPr>
            <a:r>
              <a:rPr lang="en-US" sz="1600" dirty="0"/>
              <a:t>When deploy a new version of your application, may entirely replace the old version with the new version within a few </a:t>
            </a:r>
            <a:r>
              <a:rPr lang="en-US" sz="1600" dirty="0" smtClean="0"/>
              <a:t>minutes</a:t>
            </a:r>
          </a:p>
          <a:p>
            <a:pPr marL="990600" lvl="2" indent="-352425" algn="just">
              <a:lnSpc>
                <a:spcPct val="100000"/>
              </a:lnSpc>
              <a:buFont typeface="Wingdings" panose="05000000000000000000" pitchFamily="2" charset="2"/>
              <a:buChar char="§"/>
            </a:pPr>
            <a:endParaRPr lang="en-US" sz="1600" dirty="0"/>
          </a:p>
          <a:p>
            <a:pPr marL="990600" lvl="2" indent="-352425" algn="just">
              <a:lnSpc>
                <a:spcPct val="100000"/>
              </a:lnSpc>
              <a:buFont typeface="Wingdings" panose="05000000000000000000" pitchFamily="2" charset="2"/>
              <a:buChar char="§"/>
            </a:pPr>
            <a:r>
              <a:rPr lang="en-US" sz="1600" dirty="0"/>
              <a:t>Same is not true of database contents: the five-year-old data will still be there</a:t>
            </a:r>
          </a:p>
          <a:p>
            <a:pPr marL="533400" indent="-352425" algn="just">
              <a:lnSpc>
                <a:spcPct val="100000"/>
              </a:lnSpc>
              <a:buNone/>
            </a:pPr>
            <a:endParaRPr lang="en-US" dirty="0"/>
          </a:p>
        </p:txBody>
      </p:sp>
      <p:sp>
        <p:nvSpPr>
          <p:cNvPr id="8" name="Text Placeholder 3">
            <a:extLst>
              <a:ext uri="{FF2B5EF4-FFF2-40B4-BE49-F238E27FC236}">
                <a16:creationId xmlns:a16="http://schemas.microsoft.com/office/drawing/2014/main" id="{3BCCDF7A-F421-DCE1-F285-C740FC9BC931}"/>
              </a:ext>
            </a:extLst>
          </p:cNvPr>
          <p:cNvSpPr>
            <a:spLocks noGrp="1"/>
          </p:cNvSpPr>
          <p:nvPr/>
        </p:nvSpPr>
        <p:spPr>
          <a:xfrm rot="16200000">
            <a:off x="-2202539" y="3424381"/>
            <a:ext cx="5334000" cy="44267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1C1573"/>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rgbClr val="1C1573"/>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rgbClr val="1C1573"/>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1C1573"/>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1C1573"/>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IN" dirty="0"/>
          </a:p>
        </p:txBody>
      </p:sp>
    </p:spTree>
    <p:extLst>
      <p:ext uri="{BB962C8B-B14F-4D97-AF65-F5344CB8AC3E}">
        <p14:creationId xmlns:p14="http://schemas.microsoft.com/office/powerpoint/2010/main" val="286479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A8FBC-473C-0999-4A4D-841A4F17D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41877-472E-9E6A-5E69-CECDA6E255DE}"/>
              </a:ext>
            </a:extLst>
          </p:cNvPr>
          <p:cNvSpPr>
            <a:spLocks noGrp="1"/>
          </p:cNvSpPr>
          <p:nvPr>
            <p:ph type="title"/>
          </p:nvPr>
        </p:nvSpPr>
        <p:spPr/>
        <p:txBody>
          <a:bodyPr/>
          <a:lstStyle/>
          <a:p>
            <a:r>
              <a:rPr lang="en-US" dirty="0"/>
              <a:t>Points to Remember</a:t>
            </a:r>
          </a:p>
        </p:txBody>
      </p:sp>
      <p:sp>
        <p:nvSpPr>
          <p:cNvPr id="3" name="Text Placeholder 2">
            <a:extLst>
              <a:ext uri="{FF2B5EF4-FFF2-40B4-BE49-F238E27FC236}">
                <a16:creationId xmlns:a16="http://schemas.microsoft.com/office/drawing/2014/main" id="{9F3AAD66-083A-DD35-4CF8-CF8EE0770154}"/>
              </a:ext>
            </a:extLst>
          </p:cNvPr>
          <p:cNvSpPr>
            <a:spLocks noGrp="1"/>
          </p:cNvSpPr>
          <p:nvPr>
            <p:ph type="body" sz="quarter" idx="13"/>
          </p:nvPr>
        </p:nvSpPr>
        <p:spPr>
          <a:xfrm>
            <a:off x="-22412" y="978720"/>
            <a:ext cx="11757212" cy="5879280"/>
          </a:xfrm>
        </p:spPr>
        <p:txBody>
          <a:bodyPr>
            <a:noAutofit/>
          </a:bodyPr>
          <a:lstStyle/>
          <a:p>
            <a:pPr marL="533400" indent="-352425" algn="just">
              <a:lnSpc>
                <a:spcPct val="100000"/>
              </a:lnSpc>
              <a:buFont typeface="Wingdings" panose="05000000000000000000" pitchFamily="2" charset="2"/>
              <a:buChar char="Ø"/>
            </a:pPr>
            <a:r>
              <a:rPr lang="en-US" b="1" dirty="0"/>
              <a:t>Schema Evolution</a:t>
            </a:r>
          </a:p>
          <a:p>
            <a:pPr marL="990600" lvl="2" indent="-352425" algn="just">
              <a:lnSpc>
                <a:spcPct val="100000"/>
              </a:lnSpc>
              <a:buFont typeface="Wingdings" panose="05000000000000000000" pitchFamily="2" charset="2"/>
              <a:buChar char="§"/>
            </a:pPr>
            <a:r>
              <a:rPr lang="en-US" sz="1600" dirty="0"/>
              <a:t>Rewriting (migrating) data  to a new schema is certainly possible, but it’s an expensive thing to do on a large dataset, so mostly </a:t>
            </a:r>
            <a:r>
              <a:rPr lang="en-US" sz="1600" dirty="0" smtClean="0"/>
              <a:t>avoided</a:t>
            </a:r>
          </a:p>
          <a:p>
            <a:pPr marL="990600" lvl="2" indent="-352425" algn="just">
              <a:lnSpc>
                <a:spcPct val="100000"/>
              </a:lnSpc>
              <a:buFont typeface="Wingdings" panose="05000000000000000000" pitchFamily="2" charset="2"/>
              <a:buChar char="§"/>
            </a:pPr>
            <a:endParaRPr lang="en-US" sz="1600" dirty="0"/>
          </a:p>
          <a:p>
            <a:pPr marL="990600" lvl="2" indent="-352425" algn="just">
              <a:lnSpc>
                <a:spcPct val="100000"/>
              </a:lnSpc>
              <a:buFont typeface="Wingdings" panose="05000000000000000000" pitchFamily="2" charset="2"/>
              <a:buChar char="§"/>
            </a:pPr>
            <a:r>
              <a:rPr lang="en-US" sz="1600" dirty="0"/>
              <a:t>Simple schema changes, such as adding a new column with a null default value, without rewriting existing </a:t>
            </a:r>
            <a:r>
              <a:rPr lang="en-US" sz="1600" dirty="0" smtClean="0"/>
              <a:t>data</a:t>
            </a:r>
          </a:p>
          <a:p>
            <a:pPr marL="990600" lvl="2" indent="-352425" algn="just">
              <a:lnSpc>
                <a:spcPct val="100000"/>
              </a:lnSpc>
              <a:buFont typeface="Wingdings" panose="05000000000000000000" pitchFamily="2" charset="2"/>
              <a:buChar char="§"/>
            </a:pPr>
            <a:endParaRPr lang="en-US" sz="1600" dirty="0"/>
          </a:p>
          <a:p>
            <a:pPr marL="990600" lvl="2" indent="-352425" algn="just">
              <a:lnSpc>
                <a:spcPct val="100000"/>
              </a:lnSpc>
              <a:buFont typeface="Wingdings" panose="05000000000000000000" pitchFamily="2" charset="2"/>
              <a:buChar char="§"/>
            </a:pPr>
            <a:r>
              <a:rPr lang="en-US" sz="1600" dirty="0"/>
              <a:t>Schema evolution thus allows the entire database to appear as if it was encoded with a single schema, even </a:t>
            </a:r>
            <a:r>
              <a:rPr lang="en-US" sz="1600" dirty="0" smtClean="0"/>
              <a:t>though </a:t>
            </a:r>
            <a:r>
              <a:rPr lang="en-US" sz="1600" dirty="0"/>
              <a:t>the underlying storage may contain records encoded with various historical versions of the </a:t>
            </a:r>
            <a:r>
              <a:rPr lang="en-US" sz="1600" dirty="0" smtClean="0"/>
              <a:t>schema</a:t>
            </a:r>
          </a:p>
          <a:p>
            <a:pPr marL="990600" lvl="2" indent="-352425" algn="just">
              <a:lnSpc>
                <a:spcPct val="100000"/>
              </a:lnSpc>
              <a:buFont typeface="Wingdings" panose="05000000000000000000" pitchFamily="2" charset="2"/>
              <a:buChar char="§"/>
            </a:pPr>
            <a:endParaRPr lang="en-US" sz="1600" dirty="0"/>
          </a:p>
          <a:p>
            <a:pPr marL="533400" indent="-352425" algn="just">
              <a:lnSpc>
                <a:spcPct val="100000"/>
              </a:lnSpc>
              <a:buFont typeface="Wingdings" panose="05000000000000000000" pitchFamily="2" charset="2"/>
              <a:buChar char="Ø"/>
            </a:pPr>
            <a:r>
              <a:rPr lang="en-IN" b="1" dirty="0"/>
              <a:t>Archival </a:t>
            </a:r>
            <a:r>
              <a:rPr lang="en-IN" b="1" dirty="0" smtClean="0"/>
              <a:t>Storage</a:t>
            </a:r>
            <a:endParaRPr lang="en-IN" b="1" dirty="0"/>
          </a:p>
          <a:p>
            <a:pPr marL="990600" lvl="2" indent="-352425">
              <a:lnSpc>
                <a:spcPct val="100000"/>
              </a:lnSpc>
              <a:buFont typeface="Wingdings" panose="05000000000000000000" pitchFamily="2" charset="2"/>
              <a:buChar char="§"/>
            </a:pPr>
            <a:r>
              <a:rPr lang="en-US" sz="1600" dirty="0"/>
              <a:t>Snapshot of database can be taken from time to time, say for backup purposes or for loading into a data warehouse </a:t>
            </a:r>
            <a:endParaRPr lang="en-US" sz="1600" dirty="0" smtClean="0"/>
          </a:p>
          <a:p>
            <a:pPr marL="990600" lvl="2" indent="-352425">
              <a:lnSpc>
                <a:spcPct val="100000"/>
              </a:lnSpc>
              <a:buFont typeface="Wingdings" panose="05000000000000000000" pitchFamily="2" charset="2"/>
              <a:buChar char="§"/>
            </a:pPr>
            <a:endParaRPr lang="en-US" sz="1600" dirty="0"/>
          </a:p>
          <a:p>
            <a:pPr marL="990600" lvl="2" indent="-352425">
              <a:lnSpc>
                <a:spcPct val="100000"/>
              </a:lnSpc>
              <a:buFont typeface="Wingdings" panose="05000000000000000000" pitchFamily="2" charset="2"/>
              <a:buChar char="§"/>
            </a:pPr>
            <a:r>
              <a:rPr lang="en-US" sz="1600" dirty="0"/>
              <a:t>Data dump will typically be encoded using the latest schema, even if the original encoding in the source database contained a mixture of schema versions from different </a:t>
            </a:r>
            <a:r>
              <a:rPr lang="en-US" sz="1600" dirty="0" smtClean="0"/>
              <a:t>eras</a:t>
            </a:r>
          </a:p>
          <a:p>
            <a:pPr marL="990600" lvl="2" indent="-352425">
              <a:lnSpc>
                <a:spcPct val="100000"/>
              </a:lnSpc>
              <a:buFont typeface="Wingdings" panose="05000000000000000000" pitchFamily="2" charset="2"/>
              <a:buChar char="§"/>
            </a:pPr>
            <a:endParaRPr lang="en-US" sz="1600" dirty="0"/>
          </a:p>
          <a:p>
            <a:pPr marL="990600" lvl="2" indent="-352425">
              <a:lnSpc>
                <a:spcPct val="100000"/>
              </a:lnSpc>
              <a:buFont typeface="Wingdings" panose="05000000000000000000" pitchFamily="2" charset="2"/>
              <a:buChar char="§"/>
            </a:pPr>
            <a:r>
              <a:rPr lang="en-US" sz="1600" dirty="0"/>
              <a:t>Copying the data anyway, might as well encode the copy of the data consistently</a:t>
            </a:r>
            <a:endParaRPr lang="en-IN" sz="1600" dirty="0"/>
          </a:p>
          <a:p>
            <a:pPr marL="533400" indent="-352425" algn="just">
              <a:lnSpc>
                <a:spcPct val="100000"/>
              </a:lnSpc>
              <a:buNone/>
            </a:pPr>
            <a:endParaRPr lang="en-US" dirty="0"/>
          </a:p>
        </p:txBody>
      </p:sp>
      <p:sp>
        <p:nvSpPr>
          <p:cNvPr id="8" name="Text Placeholder 3">
            <a:extLst>
              <a:ext uri="{FF2B5EF4-FFF2-40B4-BE49-F238E27FC236}">
                <a16:creationId xmlns:a16="http://schemas.microsoft.com/office/drawing/2014/main" id="{F10293B9-FD78-BECC-00C6-A7B4FA812A3C}"/>
              </a:ext>
            </a:extLst>
          </p:cNvPr>
          <p:cNvSpPr>
            <a:spLocks noGrp="1"/>
          </p:cNvSpPr>
          <p:nvPr/>
        </p:nvSpPr>
        <p:spPr>
          <a:xfrm rot="16200000">
            <a:off x="-2202539" y="3424381"/>
            <a:ext cx="5334000" cy="44267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1C1573"/>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rgbClr val="1C1573"/>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rgbClr val="1C1573"/>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1C1573"/>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1C1573"/>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IN" dirty="0"/>
          </a:p>
        </p:txBody>
      </p:sp>
    </p:spTree>
    <p:extLst>
      <p:ext uri="{BB962C8B-B14F-4D97-AF65-F5344CB8AC3E}">
        <p14:creationId xmlns:p14="http://schemas.microsoft.com/office/powerpoint/2010/main" val="417887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B2B5-7B2D-F623-A5E5-76098826F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83C60-BEDA-7057-4F24-D28A356BF95B}"/>
              </a:ext>
            </a:extLst>
          </p:cNvPr>
          <p:cNvSpPr>
            <a:spLocks noGrp="1"/>
          </p:cNvSpPr>
          <p:nvPr>
            <p:ph type="title"/>
          </p:nvPr>
        </p:nvSpPr>
        <p:spPr>
          <a:xfrm>
            <a:off x="831850" y="1709738"/>
            <a:ext cx="10515600" cy="2852737"/>
          </a:xfrm>
        </p:spPr>
        <p:txBody>
          <a:bodyPr anchor="b">
            <a:normAutofit/>
          </a:bodyPr>
          <a:lstStyle/>
          <a:p>
            <a:r>
              <a:rPr lang="en-US" dirty="0"/>
              <a:t>Modes of Data Flow</a:t>
            </a:r>
            <a:br>
              <a:rPr lang="en-US" dirty="0"/>
            </a:br>
            <a:r>
              <a:rPr lang="en-US" dirty="0"/>
              <a:t>- Through Services</a:t>
            </a:r>
          </a:p>
        </p:txBody>
      </p:sp>
    </p:spTree>
    <p:extLst>
      <p:ext uri="{BB962C8B-B14F-4D97-AF65-F5344CB8AC3E}">
        <p14:creationId xmlns:p14="http://schemas.microsoft.com/office/powerpoint/2010/main" val="9728769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107D2-A89B-03DF-B83B-045112BB1947}"/>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EA18830A-AB16-36A1-A609-3300004500F9}"/>
              </a:ext>
            </a:extLst>
          </p:cNvPr>
          <p:cNvSpPr>
            <a:spLocks noGrp="1"/>
          </p:cNvSpPr>
          <p:nvPr>
            <p:ph type="body" sz="quarter" idx="13"/>
          </p:nvPr>
        </p:nvSpPr>
        <p:spPr>
          <a:xfrm>
            <a:off x="228600" y="1143000"/>
            <a:ext cx="11734800" cy="4343400"/>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a:t>Processes that need to communicate over a network, there are a few different ways of arranging that communication</a:t>
            </a:r>
          </a:p>
          <a:p>
            <a:pPr marL="361950" indent="-361950" algn="just">
              <a:lnSpc>
                <a:spcPct val="160000"/>
              </a:lnSpc>
              <a:buFont typeface="Wingdings" panose="05000000000000000000" pitchFamily="2" charset="2"/>
              <a:buChar char="Ø"/>
            </a:pPr>
            <a:r>
              <a:rPr lang="en-US" dirty="0"/>
              <a:t>We are going to discuss about</a:t>
            </a:r>
          </a:p>
          <a:p>
            <a:pPr marL="819150" lvl="2" indent="-361950" algn="just">
              <a:lnSpc>
                <a:spcPct val="160000"/>
              </a:lnSpc>
              <a:buFont typeface="Wingdings" panose="05000000000000000000" pitchFamily="2" charset="2"/>
              <a:buChar char="§"/>
            </a:pPr>
            <a:r>
              <a:rPr lang="en-US" sz="1800" dirty="0"/>
              <a:t>Client Server Architecture</a:t>
            </a:r>
          </a:p>
          <a:p>
            <a:pPr marL="819150" lvl="2" indent="-361950" algn="just">
              <a:lnSpc>
                <a:spcPct val="160000"/>
              </a:lnSpc>
              <a:buFont typeface="Wingdings" panose="05000000000000000000" pitchFamily="2" charset="2"/>
              <a:buChar char="§"/>
            </a:pPr>
            <a:r>
              <a:rPr lang="en-US" sz="1800" dirty="0"/>
              <a:t>Service Oriented Architecture(SOA)</a:t>
            </a:r>
          </a:p>
          <a:p>
            <a:pPr marL="819150" lvl="2" indent="-361950" algn="just">
              <a:lnSpc>
                <a:spcPct val="160000"/>
              </a:lnSpc>
              <a:buFont typeface="Wingdings" panose="05000000000000000000" pitchFamily="2" charset="2"/>
              <a:buChar char="§"/>
            </a:pPr>
            <a:r>
              <a:rPr lang="en-US" sz="1800" dirty="0"/>
              <a:t>Microservices Architecture	</a:t>
            </a:r>
          </a:p>
          <a:p>
            <a:pPr marL="819150" lvl="2" indent="-361950" algn="just">
              <a:lnSpc>
                <a:spcPct val="160000"/>
              </a:lnSpc>
              <a:buFont typeface="Wingdings" panose="05000000000000000000" pitchFamily="2" charset="2"/>
              <a:buChar char="§"/>
            </a:pPr>
            <a:r>
              <a:rPr lang="en-US" sz="1800" dirty="0"/>
              <a:t>Web Services</a:t>
            </a:r>
          </a:p>
          <a:p>
            <a:pPr marL="819150" lvl="2" indent="-361950" algn="just">
              <a:lnSpc>
                <a:spcPct val="160000"/>
              </a:lnSpc>
              <a:buFont typeface="Wingdings" panose="05000000000000000000" pitchFamily="2" charset="2"/>
              <a:buChar char="§"/>
            </a:pPr>
            <a:r>
              <a:rPr lang="en-US" sz="1800" dirty="0"/>
              <a:t>Remote Procedure </a:t>
            </a:r>
            <a:r>
              <a:rPr lang="en-US" sz="1800" dirty="0" smtClean="0"/>
              <a:t>Calls</a:t>
            </a:r>
            <a:endParaRPr lang="en-US" dirty="0"/>
          </a:p>
        </p:txBody>
      </p:sp>
    </p:spTree>
    <p:extLst>
      <p:ext uri="{BB962C8B-B14F-4D97-AF65-F5344CB8AC3E}">
        <p14:creationId xmlns:p14="http://schemas.microsoft.com/office/powerpoint/2010/main" val="3032550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27F9-C5B5-68DB-1C2B-723CCD322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6967F-D8E5-5DAF-832F-41DF869D46FE}"/>
              </a:ext>
            </a:extLst>
          </p:cNvPr>
          <p:cNvSpPr>
            <a:spLocks noGrp="1"/>
          </p:cNvSpPr>
          <p:nvPr>
            <p:ph type="title"/>
          </p:nvPr>
        </p:nvSpPr>
        <p:spPr/>
        <p:txBody>
          <a:bodyPr/>
          <a:lstStyle/>
          <a:p>
            <a:r>
              <a:rPr lang="en-US" dirty="0"/>
              <a:t>Client Server Architecture</a:t>
            </a:r>
          </a:p>
        </p:txBody>
      </p:sp>
      <p:sp>
        <p:nvSpPr>
          <p:cNvPr id="12" name="TextBox 11">
            <a:extLst>
              <a:ext uri="{FF2B5EF4-FFF2-40B4-BE49-F238E27FC236}">
                <a16:creationId xmlns:a16="http://schemas.microsoft.com/office/drawing/2014/main" id="{D938E2BA-6C3B-F929-EF6E-D3E636D27B6D}"/>
              </a:ext>
            </a:extLst>
          </p:cNvPr>
          <p:cNvSpPr txBox="1"/>
          <p:nvPr/>
        </p:nvSpPr>
        <p:spPr>
          <a:xfrm>
            <a:off x="233881" y="4876800"/>
            <a:ext cx="6064614" cy="1477328"/>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servers expose an API over the network, and the clients can connect to the servers to make requests to that </a:t>
            </a:r>
            <a:r>
              <a:rPr lang="en-US" dirty="0" smtClean="0">
                <a:latin typeface="Helvetica" panose="020B0604020202020204" pitchFamily="34" charset="0"/>
                <a:cs typeface="Helvetica" panose="020B0604020202020204" pitchFamily="34" charset="0"/>
              </a:rPr>
              <a:t>API</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API exposed by the server is known as a service</a:t>
            </a:r>
          </a:p>
        </p:txBody>
      </p:sp>
      <p:sp>
        <p:nvSpPr>
          <p:cNvPr id="13" name="TextBox 12">
            <a:extLst>
              <a:ext uri="{FF2B5EF4-FFF2-40B4-BE49-F238E27FC236}">
                <a16:creationId xmlns:a16="http://schemas.microsoft.com/office/drawing/2014/main" id="{370498F1-42FA-6653-D4AA-C2DB72523A88}"/>
              </a:ext>
            </a:extLst>
          </p:cNvPr>
          <p:cNvSpPr txBox="1"/>
          <p:nvPr/>
        </p:nvSpPr>
        <p:spPr>
          <a:xfrm>
            <a:off x="6203586" y="1215794"/>
            <a:ext cx="5607414" cy="4524315"/>
          </a:xfrm>
          <a:prstGeom prst="rect">
            <a:avLst/>
          </a:prstGeom>
          <a:noFill/>
        </p:spPr>
        <p:txBody>
          <a:bodyPr wrap="square" rtlCol="0">
            <a:spAutoFit/>
          </a:bodyPr>
          <a:lstStyle/>
          <a:p>
            <a:pPr marL="361950" indent="-361950"/>
            <a:r>
              <a:rPr lang="en-US" b="1" u="sng" dirty="0"/>
              <a:t>Web </a:t>
            </a:r>
            <a:r>
              <a:rPr lang="en-US" b="1" u="sng" dirty="0" smtClean="0"/>
              <a:t>Clients</a:t>
            </a:r>
          </a:p>
          <a:p>
            <a:pPr marL="361950" indent="-361950"/>
            <a:endParaRPr lang="en-US" b="1" u="sng" dirty="0"/>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Clients (web browsers) make requests to web servers, making GET requests to download HTML, CSS, JavaScript, images etc. or making POST requests to submit data to the </a:t>
            </a:r>
            <a:r>
              <a:rPr lang="en-US" dirty="0" smtClean="0">
                <a:latin typeface="Helvetica" panose="020B0604020202020204" pitchFamily="34" charset="0"/>
                <a:cs typeface="Helvetica" panose="020B0604020202020204" pitchFamily="34" charset="0"/>
              </a:rPr>
              <a:t>server</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API consists of a standardized set of protocols and data formats (HTTP, URLs, SSL/TLS, HTML, etc</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Because web browsers, web servers and website authors mostly agree on these standards, can use any web browser to access any website</a:t>
            </a:r>
          </a:p>
          <a:p>
            <a:pPr marL="361950" indent="-361950"/>
            <a:endParaRPr lang="en-US" dirty="0"/>
          </a:p>
          <a:p>
            <a:pPr marL="361950" indent="-3619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p:txBody>
      </p:sp>
      <p:pic>
        <p:nvPicPr>
          <p:cNvPr id="3076" name="Picture 4" descr="rest_api_works">
            <a:extLst>
              <a:ext uri="{FF2B5EF4-FFF2-40B4-BE49-F238E27FC236}">
                <a16:creationId xmlns:a16="http://schemas.microsoft.com/office/drawing/2014/main" id="{D40225F9-C68A-6FCC-F2AA-6C2CB25025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28029"/>
            <a:ext cx="5822586" cy="330041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74775C9-0D8B-F173-B9E8-3FB886207A94}"/>
              </a:ext>
            </a:extLst>
          </p:cNvPr>
          <p:cNvSpPr txBox="1"/>
          <p:nvPr/>
        </p:nvSpPr>
        <p:spPr>
          <a:xfrm>
            <a:off x="381000" y="4151442"/>
            <a:ext cx="19812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74891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6D733-A72B-1E88-568F-D31A18A8E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BBEAB-A012-6216-CDD1-05744956AC4A}"/>
              </a:ext>
            </a:extLst>
          </p:cNvPr>
          <p:cNvSpPr>
            <a:spLocks noGrp="1"/>
          </p:cNvSpPr>
          <p:nvPr>
            <p:ph type="title"/>
          </p:nvPr>
        </p:nvSpPr>
        <p:spPr/>
        <p:txBody>
          <a:bodyPr/>
          <a:lstStyle/>
          <a:p>
            <a:r>
              <a:rPr lang="en-US" dirty="0"/>
              <a:t>Client Server Architecture</a:t>
            </a:r>
          </a:p>
        </p:txBody>
      </p:sp>
      <p:sp>
        <p:nvSpPr>
          <p:cNvPr id="13" name="TextBox 12">
            <a:extLst>
              <a:ext uri="{FF2B5EF4-FFF2-40B4-BE49-F238E27FC236}">
                <a16:creationId xmlns:a16="http://schemas.microsoft.com/office/drawing/2014/main" id="{5F18495A-5B54-E828-3C6D-6B932058E22B}"/>
              </a:ext>
            </a:extLst>
          </p:cNvPr>
          <p:cNvSpPr txBox="1"/>
          <p:nvPr/>
        </p:nvSpPr>
        <p:spPr>
          <a:xfrm>
            <a:off x="228600" y="1097592"/>
            <a:ext cx="11582400" cy="3970318"/>
          </a:xfrm>
          <a:prstGeom prst="rect">
            <a:avLst/>
          </a:prstGeom>
          <a:noFill/>
        </p:spPr>
        <p:txBody>
          <a:bodyPr wrap="square" rtlCol="0">
            <a:spAutoFit/>
          </a:bodyPr>
          <a:lstStyle/>
          <a:p>
            <a:pPr marL="361950" indent="-361950" algn="just"/>
            <a:r>
              <a:rPr lang="en-US" b="1" u="sng" dirty="0">
                <a:latin typeface="Helvetica" panose="020B0604020202020204" pitchFamily="34" charset="0"/>
                <a:cs typeface="Helvetica" panose="020B0604020202020204" pitchFamily="34" charset="0"/>
              </a:rPr>
              <a:t>Other Clients</a:t>
            </a:r>
          </a:p>
          <a:p>
            <a:pPr marL="361950" indent="-361950"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A </a:t>
            </a:r>
            <a:r>
              <a:rPr lang="en-US" dirty="0">
                <a:latin typeface="Helvetica" panose="020B0604020202020204" pitchFamily="34" charset="0"/>
                <a:cs typeface="Helvetica" panose="020B0604020202020204" pitchFamily="34" charset="0"/>
              </a:rPr>
              <a:t>native app running on a mobile device or a desktop computer can also make network requests to a </a:t>
            </a:r>
            <a:r>
              <a:rPr lang="en-US" dirty="0" smtClean="0">
                <a:latin typeface="Helvetica" panose="020B0604020202020204" pitchFamily="34" charset="0"/>
                <a:cs typeface="Helvetica" panose="020B0604020202020204" pitchFamily="34" charset="0"/>
              </a:rPr>
              <a:t>server</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 client-side JavaScript application running inside a web browser can use </a:t>
            </a:r>
            <a:r>
              <a:rPr lang="en-US" dirty="0" err="1">
                <a:latin typeface="Helvetica" panose="020B0604020202020204" pitchFamily="34" charset="0"/>
                <a:cs typeface="Helvetica" panose="020B0604020202020204" pitchFamily="34" charset="0"/>
              </a:rPr>
              <a:t>XMLHttpRequest</a:t>
            </a:r>
            <a:r>
              <a:rPr lang="en-US" dirty="0">
                <a:latin typeface="Helvetica" panose="020B0604020202020204" pitchFamily="34" charset="0"/>
                <a:cs typeface="Helvetica" panose="020B0604020202020204" pitchFamily="34" charset="0"/>
              </a:rPr>
              <a:t> to become a HTTP client (aka Ajax</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server’s response is typically not HTML for displaying to a human, but rather data in an encoding that is convenient for further processing by the client-side application code (such as JSON</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API is implemented on top of HTTP is application-specific Client and server need to agree on the details of that API</a:t>
            </a:r>
            <a:endParaRPr lang="en-IN" dirty="0">
              <a:latin typeface="Helvetica" panose="020B0604020202020204" pitchFamily="34" charset="0"/>
              <a:cs typeface="Helvetica" panose="020B0604020202020204" pitchFamily="34" charset="0"/>
            </a:endParaRPr>
          </a:p>
          <a:p>
            <a:pPr marL="361950" indent="-361950" algn="just"/>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791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A2336-A68C-937E-F924-766C49E8D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AA0AA-9D28-8558-5BBE-87899C0F6259}"/>
              </a:ext>
            </a:extLst>
          </p:cNvPr>
          <p:cNvSpPr>
            <a:spLocks noGrp="1"/>
          </p:cNvSpPr>
          <p:nvPr>
            <p:ph type="title"/>
          </p:nvPr>
        </p:nvSpPr>
        <p:spPr/>
        <p:txBody>
          <a:bodyPr>
            <a:normAutofit/>
          </a:bodyPr>
          <a:lstStyle/>
          <a:p>
            <a:r>
              <a:rPr lang="en-US" dirty="0"/>
              <a:t>Services Oriented Architecture</a:t>
            </a:r>
          </a:p>
        </p:txBody>
      </p:sp>
      <p:sp>
        <p:nvSpPr>
          <p:cNvPr id="13" name="TextBox 12">
            <a:extLst>
              <a:ext uri="{FF2B5EF4-FFF2-40B4-BE49-F238E27FC236}">
                <a16:creationId xmlns:a16="http://schemas.microsoft.com/office/drawing/2014/main" id="{1209ECBB-EAC8-DD68-724B-92555BA1325A}"/>
              </a:ext>
            </a:extLst>
          </p:cNvPr>
          <p:cNvSpPr txBox="1"/>
          <p:nvPr/>
        </p:nvSpPr>
        <p:spPr>
          <a:xfrm>
            <a:off x="114300" y="1066800"/>
            <a:ext cx="11468100" cy="4801314"/>
          </a:xfrm>
          <a:prstGeom prst="rect">
            <a:avLst/>
          </a:prstGeom>
          <a:noFill/>
        </p:spPr>
        <p:txBody>
          <a:bodyPr wrap="square" rtlCol="0">
            <a:spAutoFit/>
          </a:bodyPr>
          <a:lstStyle/>
          <a:p>
            <a:pPr marL="715963" lvl="1" indent="-430213"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Server can itself be a client to another service </a:t>
            </a:r>
          </a:p>
          <a:p>
            <a:pPr marL="715963" lvl="1" indent="-430213" algn="just"/>
            <a:endParaRPr lang="en-US" dirty="0" smtClean="0">
              <a:latin typeface="Helvetica" panose="020B0604020202020204" pitchFamily="34" charset="0"/>
              <a:cs typeface="Helvetica" panose="020B0604020202020204" pitchFamily="34" charset="0"/>
            </a:endParaRPr>
          </a:p>
          <a:p>
            <a:pPr marL="715963" lvl="1" indent="-430213" algn="just"/>
            <a:endParaRPr lang="en-US" dirty="0">
              <a:latin typeface="Helvetica" panose="020B0604020202020204" pitchFamily="34" charset="0"/>
              <a:cs typeface="Helvetica" panose="020B0604020202020204" pitchFamily="34" charset="0"/>
            </a:endParaRPr>
          </a:p>
          <a:p>
            <a:pPr marL="715963" lvl="1" indent="-430213"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Often used to decompose a large application into smaller services by area of functionality, such that one service makes a request to another when it requires some functionality or data from that other service</a:t>
            </a:r>
          </a:p>
          <a:p>
            <a:pPr marL="715963" indent="-430213"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715963" indent="-430213"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715963" indent="-430213"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 key design goal is to make the application easier to change and maintain by making services independently deployable and evolvable. For example, each service should be owned by one team, and that team should be able to release new versions of the service frequently without having to coordinate with other teams</a:t>
            </a:r>
          </a:p>
          <a:p>
            <a:pPr marL="715963" indent="-430213"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715963" indent="-430213"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715963" indent="-430213"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Should expect old and new versions of servers and clients to be running at the same time</a:t>
            </a:r>
          </a:p>
          <a:p>
            <a:pPr marL="715963" indent="-430213" algn="just"/>
            <a:endParaRPr lang="en-US" dirty="0" smtClean="0">
              <a:latin typeface="Helvetica" panose="020B0604020202020204" pitchFamily="34" charset="0"/>
              <a:cs typeface="Helvetica" panose="020B0604020202020204" pitchFamily="34" charset="0"/>
            </a:endParaRPr>
          </a:p>
          <a:p>
            <a:pPr marL="715963" indent="-430213" algn="just"/>
            <a:endParaRPr lang="en-US" dirty="0">
              <a:latin typeface="Helvetica" panose="020B0604020202020204" pitchFamily="34" charset="0"/>
              <a:cs typeface="Helvetica" panose="020B0604020202020204" pitchFamily="34" charset="0"/>
            </a:endParaRPr>
          </a:p>
          <a:p>
            <a:pPr marL="715963" indent="-430213"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Data encoding used by servers and clients must be compatible across versions of the service API </a:t>
            </a:r>
          </a:p>
        </p:txBody>
      </p:sp>
    </p:spTree>
    <p:extLst>
      <p:ext uri="{BB962C8B-B14F-4D97-AF65-F5344CB8AC3E}">
        <p14:creationId xmlns:p14="http://schemas.microsoft.com/office/powerpoint/2010/main" val="787397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0C377-350C-BA19-68E4-33786FD70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5EFDD-C361-678E-626A-B550E9C65437}"/>
              </a:ext>
            </a:extLst>
          </p:cNvPr>
          <p:cNvSpPr>
            <a:spLocks noGrp="1"/>
          </p:cNvSpPr>
          <p:nvPr>
            <p:ph type="title"/>
          </p:nvPr>
        </p:nvSpPr>
        <p:spPr/>
        <p:txBody>
          <a:bodyPr>
            <a:normAutofit/>
          </a:bodyPr>
          <a:lstStyle/>
          <a:p>
            <a:r>
              <a:rPr lang="en-US" dirty="0"/>
              <a:t>Services Oriented Architecture</a:t>
            </a:r>
          </a:p>
        </p:txBody>
      </p:sp>
      <p:sp>
        <p:nvSpPr>
          <p:cNvPr id="3" name="AutoShape 2" descr="what is soa fig2">
            <a:extLst>
              <a:ext uri="{FF2B5EF4-FFF2-40B4-BE49-F238E27FC236}">
                <a16:creationId xmlns:a16="http://schemas.microsoft.com/office/drawing/2014/main" id="{D6CF9DFE-A0FF-6FBF-6882-12F1264139B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D0D4A609-8902-59B2-CE81-644626B2509F}"/>
              </a:ext>
            </a:extLst>
          </p:cNvPr>
          <p:cNvPicPr>
            <a:picLocks noChangeAspect="1"/>
          </p:cNvPicPr>
          <p:nvPr/>
        </p:nvPicPr>
        <p:blipFill>
          <a:blip r:embed="rId2"/>
          <a:stretch>
            <a:fillRect/>
          </a:stretch>
        </p:blipFill>
        <p:spPr>
          <a:xfrm>
            <a:off x="0" y="956101"/>
            <a:ext cx="11811000" cy="5640202"/>
          </a:xfrm>
          <a:prstGeom prst="rect">
            <a:avLst/>
          </a:prstGeom>
          <a:ln>
            <a:solidFill>
              <a:schemeClr val="tx1"/>
            </a:solidFill>
          </a:ln>
        </p:spPr>
      </p:pic>
      <p:sp>
        <p:nvSpPr>
          <p:cNvPr id="6" name="TextBox 5">
            <a:extLst>
              <a:ext uri="{FF2B5EF4-FFF2-40B4-BE49-F238E27FC236}">
                <a16:creationId xmlns:a16="http://schemas.microsoft.com/office/drawing/2014/main" id="{BA6B6FA0-EDEF-FD9A-CE4D-0FEAC463ED63}"/>
              </a:ext>
            </a:extLst>
          </p:cNvPr>
          <p:cNvSpPr txBox="1"/>
          <p:nvPr/>
        </p:nvSpPr>
        <p:spPr>
          <a:xfrm>
            <a:off x="10160000" y="6319304"/>
            <a:ext cx="19812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607607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CD5C5-C3B4-FF1D-A268-2338DBF214A7}"/>
              </a:ext>
            </a:extLst>
          </p:cNvPr>
          <p:cNvSpPr>
            <a:spLocks noGrp="1"/>
          </p:cNvSpPr>
          <p:nvPr>
            <p:ph type="title"/>
          </p:nvPr>
        </p:nvSpPr>
        <p:spPr/>
        <p:txBody>
          <a:bodyPr>
            <a:normAutofit/>
          </a:bodyPr>
          <a:lstStyle/>
          <a:p>
            <a:r>
              <a:rPr lang="en-US" dirty="0"/>
              <a:t>SOA - Microservices</a:t>
            </a:r>
          </a:p>
        </p:txBody>
      </p:sp>
      <p:sp>
        <p:nvSpPr>
          <p:cNvPr id="3" name="Text Placeholder 2">
            <a:extLst>
              <a:ext uri="{FF2B5EF4-FFF2-40B4-BE49-F238E27FC236}">
                <a16:creationId xmlns:a16="http://schemas.microsoft.com/office/drawing/2014/main" id="{0B51BE8C-894F-D73F-03A4-DFB36A2226AB}"/>
              </a:ext>
            </a:extLst>
          </p:cNvPr>
          <p:cNvSpPr>
            <a:spLocks noGrp="1"/>
          </p:cNvSpPr>
          <p:nvPr>
            <p:ph type="body" sz="quarter" idx="13"/>
          </p:nvPr>
        </p:nvSpPr>
        <p:spPr>
          <a:xfrm>
            <a:off x="228600" y="1219200"/>
            <a:ext cx="5486400" cy="2590800"/>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a:t>Microservices is an architectural style evolved from SOA.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Both are distributed architectures and both offer a decoupled paradigm.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Whereas service-oriented </a:t>
            </a:r>
            <a:r>
              <a:rPr lang="en-US" dirty="0" smtClean="0"/>
              <a:t>architecture </a:t>
            </a:r>
            <a:r>
              <a:rPr lang="en-US" dirty="0"/>
              <a:t>is heavier on infrastructure, microservices offers a more flexible, lightweight development style. </a:t>
            </a:r>
          </a:p>
        </p:txBody>
      </p:sp>
      <p:pic>
        <p:nvPicPr>
          <p:cNvPr id="7" name="Picture 6">
            <a:extLst>
              <a:ext uri="{FF2B5EF4-FFF2-40B4-BE49-F238E27FC236}">
                <a16:creationId xmlns:a16="http://schemas.microsoft.com/office/drawing/2014/main" id="{22E0C8EB-2FC7-F27E-ADF7-70EC00F36210}"/>
              </a:ext>
            </a:extLst>
          </p:cNvPr>
          <p:cNvPicPr>
            <a:picLocks noChangeAspect="1"/>
          </p:cNvPicPr>
          <p:nvPr/>
        </p:nvPicPr>
        <p:blipFill>
          <a:blip r:embed="rId2"/>
          <a:stretch>
            <a:fillRect/>
          </a:stretch>
        </p:blipFill>
        <p:spPr>
          <a:xfrm>
            <a:off x="2462212" y="4452194"/>
            <a:ext cx="7267575" cy="2373212"/>
          </a:xfrm>
          <a:prstGeom prst="rect">
            <a:avLst/>
          </a:prstGeom>
        </p:spPr>
      </p:pic>
      <p:sp>
        <p:nvSpPr>
          <p:cNvPr id="8" name="TextBox 7">
            <a:extLst>
              <a:ext uri="{FF2B5EF4-FFF2-40B4-BE49-F238E27FC236}">
                <a16:creationId xmlns:a16="http://schemas.microsoft.com/office/drawing/2014/main" id="{BA0F4BC8-1128-1767-B5B6-19573F483242}"/>
              </a:ext>
            </a:extLst>
          </p:cNvPr>
          <p:cNvSpPr txBox="1"/>
          <p:nvPr/>
        </p:nvSpPr>
        <p:spPr>
          <a:xfrm>
            <a:off x="7924800" y="6411467"/>
            <a:ext cx="19812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pic>
        <p:nvPicPr>
          <p:cNvPr id="10" name="Picture 9">
            <a:extLst>
              <a:ext uri="{FF2B5EF4-FFF2-40B4-BE49-F238E27FC236}">
                <a16:creationId xmlns:a16="http://schemas.microsoft.com/office/drawing/2014/main" id="{0149134A-4E81-FB4F-61A3-07DBC5469166}"/>
              </a:ext>
            </a:extLst>
          </p:cNvPr>
          <p:cNvPicPr>
            <a:picLocks noChangeAspect="1"/>
          </p:cNvPicPr>
          <p:nvPr/>
        </p:nvPicPr>
        <p:blipFill>
          <a:blip r:embed="rId4"/>
          <a:stretch>
            <a:fillRect/>
          </a:stretch>
        </p:blipFill>
        <p:spPr>
          <a:xfrm>
            <a:off x="6095999" y="1295829"/>
            <a:ext cx="5745325" cy="2666571"/>
          </a:xfrm>
          <a:prstGeom prst="rect">
            <a:avLst/>
          </a:prstGeom>
        </p:spPr>
      </p:pic>
    </p:spTree>
    <p:extLst>
      <p:ext uri="{BB962C8B-B14F-4D97-AF65-F5344CB8AC3E}">
        <p14:creationId xmlns:p14="http://schemas.microsoft.com/office/powerpoint/2010/main" val="4219495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8009E-E4D8-F2B5-72EB-E454FCC59860}"/>
              </a:ext>
            </a:extLst>
          </p:cNvPr>
          <p:cNvSpPr>
            <a:spLocks noGrp="1"/>
          </p:cNvSpPr>
          <p:nvPr>
            <p:ph type="title"/>
          </p:nvPr>
        </p:nvSpPr>
        <p:spPr/>
        <p:txBody>
          <a:bodyPr>
            <a:normAutofit/>
          </a:bodyPr>
          <a:lstStyle/>
          <a:p>
            <a:r>
              <a:rPr lang="en-US" dirty="0"/>
              <a:t>SOA vs Webservices</a:t>
            </a:r>
          </a:p>
        </p:txBody>
      </p:sp>
      <p:sp>
        <p:nvSpPr>
          <p:cNvPr id="3" name="Text Placeholder 2">
            <a:extLst>
              <a:ext uri="{FF2B5EF4-FFF2-40B4-BE49-F238E27FC236}">
                <a16:creationId xmlns:a16="http://schemas.microsoft.com/office/drawing/2014/main" id="{D2E935D8-B4A2-8F6D-B305-6E6443D4DC90}"/>
              </a:ext>
            </a:extLst>
          </p:cNvPr>
          <p:cNvSpPr>
            <a:spLocks noGrp="1"/>
          </p:cNvSpPr>
          <p:nvPr>
            <p:ph type="body" sz="quarter" idx="13"/>
          </p:nvPr>
        </p:nvSpPr>
        <p:spPr>
          <a:xfrm>
            <a:off x="419100" y="1219200"/>
            <a:ext cx="11391900" cy="4191000"/>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a:t>SOA and web services are frequently conflated, but they are not the same thing.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SOA is an architecture that allows developers to combine multiple application services into a larger, composite service.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SOA can be implemented using SOAP-based web services or REST APIs, or sometimes a combination of both.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It’s important to understand that in SOA, a </a:t>
            </a:r>
            <a:r>
              <a:rPr lang="en-US" i="1" dirty="0"/>
              <a:t>service</a:t>
            </a:r>
            <a:r>
              <a:rPr lang="en-US" dirty="0"/>
              <a:t> is any remotely available resource that can respond to requests. A </a:t>
            </a:r>
            <a:r>
              <a:rPr lang="en-US" i="1" dirty="0"/>
              <a:t>web service</a:t>
            </a:r>
            <a:r>
              <a:rPr lang="en-US" dirty="0"/>
              <a:t> is implemented using specific protocols.</a:t>
            </a:r>
          </a:p>
        </p:txBody>
      </p:sp>
    </p:spTree>
    <p:extLst>
      <p:ext uri="{BB962C8B-B14F-4D97-AF65-F5344CB8AC3E}">
        <p14:creationId xmlns:p14="http://schemas.microsoft.com/office/powerpoint/2010/main" val="215563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7A374-9AEB-72BA-A2FB-118FF344F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86F5D-FB7B-6CD7-CEA9-1A9042C764DD}"/>
              </a:ext>
            </a:extLst>
          </p:cNvPr>
          <p:cNvSpPr>
            <a:spLocks noGrp="1"/>
          </p:cNvSpPr>
          <p:nvPr>
            <p:ph type="title"/>
          </p:nvPr>
        </p:nvSpPr>
        <p:spPr/>
        <p:txBody>
          <a:bodyPr>
            <a:normAutofit/>
          </a:bodyPr>
          <a:lstStyle/>
          <a:p>
            <a:r>
              <a:rPr lang="en-US" dirty="0"/>
              <a:t>Webservices</a:t>
            </a:r>
          </a:p>
        </p:txBody>
      </p:sp>
      <p:sp>
        <p:nvSpPr>
          <p:cNvPr id="5" name="Text Placeholder 4">
            <a:extLst>
              <a:ext uri="{FF2B5EF4-FFF2-40B4-BE49-F238E27FC236}">
                <a16:creationId xmlns:a16="http://schemas.microsoft.com/office/drawing/2014/main" id="{8E2C9461-66D1-3388-FEC6-407EA26872B2}"/>
              </a:ext>
            </a:extLst>
          </p:cNvPr>
          <p:cNvSpPr>
            <a:spLocks noGrp="1"/>
          </p:cNvSpPr>
          <p:nvPr>
            <p:ph type="body" sz="quarter" idx="13"/>
          </p:nvPr>
        </p:nvSpPr>
        <p:spPr>
          <a:xfrm>
            <a:off x="228601" y="1066800"/>
            <a:ext cx="5181600" cy="3505200"/>
          </a:xfrm>
        </p:spPr>
        <p:txBody>
          <a:bodyPr>
            <a:noAutofit/>
          </a:bodyPr>
          <a:lstStyle/>
          <a:p>
            <a:pPr marL="361950" indent="-361950">
              <a:lnSpc>
                <a:spcPct val="100000"/>
              </a:lnSpc>
              <a:spcBef>
                <a:spcPts val="0"/>
              </a:spcBef>
              <a:buNone/>
            </a:pPr>
            <a:r>
              <a:rPr lang="en-US" b="1" u="sng" dirty="0"/>
              <a:t>HTTP:</a:t>
            </a:r>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HTTP</a:t>
            </a:r>
            <a:r>
              <a:rPr lang="en-US" dirty="0"/>
              <a:t>, which stands for </a:t>
            </a:r>
            <a:r>
              <a:rPr lang="en-US" b="1" dirty="0"/>
              <a:t>Hypertext Transfer Protocol</a:t>
            </a:r>
            <a:r>
              <a:rPr lang="en-US" dirty="0"/>
              <a:t>, is the set of rules that allows web browsers to communicate with web servers to load webpages.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When you visit a website, your browser sends an HTTP request to the server, which then sends back the data needed to display the page, such as text, images, and other files. </a:t>
            </a:r>
            <a:endParaRPr lang="en-US" b="1" u="sng" dirty="0"/>
          </a:p>
        </p:txBody>
      </p:sp>
      <p:pic>
        <p:nvPicPr>
          <p:cNvPr id="7" name="Picture 6">
            <a:extLst>
              <a:ext uri="{FF2B5EF4-FFF2-40B4-BE49-F238E27FC236}">
                <a16:creationId xmlns:a16="http://schemas.microsoft.com/office/drawing/2014/main" id="{5EB23442-DD1C-3E66-BD58-E5031DD5AD27}"/>
              </a:ext>
            </a:extLst>
          </p:cNvPr>
          <p:cNvPicPr>
            <a:picLocks noChangeAspect="1"/>
          </p:cNvPicPr>
          <p:nvPr/>
        </p:nvPicPr>
        <p:blipFill>
          <a:blip r:embed="rId2"/>
          <a:stretch>
            <a:fillRect/>
          </a:stretch>
        </p:blipFill>
        <p:spPr>
          <a:xfrm>
            <a:off x="5867400" y="2205595"/>
            <a:ext cx="5715000" cy="250956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8" name="TextBox 7">
            <a:extLst>
              <a:ext uri="{FF2B5EF4-FFF2-40B4-BE49-F238E27FC236}">
                <a16:creationId xmlns:a16="http://schemas.microsoft.com/office/drawing/2014/main" id="{4BB4F342-15DE-14FC-8663-531D930CC2A3}"/>
              </a:ext>
            </a:extLst>
          </p:cNvPr>
          <p:cNvSpPr txBox="1"/>
          <p:nvPr/>
        </p:nvSpPr>
        <p:spPr>
          <a:xfrm>
            <a:off x="9864165" y="3183377"/>
            <a:ext cx="19812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00BFC38D-6ACB-F7C7-DDD0-4265CD231E4E}"/>
              </a:ext>
            </a:extLst>
          </p:cNvPr>
          <p:cNvSpPr txBox="1"/>
          <p:nvPr/>
        </p:nvSpPr>
        <p:spPr>
          <a:xfrm>
            <a:off x="1325282" y="5791200"/>
            <a:ext cx="8839200" cy="646331"/>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Two popular approaches: REST and SOAP</a:t>
            </a:r>
          </a:p>
          <a:p>
            <a:pPr algn="ct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164226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C9D54-4260-4D20-392E-7C972A929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1E4EA-5B74-7582-1442-304E32F2BB8B}"/>
              </a:ext>
            </a:extLst>
          </p:cNvPr>
          <p:cNvSpPr>
            <a:spLocks noGrp="1"/>
          </p:cNvSpPr>
          <p:nvPr>
            <p:ph type="title"/>
          </p:nvPr>
        </p:nvSpPr>
        <p:spPr/>
        <p:txBody>
          <a:bodyPr>
            <a:normAutofit/>
          </a:bodyPr>
          <a:lstStyle/>
          <a:p>
            <a:r>
              <a:rPr lang="en-US" dirty="0"/>
              <a:t>Webservices - REST</a:t>
            </a:r>
          </a:p>
        </p:txBody>
      </p:sp>
      <p:sp>
        <p:nvSpPr>
          <p:cNvPr id="5" name="Text Placeholder 4">
            <a:extLst>
              <a:ext uri="{FF2B5EF4-FFF2-40B4-BE49-F238E27FC236}">
                <a16:creationId xmlns:a16="http://schemas.microsoft.com/office/drawing/2014/main" id="{1195FF20-93BC-A089-69AC-19334A4E2C0B}"/>
              </a:ext>
            </a:extLst>
          </p:cNvPr>
          <p:cNvSpPr>
            <a:spLocks noGrp="1"/>
          </p:cNvSpPr>
          <p:nvPr>
            <p:ph type="body" sz="quarter" idx="13"/>
          </p:nvPr>
        </p:nvSpPr>
        <p:spPr>
          <a:xfrm>
            <a:off x="22412" y="924933"/>
            <a:ext cx="6073588" cy="5791200"/>
          </a:xfrm>
        </p:spPr>
        <p:style>
          <a:lnRef idx="2">
            <a:schemeClr val="accent2"/>
          </a:lnRef>
          <a:fillRef idx="1">
            <a:schemeClr val="lt1"/>
          </a:fillRef>
          <a:effectRef idx="0">
            <a:schemeClr val="accent2"/>
          </a:effectRef>
          <a:fontRef idx="minor">
            <a:schemeClr val="dk1"/>
          </a:fontRef>
        </p:style>
        <p:txBody>
          <a:bodyPr>
            <a:noAutofit/>
          </a:bodyPr>
          <a:lstStyle/>
          <a:p>
            <a:pPr marL="361950" indent="-361950" algn="just">
              <a:lnSpc>
                <a:spcPct val="100000"/>
              </a:lnSpc>
              <a:spcBef>
                <a:spcPts val="0"/>
              </a:spcBef>
              <a:buFont typeface="Wingdings" panose="05000000000000000000" pitchFamily="2" charset="2"/>
              <a:buChar char="Ø"/>
            </a:pPr>
            <a:r>
              <a:rPr lang="en-US" dirty="0"/>
              <a:t>Representational State </a:t>
            </a:r>
            <a:r>
              <a:rPr lang="en-US" dirty="0" smtClean="0"/>
              <a:t>Transfer</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REST is not a protocol, but rather a design philosophy that builds upon the principles of HTTP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Emphasizes </a:t>
            </a:r>
            <a:r>
              <a:rPr lang="en-US" dirty="0"/>
              <a:t>simple data formats, using URLs for identifying resources, and using HTTP features for cache control, authentication, and content type </a:t>
            </a:r>
            <a:r>
              <a:rPr lang="en-US" dirty="0" smtClean="0"/>
              <a:t>negotiation</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Gaining </a:t>
            </a:r>
            <a:r>
              <a:rPr lang="en-US" dirty="0"/>
              <a:t>popularity compared to SOAP, at least in the context of cross-organizational service integration and is often associated with </a:t>
            </a:r>
            <a:r>
              <a:rPr lang="en-US" dirty="0" smtClean="0"/>
              <a:t>micro services </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An API designed according to the principles of REST is called RESTful</a:t>
            </a:r>
          </a:p>
          <a:p>
            <a:pPr marL="361950" indent="-361950" algn="just">
              <a:lnSpc>
                <a:spcPct val="100000"/>
              </a:lnSpc>
              <a:spcBef>
                <a:spcPts val="0"/>
              </a:spcBef>
              <a:buFont typeface="Wingdings" panose="05000000000000000000" pitchFamily="2" charset="2"/>
              <a:buChar char="Ø"/>
            </a:pPr>
            <a:endParaRPr lang="en-US" dirty="0"/>
          </a:p>
        </p:txBody>
      </p:sp>
      <p:pic>
        <p:nvPicPr>
          <p:cNvPr id="4" name="Picture 4" descr="rest_api_works">
            <a:extLst>
              <a:ext uri="{FF2B5EF4-FFF2-40B4-BE49-F238E27FC236}">
                <a16:creationId xmlns:a16="http://schemas.microsoft.com/office/drawing/2014/main" id="{D6BA4048-CBD5-81CD-5E2C-3726580BE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3351" y="1016887"/>
            <a:ext cx="4879049" cy="276558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A6A2B3-D0AB-3405-691C-352ABE837D05}"/>
              </a:ext>
            </a:extLst>
          </p:cNvPr>
          <p:cNvSpPr txBox="1"/>
          <p:nvPr/>
        </p:nvSpPr>
        <p:spPr>
          <a:xfrm>
            <a:off x="6858000" y="3617727"/>
            <a:ext cx="19812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
        <p:nvSpPr>
          <p:cNvPr id="10" name="Text Placeholder 4">
            <a:extLst>
              <a:ext uri="{FF2B5EF4-FFF2-40B4-BE49-F238E27FC236}">
                <a16:creationId xmlns:a16="http://schemas.microsoft.com/office/drawing/2014/main" id="{8437D4B8-6DC0-C0AD-DC99-69281ABFFE72}"/>
              </a:ext>
            </a:extLst>
          </p:cNvPr>
          <p:cNvSpPr txBox="1">
            <a:spLocks/>
          </p:cNvSpPr>
          <p:nvPr/>
        </p:nvSpPr>
        <p:spPr>
          <a:xfrm>
            <a:off x="6096001" y="3886200"/>
            <a:ext cx="5943599" cy="2829933"/>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Wingdings" panose="05000000000000000000" pitchFamily="2" charset="2"/>
              <a:buChar char="Ø"/>
            </a:pPr>
            <a:r>
              <a:rPr lang="en-US" sz="1700" dirty="0" smtClean="0"/>
              <a:t>Good </a:t>
            </a:r>
            <a:r>
              <a:rPr lang="en-US" sz="1700" dirty="0"/>
              <a:t>for experimentation and debugging (can simply make requests to it using a web browser or the command-line tool curl</a:t>
            </a:r>
            <a:r>
              <a:rPr lang="en-US" sz="1700" dirty="0" smtClean="0"/>
              <a:t>)</a:t>
            </a:r>
          </a:p>
          <a:p>
            <a:pPr marL="361950" indent="-361950" algn="just">
              <a:lnSpc>
                <a:spcPct val="100000"/>
              </a:lnSpc>
              <a:spcBef>
                <a:spcPts val="0"/>
              </a:spcBef>
              <a:buFont typeface="Wingdings" panose="05000000000000000000" pitchFamily="2" charset="2"/>
              <a:buChar char="Ø"/>
            </a:pPr>
            <a:endParaRPr lang="en-US" sz="1700" dirty="0"/>
          </a:p>
          <a:p>
            <a:pPr marL="361950" indent="-361950" algn="just">
              <a:lnSpc>
                <a:spcPct val="100000"/>
              </a:lnSpc>
              <a:spcBef>
                <a:spcPts val="0"/>
              </a:spcBef>
              <a:buFont typeface="Wingdings" panose="05000000000000000000" pitchFamily="2" charset="2"/>
              <a:buChar char="Ø"/>
            </a:pPr>
            <a:r>
              <a:rPr lang="en-US" sz="1700" dirty="0" smtClean="0"/>
              <a:t>Supported </a:t>
            </a:r>
            <a:r>
              <a:rPr lang="en-US" sz="1700" dirty="0"/>
              <a:t>by all main stream programming languages and </a:t>
            </a:r>
            <a:r>
              <a:rPr lang="en-US" sz="1700" dirty="0" smtClean="0"/>
              <a:t>platforms</a:t>
            </a:r>
          </a:p>
          <a:p>
            <a:pPr marL="361950" indent="-361950" algn="just">
              <a:lnSpc>
                <a:spcPct val="100000"/>
              </a:lnSpc>
              <a:spcBef>
                <a:spcPts val="0"/>
              </a:spcBef>
              <a:buFont typeface="Wingdings" panose="05000000000000000000" pitchFamily="2" charset="2"/>
              <a:buChar char="Ø"/>
            </a:pPr>
            <a:endParaRPr lang="en-US" sz="1700" dirty="0"/>
          </a:p>
          <a:p>
            <a:pPr marL="361950" indent="-361950" algn="just">
              <a:lnSpc>
                <a:spcPct val="100000"/>
              </a:lnSpc>
              <a:spcBef>
                <a:spcPts val="0"/>
              </a:spcBef>
              <a:buFont typeface="Wingdings" panose="05000000000000000000" pitchFamily="2" charset="2"/>
              <a:buChar char="Ø"/>
            </a:pPr>
            <a:r>
              <a:rPr lang="en-US" sz="1700" dirty="0" smtClean="0"/>
              <a:t>A </a:t>
            </a:r>
            <a:r>
              <a:rPr lang="en-US" sz="1700" dirty="0"/>
              <a:t>vast ecosystem of tools(servers, caches, load balancers, proxies, firewalls, monitoring, debugging tools, testing)</a:t>
            </a:r>
          </a:p>
        </p:txBody>
      </p:sp>
    </p:spTree>
    <p:extLst>
      <p:ext uri="{BB962C8B-B14F-4D97-AF65-F5344CB8AC3E}">
        <p14:creationId xmlns:p14="http://schemas.microsoft.com/office/powerpoint/2010/main" val="405722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10"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6D278-6E36-7B11-3F94-0E386156D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65425-2D8A-BAC3-139B-002DB762C540}"/>
              </a:ext>
            </a:extLst>
          </p:cNvPr>
          <p:cNvSpPr>
            <a:spLocks noGrp="1"/>
          </p:cNvSpPr>
          <p:nvPr>
            <p:ph type="title"/>
          </p:nvPr>
        </p:nvSpPr>
        <p:spPr/>
        <p:txBody>
          <a:bodyPr>
            <a:normAutofit/>
          </a:bodyPr>
          <a:lstStyle/>
          <a:p>
            <a:r>
              <a:rPr lang="en-US" dirty="0"/>
              <a:t>Webservices - SOAP</a:t>
            </a:r>
          </a:p>
        </p:txBody>
      </p:sp>
      <p:sp>
        <p:nvSpPr>
          <p:cNvPr id="3" name="Text Placeholder 4">
            <a:extLst>
              <a:ext uri="{FF2B5EF4-FFF2-40B4-BE49-F238E27FC236}">
                <a16:creationId xmlns:a16="http://schemas.microsoft.com/office/drawing/2014/main" id="{0C98CEF5-C526-B9B7-940C-1CEACDFD18C7}"/>
              </a:ext>
            </a:extLst>
          </p:cNvPr>
          <p:cNvSpPr txBox="1">
            <a:spLocks/>
          </p:cNvSpPr>
          <p:nvPr/>
        </p:nvSpPr>
        <p:spPr>
          <a:xfrm>
            <a:off x="6118412" y="906230"/>
            <a:ext cx="5921188" cy="5951769"/>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Wingdings" panose="05000000000000000000" pitchFamily="2" charset="2"/>
              <a:buChar char="Ø"/>
            </a:pPr>
            <a:r>
              <a:rPr lang="en-US" dirty="0"/>
              <a:t>Instead comes with a sprawling and complex multitude of related standards (the web service framework, known as WS-</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The API of a SOAP web service is described using an XML-based language called WSDL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As WSDL is not designed to be human-readable, and as SOAP messages are often too complex to construct manually, users of SOAP rely heavily on tool support, code generation and IDEs </a:t>
            </a:r>
            <a:endParaRPr lang="en-US" dirty="0" smtClean="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Although SOAP is still used in many large enterprises, it has fallen out of favor in most smaller companies.</a:t>
            </a:r>
          </a:p>
        </p:txBody>
      </p:sp>
      <p:sp>
        <p:nvSpPr>
          <p:cNvPr id="7" name="Text Placeholder 4">
            <a:extLst>
              <a:ext uri="{FF2B5EF4-FFF2-40B4-BE49-F238E27FC236}">
                <a16:creationId xmlns:a16="http://schemas.microsoft.com/office/drawing/2014/main" id="{A9B6C75F-F35D-91F5-E4B5-6C907BB00C26}"/>
              </a:ext>
            </a:extLst>
          </p:cNvPr>
          <p:cNvSpPr txBox="1">
            <a:spLocks/>
          </p:cNvSpPr>
          <p:nvPr/>
        </p:nvSpPr>
        <p:spPr>
          <a:xfrm>
            <a:off x="22412" y="3962400"/>
            <a:ext cx="6073588" cy="28956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Wingdings" panose="05000000000000000000" pitchFamily="2" charset="2"/>
              <a:buChar char="Ø"/>
            </a:pPr>
            <a:r>
              <a:rPr lang="en-US" dirty="0"/>
              <a:t>Single Object Access Protocol</a:t>
            </a:r>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SOAP </a:t>
            </a:r>
            <a:r>
              <a:rPr lang="en-US" dirty="0"/>
              <a:t>is an XML-based protocol for making network </a:t>
            </a:r>
            <a:endParaRPr lang="en-US" dirty="0" smtClean="0"/>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API requests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Most commonly used over HTTP, it aims to be independent from HTTP and avoids using most HTTP features</a:t>
            </a:r>
          </a:p>
        </p:txBody>
      </p:sp>
      <p:sp>
        <p:nvSpPr>
          <p:cNvPr id="8" name="AutoShape 2" descr="SOAP protocol SOAP is the master leader in communications. Its main purpose is to send and receive XML information to allow a successful communication between service requestor, service registry and provider. As shown in Fig. 2, SOAP is used to publish the descriptor into a service registry to:">
            <a:extLst>
              <a:ext uri="{FF2B5EF4-FFF2-40B4-BE49-F238E27FC236}">
                <a16:creationId xmlns:a16="http://schemas.microsoft.com/office/drawing/2014/main" id="{7D528CDE-0608-C656-6B1D-35BE3E4703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C93A8B69-51D4-3C6B-8EDC-6ED319C0343C}"/>
              </a:ext>
            </a:extLst>
          </p:cNvPr>
          <p:cNvPicPr>
            <a:picLocks noChangeAspect="1"/>
          </p:cNvPicPr>
          <p:nvPr/>
        </p:nvPicPr>
        <p:blipFill>
          <a:blip r:embed="rId2"/>
          <a:stretch>
            <a:fillRect/>
          </a:stretch>
        </p:blipFill>
        <p:spPr>
          <a:xfrm>
            <a:off x="228600" y="906232"/>
            <a:ext cx="5334000" cy="297561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1" name="TextBox 10">
            <a:extLst>
              <a:ext uri="{FF2B5EF4-FFF2-40B4-BE49-F238E27FC236}">
                <a16:creationId xmlns:a16="http://schemas.microsoft.com/office/drawing/2014/main" id="{00419537-A720-2303-1AD1-0C12425C459E}"/>
              </a:ext>
            </a:extLst>
          </p:cNvPr>
          <p:cNvSpPr txBox="1"/>
          <p:nvPr/>
        </p:nvSpPr>
        <p:spPr>
          <a:xfrm>
            <a:off x="838200" y="3654753"/>
            <a:ext cx="19812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37606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7"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B655-4808-CB60-721C-B8F8CD938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F78EA-FA3B-ED83-5C96-0EF3F60CD7AA}"/>
              </a:ext>
            </a:extLst>
          </p:cNvPr>
          <p:cNvSpPr>
            <a:spLocks noGrp="1"/>
          </p:cNvSpPr>
          <p:nvPr>
            <p:ph type="title"/>
          </p:nvPr>
        </p:nvSpPr>
        <p:spPr/>
        <p:txBody>
          <a:bodyPr>
            <a:normAutofit/>
          </a:bodyPr>
          <a:lstStyle/>
          <a:p>
            <a:r>
              <a:rPr lang="en-US" dirty="0"/>
              <a:t>Remote Procedure Calls</a:t>
            </a:r>
          </a:p>
        </p:txBody>
      </p:sp>
      <p:sp>
        <p:nvSpPr>
          <p:cNvPr id="3" name="Text Placeholder 4">
            <a:extLst>
              <a:ext uri="{FF2B5EF4-FFF2-40B4-BE49-F238E27FC236}">
                <a16:creationId xmlns:a16="http://schemas.microsoft.com/office/drawing/2014/main" id="{11A8FF8C-0045-597D-E091-BC313E3298BB}"/>
              </a:ext>
            </a:extLst>
          </p:cNvPr>
          <p:cNvSpPr txBox="1">
            <a:spLocks/>
          </p:cNvSpPr>
          <p:nvPr/>
        </p:nvSpPr>
        <p:spPr>
          <a:xfrm>
            <a:off x="6489699" y="1143000"/>
            <a:ext cx="5397501" cy="53682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RPC </a:t>
            </a:r>
            <a:r>
              <a:rPr lang="en-US" dirty="0"/>
              <a:t>tries to make a request to a remote network service look the same as calling a function or method in programming language, within the same process (aka </a:t>
            </a:r>
            <a:r>
              <a:rPr lang="en-US" dirty="0">
                <a:solidFill>
                  <a:srgbClr val="FF0000"/>
                </a:solidFill>
              </a:rPr>
              <a:t>location transparency</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Although this seems convenient at first, the approach is fundamentally flawed . No point trying to make a remote service look too much like a local object in programming language, because it’s a fundamentally different thing</a:t>
            </a:r>
            <a:endParaRPr lang="en-IN" dirty="0"/>
          </a:p>
          <a:p>
            <a:pPr marL="361950" lvl="1" indent="-361950" algn="just">
              <a:lnSpc>
                <a:spcPct val="100000"/>
              </a:lnSpc>
              <a:spcBef>
                <a:spcPts val="0"/>
              </a:spcBef>
              <a:buFont typeface="Courier New" panose="02070309020205020404" pitchFamily="49" charset="0"/>
              <a:buChar char="o"/>
            </a:pPr>
            <a:endParaRPr lang="en-US" sz="1800" dirty="0"/>
          </a:p>
        </p:txBody>
      </p:sp>
      <p:sp>
        <p:nvSpPr>
          <p:cNvPr id="8" name="AutoShape 2" descr="SOAP protocol SOAP is the master leader in communications. Its main purpose is to send and receive XML information to allow a successful communication between service requestor, service registry and provider. As shown in Fig. 2, SOAP is used to publish the descriptor into a service registry to:">
            <a:extLst>
              <a:ext uri="{FF2B5EF4-FFF2-40B4-BE49-F238E27FC236}">
                <a16:creationId xmlns:a16="http://schemas.microsoft.com/office/drawing/2014/main" id="{662D760D-892E-CE19-D780-2DB1005ABD0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996F7453-67D5-41B8-0E59-9E6FB6A0A58E}"/>
              </a:ext>
            </a:extLst>
          </p:cNvPr>
          <p:cNvPicPr>
            <a:picLocks noChangeAspect="1"/>
          </p:cNvPicPr>
          <p:nvPr/>
        </p:nvPicPr>
        <p:blipFill>
          <a:blip r:embed="rId2"/>
          <a:stretch>
            <a:fillRect/>
          </a:stretch>
        </p:blipFill>
        <p:spPr>
          <a:xfrm>
            <a:off x="115981" y="1889591"/>
            <a:ext cx="6105525" cy="29622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4B4459AC-46AC-4CBA-F674-F80374D9BA95}"/>
              </a:ext>
            </a:extLst>
          </p:cNvPr>
          <p:cNvSpPr txBox="1"/>
          <p:nvPr/>
        </p:nvSpPr>
        <p:spPr>
          <a:xfrm>
            <a:off x="4508500" y="4606243"/>
            <a:ext cx="19812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098669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3CEF9-964E-CEDA-7B7F-619217CC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7B844-5037-31C9-F444-03BFAABD62B9}"/>
              </a:ext>
            </a:extLst>
          </p:cNvPr>
          <p:cNvSpPr>
            <a:spLocks noGrp="1"/>
          </p:cNvSpPr>
          <p:nvPr>
            <p:ph type="title"/>
          </p:nvPr>
        </p:nvSpPr>
        <p:spPr/>
        <p:txBody>
          <a:bodyPr>
            <a:normAutofit/>
          </a:bodyPr>
          <a:lstStyle/>
          <a:p>
            <a:r>
              <a:rPr lang="en-US" dirty="0"/>
              <a:t>Remote Procedure Calls – Current Directions</a:t>
            </a:r>
          </a:p>
        </p:txBody>
      </p:sp>
      <p:sp>
        <p:nvSpPr>
          <p:cNvPr id="8" name="AutoShape 2" descr="SOAP protocol SOAP is the master leader in communications. Its main purpose is to send and receive XML information to allow a successful communication between service requestor, service registry and provider. As shown in Fig. 2, SOAP is used to publish the descriptor into a service registry to:">
            <a:extLst>
              <a:ext uri="{FF2B5EF4-FFF2-40B4-BE49-F238E27FC236}">
                <a16:creationId xmlns:a16="http://schemas.microsoft.com/office/drawing/2014/main" id="{D1582D30-3B51-D4FF-1E24-56748161A78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 Placeholder 4">
            <a:extLst>
              <a:ext uri="{FF2B5EF4-FFF2-40B4-BE49-F238E27FC236}">
                <a16:creationId xmlns:a16="http://schemas.microsoft.com/office/drawing/2014/main" id="{C26F4740-DB05-77EB-7903-6FEAC0F4AC57}"/>
              </a:ext>
            </a:extLst>
          </p:cNvPr>
          <p:cNvSpPr txBox="1">
            <a:spLocks/>
          </p:cNvSpPr>
          <p:nvPr/>
        </p:nvSpPr>
        <p:spPr>
          <a:xfrm>
            <a:off x="76200" y="924933"/>
            <a:ext cx="11255970" cy="56306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25475" indent="-444500" algn="just">
              <a:lnSpc>
                <a:spcPct val="100000"/>
              </a:lnSpc>
              <a:buFont typeface="Wingdings" panose="05000000000000000000" pitchFamily="2" charset="2"/>
              <a:buChar char="Ø"/>
            </a:pPr>
            <a:r>
              <a:rPr lang="en-US" dirty="0"/>
              <a:t>RPC isn’t going away</a:t>
            </a:r>
            <a:r>
              <a:rPr lang="en-US" dirty="0" smtClean="0"/>
              <a:t>!</a:t>
            </a:r>
          </a:p>
          <a:p>
            <a:pPr marL="1082675" lvl="2" indent="-444500" algn="just">
              <a:lnSpc>
                <a:spcPct val="100000"/>
              </a:lnSpc>
              <a:buFont typeface="Wingdings" panose="05000000000000000000" pitchFamily="2" charset="2"/>
              <a:buChar char="§"/>
            </a:pPr>
            <a:r>
              <a:rPr lang="en-US" sz="1600" dirty="0" smtClean="0"/>
              <a:t>Various </a:t>
            </a:r>
            <a:r>
              <a:rPr lang="en-US" sz="1600" dirty="0"/>
              <a:t>RPC frameworks have been built on top of all the encodings: </a:t>
            </a:r>
            <a:endParaRPr lang="en-US" sz="1600" dirty="0" smtClean="0"/>
          </a:p>
          <a:p>
            <a:pPr marL="1082675" lvl="2" indent="-444500" algn="just">
              <a:lnSpc>
                <a:spcPct val="100000"/>
              </a:lnSpc>
              <a:buFont typeface="Wingdings" panose="05000000000000000000" pitchFamily="2" charset="2"/>
              <a:buChar char="§"/>
            </a:pPr>
            <a:endParaRPr lang="en-US" sz="1600" dirty="0"/>
          </a:p>
          <a:p>
            <a:pPr marL="1082675" lvl="2" indent="-444500" algn="just">
              <a:lnSpc>
                <a:spcPct val="100000"/>
              </a:lnSpc>
              <a:buFont typeface="Wingdings" panose="05000000000000000000" pitchFamily="2" charset="2"/>
              <a:buChar char="§"/>
            </a:pPr>
            <a:r>
              <a:rPr lang="en-US" sz="1600" dirty="0"/>
              <a:t>Thrift and Avro come with RPC support </a:t>
            </a:r>
            <a:r>
              <a:rPr lang="en-US" sz="1600" dirty="0" smtClean="0"/>
              <a:t>included</a:t>
            </a:r>
          </a:p>
          <a:p>
            <a:pPr marL="1082675" lvl="2" indent="-444500" algn="just">
              <a:lnSpc>
                <a:spcPct val="100000"/>
              </a:lnSpc>
              <a:buFont typeface="Wingdings" panose="05000000000000000000" pitchFamily="2" charset="2"/>
              <a:buChar char="§"/>
            </a:pPr>
            <a:endParaRPr lang="en-US" sz="1600" dirty="0"/>
          </a:p>
          <a:p>
            <a:pPr marL="1082675" lvl="2" indent="-444500" algn="just">
              <a:lnSpc>
                <a:spcPct val="100000"/>
              </a:lnSpc>
              <a:buFont typeface="Wingdings" panose="05000000000000000000" pitchFamily="2" charset="2"/>
              <a:buChar char="§"/>
            </a:pPr>
            <a:r>
              <a:rPr lang="en-US" sz="1600" dirty="0" err="1"/>
              <a:t>gRPC</a:t>
            </a:r>
            <a:r>
              <a:rPr lang="en-US" sz="1600" dirty="0"/>
              <a:t> is a RPC implementation using Protocol </a:t>
            </a:r>
            <a:r>
              <a:rPr lang="en-US" sz="1600" dirty="0" smtClean="0"/>
              <a:t>Buffers</a:t>
            </a:r>
          </a:p>
          <a:p>
            <a:pPr marL="1082675" lvl="2" indent="-444500" algn="just">
              <a:lnSpc>
                <a:spcPct val="100000"/>
              </a:lnSpc>
              <a:buFont typeface="Wingdings" panose="05000000000000000000" pitchFamily="2" charset="2"/>
              <a:buChar char="§"/>
            </a:pPr>
            <a:endParaRPr lang="en-US" sz="1600" dirty="0"/>
          </a:p>
          <a:p>
            <a:pPr marL="625475" indent="-444500" algn="just">
              <a:lnSpc>
                <a:spcPct val="100000"/>
              </a:lnSpc>
              <a:buFont typeface="Wingdings" panose="05000000000000000000" pitchFamily="2" charset="2"/>
              <a:buChar char="Ø"/>
            </a:pPr>
            <a:r>
              <a:rPr lang="en-US" dirty="0"/>
              <a:t>New generation of RPC frameworks is more explicit about the fact that a remote request is different from a local function </a:t>
            </a:r>
            <a:r>
              <a:rPr lang="en-US" dirty="0" smtClean="0"/>
              <a:t>call</a:t>
            </a:r>
          </a:p>
          <a:p>
            <a:pPr marL="1082675" lvl="2" indent="-444500" algn="just">
              <a:lnSpc>
                <a:spcPct val="100000"/>
              </a:lnSpc>
              <a:buFont typeface="Wingdings" panose="05000000000000000000" pitchFamily="2" charset="2"/>
              <a:buChar char="§"/>
            </a:pPr>
            <a:r>
              <a:rPr lang="en-US" sz="1600" dirty="0" smtClean="0"/>
              <a:t>Also </a:t>
            </a:r>
            <a:r>
              <a:rPr lang="en-US" sz="1600" dirty="0"/>
              <a:t>provide service discovery — that is, allowing a client to find out at which IP address and port number it can find a particular </a:t>
            </a:r>
            <a:r>
              <a:rPr lang="en-US" sz="1600" dirty="0" smtClean="0"/>
              <a:t>service</a:t>
            </a:r>
          </a:p>
          <a:p>
            <a:pPr marL="1082675" lvl="2" indent="-444500" algn="just">
              <a:lnSpc>
                <a:spcPct val="100000"/>
              </a:lnSpc>
              <a:buFont typeface="Wingdings" panose="05000000000000000000" pitchFamily="2" charset="2"/>
              <a:buChar char="§"/>
            </a:pPr>
            <a:endParaRPr lang="en-US" sz="1600" dirty="0"/>
          </a:p>
          <a:p>
            <a:pPr marL="1082675" lvl="2" indent="-444500" algn="just">
              <a:lnSpc>
                <a:spcPct val="100000"/>
              </a:lnSpc>
              <a:buFont typeface="Wingdings" panose="05000000000000000000" pitchFamily="2" charset="2"/>
              <a:buChar char="§"/>
            </a:pPr>
            <a:r>
              <a:rPr lang="en-US" sz="1600" dirty="0"/>
              <a:t>Custom RPC protocols with a binary encoding format can achieve better performance than something generic like JSON over </a:t>
            </a:r>
            <a:r>
              <a:rPr lang="en-US" sz="1600" dirty="0" smtClean="0"/>
              <a:t>REST</a:t>
            </a:r>
          </a:p>
          <a:p>
            <a:pPr marL="1082675" lvl="2" indent="-444500" algn="just">
              <a:lnSpc>
                <a:spcPct val="100000"/>
              </a:lnSpc>
              <a:buFont typeface="Wingdings" panose="05000000000000000000" pitchFamily="2" charset="2"/>
              <a:buChar char="§"/>
            </a:pPr>
            <a:endParaRPr lang="en-US" sz="1600" dirty="0"/>
          </a:p>
          <a:p>
            <a:pPr marL="1082675" lvl="2" indent="-444500" algn="just">
              <a:lnSpc>
                <a:spcPct val="100000"/>
              </a:lnSpc>
              <a:buFont typeface="Wingdings" panose="05000000000000000000" pitchFamily="2" charset="2"/>
              <a:buChar char="§"/>
            </a:pPr>
            <a:r>
              <a:rPr lang="en-US" sz="1600" dirty="0"/>
              <a:t>Focus of RPC frameworks is on requests between services owned by the same organization, typically within the same datacenter</a:t>
            </a:r>
            <a:endParaRPr lang="en-IN" sz="1600" dirty="0"/>
          </a:p>
          <a:p>
            <a:pPr marL="625475" lvl="1" indent="-444500" algn="just">
              <a:lnSpc>
                <a:spcPct val="100000"/>
              </a:lnSpc>
              <a:buNone/>
            </a:pPr>
            <a:endParaRPr lang="en-US" sz="1800" dirty="0"/>
          </a:p>
          <a:p>
            <a:pPr marL="625475" lvl="1" indent="-444500" algn="just">
              <a:lnSpc>
                <a:spcPct val="100000"/>
              </a:lnSpc>
              <a:buNone/>
            </a:pPr>
            <a:endParaRPr lang="en-US" sz="1800" b="1" u="sng" dirty="0"/>
          </a:p>
        </p:txBody>
      </p:sp>
    </p:spTree>
    <p:extLst>
      <p:ext uri="{BB962C8B-B14F-4D97-AF65-F5344CB8AC3E}">
        <p14:creationId xmlns:p14="http://schemas.microsoft.com/office/powerpoint/2010/main" val="1963244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3"/>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746BA-E7CB-6C28-6414-7CB620470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790B3-6C1D-CDB0-7FE6-C976336FF230}"/>
              </a:ext>
            </a:extLst>
          </p:cNvPr>
          <p:cNvSpPr>
            <a:spLocks noGrp="1"/>
          </p:cNvSpPr>
          <p:nvPr>
            <p:ph type="title"/>
          </p:nvPr>
        </p:nvSpPr>
        <p:spPr>
          <a:xfrm>
            <a:off x="831850" y="1709738"/>
            <a:ext cx="10515600" cy="2852737"/>
          </a:xfrm>
        </p:spPr>
        <p:txBody>
          <a:bodyPr anchor="b">
            <a:normAutofit/>
          </a:bodyPr>
          <a:lstStyle/>
          <a:p>
            <a:r>
              <a:rPr lang="en-US" dirty="0"/>
              <a:t>Modes of Data Flow</a:t>
            </a:r>
            <a:br>
              <a:rPr lang="en-US" dirty="0"/>
            </a:br>
            <a:r>
              <a:rPr lang="en-US" dirty="0"/>
              <a:t>- Through Message Passing</a:t>
            </a:r>
          </a:p>
        </p:txBody>
      </p:sp>
    </p:spTree>
    <p:extLst>
      <p:ext uri="{BB962C8B-B14F-4D97-AF65-F5344CB8AC3E}">
        <p14:creationId xmlns:p14="http://schemas.microsoft.com/office/powerpoint/2010/main" val="113262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AA133-76E6-6C32-1F5C-4A799B5055B4}"/>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B2752AF7-B979-FCAB-FDC3-D50EF219EB63}"/>
              </a:ext>
            </a:extLst>
          </p:cNvPr>
          <p:cNvSpPr>
            <a:spLocks noGrp="1"/>
          </p:cNvSpPr>
          <p:nvPr>
            <p:ph type="body" sz="quarter" idx="13"/>
          </p:nvPr>
        </p:nvSpPr>
        <p:spPr>
          <a:xfrm>
            <a:off x="457200" y="3540116"/>
            <a:ext cx="10325100" cy="3200400"/>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a:t>Asynchronous message-passing systems, which are somewhere between RPC and </a:t>
            </a:r>
            <a:r>
              <a:rPr lang="en-US" dirty="0" smtClean="0"/>
              <a:t>databases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Similar </a:t>
            </a:r>
            <a:r>
              <a:rPr lang="en-US" dirty="0"/>
              <a:t>to RPC in that a client’s request (usually called a message) is delivered to another process with low </a:t>
            </a:r>
            <a:r>
              <a:rPr lang="en-US" dirty="0" smtClean="0"/>
              <a:t>latency</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Similar </a:t>
            </a:r>
            <a:r>
              <a:rPr lang="en-US" dirty="0"/>
              <a:t>to databases in that the message is not sent via a direct network connection, but goes via an intermediary called a message broker which stores the message </a:t>
            </a:r>
            <a:r>
              <a:rPr lang="en-US" dirty="0" smtClean="0"/>
              <a:t>temporarily</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Also </a:t>
            </a:r>
            <a:r>
              <a:rPr lang="en-US" dirty="0"/>
              <a:t>called a message queue or message-oriented </a:t>
            </a:r>
            <a:r>
              <a:rPr lang="en-US" dirty="0" smtClean="0"/>
              <a:t>middleware</a:t>
            </a:r>
            <a:endParaRPr lang="en-US" dirty="0"/>
          </a:p>
        </p:txBody>
      </p:sp>
      <p:pic>
        <p:nvPicPr>
          <p:cNvPr id="6" name="Picture 5">
            <a:extLst>
              <a:ext uri="{FF2B5EF4-FFF2-40B4-BE49-F238E27FC236}">
                <a16:creationId xmlns:a16="http://schemas.microsoft.com/office/drawing/2014/main" id="{5263E948-F670-9993-4981-76F29879949E}"/>
              </a:ext>
            </a:extLst>
          </p:cNvPr>
          <p:cNvPicPr>
            <a:picLocks noChangeAspect="1"/>
          </p:cNvPicPr>
          <p:nvPr/>
        </p:nvPicPr>
        <p:blipFill>
          <a:blip r:embed="rId2"/>
          <a:stretch>
            <a:fillRect/>
          </a:stretch>
        </p:blipFill>
        <p:spPr>
          <a:xfrm>
            <a:off x="2913062" y="1074307"/>
            <a:ext cx="5172075" cy="21431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TextBox 6">
            <a:extLst>
              <a:ext uri="{FF2B5EF4-FFF2-40B4-BE49-F238E27FC236}">
                <a16:creationId xmlns:a16="http://schemas.microsoft.com/office/drawing/2014/main" id="{1AABF04D-69FF-2346-EF19-70A1FAED6FB0}"/>
              </a:ext>
            </a:extLst>
          </p:cNvPr>
          <p:cNvSpPr txBox="1"/>
          <p:nvPr/>
        </p:nvSpPr>
        <p:spPr>
          <a:xfrm>
            <a:off x="5427381" y="2997191"/>
            <a:ext cx="1981200" cy="276999"/>
          </a:xfrm>
          <a:prstGeom prst="rect">
            <a:avLst/>
          </a:prstGeom>
          <a:noFill/>
        </p:spPr>
        <p:txBody>
          <a:bodyPr wrap="square" rtlCol="0">
            <a:spAutoFit/>
          </a:bodyPr>
          <a:lstStyle/>
          <a:p>
            <a:pPr algn="ctr"/>
            <a:r>
              <a:rPr lang="en-US" sz="1200" dirty="0">
                <a:latin typeface="Helvetica" panose="020B0604020202020204" pitchFamily="34" charset="0"/>
                <a:cs typeface="Helvetica" panose="020B0604020202020204" pitchFamily="34" charset="0"/>
                <a:hlinkClick r:id="rId3"/>
              </a:rPr>
              <a:t>Image Source</a:t>
            </a:r>
            <a:endParaRPr lang="en-US" sz="1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41631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6C2F5-11EC-E6EA-5179-D74D25D2DB21}"/>
              </a:ext>
            </a:extLst>
          </p:cNvPr>
          <p:cNvSpPr>
            <a:spLocks noGrp="1"/>
          </p:cNvSpPr>
          <p:nvPr>
            <p:ph type="title"/>
          </p:nvPr>
        </p:nvSpPr>
        <p:spPr/>
        <p:txBody>
          <a:bodyPr/>
          <a:lstStyle/>
          <a:p>
            <a:r>
              <a:rPr lang="en-US" dirty="0"/>
              <a:t>Message Brokers</a:t>
            </a:r>
          </a:p>
        </p:txBody>
      </p:sp>
      <p:sp>
        <p:nvSpPr>
          <p:cNvPr id="3" name="Text Placeholder 2">
            <a:extLst>
              <a:ext uri="{FF2B5EF4-FFF2-40B4-BE49-F238E27FC236}">
                <a16:creationId xmlns:a16="http://schemas.microsoft.com/office/drawing/2014/main" id="{F6A7E997-920A-DB3A-1245-5C2CC1995C75}"/>
              </a:ext>
            </a:extLst>
          </p:cNvPr>
          <p:cNvSpPr>
            <a:spLocks noGrp="1"/>
          </p:cNvSpPr>
          <p:nvPr>
            <p:ph type="body" sz="quarter" idx="13"/>
          </p:nvPr>
        </p:nvSpPr>
        <p:spPr>
          <a:xfrm>
            <a:off x="0" y="924933"/>
            <a:ext cx="11811000" cy="5933067"/>
          </a:xfrm>
        </p:spPr>
        <p:txBody>
          <a:bodyPr>
            <a:noAutofit/>
          </a:bodyPr>
          <a:lstStyle/>
          <a:p>
            <a:pPr marL="533400" indent="-352425" algn="just">
              <a:lnSpc>
                <a:spcPct val="100000"/>
              </a:lnSpc>
              <a:spcBef>
                <a:spcPts val="0"/>
              </a:spcBef>
              <a:buNone/>
            </a:pPr>
            <a:r>
              <a:rPr lang="en-US" sz="1600" b="1" u="sng" dirty="0" smtClean="0"/>
              <a:t>Landscape</a:t>
            </a:r>
          </a:p>
          <a:p>
            <a:pPr marL="533400" indent="-352425" algn="just">
              <a:lnSpc>
                <a:spcPct val="100000"/>
              </a:lnSpc>
              <a:spcBef>
                <a:spcPts val="0"/>
              </a:spcBef>
              <a:buNone/>
            </a:pPr>
            <a:endParaRPr lang="en-US" sz="1600" b="1" u="sng" dirty="0"/>
          </a:p>
          <a:p>
            <a:pPr marL="533400" indent="-352425" algn="just">
              <a:lnSpc>
                <a:spcPct val="100000"/>
              </a:lnSpc>
              <a:spcBef>
                <a:spcPts val="0"/>
              </a:spcBef>
              <a:buFont typeface="Wingdings" panose="05000000000000000000" pitchFamily="2" charset="2"/>
              <a:buChar char="Ø"/>
            </a:pPr>
            <a:r>
              <a:rPr lang="en-US" sz="1600" dirty="0"/>
              <a:t>In past, dominated by commercial enterprise software by companies such as TIBCO, IBM WebSphere, and </a:t>
            </a:r>
            <a:r>
              <a:rPr lang="en-US" sz="1600" dirty="0" err="1"/>
              <a:t>webMethods</a:t>
            </a:r>
            <a:r>
              <a:rPr lang="en-US" sz="1600" dirty="0" smtClean="0"/>
              <a:t>.</a:t>
            </a:r>
          </a:p>
          <a:p>
            <a:pPr marL="533400" indent="-352425" algn="just">
              <a:lnSpc>
                <a:spcPct val="100000"/>
              </a:lnSpc>
              <a:spcBef>
                <a:spcPts val="0"/>
              </a:spcBef>
              <a:buFont typeface="Wingdings" panose="05000000000000000000" pitchFamily="2" charset="2"/>
              <a:buChar char="Ø"/>
            </a:pPr>
            <a:endParaRPr lang="en-US" sz="1600" dirty="0"/>
          </a:p>
          <a:p>
            <a:pPr marL="533400" indent="-352425" algn="just">
              <a:lnSpc>
                <a:spcPct val="100000"/>
              </a:lnSpc>
              <a:spcBef>
                <a:spcPts val="0"/>
              </a:spcBef>
              <a:buFont typeface="Wingdings" panose="05000000000000000000" pitchFamily="2" charset="2"/>
              <a:buChar char="Ø"/>
            </a:pPr>
            <a:r>
              <a:rPr lang="en-US" sz="1600" dirty="0"/>
              <a:t>More recently, open source implementations such as RabbitMQ, ActiveMQ, </a:t>
            </a:r>
            <a:r>
              <a:rPr lang="en-US" sz="1600" dirty="0" err="1"/>
              <a:t>HornetQ</a:t>
            </a:r>
            <a:r>
              <a:rPr lang="en-US" sz="1600" dirty="0"/>
              <a:t>, NATS and Apache Kafka have become </a:t>
            </a:r>
            <a:r>
              <a:rPr lang="en-US" sz="1600" dirty="0" smtClean="0"/>
              <a:t>popular</a:t>
            </a:r>
          </a:p>
          <a:p>
            <a:pPr marL="533400" indent="-352425" algn="just">
              <a:lnSpc>
                <a:spcPct val="100000"/>
              </a:lnSpc>
              <a:spcBef>
                <a:spcPts val="0"/>
              </a:spcBef>
              <a:buFont typeface="Wingdings" panose="05000000000000000000" pitchFamily="2" charset="2"/>
              <a:buChar char="Ø"/>
            </a:pPr>
            <a:endParaRPr lang="en-US" sz="1600" dirty="0"/>
          </a:p>
          <a:p>
            <a:pPr marL="533400" indent="-352425" algn="just">
              <a:lnSpc>
                <a:spcPct val="100000"/>
              </a:lnSpc>
              <a:spcBef>
                <a:spcPts val="0"/>
              </a:spcBef>
              <a:buNone/>
            </a:pPr>
            <a:r>
              <a:rPr lang="en-US" sz="1600" b="1" u="sng" dirty="0" smtClean="0"/>
              <a:t>Working</a:t>
            </a:r>
          </a:p>
          <a:p>
            <a:pPr marL="533400" indent="-352425" algn="just">
              <a:lnSpc>
                <a:spcPct val="100000"/>
              </a:lnSpc>
              <a:spcBef>
                <a:spcPts val="0"/>
              </a:spcBef>
              <a:buNone/>
            </a:pPr>
            <a:endParaRPr lang="en-US" sz="1600" b="1" u="sng" dirty="0"/>
          </a:p>
          <a:p>
            <a:pPr marL="533400" indent="-352425" algn="just">
              <a:lnSpc>
                <a:spcPct val="100000"/>
              </a:lnSpc>
              <a:spcBef>
                <a:spcPts val="0"/>
              </a:spcBef>
              <a:buFont typeface="Wingdings" panose="05000000000000000000" pitchFamily="2" charset="2"/>
              <a:buChar char="Ø"/>
            </a:pPr>
            <a:r>
              <a:rPr lang="en-US" sz="1600" dirty="0" smtClean="0"/>
              <a:t>One </a:t>
            </a:r>
            <a:r>
              <a:rPr lang="en-US" sz="1600" dirty="0"/>
              <a:t>process sends a message to a named queue or </a:t>
            </a:r>
            <a:r>
              <a:rPr lang="en-US" sz="1600" dirty="0" smtClean="0"/>
              <a:t>topic</a:t>
            </a:r>
          </a:p>
          <a:p>
            <a:pPr marL="533400" indent="-352425" algn="just">
              <a:lnSpc>
                <a:spcPct val="100000"/>
              </a:lnSpc>
              <a:spcBef>
                <a:spcPts val="0"/>
              </a:spcBef>
              <a:buFont typeface="Wingdings" panose="05000000000000000000" pitchFamily="2" charset="2"/>
              <a:buChar char="Ø"/>
            </a:pPr>
            <a:endParaRPr lang="en-US" sz="1600" dirty="0"/>
          </a:p>
          <a:p>
            <a:pPr marL="533400" indent="-352425" algn="just">
              <a:lnSpc>
                <a:spcPct val="100000"/>
              </a:lnSpc>
              <a:spcBef>
                <a:spcPts val="0"/>
              </a:spcBef>
              <a:buFont typeface="Wingdings" panose="05000000000000000000" pitchFamily="2" charset="2"/>
              <a:buChar char="Ø"/>
            </a:pPr>
            <a:r>
              <a:rPr lang="en-US" sz="1600" dirty="0" smtClean="0"/>
              <a:t>Broker </a:t>
            </a:r>
            <a:r>
              <a:rPr lang="en-US" sz="1600" dirty="0"/>
              <a:t>ensures that the message is delivered to one or more consumers or subscribers of that queue or </a:t>
            </a:r>
            <a:r>
              <a:rPr lang="en-US" sz="1600" dirty="0" smtClean="0"/>
              <a:t>topic</a:t>
            </a:r>
          </a:p>
          <a:p>
            <a:pPr marL="533400" indent="-352425" algn="just">
              <a:lnSpc>
                <a:spcPct val="100000"/>
              </a:lnSpc>
              <a:spcBef>
                <a:spcPts val="0"/>
              </a:spcBef>
              <a:buFont typeface="Wingdings" panose="05000000000000000000" pitchFamily="2" charset="2"/>
              <a:buChar char="Ø"/>
            </a:pPr>
            <a:endParaRPr lang="en-US" sz="1600" dirty="0"/>
          </a:p>
          <a:p>
            <a:pPr marL="533400" indent="-352425" algn="just">
              <a:lnSpc>
                <a:spcPct val="100000"/>
              </a:lnSpc>
              <a:spcBef>
                <a:spcPts val="0"/>
              </a:spcBef>
              <a:buFont typeface="Wingdings" panose="05000000000000000000" pitchFamily="2" charset="2"/>
              <a:buChar char="Ø"/>
            </a:pPr>
            <a:r>
              <a:rPr lang="en-US" sz="1600" dirty="0" smtClean="0"/>
              <a:t>Can </a:t>
            </a:r>
            <a:r>
              <a:rPr lang="en-US" sz="1600" dirty="0"/>
              <a:t>be many producers and many consumers on the same </a:t>
            </a:r>
            <a:r>
              <a:rPr lang="en-US" sz="1600" dirty="0" smtClean="0"/>
              <a:t>topic</a:t>
            </a:r>
          </a:p>
          <a:p>
            <a:pPr marL="533400" indent="-352425" algn="just">
              <a:lnSpc>
                <a:spcPct val="100000"/>
              </a:lnSpc>
              <a:spcBef>
                <a:spcPts val="0"/>
              </a:spcBef>
              <a:buFont typeface="Wingdings" panose="05000000000000000000" pitchFamily="2" charset="2"/>
              <a:buChar char="Ø"/>
            </a:pPr>
            <a:endParaRPr lang="en-US" sz="1600" dirty="0"/>
          </a:p>
          <a:p>
            <a:pPr marL="533400" indent="-352425" algn="just">
              <a:lnSpc>
                <a:spcPct val="100000"/>
              </a:lnSpc>
              <a:spcBef>
                <a:spcPts val="0"/>
              </a:spcBef>
              <a:buFont typeface="Wingdings" panose="05000000000000000000" pitchFamily="2" charset="2"/>
              <a:buChar char="Ø"/>
            </a:pPr>
            <a:r>
              <a:rPr lang="en-US" sz="1600" dirty="0"/>
              <a:t>Message brokers typically don’t enforce any particular data model </a:t>
            </a:r>
            <a:endParaRPr lang="en-US" sz="1600" dirty="0" smtClean="0"/>
          </a:p>
          <a:p>
            <a:pPr marL="533400" indent="-352425" algn="just">
              <a:lnSpc>
                <a:spcPct val="100000"/>
              </a:lnSpc>
              <a:spcBef>
                <a:spcPts val="0"/>
              </a:spcBef>
              <a:buFont typeface="Wingdings" panose="05000000000000000000" pitchFamily="2" charset="2"/>
              <a:buChar char="Ø"/>
            </a:pPr>
            <a:endParaRPr lang="en-US" sz="1600" dirty="0"/>
          </a:p>
          <a:p>
            <a:pPr marL="533400" indent="-352425" algn="just">
              <a:lnSpc>
                <a:spcPct val="100000"/>
              </a:lnSpc>
              <a:spcBef>
                <a:spcPts val="0"/>
              </a:spcBef>
              <a:buFont typeface="Wingdings" panose="05000000000000000000" pitchFamily="2" charset="2"/>
              <a:buChar char="Ø"/>
            </a:pPr>
            <a:r>
              <a:rPr lang="en-US" sz="1600" dirty="0" smtClean="0"/>
              <a:t>Message </a:t>
            </a:r>
            <a:r>
              <a:rPr lang="en-US" sz="1600" dirty="0"/>
              <a:t>is just a sequence of bytes, with some metadata, so can use any encoding </a:t>
            </a:r>
            <a:r>
              <a:rPr lang="en-US" sz="1600" dirty="0" smtClean="0"/>
              <a:t>format</a:t>
            </a:r>
          </a:p>
          <a:p>
            <a:pPr marL="533400" indent="-352425" algn="just">
              <a:lnSpc>
                <a:spcPct val="100000"/>
              </a:lnSpc>
              <a:spcBef>
                <a:spcPts val="0"/>
              </a:spcBef>
              <a:buFont typeface="Wingdings" panose="05000000000000000000" pitchFamily="2" charset="2"/>
              <a:buChar char="Ø"/>
            </a:pPr>
            <a:endParaRPr lang="en-US" sz="1600" dirty="0"/>
          </a:p>
          <a:p>
            <a:pPr marL="533400" indent="-352425" algn="just">
              <a:lnSpc>
                <a:spcPct val="100000"/>
              </a:lnSpc>
              <a:spcBef>
                <a:spcPts val="0"/>
              </a:spcBef>
              <a:buFont typeface="Wingdings" panose="05000000000000000000" pitchFamily="2" charset="2"/>
              <a:buChar char="Ø"/>
            </a:pPr>
            <a:r>
              <a:rPr lang="en-US" sz="1600" dirty="0"/>
              <a:t>If the encoding is backward and forward compatible, have the greatest flexibility to change publishers and consumers independently, and deploy them in any </a:t>
            </a:r>
            <a:r>
              <a:rPr lang="en-US" sz="1600" dirty="0" smtClean="0"/>
              <a:t>order</a:t>
            </a:r>
            <a:endParaRPr lang="en-US" sz="1600" dirty="0"/>
          </a:p>
        </p:txBody>
      </p:sp>
    </p:spTree>
    <p:extLst>
      <p:ext uri="{BB962C8B-B14F-4D97-AF65-F5344CB8AC3E}">
        <p14:creationId xmlns:p14="http://schemas.microsoft.com/office/powerpoint/2010/main" val="322744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E526F-E7FE-66C6-AD59-8EDECEE8DAB7}"/>
              </a:ext>
            </a:extLst>
          </p:cNvPr>
          <p:cNvSpPr>
            <a:spLocks noGrp="1"/>
          </p:cNvSpPr>
          <p:nvPr>
            <p:ph type="title"/>
          </p:nvPr>
        </p:nvSpPr>
        <p:spPr/>
        <p:txBody>
          <a:bodyPr>
            <a:normAutofit/>
          </a:bodyPr>
          <a:lstStyle/>
          <a:p>
            <a:r>
              <a:rPr lang="en-US" dirty="0"/>
              <a:t>Message broker  over direct RPC</a:t>
            </a:r>
          </a:p>
        </p:txBody>
      </p:sp>
      <p:sp>
        <p:nvSpPr>
          <p:cNvPr id="3" name="Text Placeholder 2">
            <a:extLst>
              <a:ext uri="{FF2B5EF4-FFF2-40B4-BE49-F238E27FC236}">
                <a16:creationId xmlns:a16="http://schemas.microsoft.com/office/drawing/2014/main" id="{54872941-0CD8-38A1-58E7-95DED8DAB1CB}"/>
              </a:ext>
            </a:extLst>
          </p:cNvPr>
          <p:cNvSpPr>
            <a:spLocks noGrp="1"/>
          </p:cNvSpPr>
          <p:nvPr>
            <p:ph type="body" sz="quarter" idx="13"/>
          </p:nvPr>
        </p:nvSpPr>
        <p:spPr>
          <a:xfrm>
            <a:off x="13446" y="1001134"/>
            <a:ext cx="12178553" cy="5696297"/>
          </a:xfrm>
        </p:spPr>
        <p:txBody>
          <a:bodyPr>
            <a:noAutofit/>
          </a:bodyPr>
          <a:lstStyle/>
          <a:p>
            <a:pPr marL="533400" indent="-352425" algn="just">
              <a:lnSpc>
                <a:spcPct val="100000"/>
              </a:lnSpc>
              <a:buFont typeface="Wingdings" panose="05000000000000000000" pitchFamily="2" charset="2"/>
              <a:buChar char="Ø"/>
            </a:pPr>
            <a:r>
              <a:rPr lang="en-US" dirty="0" smtClean="0"/>
              <a:t>Can </a:t>
            </a:r>
            <a:r>
              <a:rPr lang="en-US" dirty="0"/>
              <a:t>act as a buffer if the recipient is unavailable or overloaded, and thus improve system </a:t>
            </a:r>
            <a:r>
              <a:rPr lang="en-US" dirty="0" smtClean="0"/>
              <a:t>reliability</a:t>
            </a:r>
          </a:p>
          <a:p>
            <a:pPr marL="533400" indent="-352425" algn="just">
              <a:lnSpc>
                <a:spcPct val="100000"/>
              </a:lnSpc>
              <a:buFont typeface="Wingdings" panose="05000000000000000000" pitchFamily="2" charset="2"/>
              <a:buChar char="Ø"/>
            </a:pPr>
            <a:r>
              <a:rPr lang="en-US" dirty="0" smtClean="0"/>
              <a:t>Can </a:t>
            </a:r>
            <a:r>
              <a:rPr lang="en-US" dirty="0"/>
              <a:t>automatically redeliver messages to a process that crashed, and thus prevent messages from being </a:t>
            </a:r>
            <a:r>
              <a:rPr lang="en-US" dirty="0" smtClean="0"/>
              <a:t>lost</a:t>
            </a:r>
          </a:p>
          <a:p>
            <a:pPr marL="533400" indent="-352425" algn="just">
              <a:lnSpc>
                <a:spcPct val="100000"/>
              </a:lnSpc>
              <a:buFont typeface="Wingdings" panose="05000000000000000000" pitchFamily="2" charset="2"/>
              <a:buChar char="Ø"/>
            </a:pPr>
            <a:r>
              <a:rPr lang="en-US" dirty="0" smtClean="0"/>
              <a:t>Avoids </a:t>
            </a:r>
            <a:r>
              <a:rPr lang="en-US" dirty="0"/>
              <a:t>the sender needing to know the IP address and port number of the recipient </a:t>
            </a:r>
            <a:endParaRPr lang="en-US" dirty="0" smtClean="0"/>
          </a:p>
          <a:p>
            <a:pPr marL="533400" indent="-352425" algn="just">
              <a:lnSpc>
                <a:spcPct val="100000"/>
              </a:lnSpc>
              <a:buFont typeface="Wingdings" panose="05000000000000000000" pitchFamily="2" charset="2"/>
              <a:buChar char="Ø"/>
            </a:pPr>
            <a:r>
              <a:rPr lang="en-US" dirty="0" smtClean="0"/>
              <a:t>Allows </a:t>
            </a:r>
            <a:r>
              <a:rPr lang="en-US" dirty="0"/>
              <a:t>one message to be sent to several </a:t>
            </a:r>
            <a:r>
              <a:rPr lang="en-US" dirty="0" smtClean="0"/>
              <a:t>recipients</a:t>
            </a:r>
          </a:p>
          <a:p>
            <a:pPr marL="533400" indent="-352425" algn="just">
              <a:lnSpc>
                <a:spcPct val="100000"/>
              </a:lnSpc>
              <a:buFont typeface="Wingdings" panose="05000000000000000000" pitchFamily="2" charset="2"/>
              <a:buChar char="Ø"/>
            </a:pPr>
            <a:r>
              <a:rPr lang="en-US" dirty="0" smtClean="0"/>
              <a:t>Logically </a:t>
            </a:r>
            <a:r>
              <a:rPr lang="en-US" dirty="0"/>
              <a:t>decouples the sender from the recipient (the sender just publishes messages and doesn’t care who consumes them</a:t>
            </a:r>
            <a:r>
              <a:rPr lang="en-US" dirty="0" smtClean="0"/>
              <a:t>)</a:t>
            </a:r>
          </a:p>
          <a:p>
            <a:pPr marL="533400" indent="-352425" algn="just">
              <a:lnSpc>
                <a:spcPct val="100000"/>
              </a:lnSpc>
              <a:buFont typeface="Wingdings" panose="05000000000000000000" pitchFamily="2" charset="2"/>
              <a:buChar char="Ø"/>
            </a:pPr>
            <a:endParaRPr lang="en-US" dirty="0"/>
          </a:p>
          <a:p>
            <a:pPr marL="533400" indent="-352425" algn="just">
              <a:lnSpc>
                <a:spcPct val="100000"/>
              </a:lnSpc>
              <a:buFont typeface="Wingdings" panose="05000000000000000000" pitchFamily="2" charset="2"/>
              <a:buChar char="Ø"/>
            </a:pPr>
            <a:r>
              <a:rPr lang="en-US" dirty="0"/>
              <a:t>Message-passing communication is usually one-way</a:t>
            </a:r>
          </a:p>
          <a:p>
            <a:pPr marL="990600" lvl="2" indent="-352425" algn="just">
              <a:lnSpc>
                <a:spcPct val="100000"/>
              </a:lnSpc>
              <a:buFont typeface="Wingdings" panose="05000000000000000000" pitchFamily="2" charset="2"/>
              <a:buChar char="§"/>
            </a:pPr>
            <a:r>
              <a:rPr lang="en-US" sz="1600" dirty="0" smtClean="0"/>
              <a:t>Sender </a:t>
            </a:r>
            <a:r>
              <a:rPr lang="en-US" sz="1600" dirty="0"/>
              <a:t>normally doesn’t expect to receive a reply to its messages</a:t>
            </a:r>
          </a:p>
          <a:p>
            <a:pPr marL="990600" lvl="2" indent="-352425" algn="just">
              <a:lnSpc>
                <a:spcPct val="100000"/>
              </a:lnSpc>
              <a:buFont typeface="Wingdings" panose="05000000000000000000" pitchFamily="2" charset="2"/>
              <a:buChar char="§"/>
            </a:pPr>
            <a:r>
              <a:rPr lang="en-US" sz="1600" dirty="0" smtClean="0"/>
              <a:t>Possible </a:t>
            </a:r>
            <a:r>
              <a:rPr lang="en-US" sz="1600" dirty="0"/>
              <a:t>for a process to send a response, but this would usually be done on a separate </a:t>
            </a:r>
            <a:r>
              <a:rPr lang="en-US" sz="1600" dirty="0" smtClean="0"/>
              <a:t>channel</a:t>
            </a:r>
          </a:p>
          <a:p>
            <a:pPr marL="990600" lvl="2" indent="-352425" algn="just">
              <a:lnSpc>
                <a:spcPct val="100000"/>
              </a:lnSpc>
              <a:buFont typeface="Wingdings" panose="05000000000000000000" pitchFamily="2" charset="2"/>
              <a:buChar char="§"/>
            </a:pPr>
            <a:endParaRPr lang="en-US" sz="1600" dirty="0"/>
          </a:p>
          <a:p>
            <a:pPr marL="533400" indent="-352425" algn="just">
              <a:lnSpc>
                <a:spcPct val="100000"/>
              </a:lnSpc>
              <a:buFont typeface="Wingdings" panose="05000000000000000000" pitchFamily="2" charset="2"/>
              <a:buChar char="Ø"/>
            </a:pPr>
            <a:r>
              <a:rPr lang="en-US" dirty="0"/>
              <a:t>This is what makes it asynchronous: the sender doesn’t wait for the message to be delivered, but simply sends it and then forgets about it.</a:t>
            </a:r>
            <a:endParaRPr lang="en-IN" dirty="0"/>
          </a:p>
          <a:p>
            <a:pPr marL="533400" indent="-352425" algn="just">
              <a:lnSpc>
                <a:spcPct val="10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95896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1990F-15E4-8C89-B887-02CC6ABFC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ECD59-C273-4ABD-A544-9F23FF378C2C}"/>
              </a:ext>
            </a:extLst>
          </p:cNvPr>
          <p:cNvSpPr>
            <a:spLocks noGrp="1"/>
          </p:cNvSpPr>
          <p:nvPr>
            <p:ph type="title"/>
          </p:nvPr>
        </p:nvSpPr>
        <p:spPr>
          <a:xfrm>
            <a:off x="831850" y="1709738"/>
            <a:ext cx="10515600" cy="2852737"/>
          </a:xfrm>
        </p:spPr>
        <p:txBody>
          <a:bodyPr anchor="b">
            <a:normAutofit/>
          </a:bodyPr>
          <a:lstStyle/>
          <a:p>
            <a:r>
              <a:rPr lang="en-US" dirty="0"/>
              <a:t>Modern Data Stack</a:t>
            </a:r>
          </a:p>
        </p:txBody>
      </p:sp>
    </p:spTree>
    <p:extLst>
      <p:ext uri="{BB962C8B-B14F-4D97-AF65-F5344CB8AC3E}">
        <p14:creationId xmlns:p14="http://schemas.microsoft.com/office/powerpoint/2010/main" val="1004299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BF4D-2C4C-37C3-2DA5-63920013DA29}"/>
              </a:ext>
            </a:extLst>
          </p:cNvPr>
          <p:cNvSpPr>
            <a:spLocks noGrp="1"/>
          </p:cNvSpPr>
          <p:nvPr>
            <p:ph type="title"/>
          </p:nvPr>
        </p:nvSpPr>
        <p:spPr/>
        <p:txBody>
          <a:bodyPr/>
          <a:lstStyle/>
          <a:p>
            <a:r>
              <a:rPr lang="en-US" dirty="0"/>
              <a:t>Traditional/Legacy Data Stack(TDS) -Problems</a:t>
            </a:r>
          </a:p>
        </p:txBody>
      </p:sp>
      <p:sp>
        <p:nvSpPr>
          <p:cNvPr id="5" name="TextBox 4">
            <a:extLst>
              <a:ext uri="{FF2B5EF4-FFF2-40B4-BE49-F238E27FC236}">
                <a16:creationId xmlns:a16="http://schemas.microsoft.com/office/drawing/2014/main" id="{73A10BDF-462E-8A3E-4ACE-2FCFD6CDFF7B}"/>
              </a:ext>
            </a:extLst>
          </p:cNvPr>
          <p:cNvSpPr txBox="1"/>
          <p:nvPr/>
        </p:nvSpPr>
        <p:spPr>
          <a:xfrm>
            <a:off x="10006066" y="6475221"/>
            <a:ext cx="2185934" cy="369332"/>
          </a:xfrm>
          <a:prstGeom prst="rect">
            <a:avLst/>
          </a:prstGeom>
          <a:noFill/>
        </p:spPr>
        <p:txBody>
          <a:bodyPr wrap="square" rtlCol="0">
            <a:spAutoFit/>
          </a:bodyPr>
          <a:lstStyle/>
          <a:p>
            <a:pPr algn="r"/>
            <a:r>
              <a:rPr lang="en-US" dirty="0">
                <a:hlinkClick r:id="rId2"/>
              </a:rPr>
              <a:t>Source: </a:t>
            </a:r>
            <a:r>
              <a:rPr lang="en-US" dirty="0" err="1">
                <a:hlinkClick r:id="rId2"/>
              </a:rPr>
              <a:t>neptune</a:t>
            </a:r>
            <a:endParaRPr lang="en-US" dirty="0"/>
          </a:p>
        </p:txBody>
      </p:sp>
      <p:sp>
        <p:nvSpPr>
          <p:cNvPr id="6" name="Text Placeholder 2">
            <a:extLst>
              <a:ext uri="{FF2B5EF4-FFF2-40B4-BE49-F238E27FC236}">
                <a16:creationId xmlns:a16="http://schemas.microsoft.com/office/drawing/2014/main" id="{D00EA64B-8650-27C1-5997-EDE6A7B714AF}"/>
              </a:ext>
            </a:extLst>
          </p:cNvPr>
          <p:cNvSpPr>
            <a:spLocks noGrp="1"/>
          </p:cNvSpPr>
          <p:nvPr>
            <p:ph type="body" sz="quarter" idx="13"/>
          </p:nvPr>
        </p:nvSpPr>
        <p:spPr>
          <a:xfrm>
            <a:off x="77427" y="1024908"/>
            <a:ext cx="12037146" cy="5672523"/>
          </a:xfrm>
        </p:spPr>
        <p:txBody>
          <a:bodyPr>
            <a:noAutofit/>
          </a:bodyPr>
          <a:lstStyle/>
          <a:p>
            <a:pPr marL="361950" indent="-361950">
              <a:lnSpc>
                <a:spcPct val="150000"/>
              </a:lnSpc>
              <a:buNone/>
            </a:pPr>
            <a:r>
              <a:rPr lang="en-US" b="1" u="sng" dirty="0"/>
              <a:t>Long turn-around time to untangle and set up infrastructure</a:t>
            </a:r>
          </a:p>
          <a:p>
            <a:pPr marL="361950" indent="-361950">
              <a:lnSpc>
                <a:spcPct val="150000"/>
              </a:lnSpc>
              <a:buFont typeface="Wingdings" panose="05000000000000000000" pitchFamily="2" charset="2"/>
              <a:buChar char="Ø"/>
            </a:pPr>
            <a:r>
              <a:rPr lang="en-US" dirty="0"/>
              <a:t>Companies making use of on-premise infrastructure are responsible for all the costs associated with it</a:t>
            </a:r>
          </a:p>
          <a:p>
            <a:pPr marL="361950" indent="-361950">
              <a:lnSpc>
                <a:spcPct val="150000"/>
              </a:lnSpc>
              <a:buFont typeface="Wingdings" panose="05000000000000000000" pitchFamily="2" charset="2"/>
              <a:buChar char="Ø"/>
            </a:pPr>
            <a:r>
              <a:rPr lang="en-US" dirty="0"/>
              <a:t>The army of engineers required to keep everything maintained and running smoothly.</a:t>
            </a:r>
          </a:p>
          <a:p>
            <a:pPr marL="361950" indent="-361950">
              <a:lnSpc>
                <a:spcPct val="150000"/>
              </a:lnSpc>
              <a:buFont typeface="Wingdings" panose="05000000000000000000" pitchFamily="2" charset="2"/>
              <a:buChar char="Ø"/>
            </a:pPr>
            <a:r>
              <a:rPr lang="en-US" dirty="0"/>
              <a:t>As setup is so deeply interconnected, what may seem like a minor change might break other parts of the </a:t>
            </a:r>
            <a:r>
              <a:rPr lang="en-US" dirty="0" smtClean="0"/>
              <a:t>system</a:t>
            </a:r>
          </a:p>
          <a:p>
            <a:pPr marL="361950" indent="-361950">
              <a:lnSpc>
                <a:spcPct val="150000"/>
              </a:lnSpc>
              <a:buFont typeface="Wingdings" panose="05000000000000000000" pitchFamily="2" charset="2"/>
              <a:buChar char="Ø"/>
            </a:pPr>
            <a:endParaRPr lang="en-US" sz="1000" dirty="0" smtClean="0"/>
          </a:p>
          <a:p>
            <a:pPr marL="361950" indent="-361950">
              <a:lnSpc>
                <a:spcPct val="100000"/>
              </a:lnSpc>
              <a:spcBef>
                <a:spcPts val="0"/>
              </a:spcBef>
              <a:buFont typeface="Wingdings" panose="05000000000000000000" pitchFamily="2" charset="2"/>
              <a:buChar char="Ø"/>
            </a:pPr>
            <a:r>
              <a:rPr lang="en-US" dirty="0" smtClean="0"/>
              <a:t>Finding </a:t>
            </a:r>
            <a:r>
              <a:rPr lang="en-US" dirty="0"/>
              <a:t>the exact logical coupling between the systems requires a lot of work-hours to analyze before any improvements can be made to the existing landscape</a:t>
            </a:r>
          </a:p>
          <a:p>
            <a:pPr marL="361950" indent="-361950">
              <a:lnSpc>
                <a:spcPct val="150000"/>
              </a:lnSpc>
              <a:buNone/>
            </a:pPr>
            <a:r>
              <a:rPr lang="en-US" b="1" u="sng" dirty="0"/>
              <a:t>Expensive journey to insights</a:t>
            </a:r>
          </a:p>
          <a:p>
            <a:pPr marL="361950" indent="-361950">
              <a:lnSpc>
                <a:spcPct val="150000"/>
              </a:lnSpc>
              <a:buFont typeface="Wingdings" panose="05000000000000000000" pitchFamily="2" charset="2"/>
              <a:buChar char="Ø"/>
            </a:pPr>
            <a:r>
              <a:rPr lang="en-US" dirty="0"/>
              <a:t>A lot of the report generation is manually done, especially when the data is coming from different sources</a:t>
            </a:r>
          </a:p>
          <a:p>
            <a:pPr marL="361950" indent="-361950">
              <a:lnSpc>
                <a:spcPct val="150000"/>
              </a:lnSpc>
              <a:buFont typeface="Wingdings" panose="05000000000000000000" pitchFamily="2" charset="2"/>
              <a:buChar char="Ø"/>
            </a:pPr>
            <a:r>
              <a:rPr lang="en-US" dirty="0"/>
              <a:t>The report is manually generated, manually cleaned, and manually transferred to Excel</a:t>
            </a:r>
          </a:p>
          <a:p>
            <a:pPr marL="361950" indent="-361950">
              <a:lnSpc>
                <a:spcPct val="150000"/>
              </a:lnSpc>
              <a:buFont typeface="Wingdings" panose="05000000000000000000" pitchFamily="2" charset="2"/>
              <a:buChar char="Ø"/>
            </a:pPr>
            <a:r>
              <a:rPr lang="en-US" dirty="0"/>
              <a:t>Leads to errors being made, time being taken away from other business-critical tasks, and the inability to scale.</a:t>
            </a:r>
          </a:p>
          <a:p>
            <a:pPr marL="361950" indent="-361950">
              <a:lnSpc>
                <a:spcPct val="150000"/>
              </a:lnSpc>
              <a:buFont typeface="Wingdings" panose="05000000000000000000" pitchFamily="2" charset="2"/>
              <a:buChar char="Ø"/>
            </a:pPr>
            <a:r>
              <a:rPr lang="en-US" dirty="0"/>
              <a:t>Analysts are unable to efficiently perform their roles due to the complex landscape</a:t>
            </a:r>
            <a:endParaRPr lang="en-IN" dirty="0"/>
          </a:p>
        </p:txBody>
      </p:sp>
    </p:spTree>
    <p:extLst>
      <p:ext uri="{BB962C8B-B14F-4D97-AF65-F5344CB8AC3E}">
        <p14:creationId xmlns:p14="http://schemas.microsoft.com/office/powerpoint/2010/main" val="259026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B7BE-2D0A-0119-6275-47C52E395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8B9CA-60CE-F964-9D17-9B981D24F4DD}"/>
              </a:ext>
            </a:extLst>
          </p:cNvPr>
          <p:cNvSpPr>
            <a:spLocks noGrp="1"/>
          </p:cNvSpPr>
          <p:nvPr>
            <p:ph type="title"/>
          </p:nvPr>
        </p:nvSpPr>
        <p:spPr/>
        <p:txBody>
          <a:bodyPr>
            <a:normAutofit fontScale="90000"/>
          </a:bodyPr>
          <a:lstStyle/>
          <a:p>
            <a:r>
              <a:rPr lang="en-US" dirty="0"/>
              <a:t>Traditional/Legacy Data Stack – Problems - </a:t>
            </a:r>
            <a:r>
              <a:rPr lang="en-US" sz="3100" dirty="0" err="1"/>
              <a:t>contd</a:t>
            </a:r>
            <a:endParaRPr lang="en-US" dirty="0"/>
          </a:p>
        </p:txBody>
      </p:sp>
      <p:sp>
        <p:nvSpPr>
          <p:cNvPr id="5" name="TextBox 4">
            <a:extLst>
              <a:ext uri="{FF2B5EF4-FFF2-40B4-BE49-F238E27FC236}">
                <a16:creationId xmlns:a16="http://schemas.microsoft.com/office/drawing/2014/main" id="{75F7909A-FD9E-9DF1-FE99-F1363C177766}"/>
              </a:ext>
            </a:extLst>
          </p:cNvPr>
          <p:cNvSpPr txBox="1"/>
          <p:nvPr/>
        </p:nvSpPr>
        <p:spPr>
          <a:xfrm>
            <a:off x="10006066" y="6475221"/>
            <a:ext cx="2185934" cy="369332"/>
          </a:xfrm>
          <a:prstGeom prst="rect">
            <a:avLst/>
          </a:prstGeom>
          <a:noFill/>
        </p:spPr>
        <p:txBody>
          <a:bodyPr wrap="square" rtlCol="0">
            <a:spAutoFit/>
          </a:bodyPr>
          <a:lstStyle/>
          <a:p>
            <a:pPr algn="r"/>
            <a:r>
              <a:rPr lang="en-US" dirty="0">
                <a:hlinkClick r:id="rId2"/>
              </a:rPr>
              <a:t>Source: </a:t>
            </a:r>
            <a:r>
              <a:rPr lang="en-US" dirty="0" err="1">
                <a:hlinkClick r:id="rId2"/>
              </a:rPr>
              <a:t>neptune</a:t>
            </a:r>
            <a:endParaRPr lang="en-US" dirty="0"/>
          </a:p>
        </p:txBody>
      </p:sp>
      <p:sp>
        <p:nvSpPr>
          <p:cNvPr id="6" name="Text Placeholder 2">
            <a:extLst>
              <a:ext uri="{FF2B5EF4-FFF2-40B4-BE49-F238E27FC236}">
                <a16:creationId xmlns:a16="http://schemas.microsoft.com/office/drawing/2014/main" id="{A7BE4980-5750-4014-771F-9327BDE26270}"/>
              </a:ext>
            </a:extLst>
          </p:cNvPr>
          <p:cNvSpPr>
            <a:spLocks noGrp="1"/>
          </p:cNvSpPr>
          <p:nvPr>
            <p:ph type="body" sz="quarter" idx="13"/>
          </p:nvPr>
        </p:nvSpPr>
        <p:spPr>
          <a:xfrm>
            <a:off x="136925" y="1185477"/>
            <a:ext cx="12037146" cy="5511954"/>
          </a:xfrm>
        </p:spPr>
        <p:txBody>
          <a:bodyPr>
            <a:normAutofit lnSpcReduction="10000"/>
          </a:bodyPr>
          <a:lstStyle/>
          <a:p>
            <a:pPr marL="361950" indent="-361950" algn="just">
              <a:buNone/>
            </a:pPr>
            <a:r>
              <a:rPr lang="en-US" b="1" u="sng" dirty="0"/>
              <a:t>Slow response to new information</a:t>
            </a:r>
          </a:p>
          <a:p>
            <a:pPr marL="361950" indent="-361950" algn="just">
              <a:lnSpc>
                <a:spcPct val="150000"/>
              </a:lnSpc>
              <a:buFont typeface="Wingdings" panose="05000000000000000000" pitchFamily="2" charset="2"/>
              <a:buChar char="Ø"/>
            </a:pPr>
            <a:r>
              <a:rPr lang="en-US" dirty="0"/>
              <a:t>As the company grows, so does its data and computational power needs</a:t>
            </a:r>
          </a:p>
          <a:p>
            <a:pPr marL="361950" indent="-361950" algn="just">
              <a:lnSpc>
                <a:spcPct val="150000"/>
              </a:lnSpc>
              <a:buFont typeface="Wingdings" panose="05000000000000000000" pitchFamily="2" charset="2"/>
              <a:buChar char="Ø"/>
            </a:pPr>
            <a:r>
              <a:rPr lang="en-US" dirty="0"/>
              <a:t>Very costly in terms of resources and time when it comes to scaling out (expanding) on-premises infrastructure</a:t>
            </a:r>
          </a:p>
          <a:p>
            <a:pPr marL="361950" indent="-361950" algn="just">
              <a:lnSpc>
                <a:spcPct val="150000"/>
              </a:lnSpc>
              <a:buFont typeface="Wingdings" panose="05000000000000000000" pitchFamily="2" charset="2"/>
              <a:buChar char="Ø"/>
            </a:pPr>
            <a:r>
              <a:rPr lang="en-US" dirty="0" smtClean="0"/>
              <a:t>Leads </a:t>
            </a:r>
            <a:r>
              <a:rPr lang="en-US" dirty="0"/>
              <a:t>to a limit in how much computational power there is to analyze data</a:t>
            </a:r>
          </a:p>
          <a:p>
            <a:pPr marL="361950" indent="-361950" algn="just">
              <a:lnSpc>
                <a:spcPct val="150000"/>
              </a:lnSpc>
              <a:buFont typeface="Wingdings" panose="05000000000000000000" pitchFamily="2" charset="2"/>
              <a:buChar char="Ø"/>
            </a:pPr>
            <a:r>
              <a:rPr lang="en-US" dirty="0" smtClean="0"/>
              <a:t>Data </a:t>
            </a:r>
            <a:r>
              <a:rPr lang="en-US" dirty="0"/>
              <a:t>pipelines can take hours to complete, a problem that is compounded as the organization </a:t>
            </a:r>
            <a:r>
              <a:rPr lang="en-US" dirty="0" smtClean="0"/>
              <a:t>grows</a:t>
            </a:r>
          </a:p>
          <a:p>
            <a:pPr marL="361950" indent="-361950" algn="just">
              <a:lnSpc>
                <a:spcPct val="150000"/>
              </a:lnSpc>
              <a:buFont typeface="Wingdings" panose="05000000000000000000" pitchFamily="2" charset="2"/>
              <a:buChar char="Ø"/>
            </a:pPr>
            <a:endParaRPr lang="en-US" sz="1000" dirty="0"/>
          </a:p>
          <a:p>
            <a:pPr marL="361950" indent="-361950" algn="just">
              <a:lnSpc>
                <a:spcPct val="110000"/>
              </a:lnSpc>
              <a:spcBef>
                <a:spcPts val="0"/>
              </a:spcBef>
              <a:buFont typeface="Wingdings" panose="05000000000000000000" pitchFamily="2" charset="2"/>
              <a:buChar char="Ø"/>
            </a:pPr>
            <a:r>
              <a:rPr lang="en-US" dirty="0"/>
              <a:t>A TDS requires slow ETL (Extract, Transform, Load) operations before newly ingested data can conform to the rest of the data model</a:t>
            </a:r>
          </a:p>
          <a:p>
            <a:pPr marL="361950" indent="-361950" algn="just">
              <a:lnSpc>
                <a:spcPct val="150000"/>
              </a:lnSpc>
              <a:buFont typeface="Wingdings" panose="05000000000000000000" pitchFamily="2" charset="2"/>
              <a:buChar char="Ø"/>
            </a:pPr>
            <a:r>
              <a:rPr lang="en-US" dirty="0"/>
              <a:t>A new data update can take weeks and many hours of refactoring before insights appear</a:t>
            </a:r>
          </a:p>
          <a:p>
            <a:pPr marL="361950" indent="-361950" algn="just">
              <a:lnSpc>
                <a:spcPct val="150000"/>
              </a:lnSpc>
              <a:buFont typeface="Wingdings" panose="05000000000000000000" pitchFamily="2" charset="2"/>
              <a:buChar char="Ø"/>
            </a:pPr>
            <a:r>
              <a:rPr lang="en-US" dirty="0"/>
              <a:t>By the time the data is ready, the organization is unable to act in time resulting in missed opportunities.</a:t>
            </a:r>
          </a:p>
          <a:p>
            <a:pPr marL="361950" indent="-361950" algn="just">
              <a:lnSpc>
                <a:spcPct val="150000"/>
              </a:lnSpc>
              <a:buNone/>
            </a:pPr>
            <a:r>
              <a:rPr lang="en-US" b="1" u="sng" dirty="0"/>
              <a:t>Summary</a:t>
            </a:r>
          </a:p>
          <a:p>
            <a:pPr marL="361950" indent="-361950" algn="just">
              <a:lnSpc>
                <a:spcPct val="150000"/>
              </a:lnSpc>
              <a:buNone/>
            </a:pPr>
            <a:r>
              <a:rPr lang="en-US" dirty="0" smtClean="0"/>
              <a:t>Rely </a:t>
            </a:r>
            <a:r>
              <a:rPr lang="en-US" dirty="0"/>
              <a:t>on rigid, on-premises infrastructure that can struggle with scalability, flexibility and real-time processing</a:t>
            </a:r>
            <a:r>
              <a:rPr lang="en-US" dirty="0" smtClean="0"/>
              <a:t>.</a:t>
            </a:r>
            <a:endParaRPr lang="en-US" dirty="0"/>
          </a:p>
        </p:txBody>
      </p:sp>
    </p:spTree>
    <p:extLst>
      <p:ext uri="{BB962C8B-B14F-4D97-AF65-F5344CB8AC3E}">
        <p14:creationId xmlns:p14="http://schemas.microsoft.com/office/powerpoint/2010/main" val="392826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F8B5-1697-0206-7E97-353DBA6B65AD}"/>
              </a:ext>
            </a:extLst>
          </p:cNvPr>
          <p:cNvSpPr>
            <a:spLocks noGrp="1"/>
          </p:cNvSpPr>
          <p:nvPr>
            <p:ph type="title"/>
          </p:nvPr>
        </p:nvSpPr>
        <p:spPr/>
        <p:txBody>
          <a:bodyPr/>
          <a:lstStyle/>
          <a:p>
            <a:r>
              <a:rPr lang="en-US" dirty="0"/>
              <a:t>What is Modern Data Stack?</a:t>
            </a:r>
          </a:p>
        </p:txBody>
      </p:sp>
      <p:sp>
        <p:nvSpPr>
          <p:cNvPr id="3" name="Text Placeholder 2">
            <a:extLst>
              <a:ext uri="{FF2B5EF4-FFF2-40B4-BE49-F238E27FC236}">
                <a16:creationId xmlns:a16="http://schemas.microsoft.com/office/drawing/2014/main" id="{FA4B883B-1FD5-C9FD-74A2-AAC593FF9078}"/>
              </a:ext>
            </a:extLst>
          </p:cNvPr>
          <p:cNvSpPr>
            <a:spLocks noGrp="1"/>
          </p:cNvSpPr>
          <p:nvPr>
            <p:ph type="body" sz="quarter" idx="13"/>
          </p:nvPr>
        </p:nvSpPr>
        <p:spPr>
          <a:xfrm>
            <a:off x="228600" y="1219200"/>
            <a:ext cx="11582400" cy="5181600"/>
          </a:xfrm>
        </p:spPr>
        <p:txBody>
          <a:bodyPr/>
          <a:lstStyle/>
          <a:p>
            <a:pPr marL="361950" indent="-361950" algn="just">
              <a:lnSpc>
                <a:spcPct val="100000"/>
              </a:lnSpc>
              <a:spcBef>
                <a:spcPts val="0"/>
              </a:spcBef>
              <a:buFont typeface="Wingdings" panose="05000000000000000000" pitchFamily="2" charset="2"/>
              <a:buChar char="Ø"/>
            </a:pPr>
            <a:r>
              <a:rPr lang="en-US" dirty="0" smtClean="0"/>
              <a:t>Refers </a:t>
            </a:r>
            <a:r>
              <a:rPr lang="en-US" dirty="0"/>
              <a:t>to integrated, </a:t>
            </a:r>
            <a:r>
              <a:rPr lang="en-US" dirty="0">
                <a:hlinkClick r:id="rId2"/>
              </a:rPr>
              <a:t>cloud-based</a:t>
            </a:r>
            <a:r>
              <a:rPr lang="en-US" dirty="0"/>
              <a:t> tools and technologies that enable the collection , ingestion , storage , cleaning, transformation, analysis and governance of </a:t>
            </a:r>
            <a:r>
              <a:rPr lang="en-US" dirty="0" smtClean="0"/>
              <a:t>data</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Offers </a:t>
            </a:r>
            <a:r>
              <a:rPr lang="en-US" dirty="0"/>
              <a:t>a cloud-native, modular solution designed to streamline </a:t>
            </a:r>
            <a:r>
              <a:rPr lang="en-US" dirty="0">
                <a:hlinkClick r:id="rId3"/>
              </a:rPr>
              <a:t>automation</a:t>
            </a:r>
            <a:r>
              <a:rPr lang="en-US" dirty="0"/>
              <a:t>, optimize costs and accelerate </a:t>
            </a:r>
            <a:r>
              <a:rPr lang="en-US" dirty="0" smtClean="0"/>
              <a:t>insights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smtClean="0"/>
              <a:t>Empowers</a:t>
            </a:r>
            <a:r>
              <a:rPr lang="en-US" dirty="0"/>
              <a:t> </a:t>
            </a:r>
            <a:r>
              <a:rPr lang="en-US" dirty="0">
                <a:hlinkClick r:id="rId4"/>
              </a:rPr>
              <a:t>self-service analytics</a:t>
            </a:r>
            <a:r>
              <a:rPr lang="en-US" dirty="0"/>
              <a:t> and </a:t>
            </a:r>
            <a:r>
              <a:rPr lang="en-US" dirty="0">
                <a:hlinkClick r:id="rId5"/>
              </a:rPr>
              <a:t>artificial intelligence</a:t>
            </a:r>
            <a:r>
              <a:rPr lang="en-US" dirty="0"/>
              <a:t> (AI) applications that many companies rely on today</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Think of MDS as the assembly line of digital operations—each component plays a role in moving data seamlessly from collection to </a:t>
            </a:r>
            <a:r>
              <a:rPr lang="en-US" dirty="0" smtClean="0"/>
              <a:t>analysis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By automating and scaling </a:t>
            </a:r>
            <a:r>
              <a:rPr lang="en-US" dirty="0">
                <a:hlinkClick r:id="rId6"/>
              </a:rPr>
              <a:t>workflows</a:t>
            </a:r>
            <a:r>
              <a:rPr lang="en-US" dirty="0"/>
              <a:t>, MDS ensures that organizations can process, store and use data with precision, driving better decision-making and innovation.</a:t>
            </a:r>
          </a:p>
          <a:p>
            <a:pPr marL="361950" indent="-361950" algn="just">
              <a:lnSpc>
                <a:spcPct val="100000"/>
              </a:lnSpc>
              <a:spcBef>
                <a:spcPts val="0"/>
              </a:spcBef>
              <a:buFont typeface="Wingdings" panose="05000000000000000000" pitchFamily="2" charset="2"/>
              <a:buChar char="Ø"/>
            </a:pPr>
            <a:endParaRPr lang="en-US" dirty="0"/>
          </a:p>
        </p:txBody>
      </p:sp>
    </p:spTree>
    <p:extLst>
      <p:ext uri="{BB962C8B-B14F-4D97-AF65-F5344CB8AC3E}">
        <p14:creationId xmlns:p14="http://schemas.microsoft.com/office/powerpoint/2010/main" val="63864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B76D-1031-139C-D804-1C7AA4BFAFDD}"/>
              </a:ext>
            </a:extLst>
          </p:cNvPr>
          <p:cNvSpPr>
            <a:spLocks noGrp="1"/>
          </p:cNvSpPr>
          <p:nvPr>
            <p:ph type="title"/>
          </p:nvPr>
        </p:nvSpPr>
        <p:spPr/>
        <p:txBody>
          <a:bodyPr/>
          <a:lstStyle/>
          <a:p>
            <a:r>
              <a:rPr lang="en-US" dirty="0"/>
              <a:t>TDS vs MDS</a:t>
            </a:r>
          </a:p>
        </p:txBody>
      </p:sp>
      <p:graphicFrame>
        <p:nvGraphicFramePr>
          <p:cNvPr id="5" name="Table 4">
            <a:extLst>
              <a:ext uri="{FF2B5EF4-FFF2-40B4-BE49-F238E27FC236}">
                <a16:creationId xmlns:a16="http://schemas.microsoft.com/office/drawing/2014/main" id="{FFBED7F4-60BA-164F-7D55-858A5FF520A5}"/>
              </a:ext>
            </a:extLst>
          </p:cNvPr>
          <p:cNvGraphicFramePr>
            <a:graphicFrameLocks noGrp="1"/>
          </p:cNvGraphicFramePr>
          <p:nvPr>
            <p:extLst>
              <p:ext uri="{D42A27DB-BD31-4B8C-83A1-F6EECF244321}">
                <p14:modId xmlns:p14="http://schemas.microsoft.com/office/powerpoint/2010/main" val="743259434"/>
              </p:ext>
            </p:extLst>
          </p:nvPr>
        </p:nvGraphicFramePr>
        <p:xfrm>
          <a:off x="152400" y="960792"/>
          <a:ext cx="12039600" cy="5683848"/>
        </p:xfrm>
        <a:graphic>
          <a:graphicData uri="http://schemas.openxmlformats.org/drawingml/2006/table">
            <a:tbl>
              <a:tblPr firstRow="1" bandRow="1">
                <a:tableStyleId>{1FECB4D8-DB02-4DC6-A0A2-4F2EBAE1DC90}</a:tableStyleId>
              </a:tblPr>
              <a:tblGrid>
                <a:gridCol w="2138613">
                  <a:extLst>
                    <a:ext uri="{9D8B030D-6E8A-4147-A177-3AD203B41FA5}">
                      <a16:colId xmlns:a16="http://schemas.microsoft.com/office/drawing/2014/main" val="3160769872"/>
                    </a:ext>
                  </a:extLst>
                </a:gridCol>
                <a:gridCol w="5887787">
                  <a:extLst>
                    <a:ext uri="{9D8B030D-6E8A-4147-A177-3AD203B41FA5}">
                      <a16:colId xmlns:a16="http://schemas.microsoft.com/office/drawing/2014/main" val="4219375353"/>
                    </a:ext>
                  </a:extLst>
                </a:gridCol>
                <a:gridCol w="4013200">
                  <a:extLst>
                    <a:ext uri="{9D8B030D-6E8A-4147-A177-3AD203B41FA5}">
                      <a16:colId xmlns:a16="http://schemas.microsoft.com/office/drawing/2014/main" val="111020167"/>
                    </a:ext>
                  </a:extLst>
                </a:gridCol>
              </a:tblGrid>
              <a:tr h="487008">
                <a:tc>
                  <a:txBody>
                    <a:bodyPr/>
                    <a:lstStyle/>
                    <a:p>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Traditional Data Stack</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Modern Data Stack</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0310583"/>
                  </a:ext>
                </a:extLst>
              </a:tr>
              <a:tr h="866140">
                <a:tc>
                  <a:txBody>
                    <a:bodyPr/>
                    <a:lstStyle/>
                    <a:p>
                      <a:r>
                        <a:rPr lang="en-US" sz="1800" b="1" kern="1200" dirty="0">
                          <a:solidFill>
                            <a:schemeClr val="dk1"/>
                          </a:solidFill>
                          <a:effectLst/>
                        </a:rPr>
                        <a:t>Infrastructure</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Relies </a:t>
                      </a:r>
                      <a:r>
                        <a:rPr lang="en-US" sz="1800" b="0" kern="1200" dirty="0">
                          <a:solidFill>
                            <a:schemeClr val="dk1"/>
                          </a:solidFill>
                          <a:effectLst/>
                        </a:rPr>
                        <a:t>on physical servers</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Cloud </a:t>
                      </a:r>
                      <a:r>
                        <a:rPr lang="en-US" sz="1800" b="0" kern="1200" dirty="0">
                          <a:solidFill>
                            <a:schemeClr val="dk1"/>
                          </a:solidFill>
                          <a:effectLst/>
                        </a:rPr>
                        <a:t>native</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1347812"/>
                  </a:ext>
                </a:extLst>
              </a:tr>
              <a:tr h="866140">
                <a:tc>
                  <a:txBody>
                    <a:bodyPr/>
                    <a:lstStyle/>
                    <a:p>
                      <a:r>
                        <a:rPr lang="en-US" sz="1800" b="1" kern="1200" dirty="0">
                          <a:solidFill>
                            <a:schemeClr val="dk1"/>
                          </a:solidFill>
                          <a:effectLst/>
                        </a:rPr>
                        <a:t>Scalability</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Requires </a:t>
                      </a:r>
                      <a:r>
                        <a:rPr lang="en-US" sz="1800" b="0" kern="1200" dirty="0">
                          <a:solidFill>
                            <a:schemeClr val="dk1"/>
                          </a:solidFill>
                          <a:effectLst/>
                        </a:rPr>
                        <a:t>manual scaling</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Scales </a:t>
                      </a:r>
                      <a:r>
                        <a:rPr lang="en-US" sz="1800" b="0" kern="1200" dirty="0">
                          <a:solidFill>
                            <a:schemeClr val="dk1"/>
                          </a:solidFill>
                          <a:effectLst/>
                        </a:rPr>
                        <a:t>dynamically with demand</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044038"/>
                  </a:ext>
                </a:extLst>
              </a:tr>
              <a:tr h="866140">
                <a:tc>
                  <a:txBody>
                    <a:bodyPr/>
                    <a:lstStyle/>
                    <a:p>
                      <a:r>
                        <a:rPr lang="en-US" sz="1800" b="1" kern="1200" dirty="0">
                          <a:solidFill>
                            <a:schemeClr val="dk1"/>
                          </a:solidFill>
                          <a:effectLst/>
                        </a:rPr>
                        <a:t>Integration</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Relies </a:t>
                      </a:r>
                      <a:r>
                        <a:rPr lang="en-US" sz="1800" b="0" kern="1200" dirty="0">
                          <a:solidFill>
                            <a:schemeClr val="dk1"/>
                          </a:solidFill>
                          <a:effectLst/>
                        </a:rPr>
                        <a:t>on custom workflows</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Automates</a:t>
                      </a:r>
                      <a:r>
                        <a:rPr lang="en-US" sz="1800" b="0" kern="1200" dirty="0">
                          <a:solidFill>
                            <a:schemeClr val="dk1"/>
                          </a:solidFill>
                          <a:effectLst/>
                        </a:rPr>
                        <a:t> data ingestion</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7558897"/>
                  </a:ext>
                </a:extLst>
              </a:tr>
              <a:tr h="866140">
                <a:tc>
                  <a:txBody>
                    <a:bodyPr/>
                    <a:lstStyle/>
                    <a:p>
                      <a:r>
                        <a:rPr lang="en-US" sz="1800" b="1" kern="1200" dirty="0">
                          <a:solidFill>
                            <a:schemeClr val="dk1"/>
                          </a:solidFill>
                          <a:effectLst/>
                        </a:rPr>
                        <a:t>Flexibility</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a:solidFill>
                            <a:schemeClr val="dk1"/>
                          </a:solidFill>
                          <a:effectLst/>
                        </a:rPr>
                        <a:t> </a:t>
                      </a:r>
                      <a:r>
                        <a:rPr lang="en-US" sz="1800" b="0" u="none" strike="noStrike" kern="1200" dirty="0" smtClean="0">
                          <a:solidFill>
                            <a:schemeClr val="dk1"/>
                          </a:solidFill>
                          <a:effectLst/>
                          <a:hlinkClick r:id="rId2"/>
                        </a:rPr>
                        <a:t>Monolithic</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Modular</a:t>
                      </a:r>
                      <a:r>
                        <a:rPr lang="en-US" sz="1800" b="0" kern="1200" dirty="0">
                          <a:solidFill>
                            <a:schemeClr val="dk1"/>
                          </a:solidFill>
                          <a:effectLst/>
                        </a:rPr>
                        <a:t>, enabling seamless tool integration</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5453928"/>
                  </a:ext>
                </a:extLst>
              </a:tr>
              <a:tr h="866140">
                <a:tc>
                  <a:txBody>
                    <a:bodyPr/>
                    <a:lstStyle/>
                    <a:p>
                      <a:r>
                        <a:rPr lang="en-US" sz="1800" b="1" kern="1200" dirty="0">
                          <a:solidFill>
                            <a:schemeClr val="dk1"/>
                          </a:solidFill>
                          <a:effectLst/>
                        </a:rPr>
                        <a:t>Analytics</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Supports </a:t>
                      </a:r>
                      <a:r>
                        <a:rPr lang="en-US" sz="1800" b="0" kern="1200" dirty="0">
                          <a:solidFill>
                            <a:schemeClr val="dk1"/>
                          </a:solidFill>
                          <a:effectLst/>
                        </a:rPr>
                        <a:t>batch reporting</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Offers</a:t>
                      </a:r>
                      <a:r>
                        <a:rPr lang="en-US" sz="1800" b="0" kern="1200" dirty="0">
                          <a:solidFill>
                            <a:schemeClr val="dk1"/>
                          </a:solidFill>
                          <a:effectLst/>
                        </a:rPr>
                        <a:t> real-time insights and interactive dashboards.</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6496229"/>
                  </a:ext>
                </a:extLst>
              </a:tr>
              <a:tr h="866140">
                <a:tc>
                  <a:txBody>
                    <a:bodyPr/>
                    <a:lstStyle/>
                    <a:p>
                      <a:r>
                        <a:rPr lang="en-US" sz="1800" b="1" kern="1200" dirty="0">
                          <a:solidFill>
                            <a:schemeClr val="dk1"/>
                          </a:solidFill>
                          <a:effectLst/>
                        </a:rPr>
                        <a:t>Cost</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Involves </a:t>
                      </a:r>
                      <a:r>
                        <a:rPr lang="en-US" sz="1800" b="0" kern="1200" dirty="0">
                          <a:solidFill>
                            <a:schemeClr val="dk1"/>
                          </a:solidFill>
                          <a:effectLst/>
                        </a:rPr>
                        <a:t>significant upfront investment</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smtClean="0">
                          <a:solidFill>
                            <a:schemeClr val="dk1"/>
                          </a:solidFill>
                          <a:effectLst/>
                        </a:rPr>
                        <a:t>Uses </a:t>
                      </a:r>
                      <a:r>
                        <a:rPr lang="en-US" sz="1800" b="0" kern="1200" dirty="0">
                          <a:solidFill>
                            <a:schemeClr val="dk1"/>
                          </a:solidFill>
                          <a:effectLst/>
                        </a:rPr>
                        <a:t>pay-as-you-go models.</a:t>
                      </a: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8354925"/>
                  </a:ext>
                </a:extLst>
              </a:tr>
            </a:tbl>
          </a:graphicData>
        </a:graphic>
      </p:graphicFrame>
    </p:spTree>
    <p:extLst>
      <p:ext uri="{BB962C8B-B14F-4D97-AF65-F5344CB8AC3E}">
        <p14:creationId xmlns:p14="http://schemas.microsoft.com/office/powerpoint/2010/main" val="2751642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52930-91FD-9E85-0100-18E1A99E0EC8}"/>
              </a:ext>
            </a:extLst>
          </p:cNvPr>
          <p:cNvSpPr>
            <a:spLocks noGrp="1"/>
          </p:cNvSpPr>
          <p:nvPr>
            <p:ph type="title"/>
          </p:nvPr>
        </p:nvSpPr>
        <p:spPr/>
        <p:txBody>
          <a:bodyPr/>
          <a:lstStyle/>
          <a:p>
            <a:r>
              <a:rPr lang="en-US" dirty="0"/>
              <a:t>MDS - Key Characteristics</a:t>
            </a:r>
          </a:p>
        </p:txBody>
      </p:sp>
      <p:sp>
        <p:nvSpPr>
          <p:cNvPr id="3" name="Text Placeholder 2">
            <a:extLst>
              <a:ext uri="{FF2B5EF4-FFF2-40B4-BE49-F238E27FC236}">
                <a16:creationId xmlns:a16="http://schemas.microsoft.com/office/drawing/2014/main" id="{1D8AF563-FD6B-D53C-8B43-08D1DDD0A4DA}"/>
              </a:ext>
            </a:extLst>
          </p:cNvPr>
          <p:cNvSpPr>
            <a:spLocks noGrp="1"/>
          </p:cNvSpPr>
          <p:nvPr>
            <p:ph type="body" sz="quarter" idx="13"/>
          </p:nvPr>
        </p:nvSpPr>
        <p:spPr>
          <a:xfrm>
            <a:off x="228600" y="965275"/>
            <a:ext cx="11734800" cy="5732156"/>
          </a:xfrm>
        </p:spPr>
        <p:txBody>
          <a:bodyPr>
            <a:noAutofit/>
          </a:bodyPr>
          <a:lstStyle/>
          <a:p>
            <a:pPr marL="533400" indent="-352425" algn="just">
              <a:lnSpc>
                <a:spcPct val="160000"/>
              </a:lnSpc>
              <a:buNone/>
            </a:pPr>
            <a:r>
              <a:rPr lang="en-US" b="1" u="sng" dirty="0"/>
              <a:t>Enable self-service for a diverse range of users</a:t>
            </a:r>
          </a:p>
          <a:p>
            <a:pPr marL="533400" indent="-352425" algn="just">
              <a:lnSpc>
                <a:spcPct val="160000"/>
              </a:lnSpc>
              <a:buFont typeface="Wingdings" panose="05000000000000000000" pitchFamily="2" charset="2"/>
              <a:buChar char="Ø"/>
            </a:pPr>
            <a:r>
              <a:rPr lang="en-US" dirty="0"/>
              <a:t>Easily discover and analyze data within the platform</a:t>
            </a:r>
          </a:p>
          <a:p>
            <a:pPr marL="533400" indent="-352425" algn="just">
              <a:lnSpc>
                <a:spcPct val="160000"/>
              </a:lnSpc>
              <a:buFont typeface="Wingdings" panose="05000000000000000000" pitchFamily="2" charset="2"/>
              <a:buChar char="Ø"/>
            </a:pPr>
            <a:r>
              <a:rPr lang="en-US" dirty="0"/>
              <a:t>Understand the context associated with data, such as column descriptions, history and lineage</a:t>
            </a:r>
          </a:p>
          <a:p>
            <a:pPr marL="533400" indent="-352425" algn="just">
              <a:lnSpc>
                <a:spcPct val="160000"/>
              </a:lnSpc>
              <a:buFont typeface="Wingdings" panose="05000000000000000000" pitchFamily="2" charset="2"/>
              <a:buChar char="Ø"/>
            </a:pPr>
            <a:r>
              <a:rPr lang="en-US" dirty="0"/>
              <a:t>Derive insights from data with minimal dependencies on the data or IT team</a:t>
            </a:r>
          </a:p>
          <a:p>
            <a:pPr marL="533400" indent="-352425" algn="just">
              <a:lnSpc>
                <a:spcPct val="160000"/>
              </a:lnSpc>
              <a:buNone/>
            </a:pPr>
            <a:r>
              <a:rPr lang="en-US" b="1" u="sng" dirty="0"/>
              <a:t>Enable "agile" data management</a:t>
            </a:r>
          </a:p>
          <a:p>
            <a:pPr marL="533400" indent="-352425" algn="just">
              <a:lnSpc>
                <a:spcPct val="100000"/>
              </a:lnSpc>
              <a:spcBef>
                <a:spcPts val="0"/>
              </a:spcBef>
              <a:buFont typeface="Wingdings" panose="05000000000000000000" pitchFamily="2" charset="2"/>
              <a:buChar char="Ø"/>
            </a:pPr>
            <a:endParaRPr lang="en-US" i="1" dirty="0" smtClean="0"/>
          </a:p>
          <a:p>
            <a:pPr marL="533400" indent="-352425" algn="just">
              <a:lnSpc>
                <a:spcPct val="100000"/>
              </a:lnSpc>
              <a:spcBef>
                <a:spcPts val="0"/>
              </a:spcBef>
              <a:buFont typeface="Wingdings" panose="05000000000000000000" pitchFamily="2" charset="2"/>
              <a:buChar char="Ø"/>
            </a:pPr>
            <a:r>
              <a:rPr lang="en-US" i="1" dirty="0" smtClean="0"/>
              <a:t>Availability</a:t>
            </a:r>
            <a:r>
              <a:rPr lang="en-US" dirty="0"/>
              <a:t>: Data is already available in a data lake or warehouse. Modern data lakes and warehouses separate storage and compute, which makes it possible to store large amounts of data for relatively cheap</a:t>
            </a:r>
            <a:r>
              <a:rPr lang="en-US" dirty="0" smtClean="0"/>
              <a:t>.</a:t>
            </a:r>
          </a:p>
          <a:p>
            <a:pPr marL="533400" indent="-352425" algn="just">
              <a:lnSpc>
                <a:spcPct val="100000"/>
              </a:lnSpc>
              <a:spcBef>
                <a:spcPts val="0"/>
              </a:spcBef>
              <a:buFont typeface="Wingdings" panose="05000000000000000000" pitchFamily="2" charset="2"/>
              <a:buChar char="Ø"/>
            </a:pPr>
            <a:endParaRPr lang="en-US" dirty="0"/>
          </a:p>
          <a:p>
            <a:pPr marL="533400" indent="-352425" algn="just">
              <a:lnSpc>
                <a:spcPct val="100000"/>
              </a:lnSpc>
              <a:spcBef>
                <a:spcPts val="0"/>
              </a:spcBef>
              <a:buFont typeface="Wingdings" panose="05000000000000000000" pitchFamily="2" charset="2"/>
              <a:buChar char="Ø"/>
            </a:pPr>
            <a:r>
              <a:rPr lang="en-US" i="1" dirty="0"/>
              <a:t>Elasticity</a:t>
            </a:r>
            <a:r>
              <a:rPr lang="en-US" dirty="0"/>
              <a:t>: Compute is based on a cloud platform, which allows for elasticity and auto-scalability. For example, if end users consume the most data and analytics on Friday afternoons, it should be possible to auto-scale processing power on Friday afternoon to give users a great experience and then scale down within a few hours.</a:t>
            </a:r>
          </a:p>
        </p:txBody>
      </p:sp>
    </p:spTree>
    <p:extLst>
      <p:ext uri="{BB962C8B-B14F-4D97-AF65-F5344CB8AC3E}">
        <p14:creationId xmlns:p14="http://schemas.microsoft.com/office/powerpoint/2010/main" val="36935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9BBED-3239-A022-C498-4DD48774B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B9823-44DE-0EEE-F298-9E113678EDC3}"/>
              </a:ext>
            </a:extLst>
          </p:cNvPr>
          <p:cNvSpPr>
            <a:spLocks noGrp="1"/>
          </p:cNvSpPr>
          <p:nvPr>
            <p:ph type="title"/>
          </p:nvPr>
        </p:nvSpPr>
        <p:spPr/>
        <p:txBody>
          <a:bodyPr/>
          <a:lstStyle/>
          <a:p>
            <a:r>
              <a:rPr lang="en-US" dirty="0"/>
              <a:t>MDS - Key Characteristics - </a:t>
            </a:r>
            <a:r>
              <a:rPr lang="en-US" dirty="0" err="1"/>
              <a:t>contd</a:t>
            </a:r>
            <a:endParaRPr lang="en-US" dirty="0"/>
          </a:p>
        </p:txBody>
      </p:sp>
      <p:sp>
        <p:nvSpPr>
          <p:cNvPr id="3" name="Text Placeholder 2">
            <a:extLst>
              <a:ext uri="{FF2B5EF4-FFF2-40B4-BE49-F238E27FC236}">
                <a16:creationId xmlns:a16="http://schemas.microsoft.com/office/drawing/2014/main" id="{58BE8578-2357-D6EB-EF0D-9069ED79A071}"/>
              </a:ext>
            </a:extLst>
          </p:cNvPr>
          <p:cNvSpPr>
            <a:spLocks noGrp="1"/>
          </p:cNvSpPr>
          <p:nvPr>
            <p:ph type="body" sz="quarter" idx="13"/>
          </p:nvPr>
        </p:nvSpPr>
        <p:spPr>
          <a:xfrm>
            <a:off x="228600" y="965275"/>
            <a:ext cx="11734800" cy="5732156"/>
          </a:xfrm>
        </p:spPr>
        <p:txBody>
          <a:bodyPr>
            <a:noAutofit/>
          </a:bodyPr>
          <a:lstStyle/>
          <a:p>
            <a:pPr marL="361950" indent="-361950" algn="just">
              <a:lnSpc>
                <a:spcPct val="100000"/>
              </a:lnSpc>
              <a:spcBef>
                <a:spcPts val="0"/>
              </a:spcBef>
              <a:buNone/>
            </a:pPr>
            <a:r>
              <a:rPr lang="en-US" b="1" u="sng" dirty="0"/>
              <a:t>Flexible, fast set-up, and pay-as-you-go</a:t>
            </a:r>
          </a:p>
          <a:p>
            <a:pPr marL="361950" indent="-361950" algn="just">
              <a:lnSpc>
                <a:spcPct val="100000"/>
              </a:lnSpc>
              <a:spcBef>
                <a:spcPts val="0"/>
              </a:spcBef>
              <a:buFont typeface="Wingdings" panose="05000000000000000000" pitchFamily="2" charset="2"/>
              <a:buChar char="Ø"/>
            </a:pPr>
            <a:endParaRPr lang="en-US" b="1" i="1" dirty="0" smtClean="0"/>
          </a:p>
          <a:p>
            <a:pPr marL="361950" indent="-361950" algn="just">
              <a:lnSpc>
                <a:spcPct val="100000"/>
              </a:lnSpc>
              <a:spcBef>
                <a:spcPts val="0"/>
              </a:spcBef>
              <a:buFont typeface="Wingdings" panose="05000000000000000000" pitchFamily="2" charset="2"/>
              <a:buChar char="Ø"/>
            </a:pPr>
            <a:r>
              <a:rPr lang="en-US" b="1" i="1" dirty="0" smtClean="0"/>
              <a:t>Easy </a:t>
            </a:r>
            <a:r>
              <a:rPr lang="en-US" b="1" i="1" dirty="0"/>
              <a:t>to set up</a:t>
            </a:r>
            <a:r>
              <a:rPr lang="en-US" b="1" dirty="0"/>
              <a:t> </a:t>
            </a:r>
            <a:r>
              <a:rPr lang="en-US" dirty="0"/>
              <a:t>– no lengthy sales process, demo calls, and implementation cycles. Just login, pay via credit card, and go</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b="1" i="1" dirty="0"/>
              <a:t>Pay as you go</a:t>
            </a:r>
            <a:r>
              <a:rPr lang="en-US" b="1" dirty="0"/>
              <a:t> </a:t>
            </a:r>
            <a:r>
              <a:rPr lang="en-US" dirty="0"/>
              <a:t>– no up-front payments and million dollar licensing fees. The "modern" stack is all about putting power in the hands of the consumer, i.e. paying only for what you </a:t>
            </a:r>
            <a:r>
              <a:rPr lang="en-US" dirty="0" smtClean="0"/>
              <a:t>use</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b="1" i="1" dirty="0"/>
              <a:t>Plug and play</a:t>
            </a:r>
            <a:r>
              <a:rPr lang="en-US" b="1" dirty="0"/>
              <a:t> </a:t>
            </a:r>
            <a:r>
              <a:rPr lang="en-US" dirty="0"/>
              <a:t>– the modern data stack will continue to evolve and innovate, and the best of breed tools do not enforce "lock in" like tools in the legacy era, and are instead built on open standards &amp; APIs allowing easy integration with the rest of the stack</a:t>
            </a:r>
          </a:p>
        </p:txBody>
      </p:sp>
    </p:spTree>
    <p:extLst>
      <p:ext uri="{BB962C8B-B14F-4D97-AF65-F5344CB8AC3E}">
        <p14:creationId xmlns:p14="http://schemas.microsoft.com/office/powerpoint/2010/main" val="241368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82E62-70B4-257A-BDE2-472A11430A2E}"/>
              </a:ext>
            </a:extLst>
          </p:cNvPr>
          <p:cNvSpPr>
            <a:spLocks noGrp="1"/>
          </p:cNvSpPr>
          <p:nvPr>
            <p:ph type="title"/>
          </p:nvPr>
        </p:nvSpPr>
        <p:spPr/>
        <p:txBody>
          <a:bodyPr>
            <a:normAutofit/>
          </a:bodyPr>
          <a:lstStyle/>
          <a:p>
            <a:r>
              <a:rPr lang="en-US" dirty="0"/>
              <a:t>Key </a:t>
            </a:r>
            <a:r>
              <a:rPr lang="en-US" dirty="0" smtClean="0"/>
              <a:t>Building Blocks</a:t>
            </a:r>
            <a:endParaRPr lang="en-US" dirty="0"/>
          </a:p>
        </p:txBody>
      </p:sp>
      <p:pic>
        <p:nvPicPr>
          <p:cNvPr id="7" name="Picture 6">
            <a:extLst>
              <a:ext uri="{FF2B5EF4-FFF2-40B4-BE49-F238E27FC236}">
                <a16:creationId xmlns:a16="http://schemas.microsoft.com/office/drawing/2014/main" id="{0FBC0741-BE16-C3AA-90B3-A38C958CD24A}"/>
              </a:ext>
            </a:extLst>
          </p:cNvPr>
          <p:cNvPicPr>
            <a:picLocks noChangeAspect="1"/>
          </p:cNvPicPr>
          <p:nvPr/>
        </p:nvPicPr>
        <p:blipFill>
          <a:blip r:embed="rId2"/>
          <a:stretch>
            <a:fillRect/>
          </a:stretch>
        </p:blipFill>
        <p:spPr>
          <a:xfrm>
            <a:off x="228600" y="994865"/>
            <a:ext cx="11734800" cy="5702566"/>
          </a:xfrm>
          <a:prstGeom prst="rect">
            <a:avLst/>
          </a:prstGeom>
        </p:spPr>
      </p:pic>
      <p:sp>
        <p:nvSpPr>
          <p:cNvPr id="8" name="TextBox 7">
            <a:extLst>
              <a:ext uri="{FF2B5EF4-FFF2-40B4-BE49-F238E27FC236}">
                <a16:creationId xmlns:a16="http://schemas.microsoft.com/office/drawing/2014/main" id="{EC0CCDAA-01EE-7314-3694-AED1DA82B827}"/>
              </a:ext>
            </a:extLst>
          </p:cNvPr>
          <p:cNvSpPr txBox="1"/>
          <p:nvPr/>
        </p:nvSpPr>
        <p:spPr>
          <a:xfrm>
            <a:off x="10363200" y="6481399"/>
            <a:ext cx="1600200" cy="276999"/>
          </a:xfrm>
          <a:prstGeom prst="rect">
            <a:avLst/>
          </a:prstGeom>
          <a:noFill/>
        </p:spPr>
        <p:txBody>
          <a:bodyPr wrap="square" rtlCol="0">
            <a:spAutoFit/>
          </a:bodyPr>
          <a:lstStyle>
            <a:defPPr>
              <a:defRPr lang="en-US"/>
            </a:defPPr>
            <a:lvl1pPr algn="ctr">
              <a:defRPr sz="1200">
                <a:latin typeface="Helvetica" panose="020B0604020202020204" pitchFamily="34" charset="0"/>
                <a:cs typeface="Helvetica" panose="020B0604020202020204" pitchFamily="34" charset="0"/>
              </a:defRPr>
            </a:lvl1pPr>
          </a:lstStyle>
          <a:p>
            <a:r>
              <a:rPr lang="en-US" dirty="0"/>
              <a:t>Source: </a:t>
            </a:r>
            <a:r>
              <a:rPr lang="en-US" dirty="0" err="1"/>
              <a:t>atlan</a:t>
            </a:r>
            <a:endParaRPr lang="en-US" dirty="0"/>
          </a:p>
        </p:txBody>
      </p:sp>
    </p:spTree>
    <p:extLst>
      <p:ext uri="{BB962C8B-B14F-4D97-AF65-F5344CB8AC3E}">
        <p14:creationId xmlns:p14="http://schemas.microsoft.com/office/powerpoint/2010/main" val="40053218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8979-8B55-7751-6CE7-34CA2AA5FF09}"/>
              </a:ext>
            </a:extLst>
          </p:cNvPr>
          <p:cNvSpPr>
            <a:spLocks noGrp="1"/>
          </p:cNvSpPr>
          <p:nvPr>
            <p:ph type="title"/>
          </p:nvPr>
        </p:nvSpPr>
        <p:spPr/>
        <p:txBody>
          <a:bodyPr>
            <a:normAutofit/>
          </a:bodyPr>
          <a:lstStyle/>
          <a:p>
            <a:r>
              <a:rPr lang="en-US" dirty="0"/>
              <a:t>Modern </a:t>
            </a:r>
            <a:r>
              <a:rPr lang="en-US" dirty="0" smtClean="0"/>
              <a:t>Data Tools</a:t>
            </a:r>
            <a:endParaRPr lang="en-US" dirty="0"/>
          </a:p>
        </p:txBody>
      </p:sp>
      <p:sp>
        <p:nvSpPr>
          <p:cNvPr id="3" name="Text Placeholder 2">
            <a:extLst>
              <a:ext uri="{FF2B5EF4-FFF2-40B4-BE49-F238E27FC236}">
                <a16:creationId xmlns:a16="http://schemas.microsoft.com/office/drawing/2014/main" id="{2DCD410B-990B-8C16-2DE4-8BDF971ACB1C}"/>
              </a:ext>
            </a:extLst>
          </p:cNvPr>
          <p:cNvSpPr>
            <a:spLocks noGrp="1"/>
          </p:cNvSpPr>
          <p:nvPr>
            <p:ph type="body" sz="quarter" idx="13"/>
          </p:nvPr>
        </p:nvSpPr>
        <p:spPr>
          <a:xfrm>
            <a:off x="152400" y="1143000"/>
            <a:ext cx="11734800" cy="5029200"/>
          </a:xfrm>
        </p:spPr>
        <p:txBody>
          <a:bodyPr>
            <a:noAutofit/>
          </a:bodyPr>
          <a:lstStyle/>
          <a:p>
            <a:pPr marL="361950" indent="-361950" algn="just">
              <a:lnSpc>
                <a:spcPct val="150000"/>
              </a:lnSpc>
              <a:buNone/>
            </a:pPr>
            <a:r>
              <a:rPr lang="en-US" b="1" u="sng" dirty="0"/>
              <a:t>Modern Data Ingestion</a:t>
            </a:r>
          </a:p>
          <a:p>
            <a:pPr marL="361950" indent="-361950" algn="just">
              <a:lnSpc>
                <a:spcPct val="150000"/>
              </a:lnSpc>
              <a:buFont typeface="Wingdings" panose="05000000000000000000" pitchFamily="2" charset="2"/>
              <a:buChar char="Ø"/>
            </a:pPr>
            <a:r>
              <a:rPr lang="en-US" dirty="0"/>
              <a:t>Data ingestion is likely where your efforts to build out a modern data platform get started</a:t>
            </a:r>
          </a:p>
          <a:p>
            <a:pPr marL="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i.e</a:t>
            </a:r>
            <a:r>
              <a:rPr lang="en-US" dirty="0"/>
              <a:t>. </a:t>
            </a:r>
            <a:r>
              <a:rPr lang="en-US" dirty="0" smtClean="0"/>
              <a:t>How </a:t>
            </a:r>
            <a:r>
              <a:rPr lang="en-US" dirty="0"/>
              <a:t>do you bring data from a variety of different data sources and ingest it into your core data </a:t>
            </a:r>
            <a:r>
              <a:rPr lang="en-US" dirty="0" smtClean="0"/>
              <a:t>storage layer?</a:t>
            </a:r>
          </a:p>
          <a:p>
            <a:pPr marL="361950" indent="-361950" algn="just">
              <a:lnSpc>
                <a:spcPct val="150000"/>
              </a:lnSpc>
              <a:buFont typeface="Wingdings" panose="05000000000000000000" pitchFamily="2" charset="2"/>
              <a:buChar char="Ø"/>
            </a:pPr>
            <a:r>
              <a:rPr lang="en-US" dirty="0" smtClean="0"/>
              <a:t>The </a:t>
            </a:r>
            <a:r>
              <a:rPr lang="en-US" dirty="0"/>
              <a:t>majority of data pipelines capture data in batch, using SQL queries or extract routines, but this is </a:t>
            </a:r>
            <a:r>
              <a:rPr lang="en-US" dirty="0" smtClean="0"/>
              <a:t>changing</a:t>
            </a:r>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Many </a:t>
            </a:r>
            <a:r>
              <a:rPr lang="en-US" dirty="0"/>
              <a:t>companies now prefer a streaming-first architecture that captures and processes data in real time in a continuous </a:t>
            </a:r>
            <a:r>
              <a:rPr lang="en-US" dirty="0" smtClean="0"/>
              <a:t>stream</a:t>
            </a:r>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Streaming </a:t>
            </a:r>
            <a:r>
              <a:rPr lang="en-US" dirty="0"/>
              <a:t>tools use change data capture, replication, and/or publish/subscribe messaging systems to capture events as they happen, move them into the data environment, and analyze them. </a:t>
            </a:r>
          </a:p>
        </p:txBody>
      </p:sp>
    </p:spTree>
    <p:extLst>
      <p:ext uri="{BB962C8B-B14F-4D97-AF65-F5344CB8AC3E}">
        <p14:creationId xmlns:p14="http://schemas.microsoft.com/office/powerpoint/2010/main" val="162991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0222-D095-062F-8FDD-61204CFE277C}"/>
              </a:ext>
            </a:extLst>
          </p:cNvPr>
          <p:cNvSpPr>
            <a:spLocks noGrp="1"/>
          </p:cNvSpPr>
          <p:nvPr>
            <p:ph type="title"/>
          </p:nvPr>
        </p:nvSpPr>
        <p:spPr/>
        <p:txBody>
          <a:bodyPr>
            <a:normAutofit/>
          </a:bodyPr>
          <a:lstStyle/>
          <a:p>
            <a:r>
              <a:rPr lang="en-US" dirty="0"/>
              <a:t>Modern data tools - </a:t>
            </a:r>
            <a:r>
              <a:rPr lang="en-US" dirty="0" err="1"/>
              <a:t>contd</a:t>
            </a:r>
            <a:endParaRPr lang="en-US" dirty="0"/>
          </a:p>
        </p:txBody>
      </p:sp>
      <p:sp>
        <p:nvSpPr>
          <p:cNvPr id="3" name="Text Placeholder 2">
            <a:extLst>
              <a:ext uri="{FF2B5EF4-FFF2-40B4-BE49-F238E27FC236}">
                <a16:creationId xmlns:a16="http://schemas.microsoft.com/office/drawing/2014/main" id="{33DC6152-0F2D-4488-69EB-1376CEC1E4D2}"/>
              </a:ext>
            </a:extLst>
          </p:cNvPr>
          <p:cNvSpPr>
            <a:spLocks noGrp="1"/>
          </p:cNvSpPr>
          <p:nvPr>
            <p:ph type="body" sz="quarter" idx="13"/>
          </p:nvPr>
        </p:nvSpPr>
        <p:spPr>
          <a:xfrm>
            <a:off x="76200" y="914400"/>
            <a:ext cx="11887200" cy="5933067"/>
          </a:xfrm>
        </p:spPr>
        <p:txBody>
          <a:bodyPr>
            <a:normAutofit fontScale="92500" lnSpcReduction="20000"/>
          </a:bodyPr>
          <a:lstStyle/>
          <a:p>
            <a:pPr marL="0" indent="0" algn="just">
              <a:lnSpc>
                <a:spcPct val="150000"/>
              </a:lnSpc>
              <a:buNone/>
            </a:pPr>
            <a:r>
              <a:rPr lang="en-US" b="1" u="sng" dirty="0"/>
              <a:t>Modern data storage and processing</a:t>
            </a:r>
          </a:p>
          <a:p>
            <a:pPr marL="0" indent="0" algn="just">
              <a:lnSpc>
                <a:spcPct val="120000"/>
              </a:lnSpc>
              <a:spcBef>
                <a:spcPts val="0"/>
              </a:spcBef>
              <a:buNone/>
            </a:pPr>
            <a:r>
              <a:rPr lang="en-US" dirty="0"/>
              <a:t>The data storage and processing layer is fundamental to the modern data platform. While this architecture is evolving, we typically see 3 kinds of tools or frameworks:</a:t>
            </a:r>
          </a:p>
          <a:p>
            <a:pPr marL="0" indent="0" algn="just">
              <a:lnSpc>
                <a:spcPct val="150000"/>
              </a:lnSpc>
              <a:buNone/>
            </a:pPr>
            <a:r>
              <a:rPr lang="en-US" b="1" u="sng" dirty="0"/>
              <a:t>Data </a:t>
            </a:r>
            <a:r>
              <a:rPr lang="en-US" b="1" u="sng" dirty="0" smtClean="0"/>
              <a:t>Warehouses</a:t>
            </a:r>
            <a:endParaRPr lang="en-US" b="1" u="sng" dirty="0"/>
          </a:p>
          <a:p>
            <a:pPr marL="271463" indent="-271463" algn="just">
              <a:lnSpc>
                <a:spcPct val="150000"/>
              </a:lnSpc>
              <a:buFont typeface="Wingdings" panose="05000000000000000000" pitchFamily="2" charset="2"/>
              <a:buChar char="Ø"/>
            </a:pPr>
            <a:r>
              <a:rPr lang="en-US" dirty="0"/>
              <a:t>These are generally the system of choice for analysts since they optimize compute and processing speed.</a:t>
            </a:r>
          </a:p>
          <a:p>
            <a:pPr marL="271463" indent="-271463" algn="just">
              <a:lnSpc>
                <a:spcPct val="150000"/>
              </a:lnSpc>
              <a:buNone/>
            </a:pPr>
            <a:r>
              <a:rPr lang="en-US" b="1" u="sng" dirty="0"/>
              <a:t>Data </a:t>
            </a:r>
            <a:r>
              <a:rPr lang="en-US" b="1" u="sng" dirty="0" smtClean="0"/>
              <a:t>Lakes</a:t>
            </a:r>
            <a:endParaRPr lang="en-US" b="1" u="sng" dirty="0"/>
          </a:p>
          <a:p>
            <a:pPr marL="271463" indent="-271463" algn="just">
              <a:lnSpc>
                <a:spcPct val="150000"/>
              </a:lnSpc>
              <a:buFont typeface="Wingdings" panose="05000000000000000000" pitchFamily="2" charset="2"/>
              <a:buChar char="Ø"/>
            </a:pPr>
            <a:r>
              <a:rPr lang="en-US" dirty="0"/>
              <a:t>A data lake architecture refers to data being stored on an object storage, coupled with tools to process the data</a:t>
            </a:r>
          </a:p>
          <a:p>
            <a:pPr marL="271463" indent="-271463" algn="just">
              <a:lnSpc>
                <a:spcPct val="150000"/>
              </a:lnSpc>
              <a:buFont typeface="Wingdings" panose="05000000000000000000" pitchFamily="2" charset="2"/>
              <a:buChar char="Ø"/>
            </a:pPr>
            <a:r>
              <a:rPr lang="en-US" dirty="0"/>
              <a:t>These cheap storage systems are often used to store vast amounts of raw or even unstructured data.</a:t>
            </a:r>
          </a:p>
          <a:p>
            <a:pPr marL="271463" indent="-271463" algn="just">
              <a:lnSpc>
                <a:spcPct val="150000"/>
              </a:lnSpc>
              <a:buNone/>
            </a:pPr>
            <a:r>
              <a:rPr lang="en-US" b="1" u="sng" dirty="0"/>
              <a:t>Data </a:t>
            </a:r>
            <a:r>
              <a:rPr lang="en-US" b="1" u="sng" dirty="0" err="1" smtClean="0"/>
              <a:t>Lakehouses</a:t>
            </a:r>
            <a:endParaRPr lang="en-US" b="1" u="sng" dirty="0"/>
          </a:p>
          <a:p>
            <a:pPr marL="271463" indent="-271463" algn="just">
              <a:lnSpc>
                <a:spcPct val="150000"/>
              </a:lnSpc>
              <a:buFont typeface="Wingdings" panose="05000000000000000000" pitchFamily="2" charset="2"/>
              <a:buChar char="Ø"/>
            </a:pPr>
            <a:r>
              <a:rPr lang="en-US" dirty="0" smtClean="0"/>
              <a:t>Convergence </a:t>
            </a:r>
            <a:r>
              <a:rPr lang="en-US" dirty="0"/>
              <a:t>of data warehouses and lakes</a:t>
            </a:r>
          </a:p>
          <a:p>
            <a:pPr marL="271463" indent="-271463" algn="just">
              <a:lnSpc>
                <a:spcPct val="150000"/>
              </a:lnSpc>
              <a:buFont typeface="Wingdings" panose="05000000000000000000" pitchFamily="2" charset="2"/>
              <a:buChar char="Ø"/>
            </a:pPr>
            <a:r>
              <a:rPr lang="en-US" dirty="0"/>
              <a:t>Helps to unify the </a:t>
            </a:r>
            <a:r>
              <a:rPr lang="en-US" dirty="0" err="1"/>
              <a:t>siloed</a:t>
            </a:r>
            <a:r>
              <a:rPr lang="en-US" dirty="0"/>
              <a:t> </a:t>
            </a:r>
            <a:r>
              <a:rPr lang="en-US" dirty="0" smtClean="0"/>
              <a:t>systems</a:t>
            </a:r>
          </a:p>
          <a:p>
            <a:pPr marL="271463" indent="-271463" algn="just">
              <a:lnSpc>
                <a:spcPct val="150000"/>
              </a:lnSpc>
              <a:buFont typeface="Wingdings" panose="05000000000000000000" pitchFamily="2" charset="2"/>
              <a:buChar char="Ø"/>
            </a:pPr>
            <a:endParaRPr lang="en-US" dirty="0" smtClean="0"/>
          </a:p>
          <a:p>
            <a:pPr marL="271463" indent="-271463" algn="just">
              <a:lnSpc>
                <a:spcPct val="110000"/>
              </a:lnSpc>
              <a:spcBef>
                <a:spcPts val="0"/>
              </a:spcBef>
              <a:buFont typeface="Wingdings" panose="05000000000000000000" pitchFamily="2" charset="2"/>
              <a:buChar char="Ø"/>
            </a:pPr>
            <a:r>
              <a:rPr lang="en-US" dirty="0" smtClean="0"/>
              <a:t>A </a:t>
            </a:r>
            <a:r>
              <a:rPr lang="en-US" dirty="0"/>
              <a:t>system design that combines the data management features such as ACID transactions and change data capture </a:t>
            </a:r>
            <a:r>
              <a:rPr lang="en-US" dirty="0" smtClean="0"/>
              <a:t> from </a:t>
            </a:r>
            <a:r>
              <a:rPr lang="en-US" dirty="0"/>
              <a:t>a data warehouse with the low-cost storage of a data lake</a:t>
            </a:r>
            <a:endParaRPr lang="en-US" u="sng" dirty="0"/>
          </a:p>
        </p:txBody>
      </p:sp>
    </p:spTree>
    <p:extLst>
      <p:ext uri="{BB962C8B-B14F-4D97-AF65-F5344CB8AC3E}">
        <p14:creationId xmlns:p14="http://schemas.microsoft.com/office/powerpoint/2010/main" val="110493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BF18-C329-FE9F-7A58-7792CB951ED4}"/>
              </a:ext>
            </a:extLst>
          </p:cNvPr>
          <p:cNvSpPr>
            <a:spLocks noGrp="1"/>
          </p:cNvSpPr>
          <p:nvPr>
            <p:ph type="title"/>
          </p:nvPr>
        </p:nvSpPr>
        <p:spPr/>
        <p:txBody>
          <a:bodyPr>
            <a:normAutofit/>
          </a:bodyPr>
          <a:lstStyle/>
          <a:p>
            <a:r>
              <a:rPr lang="en-US" dirty="0"/>
              <a:t>Modern data tools - </a:t>
            </a:r>
            <a:r>
              <a:rPr lang="en-US" dirty="0" err="1"/>
              <a:t>contd</a:t>
            </a:r>
            <a:endParaRPr lang="en-US" dirty="0"/>
          </a:p>
        </p:txBody>
      </p:sp>
      <p:sp>
        <p:nvSpPr>
          <p:cNvPr id="3" name="Text Placeholder 2">
            <a:extLst>
              <a:ext uri="{FF2B5EF4-FFF2-40B4-BE49-F238E27FC236}">
                <a16:creationId xmlns:a16="http://schemas.microsoft.com/office/drawing/2014/main" id="{F9620F0A-3E84-EC89-B5E8-DB8BB9363743}"/>
              </a:ext>
            </a:extLst>
          </p:cNvPr>
          <p:cNvSpPr>
            <a:spLocks noGrp="1"/>
          </p:cNvSpPr>
          <p:nvPr>
            <p:ph type="body" sz="quarter" idx="13"/>
          </p:nvPr>
        </p:nvSpPr>
        <p:spPr>
          <a:xfrm>
            <a:off x="266700" y="1066800"/>
            <a:ext cx="11658600" cy="5486400"/>
          </a:xfrm>
        </p:spPr>
        <p:txBody>
          <a:bodyPr>
            <a:noAutofit/>
          </a:bodyPr>
          <a:lstStyle/>
          <a:p>
            <a:pPr marL="361950" indent="-361950">
              <a:lnSpc>
                <a:spcPct val="100000"/>
              </a:lnSpc>
              <a:buNone/>
            </a:pPr>
            <a:r>
              <a:rPr lang="en-US" b="1" u="sng" dirty="0"/>
              <a:t>Modern data transformation - Core implementations</a:t>
            </a:r>
          </a:p>
          <a:p>
            <a:pPr marL="361950" indent="-361950">
              <a:lnSpc>
                <a:spcPct val="100000"/>
              </a:lnSpc>
              <a:buFont typeface="+mj-lt"/>
              <a:buAutoNum type="arabicPeriod"/>
            </a:pPr>
            <a:r>
              <a:rPr lang="en-US" dirty="0"/>
              <a:t>Native SQL</a:t>
            </a:r>
          </a:p>
          <a:p>
            <a:pPr marL="361950" lvl="1" indent="-361950">
              <a:lnSpc>
                <a:spcPct val="100000"/>
              </a:lnSpc>
              <a:buNone/>
            </a:pPr>
            <a:r>
              <a:rPr lang="en-US" sz="1800" dirty="0"/>
              <a:t>	</a:t>
            </a:r>
            <a:r>
              <a:rPr lang="en-US" sz="1800" dirty="0" smtClean="0"/>
              <a:t>For </a:t>
            </a:r>
            <a:r>
              <a:rPr lang="en-US" sz="1800" dirty="0"/>
              <a:t>companies with data warehouse–first architectures, tools that leverage native SQL for transformation have emerged as the top choice for data transformation.</a:t>
            </a:r>
          </a:p>
          <a:p>
            <a:pPr marL="361950" indent="-361950">
              <a:lnSpc>
                <a:spcPct val="100000"/>
              </a:lnSpc>
              <a:buFont typeface="+mj-lt"/>
              <a:buAutoNum type="arabicPeriod"/>
            </a:pPr>
            <a:endParaRPr lang="en-US" dirty="0" smtClean="0"/>
          </a:p>
          <a:p>
            <a:pPr marL="361950" indent="-361950">
              <a:lnSpc>
                <a:spcPct val="100000"/>
              </a:lnSpc>
              <a:buFont typeface="+mj-lt"/>
              <a:buAutoNum type="arabicPeriod"/>
            </a:pPr>
            <a:r>
              <a:rPr lang="en-US" dirty="0" smtClean="0"/>
              <a:t>Orchestration Engine</a:t>
            </a:r>
            <a:endParaRPr lang="en-US" dirty="0"/>
          </a:p>
          <a:p>
            <a:pPr marL="361950" lvl="1" indent="-361950">
              <a:lnSpc>
                <a:spcPct val="100000"/>
              </a:lnSpc>
              <a:buNone/>
            </a:pPr>
            <a:r>
              <a:rPr lang="en-US" sz="1800" dirty="0" smtClean="0"/>
              <a:t>	Orchestration Engine </a:t>
            </a:r>
            <a:r>
              <a:rPr lang="en-US" sz="1800" dirty="0"/>
              <a:t>coupled with custom transformation in a programming language</a:t>
            </a:r>
            <a:endParaRPr lang="en-US" sz="1800" b="1" u="sng" dirty="0"/>
          </a:p>
          <a:p>
            <a:pPr marL="361950" indent="-361950">
              <a:lnSpc>
                <a:spcPct val="100000"/>
              </a:lnSpc>
              <a:buNone/>
            </a:pPr>
            <a:r>
              <a:rPr lang="en-US" b="1" u="sng" dirty="0"/>
              <a:t>Modern business intelligence and analytics</a:t>
            </a:r>
          </a:p>
          <a:p>
            <a:pPr marL="361950" indent="-361950">
              <a:lnSpc>
                <a:spcPct val="100000"/>
              </a:lnSpc>
              <a:buFont typeface="Wingdings" panose="05000000000000000000" pitchFamily="2" charset="2"/>
              <a:buChar char="Ø"/>
            </a:pPr>
            <a:endParaRPr lang="en-US" dirty="0" smtClean="0"/>
          </a:p>
          <a:p>
            <a:pPr marL="361950" indent="-361950">
              <a:lnSpc>
                <a:spcPct val="100000"/>
              </a:lnSpc>
              <a:buFont typeface="Wingdings" panose="05000000000000000000" pitchFamily="2" charset="2"/>
              <a:buChar char="Ø"/>
            </a:pPr>
            <a:r>
              <a:rPr lang="en-US" dirty="0" smtClean="0"/>
              <a:t>BI </a:t>
            </a:r>
            <a:r>
              <a:rPr lang="en-US" dirty="0"/>
              <a:t>dashboards have been around for ages, but the latest breed of BI and analytics tools are built to fit within a larger modern data platform. </a:t>
            </a:r>
            <a:endParaRPr lang="en-US" dirty="0" smtClean="0"/>
          </a:p>
          <a:p>
            <a:pPr marL="361950" indent="-361950">
              <a:lnSpc>
                <a:spcPct val="100000"/>
              </a:lnSpc>
              <a:buFont typeface="Wingdings" panose="05000000000000000000" pitchFamily="2" charset="2"/>
              <a:buChar char="Ø"/>
            </a:pPr>
            <a:endParaRPr lang="en-US" dirty="0"/>
          </a:p>
          <a:p>
            <a:pPr marL="361950" indent="-361950">
              <a:lnSpc>
                <a:spcPct val="100000"/>
              </a:lnSpc>
              <a:buFont typeface="Wingdings" panose="05000000000000000000" pitchFamily="2" charset="2"/>
              <a:buChar char="Ø"/>
            </a:pPr>
            <a:r>
              <a:rPr lang="en-US" dirty="0"/>
              <a:t>These are generally more self-service platforms that allow users to explore data, rather than just consuming graphs and charts.</a:t>
            </a:r>
            <a:endParaRPr lang="en-US" b="1" u="sng" dirty="0"/>
          </a:p>
          <a:p>
            <a:pPr marL="361950" indent="-361950">
              <a:lnSpc>
                <a:spcPct val="100000"/>
              </a:lnSpc>
              <a:buNone/>
            </a:pPr>
            <a:endParaRPr lang="en-US" b="1" u="sng" dirty="0"/>
          </a:p>
          <a:p>
            <a:pPr marL="361950" indent="-361950">
              <a:lnSpc>
                <a:spcPct val="100000"/>
              </a:lnSpc>
              <a:buNone/>
            </a:pPr>
            <a:endParaRPr lang="en-US" b="1" u="sng" dirty="0"/>
          </a:p>
        </p:txBody>
      </p:sp>
    </p:spTree>
    <p:extLst>
      <p:ext uri="{BB962C8B-B14F-4D97-AF65-F5344CB8AC3E}">
        <p14:creationId xmlns:p14="http://schemas.microsoft.com/office/powerpoint/2010/main" val="1194424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424B9-0570-17AC-62D1-92F314ED7C1F}"/>
              </a:ext>
            </a:extLst>
          </p:cNvPr>
          <p:cNvSpPr>
            <a:spLocks noGrp="1"/>
          </p:cNvSpPr>
          <p:nvPr>
            <p:ph type="title"/>
          </p:nvPr>
        </p:nvSpPr>
        <p:spPr/>
        <p:txBody>
          <a:bodyPr>
            <a:normAutofit/>
          </a:bodyPr>
          <a:lstStyle/>
          <a:p>
            <a:r>
              <a:rPr lang="en-US" dirty="0"/>
              <a:t>Modern data tools - </a:t>
            </a:r>
            <a:r>
              <a:rPr lang="en-US" dirty="0" err="1"/>
              <a:t>contd</a:t>
            </a:r>
            <a:endParaRPr lang="en-US" dirty="0"/>
          </a:p>
        </p:txBody>
      </p:sp>
      <p:sp>
        <p:nvSpPr>
          <p:cNvPr id="3" name="Text Placeholder 2">
            <a:extLst>
              <a:ext uri="{FF2B5EF4-FFF2-40B4-BE49-F238E27FC236}">
                <a16:creationId xmlns:a16="http://schemas.microsoft.com/office/drawing/2014/main" id="{CF3F81DB-FCD3-7862-BC5A-92FEB37FBEF0}"/>
              </a:ext>
            </a:extLst>
          </p:cNvPr>
          <p:cNvSpPr>
            <a:spLocks noGrp="1"/>
          </p:cNvSpPr>
          <p:nvPr>
            <p:ph type="body" sz="quarter" idx="13"/>
          </p:nvPr>
        </p:nvSpPr>
        <p:spPr>
          <a:xfrm>
            <a:off x="0" y="924933"/>
            <a:ext cx="11887200" cy="5933067"/>
          </a:xfrm>
        </p:spPr>
        <p:txBody>
          <a:bodyPr>
            <a:normAutofit fontScale="92500" lnSpcReduction="10000"/>
          </a:bodyPr>
          <a:lstStyle/>
          <a:p>
            <a:pPr marL="533400" indent="-533400" algn="just">
              <a:lnSpc>
                <a:spcPct val="150000"/>
              </a:lnSpc>
              <a:buNone/>
            </a:pPr>
            <a:r>
              <a:rPr lang="en-US" b="1" u="sng" dirty="0"/>
              <a:t>Modern data catalogs and governance</a:t>
            </a:r>
          </a:p>
          <a:p>
            <a:pPr marL="533400" indent="-533400" algn="just">
              <a:lnSpc>
                <a:spcPct val="150000"/>
              </a:lnSpc>
              <a:buFont typeface="Wingdings" panose="05000000000000000000" pitchFamily="2" charset="2"/>
              <a:buChar char="Ø"/>
            </a:pPr>
            <a:r>
              <a:rPr lang="en-US" dirty="0"/>
              <a:t>While the modern data platform is great in some areas (super fast, easy to scale up, little overhead), it struggles with bringing discovery, trust and context to data.</a:t>
            </a:r>
          </a:p>
          <a:p>
            <a:pPr marL="533400" indent="-533400" algn="just">
              <a:lnSpc>
                <a:spcPct val="150000"/>
              </a:lnSpc>
              <a:buFont typeface="Wingdings" panose="05000000000000000000" pitchFamily="2" charset="2"/>
              <a:buChar char="Ø"/>
            </a:pPr>
            <a:r>
              <a:rPr lang="en-US" dirty="0"/>
              <a:t>As metadata itself becomes big data, we’re in the midst of a leap forward in metadata management</a:t>
            </a:r>
          </a:p>
          <a:p>
            <a:pPr marL="533400" indent="-533400" algn="just">
              <a:lnSpc>
                <a:spcPct val="150000"/>
              </a:lnSpc>
              <a:buNone/>
            </a:pPr>
            <a:r>
              <a:rPr lang="en-US" b="1" u="sng" dirty="0"/>
              <a:t>Modern data privacy and access governance</a:t>
            </a:r>
          </a:p>
          <a:p>
            <a:pPr marL="533400" indent="-533400" algn="just">
              <a:lnSpc>
                <a:spcPct val="150000"/>
              </a:lnSpc>
              <a:buFont typeface="Wingdings" panose="05000000000000000000" pitchFamily="2" charset="2"/>
              <a:buChar char="Ø"/>
            </a:pPr>
            <a:r>
              <a:rPr lang="en-US" dirty="0" smtClean="0"/>
              <a:t>A </a:t>
            </a:r>
            <a:r>
              <a:rPr lang="en-US" dirty="0"/>
              <a:t>major challenge is to be able to manage privacy controls and access governance across your entire stack.</a:t>
            </a:r>
          </a:p>
          <a:p>
            <a:pPr marL="533400" indent="-533400" algn="just">
              <a:lnSpc>
                <a:spcPct val="150000"/>
              </a:lnSpc>
              <a:buFont typeface="Wingdings" panose="05000000000000000000" pitchFamily="2" charset="2"/>
              <a:buChar char="Ø"/>
            </a:pPr>
            <a:r>
              <a:rPr lang="en-US" dirty="0" smtClean="0"/>
              <a:t>Tools </a:t>
            </a:r>
            <a:r>
              <a:rPr lang="en-US" dirty="0"/>
              <a:t>that can act as an entitlement engine to apply privacy and security policies across the data stack.</a:t>
            </a:r>
          </a:p>
          <a:p>
            <a:pPr marL="533400" indent="-533400" algn="just">
              <a:lnSpc>
                <a:spcPct val="150000"/>
              </a:lnSpc>
              <a:buNone/>
            </a:pPr>
            <a:r>
              <a:rPr lang="en-US" b="1" u="sng" dirty="0"/>
              <a:t>Other tools</a:t>
            </a:r>
          </a:p>
          <a:p>
            <a:pPr marL="533400" indent="-533400" algn="just">
              <a:lnSpc>
                <a:spcPct val="150000"/>
              </a:lnSpc>
              <a:buFont typeface="Wingdings" panose="05000000000000000000" pitchFamily="2" charset="2"/>
              <a:buChar char="Ø"/>
            </a:pPr>
            <a:r>
              <a:rPr lang="en-US" dirty="0"/>
              <a:t>Real-time data processing tools</a:t>
            </a:r>
          </a:p>
          <a:p>
            <a:pPr marL="533400" indent="-533400" algn="just">
              <a:lnSpc>
                <a:spcPct val="150000"/>
              </a:lnSpc>
              <a:buFont typeface="Wingdings" panose="05000000000000000000" pitchFamily="2" charset="2"/>
              <a:buChar char="Ø"/>
            </a:pPr>
            <a:r>
              <a:rPr lang="en-US" dirty="0"/>
              <a:t>Data science tools</a:t>
            </a:r>
          </a:p>
          <a:p>
            <a:pPr marL="533400" indent="-533400" algn="just">
              <a:lnSpc>
                <a:spcPct val="150000"/>
              </a:lnSpc>
              <a:buFont typeface="Wingdings" panose="05000000000000000000" pitchFamily="2" charset="2"/>
              <a:buChar char="Ø"/>
            </a:pPr>
            <a:r>
              <a:rPr lang="en-US" dirty="0"/>
              <a:t>Event collectors</a:t>
            </a:r>
          </a:p>
          <a:p>
            <a:pPr marL="533400" indent="-533400" algn="just">
              <a:lnSpc>
                <a:spcPct val="150000"/>
              </a:lnSpc>
              <a:buFont typeface="Wingdings" panose="05000000000000000000" pitchFamily="2" charset="2"/>
              <a:buChar char="Ø"/>
            </a:pPr>
            <a:r>
              <a:rPr lang="en-US" dirty="0"/>
              <a:t>Data quality </a:t>
            </a:r>
            <a:r>
              <a:rPr lang="en-US" dirty="0" smtClean="0"/>
              <a:t>tools</a:t>
            </a:r>
            <a:endParaRPr lang="en-US" b="1" u="sng" dirty="0"/>
          </a:p>
        </p:txBody>
      </p:sp>
    </p:spTree>
    <p:extLst>
      <p:ext uri="{BB962C8B-B14F-4D97-AF65-F5344CB8AC3E}">
        <p14:creationId xmlns:p14="http://schemas.microsoft.com/office/powerpoint/2010/main" val="3777087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8A5B1-CCE9-CE24-ACE7-A33A416FB5BF}"/>
              </a:ext>
            </a:extLst>
          </p:cNvPr>
          <p:cNvSpPr>
            <a:spLocks noGrp="1"/>
          </p:cNvSpPr>
          <p:nvPr>
            <p:ph type="title"/>
          </p:nvPr>
        </p:nvSpPr>
        <p:spPr/>
        <p:txBody>
          <a:bodyPr/>
          <a:lstStyle/>
          <a:p>
            <a:r>
              <a:rPr lang="en-US" dirty="0"/>
              <a:t>Modern data tools – Summary</a:t>
            </a:r>
          </a:p>
        </p:txBody>
      </p:sp>
      <p:graphicFrame>
        <p:nvGraphicFramePr>
          <p:cNvPr id="5" name="Table 4">
            <a:extLst>
              <a:ext uri="{FF2B5EF4-FFF2-40B4-BE49-F238E27FC236}">
                <a16:creationId xmlns:a16="http://schemas.microsoft.com/office/drawing/2014/main" id="{016B28F9-68D9-C901-89E7-C8EFF3E2AECF}"/>
              </a:ext>
            </a:extLst>
          </p:cNvPr>
          <p:cNvGraphicFramePr>
            <a:graphicFrameLocks noGrp="1"/>
          </p:cNvGraphicFramePr>
          <p:nvPr>
            <p:extLst>
              <p:ext uri="{D42A27DB-BD31-4B8C-83A1-F6EECF244321}">
                <p14:modId xmlns:p14="http://schemas.microsoft.com/office/powerpoint/2010/main" val="1920123583"/>
              </p:ext>
            </p:extLst>
          </p:nvPr>
        </p:nvGraphicFramePr>
        <p:xfrm>
          <a:off x="26894" y="924933"/>
          <a:ext cx="12012706" cy="5543474"/>
        </p:xfrm>
        <a:graphic>
          <a:graphicData uri="http://schemas.openxmlformats.org/drawingml/2006/table">
            <a:tbl>
              <a:tblPr firstRow="1" bandRow="1">
                <a:tableStyleId>{F2DE63D5-997A-4646-A377-4702673A728D}</a:tableStyleId>
              </a:tblPr>
              <a:tblGrid>
                <a:gridCol w="3126837">
                  <a:extLst>
                    <a:ext uri="{9D8B030D-6E8A-4147-A177-3AD203B41FA5}">
                      <a16:colId xmlns:a16="http://schemas.microsoft.com/office/drawing/2014/main" val="1494684843"/>
                    </a:ext>
                  </a:extLst>
                </a:gridCol>
                <a:gridCol w="8885869">
                  <a:extLst>
                    <a:ext uri="{9D8B030D-6E8A-4147-A177-3AD203B41FA5}">
                      <a16:colId xmlns:a16="http://schemas.microsoft.com/office/drawing/2014/main" val="1600393626"/>
                    </a:ext>
                  </a:extLst>
                </a:gridCol>
              </a:tblGrid>
              <a:tr h="351416">
                <a:tc>
                  <a:txBody>
                    <a:bodyPr/>
                    <a:lstStyle/>
                    <a:p>
                      <a:pPr algn="ctr"/>
                      <a:r>
                        <a:rPr lang="en-US" sz="1600" b="1" dirty="0">
                          <a:solidFill>
                            <a:srgbClr val="FF0000"/>
                          </a:solidFill>
                          <a:latin typeface="Helvetica" panose="020B0604020202020204" pitchFamily="34" charset="0"/>
                          <a:cs typeface="Helvetica" panose="020B0604020202020204" pitchFamily="34" charset="0"/>
                        </a:rPr>
                        <a:t>Component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FF0000"/>
                          </a:solidFill>
                          <a:latin typeface="Helvetica" panose="020B0604020202020204" pitchFamily="34" charset="0"/>
                          <a:cs typeface="Helvetica" panose="020B0604020202020204" pitchFamily="34" charset="0"/>
                        </a:rPr>
                        <a:t>Tools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812222"/>
                  </a:ext>
                </a:extLst>
              </a:tr>
              <a:tr h="85866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kern="1200" dirty="0" smtClean="0">
                          <a:solidFill>
                            <a:schemeClr val="dk1"/>
                          </a:solidFill>
                          <a:effectLst/>
                          <a:latin typeface="Helvetica" panose="020B0604020202020204" pitchFamily="34" charset="0"/>
                          <a:cs typeface="Helvetica" panose="020B0604020202020204" pitchFamily="34" charset="0"/>
                        </a:rPr>
                        <a:t>Data </a:t>
                      </a:r>
                      <a:r>
                        <a:rPr lang="en-US" sz="1600" b="1" kern="1200" dirty="0">
                          <a:solidFill>
                            <a:schemeClr val="dk1"/>
                          </a:solidFill>
                          <a:effectLst/>
                          <a:latin typeface="Helvetica" panose="020B0604020202020204" pitchFamily="34" charset="0"/>
                          <a:cs typeface="Helvetica" panose="020B0604020202020204" pitchFamily="34" charset="0"/>
                        </a:rPr>
                        <a:t>ingestion</a:t>
                      </a:r>
                      <a:endParaRPr lang="en-US" sz="1600" b="1"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lnSpc>
                          <a:spcPct val="150000"/>
                        </a:lnSpc>
                        <a:buFont typeface="Wingdings" panose="05000000000000000000" pitchFamily="2" charset="2"/>
                        <a:buChar char="§"/>
                      </a:pPr>
                      <a:r>
                        <a:rPr lang="en-US" sz="1600" b="0" kern="1200" dirty="0">
                          <a:solidFill>
                            <a:schemeClr val="dk1"/>
                          </a:solidFill>
                          <a:effectLst/>
                          <a:latin typeface="Helvetica" panose="020B0604020202020204" pitchFamily="34" charset="0"/>
                          <a:cs typeface="Helvetica" panose="020B0604020202020204" pitchFamily="34" charset="0"/>
                        </a:rPr>
                        <a:t>SAAS tools: </a:t>
                      </a:r>
                      <a:r>
                        <a:rPr lang="en-US" sz="1600" b="0" u="sng" kern="1200" dirty="0" err="1">
                          <a:solidFill>
                            <a:schemeClr val="dk1"/>
                          </a:solidFill>
                          <a:effectLst/>
                          <a:latin typeface="Helvetica" panose="020B0604020202020204" pitchFamily="34" charset="0"/>
                          <a:cs typeface="Helvetica" panose="020B0604020202020204" pitchFamily="34" charset="0"/>
                          <a:hlinkClick r:id="rId2"/>
                        </a:rPr>
                        <a:t>Fivetran</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err="1">
                          <a:solidFill>
                            <a:schemeClr val="dk1"/>
                          </a:solidFill>
                          <a:effectLst/>
                          <a:latin typeface="Helvetica" panose="020B0604020202020204" pitchFamily="34" charset="0"/>
                          <a:cs typeface="Helvetica" panose="020B0604020202020204" pitchFamily="34" charset="0"/>
                          <a:hlinkClick r:id="rId3"/>
                        </a:rPr>
                        <a:t>Hevo</a:t>
                      </a:r>
                      <a:r>
                        <a:rPr lang="en-US" sz="1600" b="0" u="sng" kern="1200" dirty="0">
                          <a:solidFill>
                            <a:schemeClr val="dk1"/>
                          </a:solidFill>
                          <a:effectLst/>
                          <a:latin typeface="Helvetica" panose="020B0604020202020204" pitchFamily="34" charset="0"/>
                          <a:cs typeface="Helvetica" panose="020B0604020202020204" pitchFamily="34" charset="0"/>
                          <a:hlinkClick r:id="rId3"/>
                        </a:rPr>
                        <a:t> Data</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4"/>
                        </a:rPr>
                        <a:t>Stitch</a:t>
                      </a:r>
                      <a:endParaRPr lang="en-US" sz="1600" b="0" kern="1200" dirty="0">
                        <a:solidFill>
                          <a:schemeClr val="dk1"/>
                        </a:solidFill>
                        <a:effectLst/>
                        <a:latin typeface="Helvetica" panose="020B0604020202020204" pitchFamily="34" charset="0"/>
                        <a:cs typeface="Helvetica" panose="020B0604020202020204" pitchFamily="34" charset="0"/>
                      </a:endParaRPr>
                    </a:p>
                    <a:p>
                      <a:pPr marL="285750" indent="-285750" algn="just">
                        <a:lnSpc>
                          <a:spcPct val="150000"/>
                        </a:lnSpc>
                        <a:buFont typeface="Wingdings" panose="05000000000000000000" pitchFamily="2" charset="2"/>
                        <a:buChar char="§"/>
                      </a:pPr>
                      <a:r>
                        <a:rPr lang="en-US" sz="1600" b="0" kern="1200" dirty="0">
                          <a:solidFill>
                            <a:schemeClr val="dk1"/>
                          </a:solidFill>
                          <a:effectLst/>
                          <a:latin typeface="Helvetica" panose="020B0604020202020204" pitchFamily="34" charset="0"/>
                          <a:cs typeface="Helvetica" panose="020B0604020202020204" pitchFamily="34" charset="0"/>
                        </a:rPr>
                        <a:t>Open-source tools: </a:t>
                      </a:r>
                      <a:r>
                        <a:rPr lang="en-US" sz="1600" b="0" u="sng" kern="1200" dirty="0">
                          <a:solidFill>
                            <a:schemeClr val="dk1"/>
                          </a:solidFill>
                          <a:effectLst/>
                          <a:latin typeface="Helvetica" panose="020B0604020202020204" pitchFamily="34" charset="0"/>
                          <a:cs typeface="Helvetica" panose="020B0604020202020204" pitchFamily="34" charset="0"/>
                          <a:hlinkClick r:id="rId5"/>
                        </a:rPr>
                        <a:t>Singer</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err="1">
                          <a:solidFill>
                            <a:schemeClr val="dk1"/>
                          </a:solidFill>
                          <a:effectLst/>
                          <a:latin typeface="Helvetica" panose="020B0604020202020204" pitchFamily="34" charset="0"/>
                          <a:cs typeface="Helvetica" panose="020B0604020202020204" pitchFamily="34" charset="0"/>
                          <a:hlinkClick r:id="rId6"/>
                        </a:rPr>
                        <a:t>StreamSets</a:t>
                      </a:r>
                      <a:endParaRPr lang="en-US" sz="1600" b="0" kern="1200" dirty="0">
                        <a:solidFill>
                          <a:schemeClr val="dk1"/>
                        </a:solidFill>
                        <a:effectLst/>
                        <a:latin typeface="Helvetica" panose="020B0604020202020204" pitchFamily="34" charset="0"/>
                        <a:cs typeface="Helvetica" panose="020B0604020202020204" pitchFamily="34" charset="0"/>
                      </a:endParaRPr>
                    </a:p>
                    <a:p>
                      <a:pPr marL="285750" indent="-285750" algn="just">
                        <a:lnSpc>
                          <a:spcPct val="150000"/>
                        </a:lnSpc>
                        <a:buFont typeface="Wingdings" panose="05000000000000000000" pitchFamily="2" charset="2"/>
                        <a:buChar char="§"/>
                      </a:pPr>
                      <a:r>
                        <a:rPr lang="en-US" sz="1600" b="0" kern="1200" dirty="0">
                          <a:solidFill>
                            <a:schemeClr val="dk1"/>
                          </a:solidFill>
                          <a:effectLst/>
                          <a:latin typeface="Helvetica" panose="020B0604020202020204" pitchFamily="34" charset="0"/>
                          <a:cs typeface="Helvetica" panose="020B0604020202020204" pitchFamily="34" charset="0"/>
                        </a:rPr>
                        <a:t>Custom data ingestion pipelines built on orchestration engines like </a:t>
                      </a:r>
                      <a:r>
                        <a:rPr lang="en-US" sz="1600" b="0" u="sng" kern="1200" dirty="0">
                          <a:solidFill>
                            <a:schemeClr val="dk1"/>
                          </a:solidFill>
                          <a:effectLst/>
                          <a:latin typeface="Helvetica" panose="020B0604020202020204" pitchFamily="34" charset="0"/>
                          <a:cs typeface="Helvetica" panose="020B0604020202020204" pitchFamily="34" charset="0"/>
                          <a:hlinkClick r:id="rId7"/>
                        </a:rPr>
                        <a:t>Airflow</a:t>
                      </a:r>
                      <a:endParaRPr lang="en-US" sz="1600" b="0"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7895467"/>
                  </a:ext>
                </a:extLst>
              </a:tr>
              <a:tr h="85866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kern="1200" dirty="0" smtClean="0">
                          <a:solidFill>
                            <a:schemeClr val="dk1"/>
                          </a:solidFill>
                          <a:effectLst/>
                          <a:latin typeface="Helvetica" panose="020B0604020202020204" pitchFamily="34" charset="0"/>
                          <a:cs typeface="Helvetica" panose="020B0604020202020204" pitchFamily="34" charset="0"/>
                        </a:rPr>
                        <a:t>Data Storage </a:t>
                      </a:r>
                      <a:r>
                        <a:rPr lang="en-US" sz="1600" b="1" kern="1200" dirty="0">
                          <a:solidFill>
                            <a:schemeClr val="dk1"/>
                          </a:solidFill>
                          <a:effectLst/>
                          <a:latin typeface="Helvetica" panose="020B0604020202020204" pitchFamily="34" charset="0"/>
                          <a:cs typeface="Helvetica" panose="020B0604020202020204" pitchFamily="34" charset="0"/>
                        </a:rPr>
                        <a:t>and </a:t>
                      </a:r>
                      <a:r>
                        <a:rPr lang="en-US" sz="1600" b="1" kern="1200" dirty="0" smtClean="0">
                          <a:solidFill>
                            <a:schemeClr val="dk1"/>
                          </a:solidFill>
                          <a:effectLst/>
                          <a:latin typeface="Helvetica" panose="020B0604020202020204" pitchFamily="34" charset="0"/>
                          <a:cs typeface="Helvetica" panose="020B0604020202020204" pitchFamily="34" charset="0"/>
                        </a:rPr>
                        <a:t>Processing</a:t>
                      </a:r>
                      <a:endParaRPr lang="en-US" sz="1600" b="1" kern="1200" dirty="0">
                        <a:solidFill>
                          <a:schemeClr val="dk1"/>
                        </a:solidFill>
                        <a:effectLst/>
                        <a:latin typeface="Helvetica" panose="020B0604020202020204" pitchFamily="34" charset="0"/>
                        <a:cs typeface="Helvetica" panose="020B0604020202020204" pitchFamily="34" charset="0"/>
                      </a:endParaRPr>
                    </a:p>
                    <a:p>
                      <a:pPr algn="just"/>
                      <a:endParaRPr lang="en-US" sz="1600"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lnSpc>
                          <a:spcPct val="150000"/>
                        </a:lnSpc>
                        <a:buFont typeface="Wingdings" panose="05000000000000000000" pitchFamily="2" charset="2"/>
                        <a:buChar char="§"/>
                      </a:pPr>
                      <a:r>
                        <a:rPr lang="en-US" sz="1600" b="1" kern="1200" dirty="0">
                          <a:solidFill>
                            <a:schemeClr val="dk1"/>
                          </a:solidFill>
                          <a:effectLst/>
                          <a:latin typeface="Helvetica" panose="020B0604020202020204" pitchFamily="34" charset="0"/>
                          <a:cs typeface="Helvetica" panose="020B0604020202020204" pitchFamily="34" charset="0"/>
                        </a:rPr>
                        <a:t>Data warehouses : </a:t>
                      </a:r>
                      <a:r>
                        <a:rPr lang="en-US" sz="1600" b="0" u="sng" kern="1200" dirty="0" err="1">
                          <a:solidFill>
                            <a:schemeClr val="dk1"/>
                          </a:solidFill>
                          <a:effectLst/>
                          <a:latin typeface="Helvetica" panose="020B0604020202020204" pitchFamily="34" charset="0"/>
                          <a:cs typeface="Helvetica" panose="020B0604020202020204" pitchFamily="34" charset="0"/>
                          <a:hlinkClick r:id="rId8"/>
                        </a:rPr>
                        <a:t>BigQuery</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9"/>
                        </a:rPr>
                        <a:t>Redshift</a:t>
                      </a:r>
                      <a:r>
                        <a:rPr lang="en-US" sz="1600" b="0" kern="1200" dirty="0">
                          <a:solidFill>
                            <a:schemeClr val="dk1"/>
                          </a:solidFill>
                          <a:effectLst/>
                          <a:latin typeface="Helvetica" panose="020B0604020202020204" pitchFamily="34" charset="0"/>
                          <a:cs typeface="Helvetica" panose="020B0604020202020204" pitchFamily="34" charset="0"/>
                        </a:rPr>
                        <a:t>, ,  </a:t>
                      </a:r>
                      <a:r>
                        <a:rPr lang="en-US" sz="1600" b="0" u="sng" kern="1200" dirty="0">
                          <a:solidFill>
                            <a:schemeClr val="dk1"/>
                          </a:solidFill>
                          <a:effectLst/>
                          <a:latin typeface="Helvetica" panose="020B0604020202020204" pitchFamily="34" charset="0"/>
                          <a:cs typeface="Helvetica" panose="020B0604020202020204" pitchFamily="34" charset="0"/>
                          <a:hlinkClick r:id="rId10"/>
                        </a:rPr>
                        <a:t>Snowflake</a:t>
                      </a:r>
                      <a:r>
                        <a:rPr lang="en-US" sz="1600" b="0" kern="1200" dirty="0">
                          <a:solidFill>
                            <a:schemeClr val="dk1"/>
                          </a:solidFill>
                          <a:effectLst/>
                          <a:latin typeface="Helvetica" panose="020B0604020202020204" pitchFamily="34" charset="0"/>
                          <a:cs typeface="Helvetica" panose="020B0604020202020204" pitchFamily="34" charset="0"/>
                        </a:rPr>
                        <a:t>.</a:t>
                      </a:r>
                    </a:p>
                    <a:p>
                      <a:pPr marL="285750" indent="-285750" algn="just">
                        <a:lnSpc>
                          <a:spcPct val="150000"/>
                        </a:lnSpc>
                        <a:buFont typeface="Wingdings" panose="05000000000000000000" pitchFamily="2" charset="2"/>
                        <a:buChar char="§"/>
                      </a:pPr>
                      <a:r>
                        <a:rPr lang="en-US" sz="1600" b="1" kern="1200" dirty="0">
                          <a:solidFill>
                            <a:schemeClr val="dk1"/>
                          </a:solidFill>
                          <a:effectLst/>
                          <a:latin typeface="Helvetica" panose="020B0604020202020204" pitchFamily="34" charset="0"/>
                          <a:cs typeface="Helvetica" panose="020B0604020202020204" pitchFamily="34" charset="0"/>
                        </a:rPr>
                        <a:t>Data lakes : </a:t>
                      </a:r>
                    </a:p>
                    <a:p>
                      <a:pPr marL="742950" marR="0" lvl="1"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sz="1600" b="0" kern="1200" dirty="0">
                          <a:solidFill>
                            <a:schemeClr val="dk1"/>
                          </a:solidFill>
                          <a:effectLst/>
                          <a:latin typeface="Helvetica" panose="020B0604020202020204" pitchFamily="34" charset="0"/>
                          <a:cs typeface="Helvetica" panose="020B0604020202020204" pitchFamily="34" charset="0"/>
                        </a:rPr>
                        <a:t>Data storage: </a:t>
                      </a:r>
                      <a:r>
                        <a:rPr lang="en-US" sz="1600" b="0" u="sng" kern="1200" dirty="0">
                          <a:solidFill>
                            <a:schemeClr val="dk1"/>
                          </a:solidFill>
                          <a:effectLst/>
                          <a:latin typeface="Helvetica" panose="020B0604020202020204" pitchFamily="34" charset="0"/>
                          <a:cs typeface="Helvetica" panose="020B0604020202020204" pitchFamily="34" charset="0"/>
                          <a:hlinkClick r:id="rId11"/>
                        </a:rPr>
                        <a:t>Amazon S3</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12"/>
                        </a:rPr>
                        <a:t>Azure Data Lake Storage Gen2</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13"/>
                        </a:rPr>
                        <a:t>Google Cloud Storage</a:t>
                      </a:r>
                      <a:endParaRPr lang="en-US" sz="1600" b="0" kern="1200" dirty="0">
                        <a:solidFill>
                          <a:schemeClr val="dk1"/>
                        </a:solidFill>
                        <a:effectLst/>
                        <a:latin typeface="Helvetica" panose="020B0604020202020204" pitchFamily="34" charset="0"/>
                        <a:cs typeface="Helvetica" panose="020B0604020202020204" pitchFamily="34" charset="0"/>
                      </a:endParaRPr>
                    </a:p>
                    <a:p>
                      <a:pPr marL="742950" marR="0" lvl="1"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sz="1600" b="0" kern="1200" dirty="0">
                          <a:solidFill>
                            <a:schemeClr val="dk1"/>
                          </a:solidFill>
                          <a:effectLst/>
                          <a:latin typeface="Helvetica" panose="020B0604020202020204" pitchFamily="34" charset="0"/>
                          <a:cs typeface="Helvetica" panose="020B0604020202020204" pitchFamily="34" charset="0"/>
                        </a:rPr>
                        <a:t>Data processing engines: </a:t>
                      </a:r>
                      <a:r>
                        <a:rPr lang="en-US" sz="1600" b="0" u="sng" kern="1200" dirty="0">
                          <a:solidFill>
                            <a:schemeClr val="dk1"/>
                          </a:solidFill>
                          <a:effectLst/>
                          <a:latin typeface="Helvetica" panose="020B0604020202020204" pitchFamily="34" charset="0"/>
                          <a:cs typeface="Helvetica" panose="020B0604020202020204" pitchFamily="34" charset="0"/>
                          <a:hlinkClick r:id="rId14"/>
                        </a:rPr>
                        <a:t>Databricks</a:t>
                      </a:r>
                      <a:r>
                        <a:rPr lang="en-US" sz="1600" b="0" kern="1200" dirty="0">
                          <a:solidFill>
                            <a:schemeClr val="dk1"/>
                          </a:solidFill>
                          <a:effectLst/>
                          <a:latin typeface="Helvetica" panose="020B0604020202020204" pitchFamily="34" charset="0"/>
                          <a:cs typeface="Helvetica" panose="020B0604020202020204" pitchFamily="34" charset="0"/>
                        </a:rPr>
                        <a:t> or </a:t>
                      </a:r>
                      <a:r>
                        <a:rPr lang="en-US" sz="1600" b="0" u="sng" kern="1200" dirty="0">
                          <a:solidFill>
                            <a:schemeClr val="dk1"/>
                          </a:solidFill>
                          <a:effectLst/>
                          <a:latin typeface="Helvetica" panose="020B0604020202020204" pitchFamily="34" charset="0"/>
                          <a:cs typeface="Helvetica" panose="020B0604020202020204" pitchFamily="34" charset="0"/>
                          <a:hlinkClick r:id="rId15"/>
                        </a:rPr>
                        <a:t>Spark</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16"/>
                        </a:rPr>
                        <a:t>Athena</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17"/>
                        </a:rPr>
                        <a:t>Presto</a:t>
                      </a:r>
                      <a:r>
                        <a:rPr lang="en-US" sz="1600" b="0" kern="1200" dirty="0">
                          <a:solidFill>
                            <a:schemeClr val="dk1"/>
                          </a:solidFill>
                          <a:effectLst/>
                          <a:latin typeface="Helvetica" panose="020B0604020202020204" pitchFamily="34" charset="0"/>
                          <a:cs typeface="Helvetica" panose="020B0604020202020204" pitchFamily="34" charset="0"/>
                        </a:rPr>
                        <a:t>, or </a:t>
                      </a:r>
                      <a:r>
                        <a:rPr lang="en-US" sz="1600" b="0" u="sng" kern="1200" dirty="0">
                          <a:solidFill>
                            <a:schemeClr val="dk1"/>
                          </a:solidFill>
                          <a:effectLst/>
                          <a:latin typeface="Helvetica" panose="020B0604020202020204" pitchFamily="34" charset="0"/>
                          <a:cs typeface="Helvetica" panose="020B0604020202020204" pitchFamily="34" charset="0"/>
                          <a:hlinkClick r:id="rId18"/>
                        </a:rPr>
                        <a:t>Starburst</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err="1">
                          <a:solidFill>
                            <a:schemeClr val="dk1"/>
                          </a:solidFill>
                          <a:effectLst/>
                          <a:latin typeface="Helvetica" panose="020B0604020202020204" pitchFamily="34" charset="0"/>
                          <a:cs typeface="Helvetica" panose="020B0604020202020204" pitchFamily="34" charset="0"/>
                          <a:hlinkClick r:id="rId19"/>
                        </a:rPr>
                        <a:t>Dremio</a:t>
                      </a:r>
                      <a:endParaRPr lang="en-US" sz="1600" b="0" kern="1200" dirty="0">
                        <a:solidFill>
                          <a:schemeClr val="dk1"/>
                        </a:solidFill>
                        <a:effectLst/>
                        <a:latin typeface="Helvetica" panose="020B0604020202020204" pitchFamily="34" charset="0"/>
                        <a:cs typeface="Helvetica" panose="020B0604020202020204" pitchFamily="34" charset="0"/>
                      </a:endParaRPr>
                    </a:p>
                    <a:p>
                      <a:pPr marL="742950" lvl="1" indent="-285750" algn="just">
                        <a:lnSpc>
                          <a:spcPct val="150000"/>
                        </a:lnSpc>
                        <a:buFont typeface="Wingdings" panose="05000000000000000000" pitchFamily="2" charset="2"/>
                        <a:buChar char="q"/>
                      </a:pPr>
                      <a:r>
                        <a:rPr lang="en-US" sz="1600" b="1" dirty="0">
                          <a:latin typeface="Helvetica" panose="020B0604020202020204" pitchFamily="34" charset="0"/>
                          <a:cs typeface="Helvetica" panose="020B0604020202020204" pitchFamily="34" charset="0"/>
                        </a:rPr>
                        <a:t>Data </a:t>
                      </a:r>
                      <a:r>
                        <a:rPr lang="en-US" sz="1600" b="1" dirty="0" err="1">
                          <a:latin typeface="Helvetica" panose="020B0604020202020204" pitchFamily="34" charset="0"/>
                          <a:cs typeface="Helvetica" panose="020B0604020202020204" pitchFamily="34" charset="0"/>
                        </a:rPr>
                        <a:t>LakeHouse</a:t>
                      </a:r>
                      <a:r>
                        <a:rPr lang="en-US" sz="1600" dirty="0">
                          <a:latin typeface="Helvetica" panose="020B0604020202020204" pitchFamily="34" charset="0"/>
                          <a:cs typeface="Helvetica" panose="020B0604020202020204" pitchFamily="34" charset="0"/>
                        </a:rPr>
                        <a:t>: </a:t>
                      </a:r>
                      <a:r>
                        <a:rPr lang="en-US" sz="1600" b="0" kern="1200" dirty="0">
                          <a:solidFill>
                            <a:schemeClr val="dk1"/>
                          </a:solidFill>
                          <a:effectLst/>
                          <a:latin typeface="Helvetica" panose="020B0604020202020204" pitchFamily="34" charset="0"/>
                          <a:cs typeface="Helvetica" panose="020B0604020202020204" pitchFamily="34" charset="0"/>
                        </a:rPr>
                        <a:t>Databricks, Snowflake, and Google </a:t>
                      </a:r>
                      <a:r>
                        <a:rPr lang="en-US" sz="1600" b="0" kern="1200" dirty="0" err="1">
                          <a:solidFill>
                            <a:schemeClr val="dk1"/>
                          </a:solidFill>
                          <a:effectLst/>
                          <a:latin typeface="Helvetica" panose="020B0604020202020204" pitchFamily="34" charset="0"/>
                          <a:cs typeface="Helvetica" panose="020B0604020202020204" pitchFamily="34" charset="0"/>
                        </a:rPr>
                        <a:t>BigLake</a:t>
                      </a:r>
                      <a:r>
                        <a:rPr lang="en-US" sz="1600" b="0" kern="1200" dirty="0">
                          <a:solidFill>
                            <a:schemeClr val="dk1"/>
                          </a:solidFill>
                          <a:effectLst/>
                          <a:latin typeface="Helvetica" panose="020B0604020202020204" pitchFamily="34" charset="0"/>
                          <a:cs typeface="Helvetica" panose="020B0604020202020204" pitchFamily="34" charset="0"/>
                        </a:rPr>
                        <a:t>, Delta Lake, Apache Hudi, Apache Iceberg</a:t>
                      </a:r>
                      <a:endParaRPr lang="en-US" sz="1600"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1195736"/>
                  </a:ext>
                </a:extLst>
              </a:tr>
              <a:tr h="85866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kern="1200" dirty="0" smtClean="0">
                          <a:solidFill>
                            <a:schemeClr val="dk1"/>
                          </a:solidFill>
                          <a:effectLst/>
                          <a:latin typeface="Helvetica" panose="020B0604020202020204" pitchFamily="34" charset="0"/>
                          <a:cs typeface="Helvetica" panose="020B0604020202020204" pitchFamily="34" charset="0"/>
                        </a:rPr>
                        <a:t>Data Transformation</a:t>
                      </a:r>
                      <a:endParaRPr lang="en-US" sz="1600" b="1"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lnSpc>
                          <a:spcPct val="150000"/>
                        </a:lnSpc>
                        <a:buFont typeface="Wingdings" panose="05000000000000000000" pitchFamily="2" charset="2"/>
                        <a:buChar char="§"/>
                      </a:pPr>
                      <a:r>
                        <a:rPr lang="en-US" sz="1600" b="0" kern="1200" dirty="0">
                          <a:solidFill>
                            <a:schemeClr val="dk1"/>
                          </a:solidFill>
                          <a:effectLst/>
                          <a:latin typeface="Helvetica" panose="020B0604020202020204" pitchFamily="34" charset="0"/>
                          <a:cs typeface="Helvetica" panose="020B0604020202020204" pitchFamily="34" charset="0"/>
                        </a:rPr>
                        <a:t>With data warehouses: </a:t>
                      </a:r>
                      <a:r>
                        <a:rPr lang="en-US" sz="1600" b="0" u="sng" kern="1200" dirty="0" err="1">
                          <a:solidFill>
                            <a:schemeClr val="dk1"/>
                          </a:solidFill>
                          <a:effectLst/>
                          <a:latin typeface="Helvetica" panose="020B0604020202020204" pitchFamily="34" charset="0"/>
                          <a:cs typeface="Helvetica" panose="020B0604020202020204" pitchFamily="34" charset="0"/>
                          <a:hlinkClick r:id="rId20"/>
                        </a:rPr>
                        <a:t>dbt</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err="1">
                          <a:solidFill>
                            <a:schemeClr val="dk1"/>
                          </a:solidFill>
                          <a:effectLst/>
                          <a:latin typeface="Helvetica" panose="020B0604020202020204" pitchFamily="34" charset="0"/>
                          <a:cs typeface="Helvetica" panose="020B0604020202020204" pitchFamily="34" charset="0"/>
                          <a:hlinkClick r:id="rId21"/>
                        </a:rPr>
                        <a:t>Matillion</a:t>
                      </a:r>
                      <a:endParaRPr lang="en-US" sz="1600" b="0" kern="1200" dirty="0">
                        <a:solidFill>
                          <a:schemeClr val="dk1"/>
                        </a:solidFill>
                        <a:effectLst/>
                        <a:latin typeface="Helvetica" panose="020B0604020202020204" pitchFamily="34" charset="0"/>
                        <a:cs typeface="Helvetica" panose="020B0604020202020204" pitchFamily="34" charset="0"/>
                      </a:endParaRPr>
                    </a:p>
                    <a:p>
                      <a:pPr marL="285750" indent="-285750" algn="just">
                        <a:lnSpc>
                          <a:spcPct val="150000"/>
                        </a:lnSpc>
                        <a:buFont typeface="Wingdings" panose="05000000000000000000" pitchFamily="2" charset="2"/>
                        <a:buChar char="§"/>
                      </a:pPr>
                      <a:r>
                        <a:rPr lang="en-US" sz="1600" b="0" kern="1200" dirty="0">
                          <a:solidFill>
                            <a:schemeClr val="dk1"/>
                          </a:solidFill>
                          <a:effectLst/>
                          <a:latin typeface="Helvetica" panose="020B0604020202020204" pitchFamily="34" charset="0"/>
                          <a:cs typeface="Helvetica" panose="020B0604020202020204" pitchFamily="34" charset="0"/>
                        </a:rPr>
                        <a:t>With an orchestration engine: </a:t>
                      </a:r>
                      <a:r>
                        <a:rPr lang="en-US" sz="1600" b="0" u="sng" kern="1200" dirty="0">
                          <a:solidFill>
                            <a:schemeClr val="dk1"/>
                          </a:solidFill>
                          <a:effectLst/>
                          <a:latin typeface="Helvetica" panose="020B0604020202020204" pitchFamily="34" charset="0"/>
                          <a:cs typeface="Helvetica" panose="020B0604020202020204" pitchFamily="34" charset="0"/>
                          <a:hlinkClick r:id="rId7"/>
                        </a:rPr>
                        <a:t>Apache Airflow</a:t>
                      </a:r>
                      <a:r>
                        <a:rPr lang="en-US" sz="1600" b="0" kern="1200" dirty="0">
                          <a:solidFill>
                            <a:schemeClr val="dk1"/>
                          </a:solidFill>
                          <a:effectLst/>
                          <a:latin typeface="Helvetica" panose="020B0604020202020204" pitchFamily="34" charset="0"/>
                          <a:cs typeface="Helvetica" panose="020B0604020202020204" pitchFamily="34" charset="0"/>
                        </a:rPr>
                        <a:t> + </a:t>
                      </a:r>
                      <a:r>
                        <a:rPr lang="en-US" sz="1600" b="0" u="sng" kern="1200" dirty="0">
                          <a:solidFill>
                            <a:schemeClr val="dk1"/>
                          </a:solidFill>
                          <a:effectLst/>
                          <a:latin typeface="Helvetica" panose="020B0604020202020204" pitchFamily="34" charset="0"/>
                          <a:cs typeface="Helvetica" panose="020B0604020202020204" pitchFamily="34" charset="0"/>
                          <a:hlinkClick r:id="rId22"/>
                        </a:rPr>
                        <a:t>Python</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23"/>
                        </a:rPr>
                        <a:t>R</a:t>
                      </a:r>
                      <a:r>
                        <a:rPr lang="en-US" sz="1600" b="0" kern="1200" dirty="0">
                          <a:solidFill>
                            <a:schemeClr val="dk1"/>
                          </a:solidFill>
                          <a:effectLst/>
                          <a:latin typeface="Helvetica" panose="020B0604020202020204" pitchFamily="34" charset="0"/>
                          <a:cs typeface="Helvetica" panose="020B0604020202020204" pitchFamily="34" charset="0"/>
                        </a:rPr>
                        <a:t>, or </a:t>
                      </a:r>
                      <a:r>
                        <a:rPr lang="en-US" sz="1600" b="0" u="sng" kern="1200" dirty="0">
                          <a:solidFill>
                            <a:schemeClr val="dk1"/>
                          </a:solidFill>
                          <a:effectLst/>
                          <a:latin typeface="Helvetica" panose="020B0604020202020204" pitchFamily="34" charset="0"/>
                          <a:cs typeface="Helvetica" panose="020B0604020202020204" pitchFamily="34" charset="0"/>
                          <a:hlinkClick r:id="rId24"/>
                        </a:rPr>
                        <a:t>SQL</a:t>
                      </a:r>
                      <a:endParaRPr lang="en-US" sz="1600" b="0"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854342"/>
                  </a:ext>
                </a:extLst>
              </a:tr>
              <a:tr h="85866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kern="1200" dirty="0" smtClean="0">
                          <a:solidFill>
                            <a:schemeClr val="dk1"/>
                          </a:solidFill>
                          <a:effectLst/>
                          <a:latin typeface="Helvetica" panose="020B0604020202020204" pitchFamily="34" charset="0"/>
                          <a:cs typeface="Helvetica" panose="020B0604020202020204" pitchFamily="34" charset="0"/>
                        </a:rPr>
                        <a:t>Business Intelligence &amp; Analytics</a:t>
                      </a:r>
                      <a:endParaRPr lang="en-US" sz="1600" b="1" kern="1200" dirty="0">
                        <a:solidFill>
                          <a:schemeClr val="dk1"/>
                        </a:solidFill>
                        <a:effectLst/>
                        <a:latin typeface="Helvetica" panose="020B0604020202020204" pitchFamily="34" charset="0"/>
                        <a:cs typeface="Helvetica" panose="020B0604020202020204" pitchFamily="34" charset="0"/>
                      </a:endParaRPr>
                    </a:p>
                    <a:p>
                      <a:pPr algn="just"/>
                      <a:endParaRPr lang="en-US" sz="1600"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pPr>
                      <a:r>
                        <a:rPr lang="en-US" sz="1600" b="0" u="sng" kern="1200" dirty="0">
                          <a:solidFill>
                            <a:schemeClr val="dk1"/>
                          </a:solidFill>
                          <a:effectLst/>
                          <a:latin typeface="Helvetica" panose="020B0604020202020204" pitchFamily="34" charset="0"/>
                          <a:cs typeface="Helvetica" panose="020B0604020202020204" pitchFamily="34" charset="0"/>
                          <a:hlinkClick r:id="rId25"/>
                        </a:rPr>
                        <a:t>Looker</a:t>
                      </a:r>
                      <a:r>
                        <a:rPr lang="en-US" sz="1600" b="0" kern="1200" dirty="0">
                          <a:solidFill>
                            <a:schemeClr val="dk1"/>
                          </a:solidFill>
                          <a:effectLst/>
                          <a:latin typeface="Helvetica" panose="020B0604020202020204" pitchFamily="34" charset="0"/>
                          <a:cs typeface="Helvetica" panose="020B0604020202020204" pitchFamily="34" charset="0"/>
                        </a:rPr>
                        <a:t>, Mode, </a:t>
                      </a:r>
                      <a:r>
                        <a:rPr lang="en-US" sz="1600" b="0" u="sng" kern="1200" dirty="0" err="1">
                          <a:solidFill>
                            <a:schemeClr val="dk1"/>
                          </a:solidFill>
                          <a:effectLst/>
                          <a:latin typeface="Helvetica" panose="020B0604020202020204" pitchFamily="34" charset="0"/>
                          <a:cs typeface="Helvetica" panose="020B0604020202020204" pitchFamily="34" charset="0"/>
                          <a:hlinkClick r:id="rId26"/>
                        </a:rPr>
                        <a:t>Redash</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27"/>
                        </a:rPr>
                        <a:t>Sigma</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28"/>
                        </a:rPr>
                        <a:t>Sisense</a:t>
                      </a:r>
                      <a:r>
                        <a:rPr lang="en-US" sz="1600" b="0" kern="1200" dirty="0">
                          <a:solidFill>
                            <a:schemeClr val="dk1"/>
                          </a:solidFill>
                          <a:effectLst/>
                          <a:latin typeface="Helvetica" panose="020B0604020202020204" pitchFamily="34" charset="0"/>
                          <a:cs typeface="Helvetica" panose="020B0604020202020204" pitchFamily="34" charset="0"/>
                        </a:rPr>
                        <a:t>, </a:t>
                      </a:r>
                      <a:r>
                        <a:rPr lang="en-US" sz="1600" b="0" u="sng" kern="1200" dirty="0">
                          <a:solidFill>
                            <a:schemeClr val="dk1"/>
                          </a:solidFill>
                          <a:effectLst/>
                          <a:latin typeface="Helvetica" panose="020B0604020202020204" pitchFamily="34" charset="0"/>
                          <a:cs typeface="Helvetica" panose="020B0604020202020204" pitchFamily="34" charset="0"/>
                          <a:hlinkClick r:id="rId29"/>
                        </a:rPr>
                        <a:t>Superset</a:t>
                      </a:r>
                      <a:r>
                        <a:rPr lang="en-US" sz="1600" b="0" kern="1200" dirty="0">
                          <a:solidFill>
                            <a:schemeClr val="dk1"/>
                          </a:solidFill>
                          <a:effectLst/>
                          <a:latin typeface="Helvetica" panose="020B0604020202020204" pitchFamily="34" charset="0"/>
                          <a:cs typeface="Helvetica" panose="020B0604020202020204" pitchFamily="34" charset="0"/>
                        </a:rPr>
                        <a:t>, and </a:t>
                      </a:r>
                      <a:r>
                        <a:rPr lang="en-US" sz="1600" b="0" u="sng" kern="1200" dirty="0">
                          <a:solidFill>
                            <a:schemeClr val="dk1"/>
                          </a:solidFill>
                          <a:effectLst/>
                          <a:latin typeface="Helvetica" panose="020B0604020202020204" pitchFamily="34" charset="0"/>
                          <a:cs typeface="Helvetica" panose="020B0604020202020204" pitchFamily="34" charset="0"/>
                          <a:hlinkClick r:id="rId30"/>
                        </a:rPr>
                        <a:t>Tableau</a:t>
                      </a:r>
                      <a:r>
                        <a:rPr lang="en-US" sz="1600" b="0" kern="1200" dirty="0">
                          <a:solidFill>
                            <a:schemeClr val="dk1"/>
                          </a:solidFill>
                          <a:effectLst/>
                          <a:latin typeface="Helvetica" panose="020B0604020202020204" pitchFamily="34" charset="0"/>
                          <a:cs typeface="Helvetica" panose="020B0604020202020204" pitchFamily="34" charset="0"/>
                        </a:rPr>
                        <a:t>.</a:t>
                      </a:r>
                      <a:endParaRPr lang="en-US" sz="1600"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3604873"/>
                  </a:ext>
                </a:extLst>
              </a:tr>
            </a:tbl>
          </a:graphicData>
        </a:graphic>
      </p:graphicFrame>
    </p:spTree>
    <p:extLst>
      <p:ext uri="{BB962C8B-B14F-4D97-AF65-F5344CB8AC3E}">
        <p14:creationId xmlns:p14="http://schemas.microsoft.com/office/powerpoint/2010/main" val="326769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FC6B3-6329-AE6B-7E61-999862646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E0B3B9-0211-F984-A46D-9509986E5553}"/>
              </a:ext>
            </a:extLst>
          </p:cNvPr>
          <p:cNvSpPr>
            <a:spLocks noGrp="1"/>
          </p:cNvSpPr>
          <p:nvPr>
            <p:ph type="title"/>
          </p:nvPr>
        </p:nvSpPr>
        <p:spPr/>
        <p:txBody>
          <a:bodyPr/>
          <a:lstStyle/>
          <a:p>
            <a:r>
              <a:rPr lang="en-US" dirty="0"/>
              <a:t>Modern data tools – Summary - </a:t>
            </a:r>
            <a:r>
              <a:rPr lang="en-US" dirty="0" err="1"/>
              <a:t>Contd</a:t>
            </a:r>
            <a:endParaRPr lang="en-US" dirty="0"/>
          </a:p>
        </p:txBody>
      </p:sp>
      <p:graphicFrame>
        <p:nvGraphicFramePr>
          <p:cNvPr id="5" name="Table 4">
            <a:extLst>
              <a:ext uri="{FF2B5EF4-FFF2-40B4-BE49-F238E27FC236}">
                <a16:creationId xmlns:a16="http://schemas.microsoft.com/office/drawing/2014/main" id="{93E46C60-B38D-8383-64EB-274F3C32943E}"/>
              </a:ext>
            </a:extLst>
          </p:cNvPr>
          <p:cNvGraphicFramePr>
            <a:graphicFrameLocks noGrp="1"/>
          </p:cNvGraphicFramePr>
          <p:nvPr>
            <p:extLst>
              <p:ext uri="{D42A27DB-BD31-4B8C-83A1-F6EECF244321}">
                <p14:modId xmlns:p14="http://schemas.microsoft.com/office/powerpoint/2010/main" val="3336283988"/>
              </p:ext>
            </p:extLst>
          </p:nvPr>
        </p:nvGraphicFramePr>
        <p:xfrm>
          <a:off x="0" y="960792"/>
          <a:ext cx="12192000" cy="2606040"/>
        </p:xfrm>
        <a:graphic>
          <a:graphicData uri="http://schemas.openxmlformats.org/drawingml/2006/table">
            <a:tbl>
              <a:tblPr firstRow="1" bandRow="1">
                <a:tableStyleId>{F2DE63D5-997A-4646-A377-4702673A728D}</a:tableStyleId>
              </a:tblPr>
              <a:tblGrid>
                <a:gridCol w="3585882">
                  <a:extLst>
                    <a:ext uri="{9D8B030D-6E8A-4147-A177-3AD203B41FA5}">
                      <a16:colId xmlns:a16="http://schemas.microsoft.com/office/drawing/2014/main" val="1494684843"/>
                    </a:ext>
                  </a:extLst>
                </a:gridCol>
                <a:gridCol w="8606118">
                  <a:extLst>
                    <a:ext uri="{9D8B030D-6E8A-4147-A177-3AD203B41FA5}">
                      <a16:colId xmlns:a16="http://schemas.microsoft.com/office/drawing/2014/main" val="1600393626"/>
                    </a:ext>
                  </a:extLst>
                </a:gridCol>
              </a:tblGrid>
              <a:tr h="351416">
                <a:tc>
                  <a:txBody>
                    <a:bodyPr/>
                    <a:lstStyle/>
                    <a:p>
                      <a:pPr algn="ctr"/>
                      <a:r>
                        <a:rPr lang="en-US" dirty="0">
                          <a:solidFill>
                            <a:srgbClr val="FF0000"/>
                          </a:solidFill>
                        </a:rPr>
                        <a:t>Component</a:t>
                      </a:r>
                      <a:endParaRPr lang="en-US" dirty="0">
                        <a:solidFill>
                          <a:srgbClr val="FF0000"/>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Tools</a:t>
                      </a:r>
                      <a:endParaRPr lang="en-US" dirty="0">
                        <a:solidFill>
                          <a:srgbClr val="FF0000"/>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812222"/>
                  </a:ext>
                </a:extLst>
              </a:tr>
              <a:tr h="85866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800" b="1" kern="1200" dirty="0" smtClean="0">
                          <a:solidFill>
                            <a:schemeClr val="dk1"/>
                          </a:solidFill>
                          <a:effectLst/>
                        </a:rPr>
                        <a:t>Data </a:t>
                      </a:r>
                      <a:r>
                        <a:rPr lang="en-US" sz="1800" b="1" kern="1200" dirty="0">
                          <a:solidFill>
                            <a:schemeClr val="dk1"/>
                          </a:solidFill>
                          <a:effectLst/>
                        </a:rPr>
                        <a:t>catalogs and governance</a:t>
                      </a:r>
                    </a:p>
                    <a:p>
                      <a:pPr>
                        <a:lnSpc>
                          <a:spcPct val="150000"/>
                        </a:lnSpc>
                      </a:pP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nSpc>
                          <a:spcPct val="150000"/>
                        </a:lnSpc>
                        <a:buFont typeface="Wingdings" panose="05000000000000000000" pitchFamily="2" charset="2"/>
                        <a:buChar char="§"/>
                      </a:pPr>
                      <a:r>
                        <a:rPr lang="en-US" sz="1800" b="0" kern="1200" dirty="0">
                          <a:solidFill>
                            <a:schemeClr val="dk1"/>
                          </a:solidFill>
                          <a:effectLst/>
                        </a:rPr>
                        <a:t>SAAS tools: </a:t>
                      </a:r>
                      <a:r>
                        <a:rPr lang="en-US" sz="1800" b="0" u="sng" kern="1200" dirty="0">
                          <a:solidFill>
                            <a:schemeClr val="dk1"/>
                          </a:solidFill>
                          <a:effectLst/>
                          <a:hlinkClick r:id="rId2"/>
                        </a:rPr>
                        <a:t>Atlan</a:t>
                      </a:r>
                      <a:endParaRPr lang="en-US" sz="1800" b="0" kern="1200" dirty="0">
                        <a:solidFill>
                          <a:schemeClr val="dk1"/>
                        </a:solidFill>
                        <a:effectLst/>
                      </a:endParaRPr>
                    </a:p>
                    <a:p>
                      <a:pPr marL="285750" indent="-285750">
                        <a:lnSpc>
                          <a:spcPct val="150000"/>
                        </a:lnSpc>
                        <a:buFont typeface="Wingdings" panose="05000000000000000000" pitchFamily="2" charset="2"/>
                        <a:buChar char="§"/>
                      </a:pPr>
                      <a:r>
                        <a:rPr lang="en-US" sz="1800" b="0" kern="1200" dirty="0">
                          <a:solidFill>
                            <a:schemeClr val="dk1"/>
                          </a:solidFill>
                          <a:effectLst/>
                        </a:rPr>
                        <a:t>Open-source tools: Apache </a:t>
                      </a:r>
                      <a:r>
                        <a:rPr lang="en-US" sz="1800" b="0" u="sng" kern="1200" dirty="0">
                          <a:solidFill>
                            <a:schemeClr val="dk1"/>
                          </a:solidFill>
                          <a:effectLst/>
                          <a:hlinkClick r:id="rId3"/>
                        </a:rPr>
                        <a:t>Atlas</a:t>
                      </a:r>
                      <a:r>
                        <a:rPr lang="en-US" sz="1800" b="0" kern="1200" dirty="0">
                          <a:solidFill>
                            <a:schemeClr val="dk1"/>
                          </a:solidFill>
                          <a:effectLst/>
                        </a:rPr>
                        <a:t>, LinkedIn’s</a:t>
                      </a:r>
                      <a:r>
                        <a:rPr lang="en-US" sz="1800" b="0" u="sng" kern="1200" dirty="0">
                          <a:solidFill>
                            <a:schemeClr val="dk1"/>
                          </a:solidFill>
                          <a:effectLst/>
                          <a:hlinkClick r:id="rId4"/>
                        </a:rPr>
                        <a:t> </a:t>
                      </a:r>
                      <a:r>
                        <a:rPr lang="en-US" sz="1800" b="0" u="sng" kern="1200" dirty="0" err="1">
                          <a:solidFill>
                            <a:schemeClr val="dk1"/>
                          </a:solidFill>
                          <a:effectLst/>
                          <a:hlinkClick r:id="rId4"/>
                        </a:rPr>
                        <a:t>DataHub</a:t>
                      </a:r>
                      <a:r>
                        <a:rPr lang="en-US" sz="1800" b="0" kern="1200" dirty="0">
                          <a:solidFill>
                            <a:schemeClr val="dk1"/>
                          </a:solidFill>
                          <a:effectLst/>
                        </a:rPr>
                        <a:t>, Lyft’s</a:t>
                      </a:r>
                      <a:r>
                        <a:rPr lang="en-US" sz="1800" b="0" u="sng" kern="1200" dirty="0">
                          <a:solidFill>
                            <a:schemeClr val="dk1"/>
                          </a:solidFill>
                          <a:effectLst/>
                          <a:hlinkClick r:id="rId5"/>
                        </a:rPr>
                        <a:t> Amundsen</a:t>
                      </a:r>
                      <a:endParaRPr lang="en-US" sz="1800" b="0" kern="1200" dirty="0">
                        <a:solidFill>
                          <a:schemeClr val="dk1"/>
                        </a:solidFill>
                        <a:effectLst/>
                      </a:endParaRPr>
                    </a:p>
                    <a:p>
                      <a:pPr marL="285750" indent="-285750">
                        <a:lnSpc>
                          <a:spcPct val="150000"/>
                        </a:lnSpc>
                        <a:buFont typeface="Wingdings" panose="05000000000000000000" pitchFamily="2" charset="2"/>
                        <a:buChar char="§"/>
                      </a:pPr>
                      <a:r>
                        <a:rPr lang="en-US" sz="1800" b="0" kern="1200" dirty="0">
                          <a:solidFill>
                            <a:schemeClr val="dk1"/>
                          </a:solidFill>
                          <a:effectLst/>
                        </a:rPr>
                        <a:t>In-house tools: Airbnb’s</a:t>
                      </a:r>
                      <a:r>
                        <a:rPr lang="en-US" sz="1800" b="0" u="sng" kern="1200" dirty="0">
                          <a:solidFill>
                            <a:schemeClr val="dk1"/>
                          </a:solidFill>
                          <a:effectLst/>
                          <a:hlinkClick r:id="rId6"/>
                        </a:rPr>
                        <a:t> </a:t>
                      </a:r>
                      <a:r>
                        <a:rPr lang="en-US" sz="1800" b="0" u="sng" kern="1200" dirty="0" err="1">
                          <a:solidFill>
                            <a:schemeClr val="dk1"/>
                          </a:solidFill>
                          <a:effectLst/>
                          <a:hlinkClick r:id="rId6"/>
                        </a:rPr>
                        <a:t>Dataportal</a:t>
                      </a:r>
                      <a:r>
                        <a:rPr lang="en-US" sz="1800" b="0" kern="1200" dirty="0">
                          <a:solidFill>
                            <a:schemeClr val="dk1"/>
                          </a:solidFill>
                          <a:effectLst/>
                        </a:rPr>
                        <a:t>, Facebook’s</a:t>
                      </a:r>
                      <a:r>
                        <a:rPr lang="en-US" sz="1800" b="0" u="sng" kern="1200" dirty="0">
                          <a:solidFill>
                            <a:schemeClr val="dk1"/>
                          </a:solidFill>
                          <a:effectLst/>
                          <a:hlinkClick r:id="rId7"/>
                        </a:rPr>
                        <a:t> Nemo</a:t>
                      </a:r>
                      <a:r>
                        <a:rPr lang="en-US" sz="1800" b="0" kern="1200" dirty="0">
                          <a:solidFill>
                            <a:schemeClr val="dk1"/>
                          </a:solidFill>
                          <a:effectLst/>
                        </a:rPr>
                        <a:t>, Uber’s</a:t>
                      </a:r>
                      <a:r>
                        <a:rPr lang="en-US" sz="1800" b="0" u="sng" kern="1200" dirty="0">
                          <a:solidFill>
                            <a:schemeClr val="dk1"/>
                          </a:solidFill>
                          <a:effectLst/>
                          <a:hlinkClick r:id="rId8"/>
                        </a:rPr>
                        <a:t> Databook</a:t>
                      </a:r>
                      <a:endParaRPr lang="en-US" sz="1800" b="0"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658312"/>
                  </a:ext>
                </a:extLst>
              </a:tr>
              <a:tr h="85866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800" b="1" kern="1200" dirty="0" smtClean="0">
                          <a:solidFill>
                            <a:schemeClr val="dk1"/>
                          </a:solidFill>
                          <a:effectLst/>
                        </a:rPr>
                        <a:t>Data </a:t>
                      </a:r>
                      <a:r>
                        <a:rPr lang="en-US" sz="1800" b="1" kern="1200" dirty="0">
                          <a:solidFill>
                            <a:schemeClr val="dk1"/>
                          </a:solidFill>
                          <a:effectLst/>
                        </a:rPr>
                        <a:t>privacy and access governance</a:t>
                      </a:r>
                    </a:p>
                    <a:p>
                      <a:pPr>
                        <a:lnSpc>
                          <a:spcPct val="150000"/>
                        </a:lnSpc>
                      </a:pP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nSpc>
                          <a:spcPct val="150000"/>
                        </a:lnSpc>
                        <a:buFont typeface="Wingdings" panose="05000000000000000000" pitchFamily="2" charset="2"/>
                        <a:buChar char="§"/>
                      </a:pPr>
                      <a:r>
                        <a:rPr lang="en-US" sz="1800" b="0" kern="1200" dirty="0">
                          <a:solidFill>
                            <a:schemeClr val="dk1"/>
                          </a:solidFill>
                          <a:effectLst/>
                        </a:rPr>
                        <a:t>SAAS services: </a:t>
                      </a:r>
                      <a:r>
                        <a:rPr lang="en-US" sz="1800" b="0" u="sng" kern="1200" dirty="0" err="1">
                          <a:solidFill>
                            <a:schemeClr val="dk1"/>
                          </a:solidFill>
                          <a:effectLst/>
                          <a:hlinkClick r:id="rId9"/>
                        </a:rPr>
                        <a:t>Immuta</a:t>
                      </a:r>
                      <a:r>
                        <a:rPr lang="en-US" sz="1800" b="0" kern="1200" dirty="0">
                          <a:solidFill>
                            <a:schemeClr val="dk1"/>
                          </a:solidFill>
                          <a:effectLst/>
                        </a:rPr>
                        <a:t>, </a:t>
                      </a:r>
                      <a:r>
                        <a:rPr lang="en-US" sz="1800" b="0" u="sng" kern="1200" dirty="0" err="1">
                          <a:solidFill>
                            <a:schemeClr val="dk1"/>
                          </a:solidFill>
                          <a:effectLst/>
                          <a:hlinkClick r:id="rId10"/>
                        </a:rPr>
                        <a:t>Okera</a:t>
                      </a:r>
                      <a:r>
                        <a:rPr lang="en-US" sz="1800" b="0" kern="1200" dirty="0">
                          <a:solidFill>
                            <a:schemeClr val="dk1"/>
                          </a:solidFill>
                          <a:effectLst/>
                        </a:rPr>
                        <a:t>, </a:t>
                      </a:r>
                      <a:r>
                        <a:rPr lang="en-US" sz="1800" b="0" u="sng" kern="1200" dirty="0" err="1">
                          <a:solidFill>
                            <a:schemeClr val="dk1"/>
                          </a:solidFill>
                          <a:effectLst/>
                          <a:hlinkClick r:id="rId11"/>
                        </a:rPr>
                        <a:t>Privacera</a:t>
                      </a:r>
                      <a:endParaRPr lang="en-US" sz="1800" b="0" kern="1200" dirty="0">
                        <a:solidFill>
                          <a:schemeClr val="dk1"/>
                        </a:solidFill>
                        <a:effectLst/>
                      </a:endParaRPr>
                    </a:p>
                    <a:p>
                      <a:pPr marL="285750" indent="-285750">
                        <a:lnSpc>
                          <a:spcPct val="150000"/>
                        </a:lnSpc>
                        <a:buFont typeface="Wingdings" panose="05000000000000000000" pitchFamily="2" charset="2"/>
                        <a:buChar char="§"/>
                      </a:pPr>
                      <a:r>
                        <a:rPr lang="en-US" sz="1800" b="0" kern="1200" dirty="0">
                          <a:solidFill>
                            <a:schemeClr val="dk1"/>
                          </a:solidFill>
                          <a:effectLst/>
                        </a:rPr>
                        <a:t>Open-source engines: </a:t>
                      </a:r>
                      <a:r>
                        <a:rPr lang="en-US" sz="1800" b="0" u="sng" kern="1200" dirty="0">
                          <a:solidFill>
                            <a:schemeClr val="dk1"/>
                          </a:solidFill>
                          <a:effectLst/>
                          <a:hlinkClick r:id="rId12"/>
                        </a:rPr>
                        <a:t>Apache Ranger</a:t>
                      </a:r>
                      <a:endParaRPr lang="en-US" sz="1800" b="0"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3964800"/>
                  </a:ext>
                </a:extLst>
              </a:tr>
            </a:tbl>
          </a:graphicData>
        </a:graphic>
      </p:graphicFrame>
    </p:spTree>
    <p:extLst>
      <p:ext uri="{BB962C8B-B14F-4D97-AF65-F5344CB8AC3E}">
        <p14:creationId xmlns:p14="http://schemas.microsoft.com/office/powerpoint/2010/main" val="186264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175CD-5AF3-29C8-F768-8762F7FDA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DC50D-894A-7420-2D85-3E34BC5A0C67}"/>
              </a:ext>
            </a:extLst>
          </p:cNvPr>
          <p:cNvSpPr>
            <a:spLocks noGrp="1"/>
          </p:cNvSpPr>
          <p:nvPr>
            <p:ph type="title"/>
          </p:nvPr>
        </p:nvSpPr>
        <p:spPr/>
        <p:txBody>
          <a:bodyPr/>
          <a:lstStyle/>
          <a:p>
            <a:r>
              <a:rPr lang="en-US" dirty="0"/>
              <a:t>Modern data tools – Summary - </a:t>
            </a:r>
            <a:r>
              <a:rPr lang="en-US" dirty="0" err="1"/>
              <a:t>contd</a:t>
            </a:r>
            <a:endParaRPr lang="en-US" dirty="0"/>
          </a:p>
        </p:txBody>
      </p:sp>
      <p:graphicFrame>
        <p:nvGraphicFramePr>
          <p:cNvPr id="5" name="Table 4">
            <a:extLst>
              <a:ext uri="{FF2B5EF4-FFF2-40B4-BE49-F238E27FC236}">
                <a16:creationId xmlns:a16="http://schemas.microsoft.com/office/drawing/2014/main" id="{AFB63F13-BAEE-5292-B564-EF40433D72A9}"/>
              </a:ext>
            </a:extLst>
          </p:cNvPr>
          <p:cNvGraphicFramePr>
            <a:graphicFrameLocks noGrp="1"/>
          </p:cNvGraphicFramePr>
          <p:nvPr>
            <p:extLst>
              <p:ext uri="{D42A27DB-BD31-4B8C-83A1-F6EECF244321}">
                <p14:modId xmlns:p14="http://schemas.microsoft.com/office/powerpoint/2010/main" val="1746421663"/>
              </p:ext>
            </p:extLst>
          </p:nvPr>
        </p:nvGraphicFramePr>
        <p:xfrm>
          <a:off x="0" y="960792"/>
          <a:ext cx="12192000" cy="4384040"/>
        </p:xfrm>
        <a:graphic>
          <a:graphicData uri="http://schemas.openxmlformats.org/drawingml/2006/table">
            <a:tbl>
              <a:tblPr firstRow="1" bandRow="1">
                <a:tableStyleId>{F2DE63D5-997A-4646-A377-4702673A728D}</a:tableStyleId>
              </a:tblPr>
              <a:tblGrid>
                <a:gridCol w="3585882">
                  <a:extLst>
                    <a:ext uri="{9D8B030D-6E8A-4147-A177-3AD203B41FA5}">
                      <a16:colId xmlns:a16="http://schemas.microsoft.com/office/drawing/2014/main" val="1494684843"/>
                    </a:ext>
                  </a:extLst>
                </a:gridCol>
                <a:gridCol w="8606118">
                  <a:extLst>
                    <a:ext uri="{9D8B030D-6E8A-4147-A177-3AD203B41FA5}">
                      <a16:colId xmlns:a16="http://schemas.microsoft.com/office/drawing/2014/main" val="1600393626"/>
                    </a:ext>
                  </a:extLst>
                </a:gridCol>
              </a:tblGrid>
              <a:tr h="351416">
                <a:tc>
                  <a:txBody>
                    <a:bodyPr/>
                    <a:lstStyle/>
                    <a:p>
                      <a:pPr algn="ctr"/>
                      <a:r>
                        <a:rPr lang="en-US" dirty="0">
                          <a:solidFill>
                            <a:srgbClr val="FF0000"/>
                          </a:solidFill>
                        </a:rPr>
                        <a:t>Component</a:t>
                      </a:r>
                      <a:endParaRPr lang="en-US" dirty="0">
                        <a:solidFill>
                          <a:srgbClr val="FF0000"/>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Tools</a:t>
                      </a:r>
                      <a:endParaRPr lang="en-US" dirty="0">
                        <a:solidFill>
                          <a:srgbClr val="FF0000"/>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812222"/>
                  </a:ext>
                </a:extLst>
              </a:tr>
              <a:tr h="85866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800" b="1" kern="1200" dirty="0">
                          <a:solidFill>
                            <a:schemeClr val="dk1"/>
                          </a:solidFill>
                          <a:effectLst/>
                        </a:rPr>
                        <a:t>Real-time </a:t>
                      </a:r>
                      <a:r>
                        <a:rPr lang="en-US" sz="1800" b="1" kern="1200" dirty="0" smtClean="0">
                          <a:solidFill>
                            <a:schemeClr val="dk1"/>
                          </a:solidFill>
                          <a:effectLst/>
                        </a:rPr>
                        <a:t>Data Processing</a:t>
                      </a:r>
                      <a:endParaRPr lang="en-US" sz="1800" b="1" kern="1200" dirty="0">
                        <a:solidFill>
                          <a:schemeClr val="dk1"/>
                        </a:solidFill>
                        <a:effectLst/>
                      </a:endParaRPr>
                    </a:p>
                    <a:p>
                      <a:pPr>
                        <a:lnSpc>
                          <a:spcPct val="150000"/>
                        </a:lnSpc>
                      </a:pP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nSpc>
                          <a:spcPct val="150000"/>
                        </a:lnSpc>
                        <a:buFont typeface="Wingdings" panose="05000000000000000000" pitchFamily="2" charset="2"/>
                        <a:buChar char="§"/>
                      </a:pPr>
                      <a:r>
                        <a:rPr lang="en-US" sz="1800" b="0" kern="1200" dirty="0">
                          <a:solidFill>
                            <a:schemeClr val="dk1"/>
                          </a:solidFill>
                          <a:effectLst/>
                        </a:rPr>
                        <a:t>Real-time streaming pipelines: </a:t>
                      </a:r>
                      <a:r>
                        <a:rPr lang="en-US" sz="1800" b="0" u="sng" kern="1200" dirty="0">
                          <a:solidFill>
                            <a:schemeClr val="dk1"/>
                          </a:solidFill>
                          <a:effectLst/>
                          <a:hlinkClick r:id="rId2"/>
                        </a:rPr>
                        <a:t>Confluent</a:t>
                      </a:r>
                      <a:r>
                        <a:rPr lang="en-US" sz="1800" b="0" kern="1200" dirty="0">
                          <a:solidFill>
                            <a:schemeClr val="dk1"/>
                          </a:solidFill>
                          <a:effectLst/>
                        </a:rPr>
                        <a:t>, </a:t>
                      </a:r>
                      <a:r>
                        <a:rPr lang="en-US" sz="1800" b="0" u="sng" kern="1200" dirty="0">
                          <a:solidFill>
                            <a:schemeClr val="dk1"/>
                          </a:solidFill>
                          <a:effectLst/>
                          <a:hlinkClick r:id="rId3"/>
                        </a:rPr>
                        <a:t>Kafka</a:t>
                      </a:r>
                      <a:endParaRPr lang="en-US" sz="1800" b="0" kern="1200" dirty="0">
                        <a:solidFill>
                          <a:schemeClr val="dk1"/>
                        </a:solidFill>
                        <a:effectLst/>
                      </a:endParaRPr>
                    </a:p>
                    <a:p>
                      <a:pPr marL="285750" indent="-285750">
                        <a:lnSpc>
                          <a:spcPct val="150000"/>
                        </a:lnSpc>
                        <a:buFont typeface="Wingdings" panose="05000000000000000000" pitchFamily="2" charset="2"/>
                        <a:buChar char="§"/>
                      </a:pPr>
                      <a:r>
                        <a:rPr lang="en-US" sz="1800" b="0" kern="1200" dirty="0">
                          <a:solidFill>
                            <a:schemeClr val="dk1"/>
                          </a:solidFill>
                          <a:effectLst/>
                        </a:rPr>
                        <a:t>Real-time analytics: </a:t>
                      </a:r>
                      <a:r>
                        <a:rPr lang="en-US" sz="1800" b="0" u="sng" kern="1200" dirty="0">
                          <a:solidFill>
                            <a:schemeClr val="dk1"/>
                          </a:solidFill>
                          <a:effectLst/>
                          <a:hlinkClick r:id="rId4"/>
                        </a:rPr>
                        <a:t>Druid</a:t>
                      </a:r>
                      <a:r>
                        <a:rPr lang="en-US" sz="1800" b="0" kern="1200" dirty="0">
                          <a:solidFill>
                            <a:schemeClr val="dk1"/>
                          </a:solidFill>
                          <a:effectLst/>
                        </a:rPr>
                        <a:t>, </a:t>
                      </a:r>
                      <a:r>
                        <a:rPr lang="en-US" sz="1800" b="0" u="sng" kern="1200" dirty="0">
                          <a:solidFill>
                            <a:schemeClr val="dk1"/>
                          </a:solidFill>
                          <a:effectLst/>
                          <a:hlinkClick r:id="rId5"/>
                        </a:rPr>
                        <a:t>Imply</a:t>
                      </a:r>
                      <a:endParaRPr lang="en-US" sz="1800" b="0"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659769"/>
                  </a:ext>
                </a:extLst>
              </a:tr>
              <a:tr h="85866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800" b="1" kern="1200" dirty="0">
                          <a:solidFill>
                            <a:schemeClr val="dk1"/>
                          </a:solidFill>
                          <a:effectLst/>
                        </a:rPr>
                        <a:t>Data </a:t>
                      </a:r>
                      <a:r>
                        <a:rPr lang="en-US" sz="1800" b="1" kern="1200" dirty="0" smtClean="0">
                          <a:solidFill>
                            <a:schemeClr val="dk1"/>
                          </a:solidFill>
                          <a:effectLst/>
                        </a:rPr>
                        <a:t>Science</a:t>
                      </a:r>
                      <a:endParaRPr lang="en-US" sz="1800" b="1" kern="1200" dirty="0">
                        <a:solidFill>
                          <a:schemeClr val="dk1"/>
                        </a:solidFill>
                        <a:effectLst/>
                      </a:endParaRPr>
                    </a:p>
                    <a:p>
                      <a:pPr>
                        <a:lnSpc>
                          <a:spcPct val="150000"/>
                        </a:lnSpc>
                      </a:pP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nSpc>
                          <a:spcPct val="150000"/>
                        </a:lnSpc>
                        <a:buFont typeface="Wingdings" panose="05000000000000000000" pitchFamily="2" charset="2"/>
                        <a:buChar char="§"/>
                      </a:pPr>
                      <a:r>
                        <a:rPr lang="en-US" sz="1800" b="0" kern="1200" dirty="0">
                          <a:solidFill>
                            <a:schemeClr val="dk1"/>
                          </a:solidFill>
                          <a:effectLst/>
                        </a:rPr>
                        <a:t>Preferred by data scientists: </a:t>
                      </a:r>
                      <a:r>
                        <a:rPr lang="en-US" sz="1800" b="0" u="sng" kern="1200" dirty="0" err="1">
                          <a:solidFill>
                            <a:schemeClr val="dk1"/>
                          </a:solidFill>
                          <a:effectLst/>
                          <a:hlinkClick r:id="rId6"/>
                        </a:rPr>
                        <a:t>Jupyter</a:t>
                      </a:r>
                      <a:r>
                        <a:rPr lang="en-US" sz="1800" b="0" u="sng" kern="1200" dirty="0">
                          <a:solidFill>
                            <a:schemeClr val="dk1"/>
                          </a:solidFill>
                          <a:effectLst/>
                          <a:hlinkClick r:id="rId6"/>
                        </a:rPr>
                        <a:t> Notebooks</a:t>
                      </a:r>
                      <a:endParaRPr lang="en-US" sz="1800" b="0" kern="1200" dirty="0">
                        <a:solidFill>
                          <a:schemeClr val="dk1"/>
                        </a:solidFill>
                        <a:effectLst/>
                      </a:endParaRPr>
                    </a:p>
                    <a:p>
                      <a:pPr marL="285750" indent="-285750">
                        <a:lnSpc>
                          <a:spcPct val="150000"/>
                        </a:lnSpc>
                        <a:buFont typeface="Wingdings" panose="05000000000000000000" pitchFamily="2" charset="2"/>
                        <a:buChar char="§"/>
                      </a:pPr>
                      <a:r>
                        <a:rPr lang="en-US" sz="1800" b="0" kern="1200" dirty="0">
                          <a:solidFill>
                            <a:schemeClr val="dk1"/>
                          </a:solidFill>
                          <a:effectLst/>
                        </a:rPr>
                        <a:t>Other options: </a:t>
                      </a:r>
                      <a:r>
                        <a:rPr lang="en-US" sz="1800" b="0" u="sng" kern="1200" dirty="0">
                          <a:solidFill>
                            <a:schemeClr val="dk1"/>
                          </a:solidFill>
                          <a:effectLst/>
                          <a:hlinkClick r:id="rId7"/>
                        </a:rPr>
                        <a:t>Dataiku</a:t>
                      </a:r>
                      <a:r>
                        <a:rPr lang="en-US" sz="1800" b="0" kern="1200" dirty="0">
                          <a:solidFill>
                            <a:schemeClr val="dk1"/>
                          </a:solidFill>
                          <a:effectLst/>
                        </a:rPr>
                        <a:t>, </a:t>
                      </a:r>
                      <a:r>
                        <a:rPr lang="en-US" sz="1800" b="0" u="sng" kern="1200" dirty="0" err="1">
                          <a:solidFill>
                            <a:schemeClr val="dk1"/>
                          </a:solidFill>
                          <a:effectLst/>
                          <a:hlinkClick r:id="rId8"/>
                        </a:rPr>
                        <a:t>DataRobot</a:t>
                      </a:r>
                      <a:r>
                        <a:rPr lang="en-US" sz="1800" b="0" kern="1200" dirty="0">
                          <a:solidFill>
                            <a:schemeClr val="dk1"/>
                          </a:solidFill>
                          <a:effectLst/>
                        </a:rPr>
                        <a:t>, </a:t>
                      </a:r>
                      <a:r>
                        <a:rPr lang="en-US" sz="1800" b="0" u="sng" kern="1200" dirty="0">
                          <a:solidFill>
                            <a:schemeClr val="dk1"/>
                          </a:solidFill>
                          <a:effectLst/>
                          <a:hlinkClick r:id="rId9"/>
                        </a:rPr>
                        <a:t>Domino</a:t>
                      </a:r>
                      <a:r>
                        <a:rPr lang="en-US" sz="1800" b="0" kern="1200" dirty="0">
                          <a:solidFill>
                            <a:schemeClr val="dk1"/>
                          </a:solidFill>
                          <a:effectLst/>
                        </a:rPr>
                        <a:t>, </a:t>
                      </a:r>
                      <a:r>
                        <a:rPr lang="en-US" sz="1800" b="0" u="sng" kern="1200" dirty="0">
                          <a:solidFill>
                            <a:schemeClr val="dk1"/>
                          </a:solidFill>
                          <a:effectLst/>
                          <a:hlinkClick r:id="rId10"/>
                        </a:rPr>
                        <a:t>SageMaker</a:t>
                      </a:r>
                      <a:endParaRPr lang="en-US" sz="1800" b="0"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2628784"/>
                  </a:ext>
                </a:extLst>
              </a:tr>
              <a:tr h="85866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800" b="1" kern="1200" dirty="0">
                          <a:solidFill>
                            <a:schemeClr val="dk1"/>
                          </a:solidFill>
                          <a:effectLst/>
                        </a:rPr>
                        <a:t>Event </a:t>
                      </a:r>
                      <a:r>
                        <a:rPr lang="en-US" sz="1800" b="1" kern="1200" dirty="0" smtClean="0">
                          <a:solidFill>
                            <a:schemeClr val="dk1"/>
                          </a:solidFill>
                          <a:effectLst/>
                        </a:rPr>
                        <a:t>Collectors</a:t>
                      </a:r>
                      <a:endParaRPr lang="en-US" sz="1800" b="1" kern="1200" dirty="0">
                        <a:solidFill>
                          <a:schemeClr val="dk1"/>
                        </a:solidFill>
                        <a:effectLst/>
                      </a:endParaRPr>
                    </a:p>
                    <a:p>
                      <a:pPr>
                        <a:lnSpc>
                          <a:spcPct val="150000"/>
                        </a:lnSpc>
                      </a:pP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nSpc>
                          <a:spcPct val="150000"/>
                        </a:lnSpc>
                        <a:buFont typeface="Wingdings" panose="05000000000000000000" pitchFamily="2" charset="2"/>
                        <a:buChar char="§"/>
                      </a:pPr>
                      <a:r>
                        <a:rPr lang="en-US" sz="1800" b="0" kern="1200" dirty="0">
                          <a:solidFill>
                            <a:schemeClr val="dk1"/>
                          </a:solidFill>
                          <a:effectLst/>
                        </a:rPr>
                        <a:t> </a:t>
                      </a:r>
                      <a:r>
                        <a:rPr lang="en-US" sz="1800" b="0" u="sng" kern="1200" dirty="0">
                          <a:solidFill>
                            <a:schemeClr val="dk1"/>
                          </a:solidFill>
                          <a:effectLst/>
                          <a:hlinkClick r:id="rId11"/>
                        </a:rPr>
                        <a:t>Segment</a:t>
                      </a:r>
                      <a:r>
                        <a:rPr lang="en-US" sz="1800" b="0" kern="1200" dirty="0">
                          <a:solidFill>
                            <a:schemeClr val="dk1"/>
                          </a:solidFill>
                          <a:effectLst/>
                        </a:rPr>
                        <a:t> ,  </a:t>
                      </a:r>
                      <a:r>
                        <a:rPr lang="en-US" sz="1800" b="0" u="sng" kern="1200" dirty="0">
                          <a:solidFill>
                            <a:schemeClr val="dk1"/>
                          </a:solidFill>
                          <a:effectLst/>
                          <a:hlinkClick r:id="rId12"/>
                        </a:rPr>
                        <a:t>Snowplow</a:t>
                      </a:r>
                      <a:endParaRPr lang="en-US" sz="1800" b="0"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637027"/>
                  </a:ext>
                </a:extLst>
              </a:tr>
              <a:tr h="614831">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800" b="1" kern="1200" dirty="0">
                          <a:solidFill>
                            <a:schemeClr val="dk1"/>
                          </a:solidFill>
                          <a:effectLst/>
                        </a:rPr>
                        <a:t>Data </a:t>
                      </a:r>
                      <a:r>
                        <a:rPr lang="en-US" sz="1800" b="1" kern="1200" dirty="0" smtClean="0">
                          <a:solidFill>
                            <a:schemeClr val="dk1"/>
                          </a:solidFill>
                          <a:effectLst/>
                        </a:rPr>
                        <a:t>Quality</a:t>
                      </a:r>
                      <a:endParaRPr lang="en-US" sz="1800" b="1" kern="1200" dirty="0">
                        <a:solidFill>
                          <a:schemeClr val="dk1"/>
                        </a:solidFill>
                        <a:effectLst/>
                      </a:endParaRPr>
                    </a:p>
                    <a:p>
                      <a:pPr>
                        <a:lnSpc>
                          <a:spcPct val="150000"/>
                        </a:lnSpc>
                      </a:pPr>
                      <a:endParaRPr lang="en-US" dirty="0">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nSpc>
                          <a:spcPct val="150000"/>
                        </a:lnSpc>
                        <a:buFont typeface="Wingdings" panose="05000000000000000000" pitchFamily="2" charset="2"/>
                        <a:buChar char="§"/>
                      </a:pPr>
                      <a:r>
                        <a:rPr lang="en-US" sz="1800" b="0" kern="1200" dirty="0">
                          <a:solidFill>
                            <a:schemeClr val="dk1"/>
                          </a:solidFill>
                          <a:effectLst/>
                        </a:rPr>
                        <a:t>Data profiling: This is getting engulfed by data catalog and governance tools like </a:t>
                      </a:r>
                      <a:r>
                        <a:rPr lang="en-US" sz="1800" b="0" u="sng" kern="1200" dirty="0">
                          <a:solidFill>
                            <a:schemeClr val="dk1"/>
                          </a:solidFill>
                          <a:effectLst/>
                          <a:hlinkClick r:id="rId13"/>
                        </a:rPr>
                        <a:t>Atlan</a:t>
                      </a:r>
                      <a:r>
                        <a:rPr lang="en-US" sz="1800" b="0" kern="1200" dirty="0">
                          <a:solidFill>
                            <a:schemeClr val="dk1"/>
                          </a:solidFill>
                          <a:effectLst/>
                        </a:rPr>
                        <a:t> or open source profiling frameworks like </a:t>
                      </a:r>
                      <a:r>
                        <a:rPr lang="en-US" sz="1800" b="0" u="sng" kern="1200" dirty="0">
                          <a:solidFill>
                            <a:schemeClr val="dk1"/>
                          </a:solidFill>
                          <a:effectLst/>
                          <a:hlinkClick r:id="rId14"/>
                        </a:rPr>
                        <a:t>Amazon </a:t>
                      </a:r>
                      <a:r>
                        <a:rPr lang="en-US" sz="1800" b="0" u="sng" kern="1200" dirty="0" err="1">
                          <a:solidFill>
                            <a:schemeClr val="dk1"/>
                          </a:solidFill>
                          <a:effectLst/>
                          <a:hlinkClick r:id="rId14"/>
                        </a:rPr>
                        <a:t>Deequ</a:t>
                      </a:r>
                      <a:r>
                        <a:rPr lang="en-US" sz="1800" b="0" kern="1200" dirty="0">
                          <a:solidFill>
                            <a:schemeClr val="dk1"/>
                          </a:solidFill>
                          <a:effectLst/>
                        </a:rPr>
                        <a:t>.</a:t>
                      </a:r>
                    </a:p>
                    <a:p>
                      <a:pPr marL="285750" indent="-285750">
                        <a:lnSpc>
                          <a:spcPct val="150000"/>
                        </a:lnSpc>
                        <a:buFont typeface="Wingdings" panose="05000000000000000000" pitchFamily="2" charset="2"/>
                        <a:buChar char="§"/>
                      </a:pPr>
                      <a:r>
                        <a:rPr lang="en-US" sz="1800" b="0" kern="1200" dirty="0">
                          <a:solidFill>
                            <a:schemeClr val="dk1"/>
                          </a:solidFill>
                          <a:effectLst/>
                        </a:rPr>
                        <a:t>Unit testing: Frameworks like the open-source </a:t>
                      </a:r>
                      <a:r>
                        <a:rPr lang="en-US" sz="1800" b="0" u="sng" kern="1200" dirty="0">
                          <a:solidFill>
                            <a:schemeClr val="dk1"/>
                          </a:solidFill>
                          <a:effectLst/>
                          <a:hlinkClick r:id="rId15"/>
                        </a:rPr>
                        <a:t>Great Expectations</a:t>
                      </a:r>
                      <a:r>
                        <a:rPr lang="en-US" sz="1800" b="0" kern="1200" dirty="0">
                          <a:solidFill>
                            <a:schemeClr val="dk1"/>
                          </a:solidFill>
                          <a:effectLst/>
                        </a:rPr>
                        <a:t> </a:t>
                      </a:r>
                      <a:endParaRPr lang="en-US" sz="1800" b="0" i="0" kern="1200" dirty="0">
                        <a:solidFill>
                          <a:schemeClr val="dk1"/>
                        </a:solidFill>
                        <a:effectLst/>
                        <a:latin typeface="Helvetica" panose="020B0604020202020204" pitchFamily="34" charset="0"/>
                        <a:ea typeface="+mn-ea"/>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832444"/>
                  </a:ext>
                </a:extLst>
              </a:tr>
            </a:tbl>
          </a:graphicData>
        </a:graphic>
      </p:graphicFrame>
    </p:spTree>
    <p:extLst>
      <p:ext uri="{BB962C8B-B14F-4D97-AF65-F5344CB8AC3E}">
        <p14:creationId xmlns:p14="http://schemas.microsoft.com/office/powerpoint/2010/main" val="15465954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75FDC-848A-A366-A179-BAE03513A92E}"/>
              </a:ext>
            </a:extLst>
          </p:cNvPr>
          <p:cNvSpPr>
            <a:spLocks noGrp="1"/>
          </p:cNvSpPr>
          <p:nvPr>
            <p:ph type="title"/>
          </p:nvPr>
        </p:nvSpPr>
        <p:spPr/>
        <p:txBody>
          <a:bodyPr/>
          <a:lstStyle/>
          <a:p>
            <a:r>
              <a:rPr lang="en-US" dirty="0"/>
              <a:t>Use Cases</a:t>
            </a:r>
          </a:p>
        </p:txBody>
      </p:sp>
      <p:sp>
        <p:nvSpPr>
          <p:cNvPr id="3" name="Text Placeholder 2">
            <a:extLst>
              <a:ext uri="{FF2B5EF4-FFF2-40B4-BE49-F238E27FC236}">
                <a16:creationId xmlns:a16="http://schemas.microsoft.com/office/drawing/2014/main" id="{8E7272B5-74E0-3DD7-FA62-8B1D0F09F41E}"/>
              </a:ext>
            </a:extLst>
          </p:cNvPr>
          <p:cNvSpPr>
            <a:spLocks noGrp="1"/>
          </p:cNvSpPr>
          <p:nvPr>
            <p:ph type="body" sz="quarter" idx="13"/>
          </p:nvPr>
        </p:nvSpPr>
        <p:spPr>
          <a:xfrm>
            <a:off x="228599" y="960792"/>
            <a:ext cx="11353801" cy="5736639"/>
          </a:xfrm>
        </p:spPr>
        <p:txBody>
          <a:bodyPr>
            <a:normAutofit/>
          </a:bodyPr>
          <a:lstStyle/>
          <a:p>
            <a:pPr marL="0" indent="0" algn="just">
              <a:lnSpc>
                <a:spcPct val="100000"/>
              </a:lnSpc>
              <a:spcBef>
                <a:spcPts val="0"/>
              </a:spcBef>
              <a:buNone/>
            </a:pPr>
            <a:endParaRPr lang="en-US" b="1" u="sng" dirty="0" smtClean="0"/>
          </a:p>
          <a:p>
            <a:pPr marL="0" indent="0" algn="just">
              <a:lnSpc>
                <a:spcPct val="100000"/>
              </a:lnSpc>
              <a:spcBef>
                <a:spcPts val="0"/>
              </a:spcBef>
              <a:buNone/>
            </a:pPr>
            <a:r>
              <a:rPr lang="en-US" b="1" u="sng" dirty="0" smtClean="0"/>
              <a:t>AI-Powered Personalization</a:t>
            </a:r>
          </a:p>
          <a:p>
            <a:pPr marL="0" indent="0" algn="just">
              <a:lnSpc>
                <a:spcPct val="100000"/>
              </a:lnSpc>
              <a:spcBef>
                <a:spcPts val="0"/>
              </a:spcBef>
              <a:buNone/>
            </a:pPr>
            <a:endParaRPr lang="en-US" b="1" u="sng" dirty="0"/>
          </a:p>
          <a:p>
            <a:pPr marL="0" indent="0" algn="just" fontAlgn="base">
              <a:lnSpc>
                <a:spcPct val="100000"/>
              </a:lnSpc>
              <a:spcBef>
                <a:spcPts val="0"/>
              </a:spcBef>
              <a:buNone/>
            </a:pPr>
            <a:r>
              <a:rPr lang="en-US" dirty="0"/>
              <a:t>MDS allows businesses to deliver data-driven </a:t>
            </a:r>
            <a:r>
              <a:rPr lang="en-US" dirty="0">
                <a:hlinkClick r:id="rId2"/>
              </a:rPr>
              <a:t>AI personalization</a:t>
            </a:r>
            <a:r>
              <a:rPr lang="en-US" dirty="0"/>
              <a:t>. This personalization can help optimize </a:t>
            </a:r>
            <a:r>
              <a:rPr lang="en-US" dirty="0">
                <a:hlinkClick r:id="rId3"/>
              </a:rPr>
              <a:t>user experiences</a:t>
            </a:r>
            <a:r>
              <a:rPr lang="en-US" dirty="0"/>
              <a:t> across areas such as e-commerce, streaming platforms and </a:t>
            </a:r>
            <a:r>
              <a:rPr lang="en-US" dirty="0">
                <a:hlinkClick r:id="rId4"/>
              </a:rPr>
              <a:t>software as a service</a:t>
            </a:r>
            <a:r>
              <a:rPr lang="en-US" dirty="0"/>
              <a:t> (SaaS) applications. Using Apache Spark for real-time processing and Databricks for scalable analytics, data scientists can analyze customer preferences and engagement to improve </a:t>
            </a:r>
            <a:r>
              <a:rPr lang="en-US" dirty="0">
                <a:hlinkClick r:id="rId5"/>
              </a:rPr>
              <a:t>recommendation engines</a:t>
            </a:r>
            <a:r>
              <a:rPr lang="en-US" dirty="0"/>
              <a:t> and </a:t>
            </a:r>
            <a:r>
              <a:rPr lang="en-US" dirty="0">
                <a:hlinkClick r:id="rId6"/>
              </a:rPr>
              <a:t>content delivery networks</a:t>
            </a:r>
            <a:r>
              <a:rPr lang="en-US" dirty="0"/>
              <a:t>.</a:t>
            </a:r>
          </a:p>
          <a:p>
            <a:pPr marL="0" indent="0" algn="just" fontAlgn="base">
              <a:lnSpc>
                <a:spcPct val="100000"/>
              </a:lnSpc>
              <a:spcBef>
                <a:spcPts val="0"/>
              </a:spcBef>
              <a:buNone/>
            </a:pPr>
            <a:endParaRPr lang="en-US" dirty="0"/>
          </a:p>
          <a:p>
            <a:pPr marL="0" indent="0" algn="just">
              <a:lnSpc>
                <a:spcPct val="100000"/>
              </a:lnSpc>
              <a:spcBef>
                <a:spcPts val="0"/>
              </a:spcBef>
              <a:buNone/>
            </a:pPr>
            <a:r>
              <a:rPr lang="en-US" b="1" u="sng" dirty="0"/>
              <a:t>Customer </a:t>
            </a:r>
            <a:r>
              <a:rPr lang="en-US" b="1" u="sng" dirty="0" smtClean="0"/>
              <a:t>Insights </a:t>
            </a:r>
            <a:r>
              <a:rPr lang="en-US" b="1" u="sng" dirty="0"/>
              <a:t>and </a:t>
            </a:r>
            <a:r>
              <a:rPr lang="en-US" b="1" u="sng" dirty="0" smtClean="0"/>
              <a:t>Sales Optimization</a:t>
            </a:r>
            <a:endParaRPr lang="en-US" b="1" u="sng" dirty="0"/>
          </a:p>
          <a:p>
            <a:pPr marL="0" indent="0" algn="just">
              <a:lnSpc>
                <a:spcPct val="100000"/>
              </a:lnSpc>
              <a:spcBef>
                <a:spcPts val="0"/>
              </a:spcBef>
              <a:buNone/>
            </a:pPr>
            <a:r>
              <a:rPr lang="en-US" dirty="0"/>
              <a:t>Companies use MDS and </a:t>
            </a:r>
            <a:r>
              <a:rPr lang="en-US" dirty="0">
                <a:hlinkClick r:id="rId4"/>
              </a:rPr>
              <a:t>SaaS</a:t>
            </a:r>
            <a:r>
              <a:rPr lang="en-US" dirty="0"/>
              <a:t> analytics tools to track customer behavior and refine marketing strategies. Cloud platforms such as Snowflake and Looker generate real-time dashboards for categories such as purchase patterns and pricing optimization—all of which can help businesses boost conversion rates and </a:t>
            </a:r>
            <a:endParaRPr lang="en-US" dirty="0" smtClean="0"/>
          </a:p>
          <a:p>
            <a:pPr marL="0" indent="0" algn="just">
              <a:lnSpc>
                <a:spcPct val="100000"/>
              </a:lnSpc>
              <a:spcBef>
                <a:spcPts val="0"/>
              </a:spcBef>
              <a:buNone/>
            </a:pPr>
            <a:r>
              <a:rPr lang="en-US" dirty="0" smtClean="0"/>
              <a:t>retention.</a:t>
            </a:r>
          </a:p>
          <a:p>
            <a:pPr marL="0" indent="0" algn="just">
              <a:lnSpc>
                <a:spcPct val="100000"/>
              </a:lnSpc>
              <a:spcBef>
                <a:spcPts val="0"/>
              </a:spcBef>
              <a:buNone/>
            </a:pPr>
            <a:r>
              <a:rPr lang="en-US" dirty="0"/>
              <a:t/>
            </a:r>
            <a:br>
              <a:rPr lang="en-US" dirty="0"/>
            </a:br>
            <a:endParaRPr lang="en-US" dirty="0"/>
          </a:p>
          <a:p>
            <a:pPr marL="0" indent="0" algn="just">
              <a:lnSpc>
                <a:spcPct val="100000"/>
              </a:lnSpc>
              <a:spcBef>
                <a:spcPts val="0"/>
              </a:spcBef>
              <a:buNone/>
            </a:pPr>
            <a:endParaRPr lang="en-US" dirty="0"/>
          </a:p>
        </p:txBody>
      </p:sp>
    </p:spTree>
    <p:extLst>
      <p:ext uri="{BB962C8B-B14F-4D97-AF65-F5344CB8AC3E}">
        <p14:creationId xmlns:p14="http://schemas.microsoft.com/office/powerpoint/2010/main" val="1398043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ECFFD-AC88-FE39-35E5-55A13E7A4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4B21C-EFE6-F371-F259-168C54133FB1}"/>
              </a:ext>
            </a:extLst>
          </p:cNvPr>
          <p:cNvSpPr>
            <a:spLocks noGrp="1"/>
          </p:cNvSpPr>
          <p:nvPr>
            <p:ph type="title"/>
          </p:nvPr>
        </p:nvSpPr>
        <p:spPr>
          <a:xfrm>
            <a:off x="831850" y="1709738"/>
            <a:ext cx="10515600" cy="2852737"/>
          </a:xfrm>
        </p:spPr>
        <p:txBody>
          <a:bodyPr anchor="b">
            <a:normAutofit/>
          </a:bodyPr>
          <a:lstStyle/>
          <a:p>
            <a:r>
              <a:rPr lang="en-US" dirty="0"/>
              <a:t>Data Pipeline</a:t>
            </a:r>
          </a:p>
        </p:txBody>
      </p:sp>
    </p:spTree>
    <p:extLst>
      <p:ext uri="{BB962C8B-B14F-4D97-AF65-F5344CB8AC3E}">
        <p14:creationId xmlns:p14="http://schemas.microsoft.com/office/powerpoint/2010/main" val="22529987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C51C7-7227-BFB8-D5D6-F34771311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8978C-7F2B-7E1C-EEF7-C44CD50FAEC3}"/>
              </a:ext>
            </a:extLst>
          </p:cNvPr>
          <p:cNvSpPr>
            <a:spLocks noGrp="1"/>
          </p:cNvSpPr>
          <p:nvPr>
            <p:ph type="title"/>
          </p:nvPr>
        </p:nvSpPr>
        <p:spPr/>
        <p:txBody>
          <a:bodyPr/>
          <a:lstStyle/>
          <a:p>
            <a:r>
              <a:rPr lang="en-US" dirty="0"/>
              <a:t>Re-Introduction</a:t>
            </a:r>
          </a:p>
        </p:txBody>
      </p:sp>
      <p:sp>
        <p:nvSpPr>
          <p:cNvPr id="3" name="Text Placeholder 2">
            <a:extLst>
              <a:ext uri="{FF2B5EF4-FFF2-40B4-BE49-F238E27FC236}">
                <a16:creationId xmlns:a16="http://schemas.microsoft.com/office/drawing/2014/main" id="{7ACA82C3-C228-1739-A20A-3F66BC13FFF4}"/>
              </a:ext>
            </a:extLst>
          </p:cNvPr>
          <p:cNvSpPr>
            <a:spLocks noGrp="1"/>
          </p:cNvSpPr>
          <p:nvPr>
            <p:ph type="body" sz="quarter" idx="13"/>
          </p:nvPr>
        </p:nvSpPr>
        <p:spPr>
          <a:xfrm>
            <a:off x="152400" y="1143000"/>
            <a:ext cx="11811000" cy="1930962"/>
          </a:xfrm>
        </p:spPr>
        <p:txBody>
          <a:bodyPr>
            <a:normAutofit/>
          </a:bodyPr>
          <a:lstStyle/>
          <a:p>
            <a:pPr marL="361950" indent="-361950" algn="just">
              <a:lnSpc>
                <a:spcPct val="100000"/>
              </a:lnSpc>
              <a:spcBef>
                <a:spcPts val="0"/>
              </a:spcBef>
              <a:buFont typeface="Wingdings" panose="05000000000000000000" pitchFamily="2" charset="2"/>
              <a:buChar char="Ø"/>
            </a:pPr>
            <a:r>
              <a:rPr lang="en-US" dirty="0"/>
              <a:t>Series of steps that allow data from one system to move to become useful in another system particularly analytics, data science, or AI and machine learning </a:t>
            </a:r>
            <a:r>
              <a:rPr lang="en-US" dirty="0" smtClean="0"/>
              <a:t>systems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Works by pulling data from the source, applying rules for transformation and processing, then pushing data to its destination.</a:t>
            </a:r>
            <a:endParaRPr lang="en-IN" dirty="0"/>
          </a:p>
          <a:p>
            <a:pPr marL="361950" indent="-361950" algn="just">
              <a:lnSpc>
                <a:spcPct val="100000"/>
              </a:lnSpc>
              <a:spcBef>
                <a:spcPts val="0"/>
              </a:spcBef>
              <a:buFont typeface="Wingdings" panose="05000000000000000000" pitchFamily="2" charset="2"/>
              <a:buChar char="Ø"/>
            </a:pPr>
            <a:endParaRPr lang="en-US" dirty="0"/>
          </a:p>
        </p:txBody>
      </p:sp>
      <p:sp>
        <p:nvSpPr>
          <p:cNvPr id="5" name="AutoShape 2" descr="data_pipeline">
            <a:extLst>
              <a:ext uri="{FF2B5EF4-FFF2-40B4-BE49-F238E27FC236}">
                <a16:creationId xmlns:a16="http://schemas.microsoft.com/office/drawing/2014/main" id="{1B0DA005-ACEB-F8A2-35A4-C7AD7D73568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065E5BBA-08E8-B6D2-49AD-40848E899602}"/>
              </a:ext>
            </a:extLst>
          </p:cNvPr>
          <p:cNvPicPr>
            <a:picLocks noChangeAspect="1"/>
          </p:cNvPicPr>
          <p:nvPr/>
        </p:nvPicPr>
        <p:blipFill>
          <a:blip r:embed="rId2"/>
          <a:stretch>
            <a:fillRect/>
          </a:stretch>
        </p:blipFill>
        <p:spPr>
          <a:xfrm>
            <a:off x="838200" y="3429000"/>
            <a:ext cx="9753600" cy="2809875"/>
          </a:xfrm>
          <a:prstGeom prst="rect">
            <a:avLst/>
          </a:prstGeom>
        </p:spPr>
      </p:pic>
    </p:spTree>
    <p:extLst>
      <p:ext uri="{BB962C8B-B14F-4D97-AF65-F5344CB8AC3E}">
        <p14:creationId xmlns:p14="http://schemas.microsoft.com/office/powerpoint/2010/main" val="385477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50EBB-71CF-37C5-C778-567648DBFF61}"/>
              </a:ext>
            </a:extLst>
          </p:cNvPr>
          <p:cNvSpPr>
            <a:spLocks noGrp="1"/>
          </p:cNvSpPr>
          <p:nvPr>
            <p:ph type="title"/>
          </p:nvPr>
        </p:nvSpPr>
        <p:spPr/>
        <p:txBody>
          <a:bodyPr/>
          <a:lstStyle/>
          <a:p>
            <a:r>
              <a:rPr lang="en-US" dirty="0"/>
              <a:t>Origin</a:t>
            </a:r>
          </a:p>
        </p:txBody>
      </p:sp>
      <p:sp>
        <p:nvSpPr>
          <p:cNvPr id="3" name="Text Placeholder 2">
            <a:extLst>
              <a:ext uri="{FF2B5EF4-FFF2-40B4-BE49-F238E27FC236}">
                <a16:creationId xmlns:a16="http://schemas.microsoft.com/office/drawing/2014/main" id="{FE467860-D90D-BA11-7E60-50FBFD1C163A}"/>
              </a:ext>
            </a:extLst>
          </p:cNvPr>
          <p:cNvSpPr>
            <a:spLocks noGrp="1"/>
          </p:cNvSpPr>
          <p:nvPr>
            <p:ph type="body" sz="quarter" idx="13"/>
          </p:nvPr>
        </p:nvSpPr>
        <p:spPr>
          <a:xfrm>
            <a:off x="323850" y="1181100"/>
            <a:ext cx="11544300" cy="4495800"/>
          </a:xfrm>
        </p:spPr>
        <p:txBody>
          <a:bodyPr>
            <a:normAutofit/>
          </a:bodyPr>
          <a:lstStyle/>
          <a:p>
            <a:pPr marL="685800" indent="-504825">
              <a:lnSpc>
                <a:spcPct val="120000"/>
              </a:lnSpc>
              <a:buFont typeface="Wingdings" panose="05000000000000000000" pitchFamily="2" charset="2"/>
              <a:buChar char="Ø"/>
            </a:pPr>
            <a:r>
              <a:rPr lang="en-US" dirty="0"/>
              <a:t>Emerged from the big data community</a:t>
            </a:r>
          </a:p>
          <a:p>
            <a:pPr marL="685800" indent="-504825">
              <a:lnSpc>
                <a:spcPct val="120000"/>
              </a:lnSpc>
              <a:buFont typeface="Wingdings" panose="05000000000000000000" pitchFamily="2" charset="2"/>
              <a:buChar char="Ø"/>
            </a:pPr>
            <a:endParaRPr lang="en-US" dirty="0"/>
          </a:p>
          <a:p>
            <a:pPr marL="685800" indent="-504825">
              <a:lnSpc>
                <a:spcPct val="120000"/>
              </a:lnSpc>
              <a:buFont typeface="Wingdings" panose="05000000000000000000" pitchFamily="2" charset="2"/>
              <a:buChar char="Ø"/>
            </a:pPr>
            <a:r>
              <a:rPr lang="en-US" dirty="0"/>
              <a:t>Data lakes created a feeding frenzy among developers, data scientists, and data analysts </a:t>
            </a:r>
          </a:p>
          <a:p>
            <a:pPr lvl="2" indent="-504825">
              <a:lnSpc>
                <a:spcPct val="120000"/>
              </a:lnSpc>
              <a:buFont typeface="Wingdings" panose="05000000000000000000" pitchFamily="2" charset="2"/>
              <a:buChar char="§"/>
            </a:pPr>
            <a:r>
              <a:rPr lang="en-US" sz="1600" dirty="0" smtClean="0"/>
              <a:t>Gained </a:t>
            </a:r>
            <a:r>
              <a:rPr lang="en-US" sz="1600" dirty="0"/>
              <a:t>unfettered access for the first time </a:t>
            </a:r>
          </a:p>
          <a:p>
            <a:pPr lvl="2" indent="-504825">
              <a:lnSpc>
                <a:spcPct val="120000"/>
              </a:lnSpc>
              <a:buFont typeface="Wingdings" panose="05000000000000000000" pitchFamily="2" charset="2"/>
              <a:buChar char="§"/>
            </a:pPr>
            <a:r>
              <a:rPr lang="en-US" sz="1600" dirty="0" smtClean="0"/>
              <a:t>To </a:t>
            </a:r>
            <a:r>
              <a:rPr lang="en-US" sz="1600" dirty="0"/>
              <a:t>a nearly limitless supply of raw data sourced </a:t>
            </a:r>
          </a:p>
          <a:p>
            <a:pPr lvl="2" indent="-504825">
              <a:lnSpc>
                <a:spcPct val="120000"/>
              </a:lnSpc>
              <a:buFont typeface="Wingdings" panose="05000000000000000000" pitchFamily="2" charset="2"/>
              <a:buChar char="§"/>
            </a:pPr>
            <a:r>
              <a:rPr lang="en-US" sz="1600" dirty="0" smtClean="0"/>
              <a:t>From </a:t>
            </a:r>
            <a:r>
              <a:rPr lang="en-US" sz="1600" dirty="0"/>
              <a:t>a multiplicity of internal and external systems</a:t>
            </a:r>
          </a:p>
          <a:p>
            <a:pPr marL="685800" indent="-504825">
              <a:lnSpc>
                <a:spcPct val="120000"/>
              </a:lnSpc>
              <a:buFont typeface="Wingdings" panose="05000000000000000000" pitchFamily="2" charset="2"/>
              <a:buChar char="Ø"/>
            </a:pPr>
            <a:endParaRPr lang="en-US" dirty="0"/>
          </a:p>
          <a:p>
            <a:pPr marL="685800" indent="-504825">
              <a:lnSpc>
                <a:spcPct val="120000"/>
              </a:lnSpc>
              <a:buFont typeface="Wingdings" panose="05000000000000000000" pitchFamily="2" charset="2"/>
              <a:buChar char="Ø"/>
            </a:pPr>
            <a:r>
              <a:rPr lang="en-US" dirty="0"/>
              <a:t>Created a wide diversity of workflows and programs—or data pipelines—to process that data </a:t>
            </a:r>
          </a:p>
          <a:p>
            <a:pPr lvl="2" indent="-504825">
              <a:lnSpc>
                <a:spcPct val="120000"/>
              </a:lnSpc>
              <a:buFont typeface="Wingdings" panose="05000000000000000000" pitchFamily="2" charset="2"/>
              <a:buChar char="§"/>
            </a:pPr>
            <a:r>
              <a:rPr lang="en-US" sz="1600" dirty="0"/>
              <a:t>(e.g., clean, filter, aggregate, move, load)</a:t>
            </a:r>
          </a:p>
          <a:p>
            <a:pPr lvl="2" indent="-504825">
              <a:lnSpc>
                <a:spcPct val="120000"/>
              </a:lnSpc>
              <a:buFont typeface="Wingdings" panose="05000000000000000000" pitchFamily="2" charset="2"/>
              <a:buChar char="§"/>
            </a:pPr>
            <a:r>
              <a:rPr lang="en-US" sz="1600" dirty="0" smtClean="0"/>
              <a:t>For </a:t>
            </a:r>
            <a:r>
              <a:rPr lang="en-US" sz="1600" dirty="0"/>
              <a:t>a variety of purposes and use cases</a:t>
            </a:r>
            <a:endParaRPr lang="en-IN" sz="1600" dirty="0"/>
          </a:p>
          <a:p>
            <a:pPr marL="685800" indent="-504825">
              <a:lnSpc>
                <a:spcPct val="120000"/>
              </a:lnSpc>
            </a:pPr>
            <a:endParaRPr lang="en-US" dirty="0"/>
          </a:p>
        </p:txBody>
      </p:sp>
    </p:spTree>
    <p:extLst>
      <p:ext uri="{BB962C8B-B14F-4D97-AF65-F5344CB8AC3E}">
        <p14:creationId xmlns:p14="http://schemas.microsoft.com/office/powerpoint/2010/main" val="6260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70366-08E2-E12C-A44F-74E99352F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554FF-49CC-F956-6ED5-5F13F1BEEB5A}"/>
              </a:ext>
            </a:extLst>
          </p:cNvPr>
          <p:cNvSpPr>
            <a:spLocks noGrp="1"/>
          </p:cNvSpPr>
          <p:nvPr>
            <p:ph type="title"/>
          </p:nvPr>
        </p:nvSpPr>
        <p:spPr/>
        <p:txBody>
          <a:bodyPr/>
          <a:lstStyle/>
          <a:p>
            <a:r>
              <a:rPr lang="en-IN" dirty="0"/>
              <a:t>Situation</a:t>
            </a:r>
            <a:endParaRPr lang="en-US" dirty="0"/>
          </a:p>
        </p:txBody>
      </p:sp>
      <p:sp>
        <p:nvSpPr>
          <p:cNvPr id="3" name="Text Placeholder 2">
            <a:extLst>
              <a:ext uri="{FF2B5EF4-FFF2-40B4-BE49-F238E27FC236}">
                <a16:creationId xmlns:a16="http://schemas.microsoft.com/office/drawing/2014/main" id="{C6C5C82D-D6FB-B852-E841-449CAA46E1AC}"/>
              </a:ext>
            </a:extLst>
          </p:cNvPr>
          <p:cNvSpPr>
            <a:spLocks noGrp="1"/>
          </p:cNvSpPr>
          <p:nvPr>
            <p:ph type="body" sz="quarter" idx="13"/>
          </p:nvPr>
        </p:nvSpPr>
        <p:spPr>
          <a:xfrm>
            <a:off x="0" y="947345"/>
            <a:ext cx="11963400" cy="5750086"/>
          </a:xfrm>
        </p:spPr>
        <p:txBody>
          <a:bodyPr>
            <a:noAutofit/>
          </a:bodyPr>
          <a:lstStyle/>
          <a:p>
            <a:pPr marL="685800" indent="-504825">
              <a:lnSpc>
                <a:spcPct val="100000"/>
              </a:lnSpc>
              <a:buFont typeface="Wingdings" panose="05000000000000000000" pitchFamily="2" charset="2"/>
              <a:buChar char="Ø"/>
            </a:pPr>
            <a:r>
              <a:rPr lang="en-US" dirty="0"/>
              <a:t>Though data is a critical business asset most organizations still don’t have mature processes for converting data into insights that drive business value</a:t>
            </a:r>
          </a:p>
          <a:p>
            <a:pPr marL="685800" indent="-504825">
              <a:lnSpc>
                <a:spcPct val="100000"/>
              </a:lnSpc>
              <a:buFont typeface="Wingdings" panose="05000000000000000000" pitchFamily="2" charset="2"/>
              <a:buChar char="Ø"/>
            </a:pPr>
            <a:endParaRPr lang="en-US" dirty="0" smtClean="0"/>
          </a:p>
          <a:p>
            <a:pPr marL="685800" indent="-504825">
              <a:lnSpc>
                <a:spcPct val="100000"/>
              </a:lnSpc>
              <a:buFont typeface="Wingdings" panose="05000000000000000000" pitchFamily="2" charset="2"/>
              <a:buChar char="Ø"/>
            </a:pPr>
            <a:r>
              <a:rPr lang="en-US" dirty="0" smtClean="0"/>
              <a:t>The </a:t>
            </a:r>
            <a:r>
              <a:rPr lang="en-US" dirty="0"/>
              <a:t>development of data and analytics pipelines, is still a handcrafted and largely non-repeatable process with minimal reuse, managed by individuals working in isolation with different tools and approaches</a:t>
            </a:r>
          </a:p>
          <a:p>
            <a:pPr marL="685800" indent="-504825">
              <a:lnSpc>
                <a:spcPct val="100000"/>
              </a:lnSpc>
              <a:buFont typeface="Wingdings" panose="05000000000000000000" pitchFamily="2" charset="2"/>
              <a:buChar char="Ø"/>
            </a:pPr>
            <a:endParaRPr lang="en-US" dirty="0" smtClean="0"/>
          </a:p>
          <a:p>
            <a:pPr marL="685800" indent="-504825">
              <a:lnSpc>
                <a:spcPct val="100000"/>
              </a:lnSpc>
              <a:buFont typeface="Wingdings" panose="05000000000000000000" pitchFamily="2" charset="2"/>
              <a:buChar char="Ø"/>
            </a:pPr>
            <a:r>
              <a:rPr lang="en-US" dirty="0" smtClean="0"/>
              <a:t>The </a:t>
            </a:r>
            <a:r>
              <a:rPr lang="en-US" dirty="0"/>
              <a:t>result </a:t>
            </a:r>
            <a:r>
              <a:rPr lang="en-US" dirty="0" smtClean="0"/>
              <a:t>is</a:t>
            </a:r>
          </a:p>
          <a:p>
            <a:pPr marL="685800" indent="-504825">
              <a:lnSpc>
                <a:spcPct val="100000"/>
              </a:lnSpc>
              <a:buFont typeface="Wingdings" panose="05000000000000000000" pitchFamily="2" charset="2"/>
              <a:buChar char="Ø"/>
            </a:pPr>
            <a:endParaRPr lang="en-US" dirty="0"/>
          </a:p>
          <a:p>
            <a:pPr lvl="2" indent="-504825">
              <a:lnSpc>
                <a:spcPct val="100000"/>
              </a:lnSpc>
              <a:buFont typeface="Wingdings" panose="05000000000000000000" pitchFamily="2" charset="2"/>
              <a:buChar char="§"/>
            </a:pPr>
            <a:r>
              <a:rPr lang="en-US" sz="1600" dirty="0" smtClean="0"/>
              <a:t>A </a:t>
            </a:r>
            <a:r>
              <a:rPr lang="en-US" sz="1600" dirty="0"/>
              <a:t>plodding development environment that can’t keep pace with the demands of a data-driven business </a:t>
            </a:r>
            <a:endParaRPr lang="en-US" sz="1600" dirty="0" smtClean="0"/>
          </a:p>
          <a:p>
            <a:pPr lvl="2" indent="-504825">
              <a:lnSpc>
                <a:spcPct val="100000"/>
              </a:lnSpc>
              <a:buFont typeface="Wingdings" panose="05000000000000000000" pitchFamily="2" charset="2"/>
              <a:buChar char="§"/>
            </a:pPr>
            <a:endParaRPr lang="en-US" sz="1600" dirty="0"/>
          </a:p>
          <a:p>
            <a:pPr lvl="2" indent="-504825">
              <a:lnSpc>
                <a:spcPct val="100000"/>
              </a:lnSpc>
              <a:buFont typeface="Wingdings" panose="05000000000000000000" pitchFamily="2" charset="2"/>
              <a:buChar char="§"/>
            </a:pPr>
            <a:r>
              <a:rPr lang="en-US" sz="1600" dirty="0" smtClean="0"/>
              <a:t>An </a:t>
            </a:r>
            <a:r>
              <a:rPr lang="en-US" sz="1600" dirty="0"/>
              <a:t>error-prone operational environment that is slow to respond to change requests</a:t>
            </a:r>
          </a:p>
          <a:p>
            <a:pPr marL="685800" indent="-504825">
              <a:lnSpc>
                <a:spcPct val="100000"/>
              </a:lnSpc>
              <a:buFont typeface="Wingdings" panose="05000000000000000000" pitchFamily="2" charset="2"/>
              <a:buChar char="Ø"/>
            </a:pPr>
            <a:r>
              <a:rPr lang="en-US" dirty="0"/>
              <a:t>Drawing </a:t>
            </a:r>
            <a:r>
              <a:rPr lang="en-US" dirty="0" smtClean="0"/>
              <a:t>Swords</a:t>
            </a:r>
          </a:p>
          <a:p>
            <a:pPr marL="685800" indent="-504825">
              <a:lnSpc>
                <a:spcPct val="100000"/>
              </a:lnSpc>
              <a:buFont typeface="Wingdings" panose="05000000000000000000" pitchFamily="2" charset="2"/>
              <a:buChar char="Ø"/>
            </a:pPr>
            <a:endParaRPr lang="en-US" dirty="0"/>
          </a:p>
          <a:p>
            <a:pPr lvl="2" indent="-504825">
              <a:lnSpc>
                <a:spcPct val="100000"/>
              </a:lnSpc>
              <a:buFont typeface="Wingdings" panose="05000000000000000000" pitchFamily="2" charset="2"/>
              <a:buChar char="§"/>
            </a:pPr>
            <a:r>
              <a:rPr lang="en-US" sz="1600" dirty="0"/>
              <a:t>The lack of efficiency on the development side leads to a lack of effectiveness on the business </a:t>
            </a:r>
            <a:r>
              <a:rPr lang="en-US" sz="1600" dirty="0" smtClean="0"/>
              <a:t>side</a:t>
            </a:r>
          </a:p>
          <a:p>
            <a:pPr lvl="2" indent="-504825">
              <a:lnSpc>
                <a:spcPct val="100000"/>
              </a:lnSpc>
              <a:buFont typeface="Wingdings" panose="05000000000000000000" pitchFamily="2" charset="2"/>
              <a:buChar char="§"/>
            </a:pPr>
            <a:endParaRPr lang="en-US" sz="1600" dirty="0"/>
          </a:p>
          <a:p>
            <a:pPr lvl="2" indent="-504825">
              <a:lnSpc>
                <a:spcPct val="100000"/>
              </a:lnSpc>
              <a:buFont typeface="Wingdings" panose="05000000000000000000" pitchFamily="2" charset="2"/>
              <a:buChar char="§"/>
            </a:pPr>
            <a:r>
              <a:rPr lang="en-US" sz="1600" dirty="0"/>
              <a:t>Business and IT draw swords and go to war instead of partnering</a:t>
            </a:r>
            <a:endParaRPr lang="en-IN" sz="1600" dirty="0"/>
          </a:p>
          <a:p>
            <a:pPr marL="685800" indent="-504825" algn="just">
              <a:lnSpc>
                <a:spcPct val="100000"/>
              </a:lnSpc>
            </a:pPr>
            <a:endParaRPr lang="en-US" sz="1300" dirty="0"/>
          </a:p>
        </p:txBody>
      </p:sp>
    </p:spTree>
    <p:extLst>
      <p:ext uri="{BB962C8B-B14F-4D97-AF65-F5344CB8AC3E}">
        <p14:creationId xmlns:p14="http://schemas.microsoft.com/office/powerpoint/2010/main" val="165626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36EAD-ED51-E04F-F253-BEC625D594BF}"/>
              </a:ext>
            </a:extLst>
          </p:cNvPr>
          <p:cNvSpPr>
            <a:spLocks noGrp="1"/>
          </p:cNvSpPr>
          <p:nvPr>
            <p:ph type="title"/>
          </p:nvPr>
        </p:nvSpPr>
        <p:spPr/>
        <p:txBody>
          <a:bodyPr/>
          <a:lstStyle/>
          <a:p>
            <a:r>
              <a:rPr lang="en-US" dirty="0"/>
              <a:t>Purpose</a:t>
            </a:r>
          </a:p>
        </p:txBody>
      </p:sp>
      <p:sp>
        <p:nvSpPr>
          <p:cNvPr id="3" name="Text Placeholder 2">
            <a:extLst>
              <a:ext uri="{FF2B5EF4-FFF2-40B4-BE49-F238E27FC236}">
                <a16:creationId xmlns:a16="http://schemas.microsoft.com/office/drawing/2014/main" id="{6611E086-B384-4FAF-33E7-CE9DEFE86542}"/>
              </a:ext>
            </a:extLst>
          </p:cNvPr>
          <p:cNvSpPr>
            <a:spLocks noGrp="1"/>
          </p:cNvSpPr>
          <p:nvPr>
            <p:ph type="body" sz="quarter" idx="13"/>
          </p:nvPr>
        </p:nvSpPr>
        <p:spPr>
          <a:xfrm>
            <a:off x="419100" y="1066800"/>
            <a:ext cx="11544300" cy="5630631"/>
          </a:xfrm>
        </p:spPr>
        <p:txBody>
          <a:bodyPr>
            <a:normAutofit fontScale="92500"/>
          </a:bodyPr>
          <a:lstStyle/>
          <a:p>
            <a:pPr marL="361950" indent="-361950" algn="just">
              <a:lnSpc>
                <a:spcPct val="150000"/>
              </a:lnSpc>
              <a:buFont typeface="Wingdings" panose="05000000000000000000" pitchFamily="2" charset="2"/>
              <a:buChar char="Ø"/>
            </a:pPr>
            <a:r>
              <a:rPr lang="en-US" dirty="0"/>
              <a:t>Lot of data out there!</a:t>
            </a:r>
          </a:p>
          <a:p>
            <a:pPr marL="361950" indent="-361950" algn="just">
              <a:lnSpc>
                <a:spcPct val="150000"/>
              </a:lnSpc>
              <a:buFont typeface="Wingdings" panose="05000000000000000000" pitchFamily="2" charset="2"/>
              <a:buChar char="Ø"/>
            </a:pPr>
            <a:r>
              <a:rPr lang="en-US" dirty="0"/>
              <a:t>Data pipelines transform raw data into data ready for analytics, applications, machine learning and AI systems</a:t>
            </a:r>
          </a:p>
          <a:p>
            <a:pPr marL="819150" lvl="2" indent="-361950" algn="just">
              <a:lnSpc>
                <a:spcPct val="150000"/>
              </a:lnSpc>
              <a:buFont typeface="Wingdings" panose="05000000000000000000" pitchFamily="2" charset="2"/>
              <a:buChar char="§"/>
            </a:pPr>
            <a:r>
              <a:rPr lang="en-US" sz="1600" dirty="0" smtClean="0"/>
              <a:t>Keep </a:t>
            </a:r>
            <a:r>
              <a:rPr lang="en-US" sz="1600" dirty="0"/>
              <a:t>data flowing to solve problems, inform decisions</a:t>
            </a:r>
          </a:p>
          <a:p>
            <a:pPr marL="361950" indent="-361950" algn="just">
              <a:lnSpc>
                <a:spcPct val="150000"/>
              </a:lnSpc>
              <a:buFont typeface="Wingdings" panose="05000000000000000000" pitchFamily="2" charset="2"/>
              <a:buChar char="Ø"/>
            </a:pPr>
            <a:endParaRPr lang="en-US" dirty="0"/>
          </a:p>
          <a:p>
            <a:pPr marL="361950" indent="-361950" algn="just">
              <a:lnSpc>
                <a:spcPct val="150000"/>
              </a:lnSpc>
              <a:buFont typeface="Wingdings" panose="05000000000000000000" pitchFamily="2" charset="2"/>
              <a:buChar char="Ø"/>
            </a:pPr>
            <a:r>
              <a:rPr lang="en-US" dirty="0"/>
              <a:t>Used to:</a:t>
            </a:r>
          </a:p>
          <a:p>
            <a:pPr marL="819150" lvl="2" indent="-361950" algn="just">
              <a:lnSpc>
                <a:spcPct val="150000"/>
              </a:lnSpc>
              <a:buFont typeface="Wingdings" panose="05000000000000000000" pitchFamily="2" charset="2"/>
              <a:buChar char="§"/>
            </a:pPr>
            <a:r>
              <a:rPr lang="en-US" sz="1600" dirty="0" smtClean="0"/>
              <a:t>Deliver </a:t>
            </a:r>
            <a:r>
              <a:rPr lang="en-US" sz="1600" dirty="0"/>
              <a:t>sales data to sales and marketing for customer 360</a:t>
            </a:r>
          </a:p>
          <a:p>
            <a:pPr marL="819150" lvl="2" indent="-361950" algn="just">
              <a:lnSpc>
                <a:spcPct val="150000"/>
              </a:lnSpc>
              <a:buFont typeface="Wingdings" panose="05000000000000000000" pitchFamily="2" charset="2"/>
              <a:buChar char="§"/>
            </a:pPr>
            <a:r>
              <a:rPr lang="en-US" sz="1600" dirty="0"/>
              <a:t>Link a global network of scientists and doctors to speed drug discovery </a:t>
            </a:r>
          </a:p>
          <a:p>
            <a:pPr marL="819150" lvl="2" indent="-361950" algn="just">
              <a:lnSpc>
                <a:spcPct val="150000"/>
              </a:lnSpc>
              <a:buFont typeface="Wingdings" panose="05000000000000000000" pitchFamily="2" charset="2"/>
              <a:buChar char="§"/>
            </a:pPr>
            <a:r>
              <a:rPr lang="en-US" sz="1600" dirty="0"/>
              <a:t>Recommend financial services to help a small business owner thrive</a:t>
            </a:r>
          </a:p>
          <a:p>
            <a:pPr marL="819150" lvl="2" indent="-361950" algn="just">
              <a:lnSpc>
                <a:spcPct val="150000"/>
              </a:lnSpc>
              <a:buFont typeface="Wingdings" panose="05000000000000000000" pitchFamily="2" charset="2"/>
              <a:buChar char="§"/>
            </a:pPr>
            <a:r>
              <a:rPr lang="en-US" sz="1600" dirty="0"/>
              <a:t>Track COVID-19 cases and inform community health decisions</a:t>
            </a:r>
          </a:p>
          <a:p>
            <a:pPr marL="819150" lvl="2" indent="-361950" algn="just">
              <a:lnSpc>
                <a:spcPct val="150000"/>
              </a:lnSpc>
              <a:buFont typeface="Wingdings" panose="05000000000000000000" pitchFamily="2" charset="2"/>
              <a:buChar char="§"/>
            </a:pPr>
            <a:r>
              <a:rPr lang="en-US" sz="1600" dirty="0"/>
              <a:t>Combine diverse sensor data with AI for predictive maintenance </a:t>
            </a:r>
          </a:p>
          <a:p>
            <a:pPr marL="361950" indent="-361950" algn="just">
              <a:lnSpc>
                <a:spcPct val="150000"/>
              </a:lnSpc>
              <a:buFont typeface="Wingdings" panose="05000000000000000000" pitchFamily="2" charset="2"/>
              <a:buChar char="Ø"/>
            </a:pPr>
            <a:endParaRPr lang="en-US" dirty="0"/>
          </a:p>
          <a:p>
            <a:pPr marL="361950" indent="-361950" algn="just">
              <a:lnSpc>
                <a:spcPct val="150000"/>
              </a:lnSpc>
              <a:buFont typeface="Wingdings" panose="05000000000000000000" pitchFamily="2" charset="2"/>
              <a:buChar char="Ø"/>
            </a:pPr>
            <a:r>
              <a:rPr lang="en-US" dirty="0"/>
              <a:t>With so much work to do, data pipelines can get pretty complicated pretty fast</a:t>
            </a:r>
            <a:r>
              <a:rPr lang="en-US" dirty="0" smtClean="0"/>
              <a:t>.</a:t>
            </a:r>
            <a:endParaRPr lang="en-US" dirty="0"/>
          </a:p>
        </p:txBody>
      </p:sp>
    </p:spTree>
    <p:extLst>
      <p:ext uri="{BB962C8B-B14F-4D97-AF65-F5344CB8AC3E}">
        <p14:creationId xmlns:p14="http://schemas.microsoft.com/office/powerpoint/2010/main" val="87501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26E2-61AD-5E04-7EF1-395BFDFE4367}"/>
              </a:ext>
            </a:extLst>
          </p:cNvPr>
          <p:cNvSpPr>
            <a:spLocks noGrp="1"/>
          </p:cNvSpPr>
          <p:nvPr>
            <p:ph type="title"/>
          </p:nvPr>
        </p:nvSpPr>
        <p:spPr/>
        <p:txBody>
          <a:bodyPr/>
          <a:lstStyle/>
          <a:p>
            <a:r>
              <a:rPr lang="en-US" dirty="0"/>
              <a:t>Benefits</a:t>
            </a:r>
          </a:p>
        </p:txBody>
      </p:sp>
      <p:sp>
        <p:nvSpPr>
          <p:cNvPr id="3" name="Text Placeholder 2">
            <a:extLst>
              <a:ext uri="{FF2B5EF4-FFF2-40B4-BE49-F238E27FC236}">
                <a16:creationId xmlns:a16="http://schemas.microsoft.com/office/drawing/2014/main" id="{A06A328A-3FBE-7C39-0FDC-5965C87DECDC}"/>
              </a:ext>
            </a:extLst>
          </p:cNvPr>
          <p:cNvSpPr>
            <a:spLocks noGrp="1"/>
          </p:cNvSpPr>
          <p:nvPr>
            <p:ph type="body" sz="quarter" idx="13"/>
          </p:nvPr>
        </p:nvSpPr>
        <p:spPr>
          <a:xfrm>
            <a:off x="35859" y="956309"/>
            <a:ext cx="6060141" cy="5901691"/>
          </a:xfrm>
        </p:spPr>
        <p:style>
          <a:lnRef idx="2">
            <a:schemeClr val="accent2"/>
          </a:lnRef>
          <a:fillRef idx="1">
            <a:schemeClr val="lt1"/>
          </a:fillRef>
          <a:effectRef idx="0">
            <a:schemeClr val="accent2"/>
          </a:effectRef>
          <a:fontRef idx="minor">
            <a:schemeClr val="dk1"/>
          </a:fontRef>
        </p:style>
        <p:txBody>
          <a:bodyPr>
            <a:noAutofit/>
          </a:bodyPr>
          <a:lstStyle/>
          <a:p>
            <a:pPr marL="361950" indent="-361950" algn="just">
              <a:lnSpc>
                <a:spcPct val="100000"/>
              </a:lnSpc>
              <a:spcBef>
                <a:spcPts val="0"/>
              </a:spcBef>
              <a:buNone/>
            </a:pPr>
            <a:r>
              <a:rPr lang="en-US" b="1" u="sng" dirty="0"/>
              <a:t>Self-service Data</a:t>
            </a:r>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Can </a:t>
            </a:r>
            <a:r>
              <a:rPr lang="en-US" dirty="0"/>
              <a:t>be created ad hoc by data scientists and business analysts unstick the IT </a:t>
            </a:r>
            <a:r>
              <a:rPr lang="en-US" dirty="0" smtClean="0"/>
              <a:t>bottleneck</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Means when people have brilliant ideas, they can test them, fail fast, and innovate </a:t>
            </a:r>
            <a:r>
              <a:rPr lang="en-US" dirty="0" smtClean="0"/>
              <a:t>faster</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None/>
            </a:pPr>
            <a:r>
              <a:rPr lang="en-US" b="1" u="sng" dirty="0"/>
              <a:t>Real-time Analytics and Applications</a:t>
            </a:r>
          </a:p>
          <a:p>
            <a:pPr marL="361950" lvl="1" indent="-361950" algn="just">
              <a:lnSpc>
                <a:spcPct val="100000"/>
              </a:lnSpc>
              <a:spcBef>
                <a:spcPts val="0"/>
              </a:spcBef>
              <a:buFont typeface="Wingdings" panose="05000000000000000000" pitchFamily="2" charset="2"/>
              <a:buChar char="Ø"/>
            </a:pPr>
            <a:endParaRPr lang="en-US" sz="1800" dirty="0" smtClean="0"/>
          </a:p>
          <a:p>
            <a:pPr marL="361950" lvl="1" indent="-361950" algn="just">
              <a:lnSpc>
                <a:spcPct val="100000"/>
              </a:lnSpc>
              <a:spcBef>
                <a:spcPts val="0"/>
              </a:spcBef>
              <a:buFont typeface="Wingdings" panose="05000000000000000000" pitchFamily="2" charset="2"/>
              <a:buChar char="Ø"/>
            </a:pPr>
            <a:r>
              <a:rPr lang="en-US" sz="1800" dirty="0" smtClean="0"/>
              <a:t>Real-time </a:t>
            </a:r>
            <a:r>
              <a:rPr lang="en-US" sz="1800" dirty="0"/>
              <a:t>or near real-time functionality in consumer and business applications puts the pressure on data pipelines to deliver the right data, to the right place, right </a:t>
            </a:r>
            <a:r>
              <a:rPr lang="en-US" sz="1800" dirty="0" smtClean="0"/>
              <a:t>now</a:t>
            </a:r>
          </a:p>
          <a:p>
            <a:pPr marL="361950" lvl="1" indent="-361950" algn="just">
              <a:lnSpc>
                <a:spcPct val="100000"/>
              </a:lnSpc>
              <a:spcBef>
                <a:spcPts val="0"/>
              </a:spcBef>
              <a:buFont typeface="Wingdings" panose="05000000000000000000" pitchFamily="2" charset="2"/>
              <a:buChar char="Ø"/>
            </a:pPr>
            <a:endParaRPr lang="en-US" sz="1800" dirty="0"/>
          </a:p>
          <a:p>
            <a:pPr marL="361950" lvl="1" indent="-361950" algn="just">
              <a:lnSpc>
                <a:spcPct val="100000"/>
              </a:lnSpc>
              <a:spcBef>
                <a:spcPts val="0"/>
              </a:spcBef>
              <a:buFont typeface="Wingdings" panose="05000000000000000000" pitchFamily="2" charset="2"/>
              <a:buChar char="Ø"/>
            </a:pPr>
            <a:r>
              <a:rPr lang="en-US" sz="1800" dirty="0"/>
              <a:t>Streaming data pipelines deliver continuous data to real-time analytics and applications</a:t>
            </a:r>
          </a:p>
        </p:txBody>
      </p:sp>
      <p:sp>
        <p:nvSpPr>
          <p:cNvPr id="5" name="Text Placeholder 2">
            <a:extLst>
              <a:ext uri="{FF2B5EF4-FFF2-40B4-BE49-F238E27FC236}">
                <a16:creationId xmlns:a16="http://schemas.microsoft.com/office/drawing/2014/main" id="{911FD593-1F08-64D9-C89F-41C4BB7C3844}"/>
              </a:ext>
            </a:extLst>
          </p:cNvPr>
          <p:cNvSpPr txBox="1">
            <a:spLocks/>
          </p:cNvSpPr>
          <p:nvPr/>
        </p:nvSpPr>
        <p:spPr>
          <a:xfrm>
            <a:off x="6087035" y="907004"/>
            <a:ext cx="6028765" cy="5790427"/>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31788" algn="just">
              <a:lnSpc>
                <a:spcPct val="100000"/>
              </a:lnSpc>
              <a:buNone/>
            </a:pPr>
            <a:r>
              <a:rPr lang="en-US" b="1" u="sng" dirty="0"/>
              <a:t>Accelerate Cloud Migration and Adoption</a:t>
            </a:r>
          </a:p>
          <a:p>
            <a:pPr marL="361950" lvl="1" indent="-331788" algn="just">
              <a:lnSpc>
                <a:spcPct val="100000"/>
              </a:lnSpc>
              <a:spcBef>
                <a:spcPts val="1000"/>
              </a:spcBef>
              <a:buFont typeface="Wingdings" panose="05000000000000000000" pitchFamily="2" charset="2"/>
              <a:buChar char="Ø"/>
            </a:pPr>
            <a:r>
              <a:rPr lang="en-US" sz="1800" dirty="0"/>
              <a:t>Helps to expand cloud presence and migrate data to cloud </a:t>
            </a:r>
            <a:r>
              <a:rPr lang="en-US" sz="1800" dirty="0" smtClean="0"/>
              <a:t>platforms</a:t>
            </a:r>
          </a:p>
          <a:p>
            <a:pPr marL="361950" lvl="1" indent="-331788" algn="just">
              <a:lnSpc>
                <a:spcPct val="100000"/>
              </a:lnSpc>
              <a:spcBef>
                <a:spcPts val="1000"/>
              </a:spcBef>
              <a:buFont typeface="Wingdings" panose="05000000000000000000" pitchFamily="2" charset="2"/>
              <a:buChar char="Ø"/>
            </a:pPr>
            <a:r>
              <a:rPr lang="en-US" sz="1800" dirty="0" smtClean="0"/>
              <a:t> </a:t>
            </a:r>
            <a:endParaRPr lang="en-US" sz="1800" dirty="0"/>
          </a:p>
          <a:p>
            <a:pPr marL="361950" lvl="1" indent="-331788" algn="just">
              <a:lnSpc>
                <a:spcPct val="100000"/>
              </a:lnSpc>
              <a:spcBef>
                <a:spcPts val="1000"/>
              </a:spcBef>
              <a:buFont typeface="Wingdings" panose="05000000000000000000" pitchFamily="2" charset="2"/>
              <a:buChar char="Ø"/>
            </a:pPr>
            <a:r>
              <a:rPr lang="en-US" sz="1800" dirty="0"/>
              <a:t>Cloud computing helps to feed many new use cases at processing speeds, cost-effectiveness, and bursting capacity unheard of in traditional on-premises data </a:t>
            </a:r>
            <a:r>
              <a:rPr lang="en-US" sz="1800" dirty="0" smtClean="0"/>
              <a:t>centers</a:t>
            </a:r>
          </a:p>
          <a:p>
            <a:pPr marL="361950" lvl="1" indent="-331788" algn="just">
              <a:lnSpc>
                <a:spcPct val="100000"/>
              </a:lnSpc>
              <a:spcBef>
                <a:spcPts val="1000"/>
              </a:spcBef>
              <a:buFont typeface="Wingdings" panose="05000000000000000000" pitchFamily="2" charset="2"/>
              <a:buChar char="Ø"/>
            </a:pPr>
            <a:endParaRPr lang="en-US" sz="1800" dirty="0"/>
          </a:p>
          <a:p>
            <a:pPr marL="361950" lvl="1" indent="-331788" algn="just">
              <a:lnSpc>
                <a:spcPct val="100000"/>
              </a:lnSpc>
              <a:spcBef>
                <a:spcPts val="1000"/>
              </a:spcBef>
              <a:buFont typeface="Wingdings" panose="05000000000000000000" pitchFamily="2" charset="2"/>
              <a:buChar char="Ø"/>
            </a:pPr>
            <a:r>
              <a:rPr lang="en-US" sz="1800" dirty="0"/>
              <a:t>Teams can take advantage of rapid innovation happening on those cloud platforms such as </a:t>
            </a:r>
          </a:p>
          <a:p>
            <a:pPr marL="819150" lvl="2" indent="-331788" algn="just">
              <a:lnSpc>
                <a:spcPct val="100000"/>
              </a:lnSpc>
              <a:buFont typeface="Wingdings" panose="05000000000000000000" pitchFamily="2" charset="2"/>
              <a:buChar char="§"/>
            </a:pPr>
            <a:r>
              <a:rPr lang="en-US" sz="1600" dirty="0" smtClean="0"/>
              <a:t>Natural </a:t>
            </a:r>
            <a:r>
              <a:rPr lang="en-US" sz="1600" dirty="0"/>
              <a:t>language </a:t>
            </a:r>
            <a:r>
              <a:rPr lang="en-US" sz="1600" dirty="0" smtClean="0"/>
              <a:t>processing</a:t>
            </a:r>
          </a:p>
          <a:p>
            <a:pPr marL="819150" lvl="2" indent="-331788" algn="just">
              <a:lnSpc>
                <a:spcPct val="100000"/>
              </a:lnSpc>
              <a:buFont typeface="Wingdings" panose="05000000000000000000" pitchFamily="2" charset="2"/>
              <a:buChar char="§"/>
            </a:pPr>
            <a:endParaRPr lang="en-US" sz="1600" dirty="0"/>
          </a:p>
          <a:p>
            <a:pPr marL="819150" lvl="2" indent="-331788" algn="just">
              <a:lnSpc>
                <a:spcPct val="100000"/>
              </a:lnSpc>
              <a:buFont typeface="Wingdings" panose="05000000000000000000" pitchFamily="2" charset="2"/>
              <a:buChar char="§"/>
            </a:pPr>
            <a:r>
              <a:rPr lang="en-US" sz="1600" dirty="0" smtClean="0"/>
              <a:t>Sentiment analysis</a:t>
            </a:r>
          </a:p>
          <a:p>
            <a:pPr marL="819150" lvl="2" indent="-331788" algn="just">
              <a:lnSpc>
                <a:spcPct val="100000"/>
              </a:lnSpc>
              <a:buFont typeface="Wingdings" panose="05000000000000000000" pitchFamily="2" charset="2"/>
              <a:buChar char="§"/>
            </a:pPr>
            <a:endParaRPr lang="en-US" sz="1600" dirty="0"/>
          </a:p>
          <a:p>
            <a:pPr marL="819150" lvl="2" indent="-331788" algn="just">
              <a:lnSpc>
                <a:spcPct val="100000"/>
              </a:lnSpc>
              <a:buFont typeface="Wingdings" panose="05000000000000000000" pitchFamily="2" charset="2"/>
              <a:buChar char="§"/>
            </a:pPr>
            <a:r>
              <a:rPr lang="en-US" sz="1600" dirty="0" smtClean="0"/>
              <a:t>Image processing and more.</a:t>
            </a:r>
            <a:endParaRPr lang="en-US" sz="1800" dirty="0"/>
          </a:p>
        </p:txBody>
      </p:sp>
    </p:spTree>
    <p:extLst>
      <p:ext uri="{BB962C8B-B14F-4D97-AF65-F5344CB8AC3E}">
        <p14:creationId xmlns:p14="http://schemas.microsoft.com/office/powerpoint/2010/main" val="1555945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55C29-72A1-8A0A-2103-FC4100E3CA56}"/>
              </a:ext>
            </a:extLst>
          </p:cNvPr>
          <p:cNvSpPr>
            <a:spLocks noGrp="1"/>
          </p:cNvSpPr>
          <p:nvPr>
            <p:ph type="title"/>
          </p:nvPr>
        </p:nvSpPr>
        <p:spPr/>
        <p:txBody>
          <a:bodyPr/>
          <a:lstStyle/>
          <a:p>
            <a:r>
              <a:rPr lang="en-IN" dirty="0"/>
              <a:t>Challenges</a:t>
            </a:r>
            <a:endParaRPr lang="en-US" dirty="0"/>
          </a:p>
        </p:txBody>
      </p:sp>
      <p:sp>
        <p:nvSpPr>
          <p:cNvPr id="3" name="Text Placeholder 2">
            <a:extLst>
              <a:ext uri="{FF2B5EF4-FFF2-40B4-BE49-F238E27FC236}">
                <a16:creationId xmlns:a16="http://schemas.microsoft.com/office/drawing/2014/main" id="{A5623B3E-AF18-6A67-2A14-F2942E09CF9B}"/>
              </a:ext>
            </a:extLst>
          </p:cNvPr>
          <p:cNvSpPr>
            <a:spLocks noGrp="1"/>
          </p:cNvSpPr>
          <p:nvPr>
            <p:ph type="body" sz="quarter" idx="13"/>
          </p:nvPr>
        </p:nvSpPr>
        <p:spPr>
          <a:xfrm>
            <a:off x="0" y="947345"/>
            <a:ext cx="11963400" cy="5750086"/>
          </a:xfrm>
        </p:spPr>
        <p:txBody>
          <a:bodyPr>
            <a:noAutofit/>
          </a:bodyPr>
          <a:lstStyle/>
          <a:p>
            <a:pPr marL="361950" indent="-361950" algn="just">
              <a:lnSpc>
                <a:spcPct val="100000"/>
              </a:lnSpc>
              <a:buNone/>
            </a:pPr>
            <a:r>
              <a:rPr lang="en-US" b="1" u="sng" dirty="0"/>
              <a:t>Always Under Construction Data</a:t>
            </a:r>
          </a:p>
          <a:p>
            <a:pPr marL="361950" indent="-361950" algn="just">
              <a:lnSpc>
                <a:spcPct val="100000"/>
              </a:lnSpc>
              <a:buFont typeface="Wingdings" panose="05000000000000000000" pitchFamily="2" charset="2"/>
              <a:buChar char="Ø"/>
            </a:pPr>
            <a:r>
              <a:rPr lang="en-US" dirty="0"/>
              <a:t>Building and debugging data pipelines takes time</a:t>
            </a:r>
          </a:p>
          <a:p>
            <a:pPr marL="361950" indent="-361950" algn="just">
              <a:lnSpc>
                <a:spcPct val="100000"/>
              </a:lnSpc>
              <a:buFont typeface="Wingdings" panose="05000000000000000000" pitchFamily="2" charset="2"/>
              <a:buChar char="Ø"/>
            </a:pPr>
            <a:r>
              <a:rPr lang="en-US" dirty="0"/>
              <a:t>Have to align with the schema, set sources and destinations, check work, find errors, and back and forth until one can finally go </a:t>
            </a:r>
            <a:r>
              <a:rPr lang="en-US" dirty="0" smtClean="0"/>
              <a:t>live by </a:t>
            </a:r>
            <a:r>
              <a:rPr lang="en-US" dirty="0"/>
              <a:t>which time the business requirements may have changed again</a:t>
            </a:r>
          </a:p>
          <a:p>
            <a:pPr marL="361950" indent="-361950" algn="just">
              <a:lnSpc>
                <a:spcPct val="100000"/>
              </a:lnSpc>
              <a:buFont typeface="Wingdings" panose="05000000000000000000" pitchFamily="2" charset="2"/>
              <a:buChar char="Ø"/>
            </a:pPr>
            <a:r>
              <a:rPr lang="en-US" dirty="0"/>
              <a:t>That's why many data engineers have such a backlog of work</a:t>
            </a:r>
          </a:p>
          <a:p>
            <a:pPr marL="361950" indent="-361950" algn="just">
              <a:lnSpc>
                <a:spcPct val="100000"/>
              </a:lnSpc>
              <a:buNone/>
            </a:pPr>
            <a:r>
              <a:rPr lang="en-US" b="1" u="sng" dirty="0"/>
              <a:t>Out of Order Data Pipelines</a:t>
            </a:r>
          </a:p>
          <a:p>
            <a:pPr marL="361950" indent="-361950" algn="just">
              <a:lnSpc>
                <a:spcPct val="100000"/>
              </a:lnSpc>
              <a:buFont typeface="Wingdings" panose="05000000000000000000" pitchFamily="2" charset="2"/>
              <a:buChar char="Ø"/>
            </a:pPr>
            <a:r>
              <a:rPr lang="en-US" dirty="0"/>
              <a:t>Even a small change to a row or a table can mean hours of rework, updating each stage in the pipeline, debugging, and then deploying the new data pipeline</a:t>
            </a:r>
          </a:p>
          <a:p>
            <a:pPr marL="361950" indent="-361950" algn="just">
              <a:lnSpc>
                <a:spcPct val="100000"/>
              </a:lnSpc>
              <a:buFont typeface="Wingdings" panose="05000000000000000000" pitchFamily="2" charset="2"/>
              <a:buChar char="Ø"/>
            </a:pPr>
            <a:r>
              <a:rPr lang="en-US" dirty="0"/>
              <a:t>Data pipelines often have to go offline to make updates or fixes</a:t>
            </a:r>
          </a:p>
          <a:p>
            <a:pPr marL="361950" indent="-361950" algn="just">
              <a:lnSpc>
                <a:spcPct val="100000"/>
              </a:lnSpc>
              <a:buFont typeface="Wingdings" panose="05000000000000000000" pitchFamily="2" charset="2"/>
              <a:buChar char="Ø"/>
            </a:pPr>
            <a:r>
              <a:rPr lang="en-US" dirty="0"/>
              <a:t>Unplanned changes can cause hidden breakages that take months of engineering time to uncover and fix</a:t>
            </a:r>
          </a:p>
          <a:p>
            <a:pPr marL="361950" indent="-361950" algn="just">
              <a:lnSpc>
                <a:spcPct val="100000"/>
              </a:lnSpc>
              <a:buFont typeface="Wingdings" panose="05000000000000000000" pitchFamily="2" charset="2"/>
              <a:buChar char="Ø"/>
            </a:pPr>
            <a:r>
              <a:rPr lang="en-US" dirty="0"/>
              <a:t>These unexpected, unplanned, and unrelenting changes are referred to as “data drift”.</a:t>
            </a:r>
          </a:p>
          <a:p>
            <a:pPr marL="361950" indent="-361950" algn="just">
              <a:lnSpc>
                <a:spcPct val="100000"/>
              </a:lnSpc>
              <a:buNone/>
            </a:pPr>
            <a:r>
              <a:rPr lang="en-US" b="1" u="sng" dirty="0"/>
              <a:t>Build It and They Will Come</a:t>
            </a:r>
          </a:p>
          <a:p>
            <a:pPr marL="361950" indent="-361950" algn="just">
              <a:lnSpc>
                <a:spcPct val="100000"/>
              </a:lnSpc>
              <a:buFont typeface="Wingdings" panose="05000000000000000000" pitchFamily="2" charset="2"/>
              <a:buChar char="Ø"/>
            </a:pPr>
            <a:r>
              <a:rPr lang="en-US" dirty="0"/>
              <a:t>Data pipelines are built for specific frameworks, processors, and platforms. </a:t>
            </a:r>
          </a:p>
          <a:p>
            <a:pPr marL="361950" indent="-361950" algn="just">
              <a:lnSpc>
                <a:spcPct val="100000"/>
              </a:lnSpc>
              <a:buFont typeface="Wingdings" panose="05000000000000000000" pitchFamily="2" charset="2"/>
              <a:buChar char="Ø"/>
            </a:pPr>
            <a:r>
              <a:rPr lang="en-US" dirty="0"/>
              <a:t>Changing any one of those infrastructure technologies to take advantage of cost savings or other optimizations can mean weeks or months of rebuilding and testing pipelines before deployment. </a:t>
            </a:r>
            <a:endParaRPr lang="en-IN" dirty="0"/>
          </a:p>
          <a:p>
            <a:pPr marL="361950" indent="-361950" algn="just">
              <a:lnSpc>
                <a:spcPct val="100000"/>
              </a:lnSpc>
            </a:pPr>
            <a:endParaRPr lang="en-US" dirty="0"/>
          </a:p>
        </p:txBody>
      </p:sp>
    </p:spTree>
    <p:extLst>
      <p:ext uri="{BB962C8B-B14F-4D97-AF65-F5344CB8AC3E}">
        <p14:creationId xmlns:p14="http://schemas.microsoft.com/office/powerpoint/2010/main" val="3414257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E1A39-6EBD-20BC-5649-6E8859602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89FF2-3328-EDD6-57C2-590890130E98}"/>
              </a:ext>
            </a:extLst>
          </p:cNvPr>
          <p:cNvSpPr>
            <a:spLocks noGrp="1"/>
          </p:cNvSpPr>
          <p:nvPr>
            <p:ph type="title"/>
          </p:nvPr>
        </p:nvSpPr>
        <p:spPr>
          <a:xfrm>
            <a:off x="831850" y="1709738"/>
            <a:ext cx="10515600" cy="2852737"/>
          </a:xfrm>
        </p:spPr>
        <p:txBody>
          <a:bodyPr anchor="b">
            <a:normAutofit/>
          </a:bodyPr>
          <a:lstStyle/>
          <a:p>
            <a:r>
              <a:rPr lang="en-US" dirty="0"/>
              <a:t>Data Pipeline Architecture</a:t>
            </a:r>
          </a:p>
        </p:txBody>
      </p:sp>
    </p:spTree>
    <p:extLst>
      <p:ext uri="{BB962C8B-B14F-4D97-AF65-F5344CB8AC3E}">
        <p14:creationId xmlns:p14="http://schemas.microsoft.com/office/powerpoint/2010/main" val="17289292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0344F-EE74-8302-0C33-26E756E3B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73E38-E9AF-B805-AFAB-83DD8408C975}"/>
              </a:ext>
            </a:extLst>
          </p:cNvPr>
          <p:cNvSpPr>
            <a:spLocks noGrp="1"/>
          </p:cNvSpPr>
          <p:nvPr>
            <p:ph type="title"/>
          </p:nvPr>
        </p:nvSpPr>
        <p:spPr/>
        <p:txBody>
          <a:bodyPr/>
          <a:lstStyle/>
          <a:p>
            <a:r>
              <a:rPr lang="en-US" dirty="0"/>
              <a:t>Components</a:t>
            </a:r>
          </a:p>
        </p:txBody>
      </p:sp>
      <p:pic>
        <p:nvPicPr>
          <p:cNvPr id="4" name="Picture 3">
            <a:extLst>
              <a:ext uri="{FF2B5EF4-FFF2-40B4-BE49-F238E27FC236}">
                <a16:creationId xmlns:a16="http://schemas.microsoft.com/office/drawing/2014/main" id="{051AA3B9-33BB-0566-3C83-FD395013E10F}"/>
              </a:ext>
            </a:extLst>
          </p:cNvPr>
          <p:cNvPicPr>
            <a:picLocks noChangeAspect="1"/>
          </p:cNvPicPr>
          <p:nvPr/>
        </p:nvPicPr>
        <p:blipFill>
          <a:blip r:embed="rId2"/>
          <a:stretch>
            <a:fillRect/>
          </a:stretch>
        </p:blipFill>
        <p:spPr>
          <a:xfrm>
            <a:off x="153144" y="1143000"/>
            <a:ext cx="5791200" cy="327905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DAAC77A0-C723-3EEC-A0CF-F071A2540BC0}"/>
              </a:ext>
            </a:extLst>
          </p:cNvPr>
          <p:cNvSpPr txBox="1"/>
          <p:nvPr/>
        </p:nvSpPr>
        <p:spPr>
          <a:xfrm>
            <a:off x="6096000" y="882141"/>
            <a:ext cx="5867400" cy="4680459"/>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That’s the movement of data from origin to destination, including the changes it undergoes along the way as well as the data stores it goes through</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Storage refers to systems where data is preserved at different stages as it moves through the pipeline</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Processing includes activities and steps for ingesting data from sources, storing it, transforming it, and delivering it to a destination</a:t>
            </a:r>
            <a:r>
              <a:rPr lang="en-US" dirty="0" smtClean="0">
                <a:latin typeface="Helvetica" panose="020B0604020202020204" pitchFamily="34" charset="0"/>
                <a:cs typeface="Helvetica" panose="020B0604020202020204" pitchFamily="34" charset="0"/>
              </a:rPr>
              <a:t>.</a:t>
            </a:r>
          </a:p>
          <a:p>
            <a:pPr marL="361950" indent="-3619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workflow defines a sequence of processes (tasks) and their dependence on each other in a data pipeline.</a:t>
            </a:r>
            <a:r>
              <a:rPr lang="en-US" b="1" dirty="0">
                <a:latin typeface="Helvetica" panose="020B0604020202020204" pitchFamily="34" charset="0"/>
                <a:cs typeface="Helvetica" panose="020B0604020202020204" pitchFamily="34" charset="0"/>
              </a:rPr>
              <a:t> </a:t>
            </a:r>
            <a:r>
              <a:rPr lang="en-US" dirty="0">
                <a:latin typeface="Helvetica" panose="020B0604020202020204" pitchFamily="34" charset="0"/>
                <a:cs typeface="Helvetica" panose="020B0604020202020204" pitchFamily="34" charset="0"/>
              </a:rPr>
              <a:t>The goal of monitoring is to check how the data pipeline and its stages are working</a:t>
            </a:r>
          </a:p>
        </p:txBody>
      </p:sp>
      <p:sp>
        <p:nvSpPr>
          <p:cNvPr id="6" name="TextBox 5">
            <a:extLst>
              <a:ext uri="{FF2B5EF4-FFF2-40B4-BE49-F238E27FC236}">
                <a16:creationId xmlns:a16="http://schemas.microsoft.com/office/drawing/2014/main" id="{C64FF96E-E459-3B6A-568F-C18DFCF8F5C8}"/>
              </a:ext>
            </a:extLst>
          </p:cNvPr>
          <p:cNvSpPr txBox="1"/>
          <p:nvPr/>
        </p:nvSpPr>
        <p:spPr>
          <a:xfrm>
            <a:off x="228971" y="5071234"/>
            <a:ext cx="5791200" cy="1200329"/>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Origin is the point of data entry in a data pipeline.</a:t>
            </a:r>
          </a:p>
          <a:p>
            <a:pPr marL="361950" indent="-361950"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The </a:t>
            </a:r>
            <a:r>
              <a:rPr lang="en-US" dirty="0">
                <a:latin typeface="Helvetica" panose="020B0604020202020204" pitchFamily="34" charset="0"/>
                <a:cs typeface="Helvetica" panose="020B0604020202020204" pitchFamily="34" charset="0"/>
              </a:rPr>
              <a:t>final point to which data is transferred is called a destination.</a:t>
            </a:r>
          </a:p>
        </p:txBody>
      </p:sp>
    </p:spTree>
    <p:extLst>
      <p:ext uri="{BB962C8B-B14F-4D97-AF65-F5344CB8AC3E}">
        <p14:creationId xmlns:p14="http://schemas.microsoft.com/office/powerpoint/2010/main" val="22841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E0D88-1DC8-0061-FEA6-1204E625466D}"/>
              </a:ext>
            </a:extLst>
          </p:cNvPr>
          <p:cNvSpPr>
            <a:spLocks noGrp="1"/>
          </p:cNvSpPr>
          <p:nvPr>
            <p:ph type="title"/>
          </p:nvPr>
        </p:nvSpPr>
        <p:spPr/>
        <p:txBody>
          <a:bodyPr/>
          <a:lstStyle/>
          <a:p>
            <a:r>
              <a:rPr lang="en-US" dirty="0"/>
              <a:t>ETL, ELT</a:t>
            </a:r>
          </a:p>
        </p:txBody>
      </p:sp>
      <p:pic>
        <p:nvPicPr>
          <p:cNvPr id="7" name="Picture 6">
            <a:extLst>
              <a:ext uri="{FF2B5EF4-FFF2-40B4-BE49-F238E27FC236}">
                <a16:creationId xmlns:a16="http://schemas.microsoft.com/office/drawing/2014/main" id="{B4DA66A3-C54E-CCAE-89EF-80A6F47E731C}"/>
              </a:ext>
            </a:extLst>
          </p:cNvPr>
          <p:cNvPicPr>
            <a:picLocks noChangeAspect="1"/>
          </p:cNvPicPr>
          <p:nvPr/>
        </p:nvPicPr>
        <p:blipFill>
          <a:blip r:embed="rId2"/>
          <a:stretch>
            <a:fillRect/>
          </a:stretch>
        </p:blipFill>
        <p:spPr>
          <a:xfrm>
            <a:off x="152401" y="1038879"/>
            <a:ext cx="7010400" cy="28588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9" name="Picture 8">
            <a:extLst>
              <a:ext uri="{FF2B5EF4-FFF2-40B4-BE49-F238E27FC236}">
                <a16:creationId xmlns:a16="http://schemas.microsoft.com/office/drawing/2014/main" id="{5F363738-14B3-0F54-D74F-BF2A22734825}"/>
              </a:ext>
            </a:extLst>
          </p:cNvPr>
          <p:cNvPicPr>
            <a:picLocks noChangeAspect="1"/>
          </p:cNvPicPr>
          <p:nvPr/>
        </p:nvPicPr>
        <p:blipFill>
          <a:blip r:embed="rId3"/>
          <a:stretch>
            <a:fillRect/>
          </a:stretch>
        </p:blipFill>
        <p:spPr>
          <a:xfrm>
            <a:off x="152401" y="4011701"/>
            <a:ext cx="7010400" cy="283285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1" name="TextBox 10">
            <a:extLst>
              <a:ext uri="{FF2B5EF4-FFF2-40B4-BE49-F238E27FC236}">
                <a16:creationId xmlns:a16="http://schemas.microsoft.com/office/drawing/2014/main" id="{A2E998DE-2A61-9547-8C6F-BD4CE62FDB56}"/>
              </a:ext>
            </a:extLst>
          </p:cNvPr>
          <p:cNvSpPr txBox="1"/>
          <p:nvPr/>
        </p:nvSpPr>
        <p:spPr>
          <a:xfrm>
            <a:off x="7315200" y="3429000"/>
            <a:ext cx="4419599"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Helvetica" panose="020B0604020202020204" pitchFamily="34" charset="0"/>
                <a:cs typeface="Helvetica" panose="020B0604020202020204" pitchFamily="34" charset="0"/>
              </a:rPr>
              <a:t>Both ETL and ELT are a type of data pipeline architecture</a:t>
            </a:r>
          </a:p>
        </p:txBody>
      </p:sp>
    </p:spTree>
    <p:extLst>
      <p:ext uri="{BB962C8B-B14F-4D97-AF65-F5344CB8AC3E}">
        <p14:creationId xmlns:p14="http://schemas.microsoft.com/office/powerpoint/2010/main" val="2307870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FB4B8-063A-4884-5254-0D441E9BFCC0}"/>
              </a:ext>
            </a:extLst>
          </p:cNvPr>
          <p:cNvSpPr>
            <a:spLocks noGrp="1"/>
          </p:cNvSpPr>
          <p:nvPr>
            <p:ph type="title"/>
          </p:nvPr>
        </p:nvSpPr>
        <p:spPr/>
        <p:txBody>
          <a:bodyPr/>
          <a:lstStyle/>
          <a:p>
            <a:r>
              <a:rPr lang="en-US" dirty="0"/>
              <a:t>ETL, ELT</a:t>
            </a:r>
          </a:p>
        </p:txBody>
      </p:sp>
      <p:sp>
        <p:nvSpPr>
          <p:cNvPr id="5" name="TextBox 4">
            <a:extLst>
              <a:ext uri="{FF2B5EF4-FFF2-40B4-BE49-F238E27FC236}">
                <a16:creationId xmlns:a16="http://schemas.microsoft.com/office/drawing/2014/main" id="{2DDADC57-F137-2436-BB67-5BD072BE65A5}"/>
              </a:ext>
            </a:extLst>
          </p:cNvPr>
          <p:cNvSpPr txBox="1"/>
          <p:nvPr/>
        </p:nvSpPr>
        <p:spPr>
          <a:xfrm>
            <a:off x="6064624" y="960792"/>
            <a:ext cx="5898776" cy="507831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You need high data quality and governance upfront</a:t>
            </a:r>
          </a:p>
          <a:p>
            <a:pPr marL="285750" indent="-2857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The target system (e.g., legacy warehouse) has limited compute/storage</a:t>
            </a:r>
          </a:p>
          <a:p>
            <a:pPr marL="285750" indent="-2857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You need structured, curated, analytical data</a:t>
            </a: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Transformations are complex or depend on business rules outside the </a:t>
            </a:r>
            <a:r>
              <a:rPr lang="en-US" dirty="0" smtClean="0">
                <a:latin typeface="Helvetica" panose="020B0604020202020204" pitchFamily="34" charset="0"/>
                <a:cs typeface="Helvetica" panose="020B0604020202020204" pitchFamily="34" charset="0"/>
              </a:rPr>
              <a:t>database</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algn="just">
              <a:lnSpc>
                <a:spcPct val="150000"/>
              </a:lnSpc>
            </a:pPr>
            <a:endParaRPr lang="en-US" dirty="0">
              <a:latin typeface="Helvetica" panose="020B0604020202020204" pitchFamily="34" charset="0"/>
              <a:cs typeface="Helvetica" panose="020B0604020202020204" pitchFamily="34" charset="0"/>
            </a:endParaRPr>
          </a:p>
          <a:p>
            <a:pPr algn="just">
              <a:lnSpc>
                <a:spcPct val="150000"/>
              </a:lnSpc>
            </a:pPr>
            <a:r>
              <a:rPr lang="en-US" dirty="0">
                <a:latin typeface="Helvetica" panose="020B0604020202020204" pitchFamily="34" charset="0"/>
                <a:cs typeface="Helvetica" panose="020B0604020202020204" pitchFamily="34" charset="0"/>
              </a:rPr>
              <a:t>Eg: </a:t>
            </a:r>
          </a:p>
          <a:p>
            <a:pPr algn="just">
              <a:lnSpc>
                <a:spcPct val="150000"/>
              </a:lnSpc>
            </a:pPr>
            <a:r>
              <a:rPr lang="en-US" dirty="0">
                <a:latin typeface="Helvetica" panose="020B0604020202020204" pitchFamily="34" charset="0"/>
                <a:cs typeface="Helvetica" panose="020B0604020202020204" pitchFamily="34" charset="0"/>
              </a:rPr>
              <a:t>Enterprise Data warehouse</a:t>
            </a:r>
          </a:p>
          <a:p>
            <a:pPr algn="just">
              <a:lnSpc>
                <a:spcPct val="150000"/>
              </a:lnSpc>
            </a:pPr>
            <a:r>
              <a:rPr lang="en-US" dirty="0">
                <a:latin typeface="Helvetica" panose="020B0604020202020204" pitchFamily="34" charset="0"/>
                <a:cs typeface="Helvetica" panose="020B0604020202020204" pitchFamily="34" charset="0"/>
              </a:rPr>
              <a:t>Regulatory / Compliance Reporting</a:t>
            </a:r>
          </a:p>
          <a:p>
            <a:pPr algn="just">
              <a:lnSpc>
                <a:spcPct val="150000"/>
              </a:lnSpc>
            </a:pPr>
            <a:r>
              <a:rPr lang="en-US" dirty="0">
                <a:latin typeface="Helvetica" panose="020B0604020202020204" pitchFamily="34" charset="0"/>
                <a:cs typeface="Helvetica" panose="020B0604020202020204" pitchFamily="34" charset="0"/>
              </a:rPr>
              <a:t>Master Data Management</a:t>
            </a:r>
          </a:p>
          <a:p>
            <a:pPr algn="just">
              <a:lnSpc>
                <a:spcPct val="150000"/>
              </a:lnSpc>
            </a:pPr>
            <a:r>
              <a:rPr lang="en-US" dirty="0">
                <a:latin typeface="Helvetica" panose="020B0604020202020204" pitchFamily="34" charset="0"/>
                <a:cs typeface="Helvetica" panose="020B0604020202020204" pitchFamily="34" charset="0"/>
              </a:rPr>
              <a:t>ERP to Warehouse Integration</a:t>
            </a:r>
          </a:p>
        </p:txBody>
      </p:sp>
      <p:sp>
        <p:nvSpPr>
          <p:cNvPr id="7" name="TextBox 6">
            <a:extLst>
              <a:ext uri="{FF2B5EF4-FFF2-40B4-BE49-F238E27FC236}">
                <a16:creationId xmlns:a16="http://schemas.microsoft.com/office/drawing/2014/main" id="{EDDD015C-C7F7-05D4-B33B-5C834FAAE782}"/>
              </a:ext>
            </a:extLst>
          </p:cNvPr>
          <p:cNvSpPr txBox="1"/>
          <p:nvPr/>
        </p:nvSpPr>
        <p:spPr>
          <a:xfrm>
            <a:off x="273424" y="960792"/>
            <a:ext cx="5791200" cy="493981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target (e.g., cloud data platform) can handle massive parallel transformations</a:t>
            </a:r>
          </a:p>
          <a:p>
            <a:pPr marL="285750" indent="-2857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You want to load raw data quickly for agility</a:t>
            </a:r>
          </a:p>
          <a:p>
            <a:pPr marL="285750" indent="-2857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You work with semi-structured / unstructured data</a:t>
            </a: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You need data reusability for multiple downstream consumers</a:t>
            </a:r>
          </a:p>
          <a:p>
            <a:pPr algn="just">
              <a:lnSpc>
                <a:spcPct val="150000"/>
              </a:lnSpc>
            </a:pPr>
            <a:endParaRPr lang="en-US" dirty="0" smtClean="0">
              <a:latin typeface="Helvetica" panose="020B0604020202020204" pitchFamily="34" charset="0"/>
              <a:cs typeface="Helvetica" panose="020B0604020202020204" pitchFamily="34" charset="0"/>
            </a:endParaRPr>
          </a:p>
          <a:p>
            <a:pPr algn="just">
              <a:lnSpc>
                <a:spcPct val="150000"/>
              </a:lnSpc>
            </a:pPr>
            <a:endParaRPr lang="en-US" dirty="0">
              <a:latin typeface="Helvetica" panose="020B0604020202020204" pitchFamily="34" charset="0"/>
              <a:cs typeface="Helvetica" panose="020B0604020202020204" pitchFamily="34" charset="0"/>
            </a:endParaRPr>
          </a:p>
          <a:p>
            <a:pPr algn="just">
              <a:lnSpc>
                <a:spcPct val="150000"/>
              </a:lnSpc>
            </a:pPr>
            <a:r>
              <a:rPr lang="en-US" dirty="0">
                <a:latin typeface="Helvetica" panose="020B0604020202020204" pitchFamily="34" charset="0"/>
                <a:cs typeface="Helvetica" panose="020B0604020202020204" pitchFamily="34" charset="0"/>
              </a:rPr>
              <a:t>Eg: </a:t>
            </a:r>
          </a:p>
          <a:p>
            <a:pPr algn="just">
              <a:lnSpc>
                <a:spcPct val="150000"/>
              </a:lnSpc>
            </a:pPr>
            <a:r>
              <a:rPr lang="en-US" dirty="0">
                <a:latin typeface="Helvetica" panose="020B0604020202020204" pitchFamily="34" charset="0"/>
                <a:cs typeface="Helvetica" panose="020B0604020202020204" pitchFamily="34" charset="0"/>
              </a:rPr>
              <a:t>Data Lake / Lakehouse Pipelines</a:t>
            </a:r>
          </a:p>
          <a:p>
            <a:pPr algn="just">
              <a:lnSpc>
                <a:spcPct val="150000"/>
              </a:lnSpc>
            </a:pPr>
            <a:r>
              <a:rPr lang="en-US" dirty="0">
                <a:latin typeface="Helvetica" panose="020B0604020202020204" pitchFamily="34" charset="0"/>
                <a:cs typeface="Helvetica" panose="020B0604020202020204" pitchFamily="34" charset="0"/>
              </a:rPr>
              <a:t>Machine Learning Pipelines</a:t>
            </a:r>
          </a:p>
          <a:p>
            <a:pPr algn="just">
              <a:lnSpc>
                <a:spcPct val="150000"/>
              </a:lnSpc>
            </a:pPr>
            <a:endParaRPr lang="en-US" dirty="0">
              <a:latin typeface="Helvetica" panose="020B0604020202020204" pitchFamily="34" charset="0"/>
              <a:cs typeface="Helvetica" panose="020B0604020202020204" pitchFamily="34" charset="0"/>
            </a:endParaRPr>
          </a:p>
          <a:p>
            <a:pPr algn="just">
              <a:lnSpc>
                <a:spcPct val="150000"/>
              </a:lnSpc>
            </a:pPr>
            <a:endParaRPr lang="en-US" dirty="0">
              <a:latin typeface="Helvetica" panose="020B0604020202020204" pitchFamily="34" charset="0"/>
              <a:cs typeface="Helvetica" panose="020B0604020202020204" pitchFamily="34" charset="0"/>
            </a:endParaRPr>
          </a:p>
        </p:txBody>
      </p:sp>
      <p:sp>
        <p:nvSpPr>
          <p:cNvPr id="11" name="Rectangle 10">
            <a:extLst>
              <a:ext uri="{FF2B5EF4-FFF2-40B4-BE49-F238E27FC236}">
                <a16:creationId xmlns:a16="http://schemas.microsoft.com/office/drawing/2014/main" id="{94C4E2AC-6E72-C4C2-EAE0-9D8B83517656}"/>
              </a:ext>
            </a:extLst>
          </p:cNvPr>
          <p:cNvSpPr/>
          <p:nvPr/>
        </p:nvSpPr>
        <p:spPr>
          <a:xfrm>
            <a:off x="6064624" y="5987809"/>
            <a:ext cx="5898776" cy="87019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Helvetica" panose="020B0604020202020204" pitchFamily="34" charset="0"/>
                <a:cs typeface="Helvetica" panose="020B0604020202020204" pitchFamily="34" charset="0"/>
              </a:rPr>
              <a:t>ETL</a:t>
            </a:r>
          </a:p>
        </p:txBody>
      </p:sp>
      <p:sp>
        <p:nvSpPr>
          <p:cNvPr id="12" name="Rectangle 11">
            <a:extLst>
              <a:ext uri="{FF2B5EF4-FFF2-40B4-BE49-F238E27FC236}">
                <a16:creationId xmlns:a16="http://schemas.microsoft.com/office/drawing/2014/main" id="{C90C9DE9-D4DC-3FD0-EB51-670850C999C6}"/>
              </a:ext>
            </a:extLst>
          </p:cNvPr>
          <p:cNvSpPr/>
          <p:nvPr/>
        </p:nvSpPr>
        <p:spPr>
          <a:xfrm>
            <a:off x="273424" y="5987808"/>
            <a:ext cx="5791200" cy="87019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Helvetica" panose="020B0604020202020204" pitchFamily="34" charset="0"/>
                <a:cs typeface="Helvetica" panose="020B0604020202020204" pitchFamily="34" charset="0"/>
              </a:rPr>
              <a:t>ELT</a:t>
            </a:r>
          </a:p>
        </p:txBody>
      </p:sp>
      <p:sp>
        <p:nvSpPr>
          <p:cNvPr id="13" name="Rectangle 12">
            <a:extLst>
              <a:ext uri="{FF2B5EF4-FFF2-40B4-BE49-F238E27FC236}">
                <a16:creationId xmlns:a16="http://schemas.microsoft.com/office/drawing/2014/main" id="{A5F77865-E8F2-2A2E-C0CE-5848ED90B3EC}"/>
              </a:ext>
            </a:extLst>
          </p:cNvPr>
          <p:cNvSpPr/>
          <p:nvPr/>
        </p:nvSpPr>
        <p:spPr>
          <a:xfrm>
            <a:off x="3581400" y="3429000"/>
            <a:ext cx="5029200" cy="50712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Which is ETL and which is ELT?</a:t>
            </a:r>
          </a:p>
        </p:txBody>
      </p:sp>
    </p:spTree>
    <p:extLst>
      <p:ext uri="{BB962C8B-B14F-4D97-AF65-F5344CB8AC3E}">
        <p14:creationId xmlns:p14="http://schemas.microsoft.com/office/powerpoint/2010/main" val="162357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build="p" animBg="1"/>
      <p:bldP spid="11" grpId="0" animBg="1"/>
      <p:bldP spid="12" grpId="0" animBg="1"/>
      <p:bldP spid="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D9994-D69D-232B-7E03-63A673D6BF98}"/>
              </a:ext>
            </a:extLst>
          </p:cNvPr>
          <p:cNvSpPr>
            <a:spLocks noGrp="1"/>
          </p:cNvSpPr>
          <p:nvPr>
            <p:ph type="title"/>
          </p:nvPr>
        </p:nvSpPr>
        <p:spPr/>
        <p:txBody>
          <a:bodyPr/>
          <a:lstStyle/>
          <a:p>
            <a:r>
              <a:rPr lang="en-US" dirty="0"/>
              <a:t>Data Integration Pipeline</a:t>
            </a:r>
          </a:p>
        </p:txBody>
      </p:sp>
      <p:pic>
        <p:nvPicPr>
          <p:cNvPr id="5" name="Picture 2" descr="Data Engineering Pipeline Diagram">
            <a:extLst>
              <a:ext uri="{FF2B5EF4-FFF2-40B4-BE49-F238E27FC236}">
                <a16:creationId xmlns:a16="http://schemas.microsoft.com/office/drawing/2014/main" id="{336F1814-573C-0560-F874-704D5F8EBF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1227395"/>
            <a:ext cx="10744200" cy="5438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25830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AD6F9-D5BA-AE0D-792F-065EC4FCE856}"/>
              </a:ext>
            </a:extLst>
          </p:cNvPr>
          <p:cNvSpPr>
            <a:spLocks noGrp="1"/>
          </p:cNvSpPr>
          <p:nvPr>
            <p:ph type="title"/>
          </p:nvPr>
        </p:nvSpPr>
        <p:spPr/>
        <p:txBody>
          <a:bodyPr/>
          <a:lstStyle/>
          <a:p>
            <a:r>
              <a:rPr lang="en-US" dirty="0"/>
              <a:t>Batch Processing Pipeline</a:t>
            </a:r>
          </a:p>
        </p:txBody>
      </p:sp>
      <p:sp>
        <p:nvSpPr>
          <p:cNvPr id="3" name="Text Placeholder 2">
            <a:extLst>
              <a:ext uri="{FF2B5EF4-FFF2-40B4-BE49-F238E27FC236}">
                <a16:creationId xmlns:a16="http://schemas.microsoft.com/office/drawing/2014/main" id="{0CD9C100-E70B-B70B-21A6-D0502B1F31DE}"/>
              </a:ext>
            </a:extLst>
          </p:cNvPr>
          <p:cNvSpPr>
            <a:spLocks noGrp="1"/>
          </p:cNvSpPr>
          <p:nvPr>
            <p:ph type="body" sz="quarter" idx="13"/>
          </p:nvPr>
        </p:nvSpPr>
        <p:spPr>
          <a:xfrm>
            <a:off x="26894" y="4820985"/>
            <a:ext cx="6069106" cy="1668232"/>
          </a:xfrm>
        </p:spPr>
        <p:txBody>
          <a:bodyPr/>
          <a:lstStyle/>
          <a:p>
            <a:pPr algn="just">
              <a:lnSpc>
                <a:spcPct val="100000"/>
              </a:lnSpc>
              <a:spcBef>
                <a:spcPts val="0"/>
              </a:spcBef>
              <a:buFont typeface="Wingdings" panose="05000000000000000000" pitchFamily="2" charset="2"/>
              <a:buChar char="Ø"/>
            </a:pPr>
            <a:r>
              <a:rPr lang="en-US" dirty="0"/>
              <a:t>The development of batch processing was a critical step in building data infrastructures that were reliable and scalable. </a:t>
            </a:r>
          </a:p>
        </p:txBody>
      </p:sp>
      <p:pic>
        <p:nvPicPr>
          <p:cNvPr id="6" name="Picture 5">
            <a:extLst>
              <a:ext uri="{FF2B5EF4-FFF2-40B4-BE49-F238E27FC236}">
                <a16:creationId xmlns:a16="http://schemas.microsoft.com/office/drawing/2014/main" id="{38F07CD9-5A3E-3A29-EAC5-4C55C0553EFB}"/>
              </a:ext>
            </a:extLst>
          </p:cNvPr>
          <p:cNvPicPr>
            <a:picLocks noChangeAspect="1"/>
          </p:cNvPicPr>
          <p:nvPr/>
        </p:nvPicPr>
        <p:blipFill>
          <a:blip r:embed="rId2"/>
          <a:stretch>
            <a:fillRect/>
          </a:stretch>
        </p:blipFill>
        <p:spPr>
          <a:xfrm>
            <a:off x="457200" y="1202899"/>
            <a:ext cx="6198863" cy="299046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Text Placeholder 2">
            <a:extLst>
              <a:ext uri="{FF2B5EF4-FFF2-40B4-BE49-F238E27FC236}">
                <a16:creationId xmlns:a16="http://schemas.microsoft.com/office/drawing/2014/main" id="{5FC20E70-B7CE-270E-3AF9-00294523BC04}"/>
              </a:ext>
            </a:extLst>
          </p:cNvPr>
          <p:cNvSpPr txBox="1">
            <a:spLocks/>
          </p:cNvSpPr>
          <p:nvPr/>
        </p:nvSpPr>
        <p:spPr>
          <a:xfrm>
            <a:off x="6858000" y="1022353"/>
            <a:ext cx="5181600" cy="56750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Wingdings" panose="05000000000000000000" pitchFamily="2" charset="2"/>
              <a:buChar char="Ø"/>
            </a:pPr>
            <a:r>
              <a:rPr lang="en-US" dirty="0"/>
              <a:t>Loads “batches” of data into a repository during set time intervals, which are typically scheduled during off-peak business hours</a:t>
            </a:r>
            <a:r>
              <a:rPr lang="en-US" dirty="0" smtClean="0"/>
              <a:t>.</a:t>
            </a:r>
          </a:p>
          <a:p>
            <a:pPr marL="361950" indent="-361950" algn="just">
              <a:lnSpc>
                <a:spcPct val="100000"/>
              </a:lnSpc>
              <a:spcBef>
                <a:spcPts val="0"/>
              </a:spcBef>
              <a:buFont typeface="Wingdings" panose="05000000000000000000" pitchFamily="2" charset="2"/>
              <a:buChar char="Ø"/>
            </a:pPr>
            <a:r>
              <a:rPr lang="en-US" dirty="0"/>
              <a:t> </a:t>
            </a:r>
          </a:p>
          <a:p>
            <a:pPr marL="361950" indent="-361950" algn="just">
              <a:lnSpc>
                <a:spcPct val="100000"/>
              </a:lnSpc>
              <a:spcBef>
                <a:spcPts val="0"/>
              </a:spcBef>
              <a:buFont typeface="Wingdings" panose="05000000000000000000" pitchFamily="2" charset="2"/>
              <a:buChar char="Ø"/>
            </a:pPr>
            <a:r>
              <a:rPr lang="en-US" dirty="0" smtClean="0"/>
              <a:t>The </a:t>
            </a:r>
            <a:r>
              <a:rPr lang="en-US" dirty="0"/>
              <a:t>optimal data pipeline when there isn’t an immediate need to analyze a specific dataset (for example, monthly accounting), and it is more associated with the ETL data integration </a:t>
            </a:r>
            <a:r>
              <a:rPr lang="en-US" dirty="0" smtClean="0"/>
              <a:t>process</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Batch processing jobs form a workflow of sequenced commands, where the output of one command becomes the input of the next command.</a:t>
            </a:r>
          </a:p>
        </p:txBody>
      </p:sp>
    </p:spTree>
    <p:extLst>
      <p:ext uri="{BB962C8B-B14F-4D97-AF65-F5344CB8AC3E}">
        <p14:creationId xmlns:p14="http://schemas.microsoft.com/office/powerpoint/2010/main" val="2467684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6B4F9-37DA-C686-78B6-CF3569AF4D64}"/>
              </a:ext>
            </a:extLst>
          </p:cNvPr>
          <p:cNvSpPr>
            <a:spLocks noGrp="1"/>
          </p:cNvSpPr>
          <p:nvPr>
            <p:ph type="title"/>
          </p:nvPr>
        </p:nvSpPr>
        <p:spPr/>
        <p:txBody>
          <a:bodyPr/>
          <a:lstStyle/>
          <a:p>
            <a:r>
              <a:rPr lang="en-US" dirty="0"/>
              <a:t>Stream Processing Pipelines</a:t>
            </a:r>
          </a:p>
        </p:txBody>
      </p:sp>
      <p:pic>
        <p:nvPicPr>
          <p:cNvPr id="6" name="Picture 5">
            <a:extLst>
              <a:ext uri="{FF2B5EF4-FFF2-40B4-BE49-F238E27FC236}">
                <a16:creationId xmlns:a16="http://schemas.microsoft.com/office/drawing/2014/main" id="{AE21E381-3B50-D4DF-180B-2F7A3992B6AE}"/>
              </a:ext>
            </a:extLst>
          </p:cNvPr>
          <p:cNvPicPr>
            <a:picLocks noChangeAspect="1"/>
          </p:cNvPicPr>
          <p:nvPr/>
        </p:nvPicPr>
        <p:blipFill>
          <a:blip r:embed="rId2"/>
          <a:stretch>
            <a:fillRect/>
          </a:stretch>
        </p:blipFill>
        <p:spPr>
          <a:xfrm>
            <a:off x="0" y="1219200"/>
            <a:ext cx="6339840" cy="2971800"/>
          </a:xfrm>
          <a:prstGeom prst="rect">
            <a:avLst/>
          </a:prstGeom>
        </p:spPr>
      </p:pic>
      <p:sp>
        <p:nvSpPr>
          <p:cNvPr id="7" name="Text Placeholder 2">
            <a:extLst>
              <a:ext uri="{FF2B5EF4-FFF2-40B4-BE49-F238E27FC236}">
                <a16:creationId xmlns:a16="http://schemas.microsoft.com/office/drawing/2014/main" id="{A136DE43-0B97-4FDC-DADE-59A66C958D83}"/>
              </a:ext>
            </a:extLst>
          </p:cNvPr>
          <p:cNvSpPr>
            <a:spLocks noGrp="1"/>
          </p:cNvSpPr>
          <p:nvPr>
            <p:ph type="body" sz="quarter" idx="13"/>
          </p:nvPr>
        </p:nvSpPr>
        <p:spPr>
          <a:xfrm>
            <a:off x="26894" y="4820985"/>
            <a:ext cx="6069106" cy="1668232"/>
          </a:xfrm>
        </p:spPr>
        <p:txBody>
          <a:bodyPr>
            <a:normAutofit/>
          </a:bodyPr>
          <a:lstStyle/>
          <a:p>
            <a:pPr algn="just">
              <a:lnSpc>
                <a:spcPct val="110000"/>
              </a:lnSpc>
              <a:spcBef>
                <a:spcPts val="0"/>
              </a:spcBef>
              <a:buFont typeface="Wingdings" panose="05000000000000000000" pitchFamily="2" charset="2"/>
              <a:buChar char="Ø"/>
            </a:pPr>
            <a:r>
              <a:rPr lang="en-US" dirty="0"/>
              <a:t>Also known as event-driven architectures—continuously process events generated by various sources, such as sensors or user interactions within an application</a:t>
            </a:r>
          </a:p>
        </p:txBody>
      </p:sp>
      <p:sp>
        <p:nvSpPr>
          <p:cNvPr id="8" name="Text Placeholder 2">
            <a:extLst>
              <a:ext uri="{FF2B5EF4-FFF2-40B4-BE49-F238E27FC236}">
                <a16:creationId xmlns:a16="http://schemas.microsoft.com/office/drawing/2014/main" id="{FC8377CD-6D46-B521-FE08-317F5BC10A0E}"/>
              </a:ext>
            </a:extLst>
          </p:cNvPr>
          <p:cNvSpPr txBox="1">
            <a:spLocks/>
          </p:cNvSpPr>
          <p:nvPr/>
        </p:nvSpPr>
        <p:spPr>
          <a:xfrm>
            <a:off x="6339840" y="1022353"/>
            <a:ext cx="5623560" cy="56750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buFont typeface="Wingdings" panose="05000000000000000000" pitchFamily="2" charset="2"/>
              <a:buChar char="Ø"/>
            </a:pPr>
            <a:r>
              <a:rPr lang="en-US" dirty="0"/>
              <a:t>Events are processed and analyzed, and then either stored in databases or sent downstream for further analysis</a:t>
            </a:r>
            <a:r>
              <a:rPr lang="en-US" dirty="0" smtClean="0"/>
              <a:t>.</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Streaming data is leveraged when it is required for data to be continuously updated</a:t>
            </a:r>
            <a:r>
              <a:rPr lang="en-US" dirty="0" smtClean="0"/>
              <a:t>.</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Since data events are processed shortly after occurring, streaming processing systems have lower latency than batch systems, but aren’t considered as reliable as batch processing systems as messages can be unintentionally dropped or spend a long time in queue. </a:t>
            </a:r>
          </a:p>
        </p:txBody>
      </p:sp>
    </p:spTree>
    <p:extLst>
      <p:ext uri="{BB962C8B-B14F-4D97-AF65-F5344CB8AC3E}">
        <p14:creationId xmlns:p14="http://schemas.microsoft.com/office/powerpoint/2010/main" val="299562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37A9E-42FA-39C7-DDD7-B3AF9E359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8CA1A-34E7-D513-B0E6-8765C2DB5937}"/>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Change Data Capture(CDC)</a:t>
            </a:r>
          </a:p>
        </p:txBody>
      </p:sp>
      <p:sp>
        <p:nvSpPr>
          <p:cNvPr id="4" name="AutoShape 4">
            <a:extLst>
              <a:ext uri="{FF2B5EF4-FFF2-40B4-BE49-F238E27FC236}">
                <a16:creationId xmlns:a16="http://schemas.microsoft.com/office/drawing/2014/main" id="{2D13E224-A45E-E0C8-0C3C-62826C74A6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5FC9D606-65B7-0CBC-C460-1FA2FB3C5F88}"/>
              </a:ext>
            </a:extLst>
          </p:cNvPr>
          <p:cNvSpPr txBox="1"/>
          <p:nvPr/>
        </p:nvSpPr>
        <p:spPr>
          <a:xfrm>
            <a:off x="0" y="942862"/>
            <a:ext cx="5105400" cy="39703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lgn="just">
              <a:buFont typeface="Wingdings" panose="05000000000000000000" pitchFamily="2" charset="2"/>
              <a:buChar char="Ø"/>
            </a:pPr>
            <a:r>
              <a:rPr lang="en-US" b="1" u="sng" dirty="0">
                <a:latin typeface="Helvetica" panose="020B0604020202020204" pitchFamily="34" charset="0"/>
                <a:cs typeface="Helvetica" panose="020B0604020202020204" pitchFamily="34" charset="0"/>
              </a:rPr>
              <a:t>Scenario: </a:t>
            </a:r>
            <a:r>
              <a:rPr lang="en-US" dirty="0">
                <a:latin typeface="Helvetica" panose="020B0604020202020204" pitchFamily="34" charset="0"/>
                <a:cs typeface="Helvetica" panose="020B0604020202020204" pitchFamily="34" charset="0"/>
              </a:rPr>
              <a:t>An ecommerce backend service which talks about stocks and stock keeping units. This is continuously used whenever a product is searched from the front end UI(which could be web page or mobile app). These get updated as and when new stock arrive or on customer purchase or return . In case the database is down, they want to bring in the backup or replica database to run without any service interruption and with no or very minimum data loss. How will you achieve this?</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p:txBody>
      </p:sp>
      <p:pic>
        <p:nvPicPr>
          <p:cNvPr id="13" name="Picture 12">
            <a:extLst>
              <a:ext uri="{FF2B5EF4-FFF2-40B4-BE49-F238E27FC236}">
                <a16:creationId xmlns:a16="http://schemas.microsoft.com/office/drawing/2014/main" id="{D658F397-5049-DB91-8DE5-2F6EEF92DC34}"/>
              </a:ext>
            </a:extLst>
          </p:cNvPr>
          <p:cNvPicPr>
            <a:picLocks noChangeAspect="1"/>
          </p:cNvPicPr>
          <p:nvPr/>
        </p:nvPicPr>
        <p:blipFill>
          <a:blip r:embed="rId2"/>
          <a:stretch>
            <a:fillRect/>
          </a:stretch>
        </p:blipFill>
        <p:spPr>
          <a:xfrm>
            <a:off x="5251405" y="1042094"/>
            <a:ext cx="6826294" cy="2803144"/>
          </a:xfrm>
          <a:prstGeom prst="rect">
            <a:avLst/>
          </a:prstGeom>
          <a:ln>
            <a:noFill/>
          </a:ln>
          <a:effectLst>
            <a:outerShdw blurRad="190500" algn="tl" rotWithShape="0">
              <a:srgbClr val="000000">
                <a:alpha val="70000"/>
              </a:srgbClr>
            </a:outerShdw>
          </a:effectLst>
        </p:spPr>
      </p:pic>
      <p:sp>
        <p:nvSpPr>
          <p:cNvPr id="14" name="TextBox 13">
            <a:extLst>
              <a:ext uri="{FF2B5EF4-FFF2-40B4-BE49-F238E27FC236}">
                <a16:creationId xmlns:a16="http://schemas.microsoft.com/office/drawing/2014/main" id="{CCB50F51-652E-705D-FA8A-D675E663002F}"/>
              </a:ext>
            </a:extLst>
          </p:cNvPr>
          <p:cNvSpPr txBox="1"/>
          <p:nvPr/>
        </p:nvSpPr>
        <p:spPr>
          <a:xfrm>
            <a:off x="5137106" y="3962400"/>
            <a:ext cx="7054893" cy="258532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Wingdings" panose="05000000000000000000" pitchFamily="2" charset="2"/>
              <a:buChar char="Ø"/>
            </a:pPr>
            <a:r>
              <a:rPr lang="en-US" dirty="0">
                <a:latin typeface="Helvetica" panose="020B0604020202020204" pitchFamily="34" charset="0"/>
                <a:cs typeface="Helvetica" panose="020B0604020202020204" pitchFamily="34" charset="0"/>
              </a:rPr>
              <a:t>A method for extracting each change event(insert, update, delete) that occurs in a </a:t>
            </a:r>
            <a:r>
              <a:rPr lang="en-US" dirty="0" smtClean="0">
                <a:latin typeface="Helvetica" panose="020B0604020202020204" pitchFamily="34" charset="0"/>
                <a:cs typeface="Helvetica" panose="020B0604020202020204" pitchFamily="34" charset="0"/>
              </a:rPr>
              <a:t>DB</a:t>
            </a:r>
          </a:p>
          <a:p>
            <a:pPr marL="285750" indent="-285750">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Ø"/>
            </a:pPr>
            <a:r>
              <a:rPr lang="en-US" dirty="0">
                <a:latin typeface="Helvetica" panose="020B0604020202020204" pitchFamily="34" charset="0"/>
                <a:cs typeface="Helvetica" panose="020B0604020202020204" pitchFamily="34" charset="0"/>
              </a:rPr>
              <a:t>RDBMS generates event logs, which can be used for replications</a:t>
            </a:r>
          </a:p>
          <a:p>
            <a:r>
              <a:rPr lang="en-US" dirty="0">
                <a:latin typeface="Helvetica" panose="020B0604020202020204" pitchFamily="34" charset="0"/>
                <a:cs typeface="Helvetica" panose="020B0604020202020204" pitchFamily="34" charset="0"/>
              </a:rPr>
              <a:t>	(batch CDC</a:t>
            </a:r>
            <a:r>
              <a:rPr lang="en-US" dirty="0" smtClean="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Ø"/>
            </a:pPr>
            <a:r>
              <a:rPr lang="en-US" dirty="0">
                <a:latin typeface="Helvetica" panose="020B0604020202020204" pitchFamily="34" charset="0"/>
                <a:cs typeface="Helvetica" panose="020B0604020202020204" pitchFamily="34" charset="0"/>
              </a:rPr>
              <a:t>Many cloud based NoSQL, can send events (trigger CDC)</a:t>
            </a:r>
          </a:p>
          <a:p>
            <a:endParaRPr lang="en-US" dirty="0">
              <a:latin typeface="Helvetica" panose="020B0604020202020204" pitchFamily="34" charset="0"/>
              <a:cs typeface="Helvetica" panose="020B0604020202020204" pitchFamily="34" charset="0"/>
            </a:endParaRPr>
          </a:p>
          <a:p>
            <a:endParaRPr lang="en-US" dirty="0">
              <a:latin typeface="Helvetica" panose="020B0604020202020204" pitchFamily="34" charset="0"/>
              <a:cs typeface="Helvetica" panose="020B0604020202020204" pitchFamily="34" charset="0"/>
            </a:endParaRPr>
          </a:p>
        </p:txBody>
      </p:sp>
      <p:sp>
        <p:nvSpPr>
          <p:cNvPr id="15" name="Rectangle 14">
            <a:extLst>
              <a:ext uri="{FF2B5EF4-FFF2-40B4-BE49-F238E27FC236}">
                <a16:creationId xmlns:a16="http://schemas.microsoft.com/office/drawing/2014/main" id="{E70D5D1A-A4BF-7E92-AADF-DEDDB4CBDA10}"/>
              </a:ext>
            </a:extLst>
          </p:cNvPr>
          <p:cNvSpPr/>
          <p:nvPr/>
        </p:nvSpPr>
        <p:spPr>
          <a:xfrm>
            <a:off x="542859" y="5334000"/>
            <a:ext cx="4191000" cy="762000"/>
          </a:xfrm>
          <a:prstGeom prst="rect">
            <a:avLst/>
          </a:prstGeom>
          <a:gradFill>
            <a:gsLst>
              <a:gs pos="0">
                <a:schemeClr val="accent4">
                  <a:lumMod val="110000"/>
                  <a:satMod val="105000"/>
                  <a:tint val="67000"/>
                  <a:alpha val="70000"/>
                </a:schemeClr>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Helvetica" panose="020B0604020202020204" pitchFamily="34" charset="0"/>
                <a:cs typeface="Helvetica" panose="020B0604020202020204" pitchFamily="34" charset="0"/>
              </a:rPr>
              <a:t>Used in these  scenarios</a:t>
            </a:r>
          </a:p>
        </p:txBody>
      </p:sp>
    </p:spTree>
    <p:extLst>
      <p:ext uri="{BB962C8B-B14F-4D97-AF65-F5344CB8AC3E}">
        <p14:creationId xmlns:p14="http://schemas.microsoft.com/office/powerpoint/2010/main" val="264370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build="p" animBg="1"/>
      <p:bldP spid="1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3867-A03A-A086-A8A8-B6DC0FCC8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FAD55-247A-7D41-634A-B6161BBD610F}"/>
              </a:ext>
            </a:extLst>
          </p:cNvPr>
          <p:cNvSpPr>
            <a:spLocks noGrp="1"/>
          </p:cNvSpPr>
          <p:nvPr>
            <p:ph type="title"/>
          </p:nvPr>
        </p:nvSpPr>
        <p:spPr/>
        <p:txBody>
          <a:bodyPr/>
          <a:lstStyle/>
          <a:p>
            <a:r>
              <a:rPr lang="en-US" dirty="0"/>
              <a:t>Dataflow Model &amp; Unified batch &amp; streaming</a:t>
            </a:r>
          </a:p>
        </p:txBody>
      </p:sp>
      <p:sp>
        <p:nvSpPr>
          <p:cNvPr id="4" name="AutoShape 2" descr="Lambda Architecture with Unified Serving Layer">
            <a:extLst>
              <a:ext uri="{FF2B5EF4-FFF2-40B4-BE49-F238E27FC236}">
                <a16:creationId xmlns:a16="http://schemas.microsoft.com/office/drawing/2014/main" id="{D544C008-BA94-F9ED-26DC-ED2D50CEB1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33FF18AF-4B17-75A8-B1A5-39C226CFC552}"/>
              </a:ext>
            </a:extLst>
          </p:cNvPr>
          <p:cNvSpPr txBox="1"/>
          <p:nvPr/>
        </p:nvSpPr>
        <p:spPr>
          <a:xfrm>
            <a:off x="0" y="1178590"/>
            <a:ext cx="12039600" cy="5078313"/>
          </a:xfrm>
          <a:prstGeom prst="rect">
            <a:avLst/>
          </a:prstGeom>
          <a:noFill/>
        </p:spPr>
        <p:txBody>
          <a:bodyPr wrap="square" rtlCol="0">
            <a:spAutoFit/>
          </a:bodyPr>
          <a:lstStyle/>
          <a:p>
            <a:pPr marL="361950" indent="-3619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One of the central problems of managing batch and stream processing unifying multiple code </a:t>
            </a:r>
            <a:r>
              <a:rPr lang="en-IN" dirty="0" smtClean="0">
                <a:latin typeface="Helvetica" panose="020B0604020202020204" pitchFamily="34" charset="0"/>
                <a:cs typeface="Helvetica" panose="020B0604020202020204" pitchFamily="34" charset="0"/>
              </a:rPr>
              <a:t>paths</a:t>
            </a:r>
          </a:p>
          <a:p>
            <a:pPr marL="361950" indent="-3619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Kappa – relies on unified queueing and storage layer, but still has to confront using different tools for collecting real-time statistics or running batch aggregation </a:t>
            </a:r>
            <a:r>
              <a:rPr lang="en-IN" dirty="0" smtClean="0">
                <a:latin typeface="Helvetica" panose="020B0604020202020204" pitchFamily="34" charset="0"/>
                <a:cs typeface="Helvetica" panose="020B0604020202020204" pitchFamily="34" charset="0"/>
              </a:rPr>
              <a:t>jobs</a:t>
            </a:r>
          </a:p>
          <a:p>
            <a:pPr marL="361950" indent="-3619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Google attempted to solve it by Dataflow model and Apache Beam as its </a:t>
            </a:r>
            <a:r>
              <a:rPr lang="en-IN" dirty="0" smtClean="0">
                <a:latin typeface="Helvetica" panose="020B0604020202020204" pitchFamily="34" charset="0"/>
                <a:cs typeface="Helvetica" panose="020B0604020202020204" pitchFamily="34" charset="0"/>
              </a:rPr>
              <a:t>implementation</a:t>
            </a:r>
          </a:p>
          <a:p>
            <a:pPr marL="361950" indent="-3619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819150" lvl="2" indent="-361950" algn="just">
              <a:buFont typeface="Wingdings" panose="05000000000000000000" pitchFamily="2" charset="2"/>
              <a:buChar char="§"/>
            </a:pPr>
            <a:r>
              <a:rPr lang="en-IN" dirty="0">
                <a:latin typeface="Helvetica" panose="020B0604020202020204" pitchFamily="34" charset="0"/>
                <a:cs typeface="Helvetica" panose="020B0604020202020204" pitchFamily="34" charset="0"/>
              </a:rPr>
              <a:t>Core idea is to view all data as events, aggregation is performed over various types of windows</a:t>
            </a:r>
          </a:p>
          <a:p>
            <a:pPr marL="819150" lvl="2" indent="-361950" algn="just">
              <a:buFont typeface="Wingdings" panose="05000000000000000000" pitchFamily="2" charset="2"/>
              <a:buChar char="§"/>
            </a:pPr>
            <a:r>
              <a:rPr lang="en-IN" dirty="0">
                <a:latin typeface="Helvetica" panose="020B0604020202020204" pitchFamily="34" charset="0"/>
                <a:cs typeface="Helvetica" panose="020B0604020202020204" pitchFamily="34" charset="0"/>
              </a:rPr>
              <a:t>Ongoing real-time event streams are unbounded data </a:t>
            </a:r>
          </a:p>
          <a:p>
            <a:pPr marL="819150" lvl="2" indent="-361950" algn="just">
              <a:buFont typeface="Wingdings" panose="05000000000000000000" pitchFamily="2" charset="2"/>
              <a:buChar char="§"/>
            </a:pPr>
            <a:r>
              <a:rPr lang="en-IN" dirty="0">
                <a:latin typeface="Helvetica" panose="020B0604020202020204" pitchFamily="34" charset="0"/>
                <a:cs typeface="Helvetica" panose="020B0604020202020204" pitchFamily="34" charset="0"/>
              </a:rPr>
              <a:t>Data batches are simply bounded event streams and boundaries provides natural window</a:t>
            </a:r>
          </a:p>
          <a:p>
            <a:pPr marL="819150" lvl="2" indent="-361950" algn="just">
              <a:buFont typeface="Wingdings" panose="05000000000000000000" pitchFamily="2" charset="2"/>
              <a:buChar char="§"/>
            </a:pPr>
            <a:r>
              <a:rPr lang="en-IN" dirty="0">
                <a:latin typeface="Helvetica" panose="020B0604020202020204" pitchFamily="34" charset="0"/>
                <a:cs typeface="Helvetica" panose="020B0604020202020204" pitchFamily="34" charset="0"/>
              </a:rPr>
              <a:t>Windows can tumbling , sliding </a:t>
            </a:r>
            <a:endParaRPr lang="en-IN" dirty="0" smtClean="0">
              <a:latin typeface="Helvetica" panose="020B0604020202020204" pitchFamily="34" charset="0"/>
              <a:cs typeface="Helvetica" panose="020B0604020202020204" pitchFamily="34" charset="0"/>
            </a:endParaRPr>
          </a:p>
          <a:p>
            <a:pPr marL="819150" lvl="2" indent="-361950" algn="just">
              <a:buFont typeface="Wingdings" panose="05000000000000000000" pitchFamily="2" charset="2"/>
              <a:buChar char="§"/>
            </a:pPr>
            <a:r>
              <a:rPr lang="en-IN" dirty="0" smtClean="0">
                <a:latin typeface="Helvetica" panose="020B0604020202020204" pitchFamily="34" charset="0"/>
                <a:cs typeface="Helvetica" panose="020B0604020202020204" pitchFamily="34" charset="0"/>
              </a:rPr>
              <a:t>Real-time </a:t>
            </a:r>
            <a:r>
              <a:rPr lang="en-IN" dirty="0">
                <a:latin typeface="Helvetica" panose="020B0604020202020204" pitchFamily="34" charset="0"/>
                <a:cs typeface="Helvetica" panose="020B0604020202020204" pitchFamily="34" charset="0"/>
              </a:rPr>
              <a:t>and batch processing happens in same system using nearly identical </a:t>
            </a:r>
            <a:r>
              <a:rPr lang="en-IN" dirty="0" smtClean="0">
                <a:latin typeface="Helvetica" panose="020B0604020202020204" pitchFamily="34" charset="0"/>
                <a:cs typeface="Helvetica" panose="020B0604020202020204" pitchFamily="34" charset="0"/>
              </a:rPr>
              <a:t>code</a:t>
            </a:r>
          </a:p>
          <a:p>
            <a:pPr marL="819150" lvl="2" indent="-361950" algn="just">
              <a:buFont typeface="Wingdings" panose="05000000000000000000" pitchFamily="2" charset="2"/>
              <a:buChar char="§"/>
            </a:pPr>
            <a:endParaRPr lang="en-US" dirty="0" smtClean="0">
              <a:latin typeface="Helvetica" panose="020B0604020202020204" pitchFamily="34" charset="0"/>
              <a:cs typeface="Helvetica" panose="020B0604020202020204" pitchFamily="34" charset="0"/>
            </a:endParaRPr>
          </a:p>
          <a:p>
            <a:pPr marL="819150" lvl="2" indent="-361950" algn="just">
              <a:buFont typeface="Wingdings" panose="05000000000000000000" pitchFamily="2" charset="2"/>
              <a:buChar char="§"/>
            </a:pPr>
            <a:endParaRPr lang="en-IN" dirty="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Philosophy “batch as a special case of streaming” is now more </a:t>
            </a:r>
            <a:r>
              <a:rPr lang="en-IN" dirty="0" smtClean="0">
                <a:latin typeface="Helvetica" panose="020B0604020202020204" pitchFamily="34" charset="0"/>
                <a:cs typeface="Helvetica" panose="020B0604020202020204" pitchFamily="34" charset="0"/>
              </a:rPr>
              <a:t>pervasive</a:t>
            </a:r>
          </a:p>
          <a:p>
            <a:pPr marL="361950" indent="-3619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819150" lvl="2" indent="-361950" algn="just">
              <a:buFont typeface="Wingdings" panose="05000000000000000000" pitchFamily="2" charset="2"/>
              <a:buChar char="§"/>
            </a:pPr>
            <a:r>
              <a:rPr lang="en-IN" dirty="0">
                <a:latin typeface="Helvetica" panose="020B0604020202020204" pitchFamily="34" charset="0"/>
                <a:cs typeface="Helvetica" panose="020B0604020202020204" pitchFamily="34" charset="0"/>
              </a:rPr>
              <a:t>Frameworks such as Flink and Spark have adopted a similar approach!</a:t>
            </a:r>
          </a:p>
          <a:p>
            <a:pPr marL="361950" indent="-361950" algn="just"/>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77457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6024B-5782-2C1D-7424-54EC8FC9A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7E69E-4D20-A1F4-8820-46764B5F44CB}"/>
              </a:ext>
            </a:extLst>
          </p:cNvPr>
          <p:cNvSpPr>
            <a:spLocks noGrp="1"/>
          </p:cNvSpPr>
          <p:nvPr>
            <p:ph type="title"/>
          </p:nvPr>
        </p:nvSpPr>
        <p:spPr>
          <a:xfrm>
            <a:off x="831850" y="1709738"/>
            <a:ext cx="10515600" cy="2852737"/>
          </a:xfrm>
        </p:spPr>
        <p:txBody>
          <a:bodyPr anchor="b">
            <a:normAutofit/>
          </a:bodyPr>
          <a:lstStyle/>
          <a:p>
            <a:r>
              <a:rPr lang="en-US" dirty="0"/>
              <a:t>Data Pipeline Implementation</a:t>
            </a:r>
          </a:p>
        </p:txBody>
      </p:sp>
    </p:spTree>
    <p:extLst>
      <p:ext uri="{BB962C8B-B14F-4D97-AF65-F5344CB8AC3E}">
        <p14:creationId xmlns:p14="http://schemas.microsoft.com/office/powerpoint/2010/main" val="7057796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B6BF7-7263-0ED6-59E7-F9D0C2A784EC}"/>
              </a:ext>
            </a:extLst>
          </p:cNvPr>
          <p:cNvSpPr>
            <a:spLocks noGrp="1"/>
          </p:cNvSpPr>
          <p:nvPr>
            <p:ph type="title"/>
          </p:nvPr>
        </p:nvSpPr>
        <p:spPr/>
        <p:txBody>
          <a:bodyPr/>
          <a:lstStyle/>
          <a:p>
            <a:r>
              <a:rPr lang="en-US" dirty="0"/>
              <a:t>Simple and Complex</a:t>
            </a:r>
          </a:p>
        </p:txBody>
      </p:sp>
      <p:pic>
        <p:nvPicPr>
          <p:cNvPr id="5" name="Picture 4">
            <a:extLst>
              <a:ext uri="{FF2B5EF4-FFF2-40B4-BE49-F238E27FC236}">
                <a16:creationId xmlns:a16="http://schemas.microsoft.com/office/drawing/2014/main" id="{64474527-49C7-C4B8-BC82-F5D7AE8B4AE3}"/>
              </a:ext>
            </a:extLst>
          </p:cNvPr>
          <p:cNvPicPr>
            <a:picLocks noChangeAspect="1"/>
          </p:cNvPicPr>
          <p:nvPr/>
        </p:nvPicPr>
        <p:blipFill>
          <a:blip r:embed="rId2"/>
          <a:stretch>
            <a:fillRect/>
          </a:stretch>
        </p:blipFill>
        <p:spPr>
          <a:xfrm>
            <a:off x="152400" y="1714500"/>
            <a:ext cx="5715000" cy="8382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cxnSp>
        <p:nvCxnSpPr>
          <p:cNvPr id="7" name="Straight Connector 6">
            <a:extLst>
              <a:ext uri="{FF2B5EF4-FFF2-40B4-BE49-F238E27FC236}">
                <a16:creationId xmlns:a16="http://schemas.microsoft.com/office/drawing/2014/main" id="{9EE08A27-49D5-65B8-059E-D6FC5AB9DDB2}"/>
              </a:ext>
            </a:extLst>
          </p:cNvPr>
          <p:cNvCxnSpPr/>
          <p:nvPr/>
        </p:nvCxnSpPr>
        <p:spPr>
          <a:xfrm>
            <a:off x="6096000" y="924933"/>
            <a:ext cx="0" cy="5933067"/>
          </a:xfrm>
          <a:prstGeom prst="line">
            <a:avLst/>
          </a:prstGeom>
          <a:ln w="38100"/>
        </p:spPr>
        <p:style>
          <a:lnRef idx="3">
            <a:schemeClr val="dk1"/>
          </a:lnRef>
          <a:fillRef idx="0">
            <a:schemeClr val="dk1"/>
          </a:fillRef>
          <a:effectRef idx="2">
            <a:schemeClr val="dk1"/>
          </a:effectRef>
          <a:fontRef idx="minor">
            <a:schemeClr val="tx1"/>
          </a:fontRef>
        </p:style>
      </p:cxnSp>
      <p:pic>
        <p:nvPicPr>
          <p:cNvPr id="8" name="Picture 7">
            <a:extLst>
              <a:ext uri="{FF2B5EF4-FFF2-40B4-BE49-F238E27FC236}">
                <a16:creationId xmlns:a16="http://schemas.microsoft.com/office/drawing/2014/main" id="{F918DB3B-7ACE-C611-115C-CFFBFED6B8A0}"/>
              </a:ext>
            </a:extLst>
          </p:cNvPr>
          <p:cNvPicPr>
            <a:picLocks noChangeAspect="1"/>
          </p:cNvPicPr>
          <p:nvPr/>
        </p:nvPicPr>
        <p:blipFill>
          <a:blip r:embed="rId3"/>
          <a:stretch>
            <a:fillRect/>
          </a:stretch>
        </p:blipFill>
        <p:spPr>
          <a:xfrm>
            <a:off x="6324601" y="924933"/>
            <a:ext cx="5357646" cy="277449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TextBox 8">
            <a:extLst>
              <a:ext uri="{FF2B5EF4-FFF2-40B4-BE49-F238E27FC236}">
                <a16:creationId xmlns:a16="http://schemas.microsoft.com/office/drawing/2014/main" id="{9E78ADAA-C04B-5BF1-AD01-02B31E7EBE9B}"/>
              </a:ext>
            </a:extLst>
          </p:cNvPr>
          <p:cNvSpPr txBox="1"/>
          <p:nvPr/>
        </p:nvSpPr>
        <p:spPr>
          <a:xfrm>
            <a:off x="152400" y="3200400"/>
            <a:ext cx="5562599" cy="2585323"/>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Some data pipelines are </a:t>
            </a:r>
            <a:r>
              <a:rPr lang="en-US" dirty="0" smtClean="0">
                <a:latin typeface="Helvetica" panose="020B0604020202020204" pitchFamily="34" charset="0"/>
                <a:cs typeface="Helvetica" panose="020B0604020202020204" pitchFamily="34" charset="0"/>
              </a:rPr>
              <a:t>simple</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CSV → Database → Dashboard</a:t>
            </a:r>
          </a:p>
          <a:p>
            <a:pPr marL="742950" lvl="1"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Data from CSV files (sales or IoT logs) is ingested daily into a relational database, then visualized in a dashboard</a:t>
            </a:r>
            <a:r>
              <a:rPr lang="en-US" dirty="0" smtClean="0">
                <a:latin typeface="Helvetica" panose="020B0604020202020204" pitchFamily="34" charset="0"/>
                <a:cs typeface="Helvetica" panose="020B0604020202020204" pitchFamily="34" charset="0"/>
              </a:rPr>
              <a:t>.</a:t>
            </a:r>
          </a:p>
          <a:p>
            <a:pPr marL="742950" lvl="1" indent="-285750" algn="just">
              <a:buFont typeface="Wingdings" panose="05000000000000000000" pitchFamily="2" charset="2"/>
              <a:buChar char="§"/>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Simple ETL, ELT</a:t>
            </a:r>
          </a:p>
          <a:p>
            <a:pPr marL="285750" indent="-285750" algn="just">
              <a:buFont typeface="Wingdings" panose="05000000000000000000" pitchFamily="2" charset="2"/>
              <a:buChar char="§"/>
            </a:pPr>
            <a:endParaRPr lang="en-US" dirty="0">
              <a:latin typeface="Helvetica" panose="020B0604020202020204" pitchFamily="34" charset="0"/>
              <a:cs typeface="Helvetica" panose="020B0604020202020204" pitchFamily="34" charset="0"/>
            </a:endParaRPr>
          </a:p>
        </p:txBody>
      </p:sp>
      <p:sp>
        <p:nvSpPr>
          <p:cNvPr id="10" name="TextBox 9">
            <a:extLst>
              <a:ext uri="{FF2B5EF4-FFF2-40B4-BE49-F238E27FC236}">
                <a16:creationId xmlns:a16="http://schemas.microsoft.com/office/drawing/2014/main" id="{D4175E3F-46B2-74F3-B7CD-738F5757C84D}"/>
              </a:ext>
            </a:extLst>
          </p:cNvPr>
          <p:cNvSpPr txBox="1"/>
          <p:nvPr/>
        </p:nvSpPr>
        <p:spPr>
          <a:xfrm>
            <a:off x="6324601" y="3891466"/>
            <a:ext cx="5714993" cy="2308324"/>
          </a:xfrm>
          <a:prstGeom prst="rect">
            <a:avLst/>
          </a:prstGeom>
          <a:noFill/>
        </p:spPr>
        <p:txBody>
          <a:bodyPr wrap="square" rtlCol="0">
            <a:spAutoFit/>
          </a:bodyPr>
          <a:lstStyle/>
          <a:p>
            <a:pPr marL="361950" indent="-3619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Most are more complex</a:t>
            </a:r>
          </a:p>
          <a:p>
            <a:pPr marL="361950" indent="-361950" algn="just">
              <a:buFont typeface="Wingdings" panose="05000000000000000000" pitchFamily="2" charset="2"/>
              <a:buChar char="Ø"/>
            </a:pPr>
            <a:endParaRPr lang="en-US" dirty="0" smtClean="0">
              <a:latin typeface="Helvetica" panose="020B0604020202020204" pitchFamily="34" charset="0"/>
              <a:cs typeface="Helvetica" panose="020B0604020202020204" pitchFamily="34" charset="0"/>
            </a:endParaRPr>
          </a:p>
          <a:p>
            <a:pPr marL="361950" indent="-361950" algn="just">
              <a:buFont typeface="Wingdings" panose="05000000000000000000" pitchFamily="2" charset="2"/>
              <a:buChar char="Ø"/>
            </a:pPr>
            <a:r>
              <a:rPr lang="en-US" dirty="0" err="1" smtClean="0">
                <a:latin typeface="Helvetica" panose="020B0604020202020204" pitchFamily="34" charset="0"/>
                <a:cs typeface="Helvetica" panose="020B0604020202020204" pitchFamily="34" charset="0"/>
              </a:rPr>
              <a:t>Eg</a:t>
            </a:r>
            <a:r>
              <a:rPr lang="en-US" dirty="0">
                <a:latin typeface="Helvetica" panose="020B0604020202020204" pitchFamily="34" charset="0"/>
                <a:cs typeface="Helvetica" panose="020B0604020202020204" pitchFamily="34" charset="0"/>
              </a:rPr>
              <a:t>: Move tables from 10 sources into a target </a:t>
            </a:r>
            <a:r>
              <a:rPr lang="en-US" dirty="0" smtClean="0">
                <a:latin typeface="Helvetica" panose="020B0604020202020204" pitchFamily="34" charset="0"/>
                <a:cs typeface="Helvetica" panose="020B0604020202020204" pitchFamily="34" charset="0"/>
              </a:rPr>
              <a:t>database</a:t>
            </a:r>
            <a:r>
              <a:rPr lang="en-US" dirty="0">
                <a:latin typeface="Helvetica" panose="020B0604020202020204" pitchFamily="34" charset="0"/>
                <a:cs typeface="Helvetica" panose="020B0604020202020204" pitchFamily="34" charset="0"/>
              </a:rPr>
              <a:t>, merge common fields, array into a dimensional schema, aggregate by year, flag null values, convert into an extract for a BI tool, and generate personalized dashboards based on the data.</a:t>
            </a:r>
          </a:p>
        </p:txBody>
      </p:sp>
    </p:spTree>
    <p:extLst>
      <p:ext uri="{BB962C8B-B14F-4D97-AF65-F5344CB8AC3E}">
        <p14:creationId xmlns:p14="http://schemas.microsoft.com/office/powerpoint/2010/main" val="428740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B382F-9570-23A8-BC4E-CB1A80F333CE}"/>
              </a:ext>
            </a:extLst>
          </p:cNvPr>
          <p:cNvSpPr>
            <a:spLocks noGrp="1"/>
          </p:cNvSpPr>
          <p:nvPr>
            <p:ph type="title"/>
          </p:nvPr>
        </p:nvSpPr>
        <p:spPr/>
        <p:txBody>
          <a:bodyPr/>
          <a:lstStyle/>
          <a:p>
            <a:r>
              <a:rPr lang="en-US" dirty="0"/>
              <a:t>Scenarios</a:t>
            </a:r>
          </a:p>
        </p:txBody>
      </p:sp>
      <p:sp>
        <p:nvSpPr>
          <p:cNvPr id="3" name="Text Placeholder 2">
            <a:extLst>
              <a:ext uri="{FF2B5EF4-FFF2-40B4-BE49-F238E27FC236}">
                <a16:creationId xmlns:a16="http://schemas.microsoft.com/office/drawing/2014/main" id="{78BB250A-35A6-AB79-6A02-96407AE8FF7B}"/>
              </a:ext>
            </a:extLst>
          </p:cNvPr>
          <p:cNvSpPr>
            <a:spLocks noGrp="1"/>
          </p:cNvSpPr>
          <p:nvPr>
            <p:ph type="body" sz="quarter" idx="13"/>
          </p:nvPr>
        </p:nvSpPr>
        <p:spPr>
          <a:xfrm>
            <a:off x="419100" y="1219200"/>
            <a:ext cx="11468100" cy="5478231"/>
          </a:xfrm>
        </p:spPr>
        <p:txBody>
          <a:bodyPr>
            <a:noAutofit/>
          </a:bodyPr>
          <a:lstStyle/>
          <a:p>
            <a:pPr marL="0" indent="0">
              <a:lnSpc>
                <a:spcPct val="150000"/>
              </a:lnSpc>
              <a:buNone/>
            </a:pPr>
            <a:r>
              <a:rPr lang="en-US" b="1" u="sng" dirty="0"/>
              <a:t>A </a:t>
            </a:r>
            <a:r>
              <a:rPr lang="en-US" b="1" u="sng" dirty="0" smtClean="0"/>
              <a:t>Development Pipeline</a:t>
            </a:r>
            <a:endParaRPr lang="en-US" b="1" u="sng" dirty="0"/>
          </a:p>
          <a:p>
            <a:pPr lvl="1">
              <a:lnSpc>
                <a:spcPct val="150000"/>
              </a:lnSpc>
              <a:buFont typeface="Wingdings" panose="05000000000000000000" pitchFamily="2" charset="2"/>
              <a:buChar char="Ø"/>
            </a:pPr>
            <a:r>
              <a:rPr lang="en-US" sz="1800" dirty="0"/>
              <a:t>creates code to process data for a new pipeline</a:t>
            </a:r>
          </a:p>
          <a:p>
            <a:pPr lvl="1">
              <a:lnSpc>
                <a:spcPct val="150000"/>
              </a:lnSpc>
              <a:buFont typeface="Wingdings" panose="05000000000000000000" pitchFamily="2" charset="2"/>
              <a:buChar char="Ø"/>
            </a:pPr>
            <a:endParaRPr lang="en-US" sz="1800" dirty="0"/>
          </a:p>
          <a:p>
            <a:pPr marL="0" indent="0">
              <a:lnSpc>
                <a:spcPct val="150000"/>
              </a:lnSpc>
              <a:buNone/>
            </a:pPr>
            <a:r>
              <a:rPr lang="en-US" b="1" u="sng" dirty="0"/>
              <a:t>An </a:t>
            </a:r>
            <a:r>
              <a:rPr lang="en-US" b="1" u="sng" dirty="0" smtClean="0"/>
              <a:t>Execution Pipeline </a:t>
            </a:r>
            <a:endParaRPr lang="en-US" b="1" u="sng" dirty="0"/>
          </a:p>
          <a:p>
            <a:pPr lvl="1">
              <a:lnSpc>
                <a:spcPct val="150000"/>
              </a:lnSpc>
              <a:buFont typeface="Wingdings" panose="05000000000000000000" pitchFamily="2" charset="2"/>
              <a:buChar char="Ø"/>
            </a:pPr>
            <a:r>
              <a:rPr lang="en-US" sz="1800" dirty="0"/>
              <a:t>runs the pipeline in production</a:t>
            </a:r>
          </a:p>
          <a:p>
            <a:pPr>
              <a:lnSpc>
                <a:spcPct val="150000"/>
              </a:lnSpc>
              <a:buFont typeface="Wingdings" panose="05000000000000000000" pitchFamily="2" charset="2"/>
              <a:buChar char="Ø"/>
            </a:pPr>
            <a:endParaRPr lang="en-US" dirty="0"/>
          </a:p>
          <a:p>
            <a:pPr marL="0" indent="0">
              <a:lnSpc>
                <a:spcPct val="150000"/>
              </a:lnSpc>
              <a:buNone/>
            </a:pPr>
            <a:r>
              <a:rPr lang="en-US" dirty="0"/>
              <a:t>In most IT shops</a:t>
            </a:r>
          </a:p>
          <a:p>
            <a:pPr lvl="1">
              <a:lnSpc>
                <a:spcPct val="150000"/>
              </a:lnSpc>
              <a:buFont typeface="Wingdings" panose="05000000000000000000" pitchFamily="2" charset="2"/>
              <a:buChar char="Ø"/>
            </a:pPr>
            <a:r>
              <a:rPr lang="en-US" sz="1800" dirty="0" smtClean="0"/>
              <a:t>These </a:t>
            </a:r>
            <a:r>
              <a:rPr lang="en-US" sz="1800" dirty="0"/>
              <a:t>are managed by different teams, creating tremendous inefficiencies</a:t>
            </a:r>
          </a:p>
          <a:p>
            <a:pPr lvl="1">
              <a:lnSpc>
                <a:spcPct val="150000"/>
              </a:lnSpc>
              <a:buFont typeface="Wingdings" panose="05000000000000000000" pitchFamily="2" charset="2"/>
              <a:buChar char="Ø"/>
            </a:pPr>
            <a:r>
              <a:rPr lang="en-US" sz="1800" dirty="0" smtClean="0"/>
              <a:t>Developers </a:t>
            </a:r>
            <a:r>
              <a:rPr lang="en-US" sz="1800" dirty="0"/>
              <a:t>can build or change code without being responsible for its downstream impacts</a:t>
            </a:r>
          </a:p>
          <a:p>
            <a:pPr lvl="1">
              <a:lnSpc>
                <a:spcPct val="150000"/>
              </a:lnSpc>
              <a:buFont typeface="Wingdings" panose="05000000000000000000" pitchFamily="2" charset="2"/>
              <a:buChar char="Ø"/>
            </a:pPr>
            <a:r>
              <a:rPr lang="en-US" sz="1800" dirty="0" smtClean="0"/>
              <a:t>Inevitably </a:t>
            </a:r>
            <a:r>
              <a:rPr lang="en-US" sz="1800" dirty="0"/>
              <a:t>increases error rates, delays delivery and frustrates business users</a:t>
            </a:r>
            <a:endParaRPr lang="en-IN" sz="1800" dirty="0"/>
          </a:p>
          <a:p>
            <a:pPr>
              <a:lnSpc>
                <a:spcPct val="15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388636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E30C8-D188-EE1A-4072-75E00E037117}"/>
              </a:ext>
            </a:extLst>
          </p:cNvPr>
          <p:cNvSpPr>
            <a:spLocks noGrp="1"/>
          </p:cNvSpPr>
          <p:nvPr>
            <p:ph type="title"/>
          </p:nvPr>
        </p:nvSpPr>
        <p:spPr/>
        <p:txBody>
          <a:bodyPr>
            <a:normAutofit/>
          </a:bodyPr>
          <a:lstStyle/>
          <a:p>
            <a:r>
              <a:rPr lang="en-US" dirty="0"/>
              <a:t>Development and Execution Pipelines</a:t>
            </a:r>
          </a:p>
        </p:txBody>
      </p:sp>
      <p:pic>
        <p:nvPicPr>
          <p:cNvPr id="5" name="Picture 4">
            <a:extLst>
              <a:ext uri="{FF2B5EF4-FFF2-40B4-BE49-F238E27FC236}">
                <a16:creationId xmlns:a16="http://schemas.microsoft.com/office/drawing/2014/main" id="{4F4E9540-6F9E-E137-ED2A-69F44227BA6E}"/>
              </a:ext>
            </a:extLst>
          </p:cNvPr>
          <p:cNvPicPr>
            <a:picLocks noChangeAspect="1"/>
          </p:cNvPicPr>
          <p:nvPr/>
        </p:nvPicPr>
        <p:blipFill>
          <a:blip r:embed="rId2"/>
          <a:stretch>
            <a:fillRect/>
          </a:stretch>
        </p:blipFill>
        <p:spPr>
          <a:xfrm>
            <a:off x="0" y="1066799"/>
            <a:ext cx="11811000" cy="5345941"/>
          </a:xfrm>
          <a:prstGeom prst="rect">
            <a:avLst/>
          </a:prstGeom>
        </p:spPr>
      </p:pic>
    </p:spTree>
    <p:extLst>
      <p:ext uri="{BB962C8B-B14F-4D97-AF65-F5344CB8AC3E}">
        <p14:creationId xmlns:p14="http://schemas.microsoft.com/office/powerpoint/2010/main" val="6395901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328F0-8D8D-A108-210B-CA931CE9FB86}"/>
              </a:ext>
            </a:extLst>
          </p:cNvPr>
          <p:cNvSpPr>
            <a:spLocks noGrp="1"/>
          </p:cNvSpPr>
          <p:nvPr>
            <p:ph type="title"/>
          </p:nvPr>
        </p:nvSpPr>
        <p:spPr/>
        <p:txBody>
          <a:bodyPr>
            <a:normAutofit/>
          </a:bodyPr>
          <a:lstStyle/>
          <a:p>
            <a:r>
              <a:rPr lang="en-IN" dirty="0"/>
              <a:t>Micro Pipeline</a:t>
            </a:r>
            <a:endParaRPr lang="en-US" dirty="0"/>
          </a:p>
        </p:txBody>
      </p:sp>
      <p:sp>
        <p:nvSpPr>
          <p:cNvPr id="5" name="Text Placeholder 2">
            <a:extLst>
              <a:ext uri="{FF2B5EF4-FFF2-40B4-BE49-F238E27FC236}">
                <a16:creationId xmlns:a16="http://schemas.microsoft.com/office/drawing/2014/main" id="{FB103908-7D0D-EC41-5F39-E90C6FCA3899}"/>
              </a:ext>
            </a:extLst>
          </p:cNvPr>
          <p:cNvSpPr>
            <a:spLocks noGrp="1"/>
          </p:cNvSpPr>
          <p:nvPr>
            <p:ph type="body" sz="quarter" idx="13"/>
          </p:nvPr>
        </p:nvSpPr>
        <p:spPr>
          <a:xfrm>
            <a:off x="0" y="1143000"/>
            <a:ext cx="12192000" cy="5715000"/>
          </a:xfrm>
        </p:spPr>
        <p:txBody>
          <a:bodyPr>
            <a:normAutofit fontScale="92500" lnSpcReduction="10000"/>
          </a:bodyPr>
          <a:lstStyle/>
          <a:p>
            <a:pPr marL="361950" indent="-361950">
              <a:lnSpc>
                <a:spcPct val="150000"/>
              </a:lnSpc>
              <a:buFont typeface="Wingdings" panose="05000000000000000000" pitchFamily="2" charset="2"/>
              <a:buChar char="Ø"/>
            </a:pPr>
            <a:r>
              <a:rPr lang="en-US" dirty="0"/>
              <a:t>To manage the complexity, it is better to divide individual stages into micro-pipelines </a:t>
            </a:r>
          </a:p>
          <a:p>
            <a:pPr marL="361950" indent="-361950">
              <a:lnSpc>
                <a:spcPct val="150000"/>
              </a:lnSpc>
              <a:buFont typeface="Wingdings" panose="05000000000000000000" pitchFamily="2" charset="2"/>
              <a:buChar char="Ø"/>
            </a:pPr>
            <a:r>
              <a:rPr lang="en-US" dirty="0"/>
              <a:t>to ensure that changes can be made to each step without disrupting the entire flow</a:t>
            </a:r>
          </a:p>
          <a:p>
            <a:pPr marL="361950" indent="-361950">
              <a:lnSpc>
                <a:spcPct val="150000"/>
              </a:lnSpc>
              <a:buNone/>
            </a:pPr>
            <a:r>
              <a:rPr lang="en-US" dirty="0"/>
              <a:t>The micro-pipelines consist of the following steps:</a:t>
            </a:r>
          </a:p>
          <a:p>
            <a:pPr marL="361950" indent="-361950">
              <a:lnSpc>
                <a:spcPct val="150000"/>
              </a:lnSpc>
              <a:buNone/>
            </a:pPr>
            <a:r>
              <a:rPr lang="en-US" b="1" u="sng" dirty="0"/>
              <a:t>Requirement</a:t>
            </a:r>
          </a:p>
          <a:p>
            <a:pPr marL="361950" indent="-361950">
              <a:lnSpc>
                <a:spcPct val="150000"/>
              </a:lnSpc>
              <a:buFont typeface="Wingdings" panose="05000000000000000000" pitchFamily="2" charset="2"/>
              <a:buChar char="Ø"/>
            </a:pPr>
            <a:r>
              <a:rPr lang="en-US" dirty="0"/>
              <a:t>Agile methods, such as Scrum and Kanban, elicit requirements from stakeholders in an iterative manner</a:t>
            </a:r>
          </a:p>
          <a:p>
            <a:pPr marL="361950" indent="-361950">
              <a:lnSpc>
                <a:spcPct val="150000"/>
              </a:lnSpc>
              <a:buFont typeface="Wingdings" panose="05000000000000000000" pitchFamily="2" charset="2"/>
              <a:buChar char="Ø"/>
            </a:pPr>
            <a:r>
              <a:rPr lang="en-US" dirty="0"/>
              <a:t>A requirement could be the integration of a new data source in an ETL process or the addition of a new field to a database table</a:t>
            </a:r>
          </a:p>
          <a:p>
            <a:pPr marL="361950" indent="-361950">
              <a:lnSpc>
                <a:spcPct val="150000"/>
              </a:lnSpc>
              <a:buNone/>
            </a:pPr>
            <a:r>
              <a:rPr lang="en-US" b="1" u="sng" dirty="0"/>
              <a:t>Development</a:t>
            </a:r>
          </a:p>
          <a:p>
            <a:pPr marL="361950" indent="-361950">
              <a:lnSpc>
                <a:spcPct val="150000"/>
              </a:lnSpc>
              <a:buFont typeface="Wingdings" panose="05000000000000000000" pitchFamily="2" charset="2"/>
              <a:buChar char="Ø"/>
            </a:pPr>
            <a:r>
              <a:rPr lang="en-US" dirty="0"/>
              <a:t>In data and analytics, development does not necessarily mean programming</a:t>
            </a:r>
          </a:p>
          <a:p>
            <a:pPr marL="361950" indent="-361950">
              <a:lnSpc>
                <a:spcPct val="150000"/>
              </a:lnSpc>
              <a:buFont typeface="Wingdings" panose="05000000000000000000" pitchFamily="2" charset="2"/>
              <a:buChar char="Ø"/>
            </a:pPr>
            <a:r>
              <a:rPr lang="en-US" dirty="0"/>
              <a:t>it can comprise tasks like changing a data model or reconfiguring a dash-board </a:t>
            </a:r>
          </a:p>
          <a:p>
            <a:pPr marL="361950" indent="-361950">
              <a:lnSpc>
                <a:spcPct val="150000"/>
              </a:lnSpc>
              <a:buFont typeface="Wingdings" panose="05000000000000000000" pitchFamily="2" charset="2"/>
              <a:buChar char="Ø"/>
            </a:pPr>
            <a:r>
              <a:rPr lang="en-US" dirty="0"/>
              <a:t>Requires a high level of automation</a:t>
            </a:r>
          </a:p>
          <a:p>
            <a:pPr marL="361950" indent="-361950">
              <a:lnSpc>
                <a:spcPct val="150000"/>
              </a:lnSpc>
              <a:buFont typeface="Wingdings" panose="05000000000000000000" pitchFamily="2" charset="2"/>
              <a:buChar char="Ø"/>
            </a:pPr>
            <a:r>
              <a:rPr lang="en-US" dirty="0"/>
              <a:t>e.g., automatically generating database queries when a model is changed, to avoid repetitive manual work</a:t>
            </a:r>
            <a:endParaRPr lang="en-IN" dirty="0"/>
          </a:p>
        </p:txBody>
      </p:sp>
    </p:spTree>
    <p:extLst>
      <p:ext uri="{BB962C8B-B14F-4D97-AF65-F5344CB8AC3E}">
        <p14:creationId xmlns:p14="http://schemas.microsoft.com/office/powerpoint/2010/main" val="329518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D5770-F53A-CA63-5A35-35756B9A4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9DE49-FF48-4D9C-AC67-71CCF1AF7F16}"/>
              </a:ext>
            </a:extLst>
          </p:cNvPr>
          <p:cNvSpPr>
            <a:spLocks noGrp="1"/>
          </p:cNvSpPr>
          <p:nvPr>
            <p:ph type="title"/>
          </p:nvPr>
        </p:nvSpPr>
        <p:spPr/>
        <p:txBody>
          <a:bodyPr>
            <a:normAutofit/>
          </a:bodyPr>
          <a:lstStyle/>
          <a:p>
            <a:r>
              <a:rPr lang="en-IN" dirty="0"/>
              <a:t>Micro Pipeline - Sample</a:t>
            </a:r>
            <a:endParaRPr lang="en-US" dirty="0"/>
          </a:p>
        </p:txBody>
      </p:sp>
      <p:pic>
        <p:nvPicPr>
          <p:cNvPr id="7" name="Picture 6">
            <a:extLst>
              <a:ext uri="{FF2B5EF4-FFF2-40B4-BE49-F238E27FC236}">
                <a16:creationId xmlns:a16="http://schemas.microsoft.com/office/drawing/2014/main" id="{8D4818F4-6E8D-CD96-F0F8-95E4F7E28932}"/>
              </a:ext>
            </a:extLst>
          </p:cNvPr>
          <p:cNvPicPr>
            <a:picLocks noChangeAspect="1"/>
          </p:cNvPicPr>
          <p:nvPr/>
        </p:nvPicPr>
        <p:blipFill>
          <a:blip r:embed="rId2"/>
          <a:stretch>
            <a:fillRect/>
          </a:stretch>
        </p:blipFill>
        <p:spPr>
          <a:xfrm>
            <a:off x="609600" y="1295400"/>
            <a:ext cx="9172575" cy="5038725"/>
          </a:xfrm>
          <a:prstGeom prst="rect">
            <a:avLst/>
          </a:prstGeom>
        </p:spPr>
      </p:pic>
    </p:spTree>
    <p:extLst>
      <p:ext uri="{BB962C8B-B14F-4D97-AF65-F5344CB8AC3E}">
        <p14:creationId xmlns:p14="http://schemas.microsoft.com/office/powerpoint/2010/main" val="22170336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1BFF2-1CD5-30B3-E0A4-BA0C02E1B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1C091-CC8F-466E-B883-16FA621515F6}"/>
              </a:ext>
            </a:extLst>
          </p:cNvPr>
          <p:cNvSpPr>
            <a:spLocks noGrp="1"/>
          </p:cNvSpPr>
          <p:nvPr>
            <p:ph type="title"/>
          </p:nvPr>
        </p:nvSpPr>
        <p:spPr>
          <a:xfrm>
            <a:off x="609600" y="1654969"/>
            <a:ext cx="11207750" cy="3548062"/>
          </a:xfrm>
        </p:spPr>
        <p:txBody>
          <a:bodyPr anchor="b">
            <a:normAutofit/>
          </a:bodyPr>
          <a:lstStyle/>
          <a:p>
            <a:r>
              <a:rPr lang="en-US" dirty="0"/>
              <a:t>Data Pipeline </a:t>
            </a:r>
            <a:br>
              <a:rPr lang="en-US" dirty="0"/>
            </a:br>
            <a:r>
              <a:rPr lang="en-US" dirty="0"/>
              <a:t>Tools / Platforms</a:t>
            </a:r>
          </a:p>
        </p:txBody>
      </p:sp>
    </p:spTree>
    <p:extLst>
      <p:ext uri="{BB962C8B-B14F-4D97-AF65-F5344CB8AC3E}">
        <p14:creationId xmlns:p14="http://schemas.microsoft.com/office/powerpoint/2010/main" val="41987110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2E523-A6CF-9AD2-00B6-1B64C0021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B12FBF-5603-1B57-5C29-0CF2D919733A}"/>
              </a:ext>
            </a:extLst>
          </p:cNvPr>
          <p:cNvSpPr>
            <a:spLocks noGrp="1"/>
          </p:cNvSpPr>
          <p:nvPr>
            <p:ph type="title"/>
          </p:nvPr>
        </p:nvSpPr>
        <p:spPr/>
        <p:txBody>
          <a:bodyPr>
            <a:normAutofit/>
          </a:bodyPr>
          <a:lstStyle/>
          <a:p>
            <a:r>
              <a:rPr lang="en-IN" dirty="0"/>
              <a:t>Considerations - Overall</a:t>
            </a:r>
            <a:endParaRPr lang="en-US" dirty="0"/>
          </a:p>
        </p:txBody>
      </p:sp>
      <p:sp>
        <p:nvSpPr>
          <p:cNvPr id="3" name="Text Placeholder 2">
            <a:extLst>
              <a:ext uri="{FF2B5EF4-FFF2-40B4-BE49-F238E27FC236}">
                <a16:creationId xmlns:a16="http://schemas.microsoft.com/office/drawing/2014/main" id="{A82B4135-9E73-C601-E204-04002A2A8104}"/>
              </a:ext>
            </a:extLst>
          </p:cNvPr>
          <p:cNvSpPr>
            <a:spLocks noGrp="1"/>
          </p:cNvSpPr>
          <p:nvPr>
            <p:ph type="body" sz="quarter" idx="13"/>
          </p:nvPr>
        </p:nvSpPr>
        <p:spPr>
          <a:xfrm>
            <a:off x="-8965" y="924933"/>
            <a:ext cx="12048565" cy="5592531"/>
          </a:xfrm>
        </p:spPr>
        <p:txBody>
          <a:bodyPr>
            <a:normAutofit/>
          </a:bodyPr>
          <a:lstStyle/>
          <a:p>
            <a:pPr marL="361950" indent="-361950" algn="just">
              <a:lnSpc>
                <a:spcPct val="150000"/>
              </a:lnSpc>
              <a:buFont typeface="Wingdings" panose="05000000000000000000" pitchFamily="2" charset="2"/>
              <a:buChar char="Ø"/>
            </a:pPr>
            <a:r>
              <a:rPr lang="en-US" dirty="0"/>
              <a:t>Building a single pipeline for a single purpose at a given time is no problem</a:t>
            </a:r>
          </a:p>
          <a:p>
            <a:pPr marL="361950" indent="-361950" algn="just">
              <a:lnSpc>
                <a:spcPct val="150000"/>
              </a:lnSpc>
              <a:buFont typeface="Wingdings" panose="05000000000000000000" pitchFamily="2" charset="2"/>
              <a:buChar char="Ø"/>
            </a:pPr>
            <a:r>
              <a:rPr lang="en-US" dirty="0"/>
              <a:t>Can grab a simple tool for setting up a data pipeline or hand code the steps</a:t>
            </a:r>
          </a:p>
          <a:p>
            <a:pPr marL="361950" indent="-361950" algn="just">
              <a:lnSpc>
                <a:spcPct val="100000"/>
              </a:lnSpc>
              <a:buFont typeface="Wingdings" panose="05000000000000000000" pitchFamily="2" charset="2"/>
              <a:buChar char="Ø"/>
            </a:pPr>
            <a:r>
              <a:rPr lang="en-US" dirty="0"/>
              <a:t>But how to scale that process to thousands of data pipelines in support of increasing demand for data across organization, over months or years? </a:t>
            </a:r>
          </a:p>
          <a:p>
            <a:pPr marL="361950" indent="-361950" algn="just">
              <a:lnSpc>
                <a:spcPct val="150000"/>
              </a:lnSpc>
              <a:buFont typeface="Wingdings" panose="05000000000000000000" pitchFamily="2" charset="2"/>
              <a:buChar char="Ø"/>
            </a:pPr>
            <a:r>
              <a:rPr lang="en-US" dirty="0"/>
              <a:t>When considering data pipeline tools, it is important to think ahead to where your data platform is headed. </a:t>
            </a:r>
          </a:p>
          <a:p>
            <a:pPr marL="361950" indent="-361950" algn="just">
              <a:lnSpc>
                <a:spcPct val="150000"/>
              </a:lnSpc>
              <a:buNone/>
            </a:pPr>
            <a:r>
              <a:rPr lang="en-US" b="1" u="sng" dirty="0"/>
              <a:t>Decision Basis</a:t>
            </a:r>
          </a:p>
          <a:p>
            <a:pPr marL="361950" indent="-361950" algn="just">
              <a:lnSpc>
                <a:spcPct val="110000"/>
              </a:lnSpc>
              <a:buFont typeface="Wingdings" panose="05000000000000000000" pitchFamily="2" charset="2"/>
              <a:buChar char="Ø"/>
            </a:pPr>
            <a:r>
              <a:rPr lang="en-US" dirty="0"/>
              <a:t>Are we grabbing data from one place to put it somewhere else? </a:t>
            </a:r>
            <a:r>
              <a:rPr lang="en-US" dirty="0" smtClean="0"/>
              <a:t>Or </a:t>
            </a:r>
            <a:r>
              <a:rPr lang="en-US" dirty="0"/>
              <a:t>do you need to transform it to fit the downstream analytics requirements? </a:t>
            </a:r>
          </a:p>
          <a:p>
            <a:pPr marL="361950" indent="-361950" algn="just">
              <a:lnSpc>
                <a:spcPct val="110000"/>
              </a:lnSpc>
              <a:buFont typeface="Wingdings" panose="05000000000000000000" pitchFamily="2" charset="2"/>
              <a:buChar char="Ø"/>
            </a:pPr>
            <a:r>
              <a:rPr lang="en-US" dirty="0"/>
              <a:t>Is our data environment stable and fully under your control? Or is it dynamic and pulling data from systems or apps outside of your control?</a:t>
            </a:r>
          </a:p>
          <a:p>
            <a:pPr marL="361950" indent="-361950" algn="just">
              <a:lnSpc>
                <a:spcPct val="110000"/>
              </a:lnSpc>
              <a:buFont typeface="Wingdings" panose="05000000000000000000" pitchFamily="2" charset="2"/>
              <a:buChar char="Ø"/>
            </a:pPr>
            <a:r>
              <a:rPr lang="en-US" dirty="0"/>
              <a:t>Will the pipeline move data once, for a short-term analysis project? Or will the pipelines you build need to be operationalized to handle data flows over time? </a:t>
            </a:r>
            <a:endParaRPr lang="en-IN" dirty="0"/>
          </a:p>
        </p:txBody>
      </p:sp>
    </p:spTree>
    <p:extLst>
      <p:ext uri="{BB962C8B-B14F-4D97-AF65-F5344CB8AC3E}">
        <p14:creationId xmlns:p14="http://schemas.microsoft.com/office/powerpoint/2010/main" val="363960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F9AB4-31E7-2EEA-25EA-4A9ED2A3A86F}"/>
              </a:ext>
            </a:extLst>
          </p:cNvPr>
          <p:cNvSpPr>
            <a:spLocks noGrp="1"/>
          </p:cNvSpPr>
          <p:nvPr>
            <p:ph type="title"/>
          </p:nvPr>
        </p:nvSpPr>
        <p:spPr/>
        <p:txBody>
          <a:bodyPr>
            <a:normAutofit fontScale="90000"/>
          </a:bodyPr>
          <a:lstStyle/>
          <a:p>
            <a:pPr>
              <a:lnSpc>
                <a:spcPct val="150000"/>
              </a:lnSpc>
            </a:pPr>
            <a:r>
              <a:rPr lang="en-US" dirty="0"/>
              <a:t>Data Ingestion and Data Loading Tools</a:t>
            </a:r>
          </a:p>
        </p:txBody>
      </p:sp>
      <p:sp>
        <p:nvSpPr>
          <p:cNvPr id="3" name="Text Placeholder 2">
            <a:extLst>
              <a:ext uri="{FF2B5EF4-FFF2-40B4-BE49-F238E27FC236}">
                <a16:creationId xmlns:a16="http://schemas.microsoft.com/office/drawing/2014/main" id="{99A74D3A-8E2E-CD7B-EBA1-41D65DAA7B7C}"/>
              </a:ext>
            </a:extLst>
          </p:cNvPr>
          <p:cNvSpPr>
            <a:spLocks noGrp="1"/>
          </p:cNvSpPr>
          <p:nvPr>
            <p:ph type="body" sz="quarter" idx="13"/>
          </p:nvPr>
        </p:nvSpPr>
        <p:spPr>
          <a:xfrm>
            <a:off x="0" y="1001134"/>
            <a:ext cx="11887200" cy="4256666"/>
          </a:xfrm>
        </p:spPr>
        <p:txBody>
          <a:bodyPr/>
          <a:lstStyle/>
          <a:p>
            <a:pPr marL="361950" indent="-361950">
              <a:lnSpc>
                <a:spcPct val="100000"/>
              </a:lnSpc>
              <a:buFont typeface="Wingdings" panose="05000000000000000000" pitchFamily="2" charset="2"/>
              <a:buChar char="Ø"/>
            </a:pPr>
            <a:r>
              <a:rPr lang="en-US" dirty="0"/>
              <a:t>These tools make data pipelines easy to set up, easy to build, and easy to deploy solve the “under construction” issue</a:t>
            </a:r>
          </a:p>
          <a:p>
            <a:pPr marL="361950" indent="-361950" algn="just">
              <a:lnSpc>
                <a:spcPct val="100000"/>
              </a:lnSpc>
              <a:buFont typeface="Wingdings" panose="05000000000000000000" pitchFamily="2" charset="2"/>
              <a:buChar char="Ø"/>
            </a:pPr>
            <a:endParaRPr lang="en-US" dirty="0" smtClean="0"/>
          </a:p>
          <a:p>
            <a:pPr marL="361950" indent="-361950" algn="just">
              <a:lnSpc>
                <a:spcPct val="100000"/>
              </a:lnSpc>
              <a:buFont typeface="Wingdings" panose="05000000000000000000" pitchFamily="2" charset="2"/>
              <a:buChar char="Ø"/>
            </a:pPr>
            <a:r>
              <a:rPr lang="en-US" dirty="0" smtClean="0"/>
              <a:t>But </a:t>
            </a:r>
            <a:r>
              <a:rPr lang="en-US" dirty="0"/>
              <a:t>only if you can count on your data scientists to do the data prep work </a:t>
            </a:r>
            <a:r>
              <a:rPr lang="en-US" dirty="0" smtClean="0"/>
              <a:t>later</a:t>
            </a:r>
          </a:p>
          <a:p>
            <a:pPr marL="361950" indent="-361950" algn="just">
              <a:lnSpc>
                <a:spcPct val="100000"/>
              </a:lnSpc>
              <a:buFont typeface="Wingdings" panose="05000000000000000000" pitchFamily="2" charset="2"/>
              <a:buChar char="Ø"/>
            </a:pPr>
            <a:endParaRPr lang="en-US" dirty="0"/>
          </a:p>
          <a:p>
            <a:pPr marL="361950" indent="-361950">
              <a:lnSpc>
                <a:spcPct val="100000"/>
              </a:lnSpc>
              <a:buFont typeface="Wingdings" panose="05000000000000000000" pitchFamily="2" charset="2"/>
              <a:buChar char="Ø"/>
            </a:pPr>
            <a:r>
              <a:rPr lang="en-US" dirty="0"/>
              <a:t>Only support the most basic transformations and work best for simply copying data</a:t>
            </a:r>
          </a:p>
          <a:p>
            <a:pPr marL="361950" indent="-361950">
              <a:lnSpc>
                <a:spcPct val="100000"/>
              </a:lnSpc>
              <a:buFont typeface="Wingdings" panose="05000000000000000000" pitchFamily="2" charset="2"/>
              <a:buChar char="Ø"/>
            </a:pPr>
            <a:endParaRPr lang="en-US" dirty="0" smtClean="0"/>
          </a:p>
          <a:p>
            <a:pPr marL="361950" indent="-361950">
              <a:lnSpc>
                <a:spcPct val="100000"/>
              </a:lnSpc>
              <a:buFont typeface="Wingdings" panose="05000000000000000000" pitchFamily="2" charset="2"/>
              <a:buChar char="Ø"/>
            </a:pPr>
            <a:r>
              <a:rPr lang="en-US" dirty="0" smtClean="0"/>
              <a:t>Instead </a:t>
            </a:r>
            <a:r>
              <a:rPr lang="en-US" dirty="0"/>
              <a:t>of being intent-driven, these data pipelines are rigid and embedded with the specifics of data structure and semantics</a:t>
            </a:r>
          </a:p>
          <a:p>
            <a:pPr marL="361950" indent="-361950">
              <a:lnSpc>
                <a:spcPct val="100000"/>
              </a:lnSpc>
              <a:buFont typeface="Wingdings" panose="05000000000000000000" pitchFamily="2" charset="2"/>
              <a:buChar char="Ø"/>
            </a:pPr>
            <a:endParaRPr lang="en-US" dirty="0" smtClean="0"/>
          </a:p>
          <a:p>
            <a:pPr marL="361950" indent="-361950">
              <a:lnSpc>
                <a:spcPct val="100000"/>
              </a:lnSpc>
              <a:buFont typeface="Wingdings" panose="05000000000000000000" pitchFamily="2" charset="2"/>
              <a:buChar char="Ø"/>
            </a:pPr>
            <a:r>
              <a:rPr lang="en-US" dirty="0" smtClean="0"/>
              <a:t>Instead </a:t>
            </a:r>
            <a:r>
              <a:rPr lang="en-US" dirty="0"/>
              <a:t>of adapting to change when data drift happens, they have to be rebuilt and deployed again</a:t>
            </a:r>
            <a:endParaRPr lang="en-IN" dirty="0"/>
          </a:p>
          <a:p>
            <a:pPr marL="361950" indent="-361950">
              <a:lnSpc>
                <a:spcPct val="100000"/>
              </a:lnSpc>
              <a:buNone/>
            </a:pPr>
            <a:endParaRPr lang="en-IN" b="1" u="sng" dirty="0"/>
          </a:p>
        </p:txBody>
      </p:sp>
    </p:spTree>
    <p:extLst>
      <p:ext uri="{BB962C8B-B14F-4D97-AF65-F5344CB8AC3E}">
        <p14:creationId xmlns:p14="http://schemas.microsoft.com/office/powerpoint/2010/main" val="256936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AD406-EB9D-70AA-E469-C8F29CA21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CF558-C888-D5C2-7001-9659518012E2}"/>
              </a:ext>
            </a:extLst>
          </p:cNvPr>
          <p:cNvSpPr>
            <a:spLocks noGrp="1"/>
          </p:cNvSpPr>
          <p:nvPr>
            <p:ph type="title"/>
          </p:nvPr>
        </p:nvSpPr>
        <p:spPr/>
        <p:txBody>
          <a:bodyPr>
            <a:normAutofit fontScale="90000"/>
          </a:bodyPr>
          <a:lstStyle/>
          <a:p>
            <a:r>
              <a:rPr lang="en-IN" dirty="0"/>
              <a:t>Data Integration, Data Transformation Platforms</a:t>
            </a:r>
          </a:p>
        </p:txBody>
      </p:sp>
      <p:sp>
        <p:nvSpPr>
          <p:cNvPr id="3" name="Text Placeholder 2">
            <a:extLst>
              <a:ext uri="{FF2B5EF4-FFF2-40B4-BE49-F238E27FC236}">
                <a16:creationId xmlns:a16="http://schemas.microsoft.com/office/drawing/2014/main" id="{627572E0-33E8-32A3-DFFC-7E1943491A59}"/>
              </a:ext>
            </a:extLst>
          </p:cNvPr>
          <p:cNvSpPr>
            <a:spLocks noGrp="1"/>
          </p:cNvSpPr>
          <p:nvPr>
            <p:ph type="body" sz="quarter" idx="13"/>
          </p:nvPr>
        </p:nvSpPr>
        <p:spPr>
          <a:xfrm>
            <a:off x="0" y="1001134"/>
            <a:ext cx="11963400" cy="4256666"/>
          </a:xfrm>
        </p:spPr>
        <p:txBody>
          <a:bodyPr/>
          <a:lstStyle/>
          <a:p>
            <a:pPr marL="361950" indent="-361950" algn="just">
              <a:lnSpc>
                <a:spcPct val="100000"/>
              </a:lnSpc>
              <a:buFont typeface="Wingdings" panose="05000000000000000000" pitchFamily="2" charset="2"/>
              <a:buChar char="Ø"/>
            </a:pPr>
            <a:r>
              <a:rPr lang="en-US" dirty="0"/>
              <a:t>More complex data integration or ETL software may have a solution for every possible scenario with hundreds of connectors, integrations, and </a:t>
            </a:r>
            <a:r>
              <a:rPr lang="en-US" dirty="0" smtClean="0"/>
              <a:t>transformations</a:t>
            </a:r>
          </a:p>
          <a:p>
            <a:pPr marL="361950" indent="-361950" algn="just">
              <a:lnSpc>
                <a:spcPct val="100000"/>
              </a:lnSpc>
              <a:buFont typeface="Wingdings" panose="05000000000000000000" pitchFamily="2" charset="2"/>
              <a:buChar char="Ø"/>
            </a:pPr>
            <a:endParaRPr lang="en-US" dirty="0"/>
          </a:p>
          <a:p>
            <a:pPr marL="361950" indent="-361950" algn="just">
              <a:lnSpc>
                <a:spcPct val="100000"/>
              </a:lnSpc>
              <a:buFont typeface="Wingdings" panose="05000000000000000000" pitchFamily="2" charset="2"/>
              <a:buChar char="Ø"/>
            </a:pPr>
            <a:r>
              <a:rPr lang="en-US" dirty="0"/>
              <a:t>But these platforms were designed for an era when data drift hardly </a:t>
            </a:r>
            <a:r>
              <a:rPr lang="en-US" dirty="0" smtClean="0"/>
              <a:t>happened</a:t>
            </a:r>
          </a:p>
          <a:p>
            <a:pPr marL="361950" indent="-361950" algn="just">
              <a:lnSpc>
                <a:spcPct val="100000"/>
              </a:lnSpc>
              <a:buFont typeface="Wingdings" panose="05000000000000000000" pitchFamily="2" charset="2"/>
              <a:buChar char="Ø"/>
            </a:pPr>
            <a:endParaRPr lang="en-US" dirty="0"/>
          </a:p>
          <a:p>
            <a:pPr marL="361950" indent="-361950" algn="just">
              <a:lnSpc>
                <a:spcPct val="100000"/>
              </a:lnSpc>
              <a:buFont typeface="Wingdings" panose="05000000000000000000" pitchFamily="2" charset="2"/>
              <a:buChar char="Ø"/>
            </a:pPr>
            <a:r>
              <a:rPr lang="en-US" dirty="0"/>
              <a:t>Things stayed the same for </a:t>
            </a:r>
            <a:r>
              <a:rPr lang="en-US" dirty="0" smtClean="0"/>
              <a:t>years</a:t>
            </a:r>
          </a:p>
          <a:p>
            <a:pPr marL="361950" indent="-361950" algn="just">
              <a:lnSpc>
                <a:spcPct val="100000"/>
              </a:lnSpc>
              <a:buFont typeface="Wingdings" panose="05000000000000000000" pitchFamily="2" charset="2"/>
              <a:buChar char="Ø"/>
            </a:pPr>
            <a:endParaRPr lang="en-US" dirty="0"/>
          </a:p>
          <a:p>
            <a:pPr marL="361950" indent="-361950" algn="just">
              <a:lnSpc>
                <a:spcPct val="100000"/>
              </a:lnSpc>
              <a:buFont typeface="Wingdings" panose="05000000000000000000" pitchFamily="2" charset="2"/>
              <a:buChar char="Ø"/>
            </a:pPr>
            <a:r>
              <a:rPr lang="en-US" dirty="0"/>
              <a:t>At the first hint of change, these data pipelines break and require massive </a:t>
            </a:r>
            <a:r>
              <a:rPr lang="en-US" dirty="0" smtClean="0"/>
              <a:t>rework</a:t>
            </a:r>
          </a:p>
          <a:p>
            <a:pPr marL="361950" indent="-361950" algn="just">
              <a:lnSpc>
                <a:spcPct val="100000"/>
              </a:lnSpc>
              <a:buFont typeface="Wingdings" panose="05000000000000000000" pitchFamily="2" charset="2"/>
              <a:buChar char="Ø"/>
            </a:pPr>
            <a:endParaRPr lang="en-US" dirty="0"/>
          </a:p>
          <a:p>
            <a:pPr marL="361950" indent="-361950" algn="just">
              <a:lnSpc>
                <a:spcPct val="100000"/>
              </a:lnSpc>
              <a:buFont typeface="Wingdings" panose="05000000000000000000" pitchFamily="2" charset="2"/>
              <a:buChar char="Ø"/>
            </a:pPr>
            <a:r>
              <a:rPr lang="en-US" dirty="0"/>
              <a:t>The demands for digital transformation are moving fast and planning for every possible outcome may not be possible</a:t>
            </a:r>
            <a:endParaRPr lang="en-IN" dirty="0"/>
          </a:p>
        </p:txBody>
      </p:sp>
    </p:spTree>
    <p:extLst>
      <p:ext uri="{BB962C8B-B14F-4D97-AF65-F5344CB8AC3E}">
        <p14:creationId xmlns:p14="http://schemas.microsoft.com/office/powerpoint/2010/main" val="2083135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3566C-68D4-74D8-DD37-88D4E039F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25671-B9E3-5A8A-F85A-3688B88C4F2C}"/>
              </a:ext>
            </a:extLst>
          </p:cNvPr>
          <p:cNvSpPr>
            <a:spLocks noGrp="1"/>
          </p:cNvSpPr>
          <p:nvPr>
            <p:ph type="title"/>
          </p:nvPr>
        </p:nvSpPr>
        <p:spPr/>
        <p:txBody>
          <a:bodyPr>
            <a:normAutofit/>
          </a:bodyPr>
          <a:lstStyle/>
          <a:p>
            <a:r>
              <a:rPr lang="en-IN" dirty="0"/>
              <a:t>Data Engineering Platforms</a:t>
            </a:r>
          </a:p>
        </p:txBody>
      </p:sp>
      <p:sp>
        <p:nvSpPr>
          <p:cNvPr id="3" name="Text Placeholder 2">
            <a:extLst>
              <a:ext uri="{FF2B5EF4-FFF2-40B4-BE49-F238E27FC236}">
                <a16:creationId xmlns:a16="http://schemas.microsoft.com/office/drawing/2014/main" id="{EA5D285B-0FAA-E63A-FBD2-C13F9CCC1CEE}"/>
              </a:ext>
            </a:extLst>
          </p:cNvPr>
          <p:cNvSpPr>
            <a:spLocks noGrp="1"/>
          </p:cNvSpPr>
          <p:nvPr>
            <p:ph type="body" sz="quarter" idx="13"/>
          </p:nvPr>
        </p:nvSpPr>
        <p:spPr>
          <a:xfrm>
            <a:off x="0" y="1001134"/>
            <a:ext cx="12192000" cy="5475866"/>
          </a:xfrm>
        </p:spPr>
        <p:txBody>
          <a:bodyPr>
            <a:normAutofit fontScale="92500" lnSpcReduction="20000"/>
          </a:bodyPr>
          <a:lstStyle/>
          <a:p>
            <a:pPr marL="361950" indent="-361950" algn="just">
              <a:lnSpc>
                <a:spcPct val="150000"/>
              </a:lnSpc>
              <a:buNone/>
            </a:pPr>
            <a:r>
              <a:rPr lang="en-US" dirty="0"/>
              <a:t>A data engineering platform builds smart data pipelines according to </a:t>
            </a:r>
            <a:r>
              <a:rPr lang="en-US" dirty="0" err="1"/>
              <a:t>DataOps</a:t>
            </a:r>
            <a:r>
              <a:rPr lang="en-US" dirty="0"/>
              <a:t> principles</a:t>
            </a:r>
          </a:p>
          <a:p>
            <a:pPr marL="361950" indent="-361950" algn="just">
              <a:lnSpc>
                <a:spcPct val="150000"/>
              </a:lnSpc>
              <a:buFont typeface="Wingdings" panose="05000000000000000000" pitchFamily="2" charset="2"/>
              <a:buChar char="Ø"/>
            </a:pPr>
            <a:r>
              <a:rPr lang="en-US" dirty="0"/>
              <a:t>Smart data pipelines abstract away the “how” so you can focus on the what, who, and where of the data</a:t>
            </a:r>
          </a:p>
          <a:p>
            <a:pPr marL="361950" indent="-361950" algn="just">
              <a:lnSpc>
                <a:spcPct val="150000"/>
              </a:lnSpc>
              <a:buFont typeface="Wingdings" panose="05000000000000000000" pitchFamily="2" charset="2"/>
              <a:buChar char="Ø"/>
            </a:pPr>
            <a:r>
              <a:rPr lang="en-US" dirty="0"/>
              <a:t>This is the fundamental difference between data integration and data engineering</a:t>
            </a:r>
          </a:p>
          <a:p>
            <a:pPr marL="361950" indent="-361950" algn="just">
              <a:lnSpc>
                <a:spcPct val="150000"/>
              </a:lnSpc>
            </a:pPr>
            <a:endParaRPr lang="en-US" dirty="0"/>
          </a:p>
          <a:p>
            <a:pPr marL="361950" indent="-361950" algn="just">
              <a:lnSpc>
                <a:spcPct val="150000"/>
              </a:lnSpc>
              <a:buNone/>
            </a:pPr>
            <a:r>
              <a:rPr lang="en-US" dirty="0"/>
              <a:t>Instead of being perpetually under construction, out of order, or limited to a single platform</a:t>
            </a:r>
          </a:p>
          <a:p>
            <a:pPr marL="361950" indent="-361950" algn="just">
              <a:lnSpc>
                <a:spcPct val="150000"/>
              </a:lnSpc>
              <a:buFont typeface="Wingdings" panose="05000000000000000000" pitchFamily="2" charset="2"/>
              <a:buChar char="Ø"/>
            </a:pPr>
            <a:r>
              <a:rPr lang="en-US" dirty="0" smtClean="0"/>
              <a:t>Smart </a:t>
            </a:r>
            <a:r>
              <a:rPr lang="en-US" dirty="0"/>
              <a:t>data pipelines allow you to move fast with confidence that your data will continue to flow with little to no intervention</a:t>
            </a:r>
          </a:p>
          <a:p>
            <a:pPr marL="361950" indent="-361950" algn="just">
              <a:lnSpc>
                <a:spcPct val="150000"/>
              </a:lnSpc>
            </a:pPr>
            <a:endParaRPr lang="en-US" dirty="0"/>
          </a:p>
          <a:p>
            <a:pPr marL="361950" indent="-361950" algn="just">
              <a:lnSpc>
                <a:spcPct val="150000"/>
              </a:lnSpc>
              <a:buNone/>
            </a:pPr>
            <a:r>
              <a:rPr lang="en-US" dirty="0" err="1"/>
              <a:t>DataOps</a:t>
            </a:r>
            <a:r>
              <a:rPr lang="en-US" dirty="0"/>
              <a:t> tools allow us to:</a:t>
            </a:r>
          </a:p>
          <a:p>
            <a:pPr marL="361950" indent="-361950" algn="just">
              <a:lnSpc>
                <a:spcPct val="150000"/>
              </a:lnSpc>
              <a:buFont typeface="Wingdings" panose="05000000000000000000" pitchFamily="2" charset="2"/>
              <a:buChar char="Ø"/>
            </a:pPr>
            <a:r>
              <a:rPr lang="en-US" dirty="0"/>
              <a:t>Design and deploy data pipelines in hours, not weeks or months</a:t>
            </a:r>
          </a:p>
          <a:p>
            <a:pPr marL="361950" indent="-361950" algn="just">
              <a:lnSpc>
                <a:spcPct val="150000"/>
              </a:lnSpc>
              <a:buFont typeface="Wingdings" panose="05000000000000000000" pitchFamily="2" charset="2"/>
              <a:buChar char="Ø"/>
            </a:pPr>
            <a:r>
              <a:rPr lang="en-US" dirty="0"/>
              <a:t>Build in as much resiliency as possible to handle changes </a:t>
            </a:r>
          </a:p>
          <a:p>
            <a:pPr marL="361950" indent="-361950" algn="just">
              <a:lnSpc>
                <a:spcPct val="150000"/>
              </a:lnSpc>
              <a:buFont typeface="Wingdings" panose="05000000000000000000" pitchFamily="2" charset="2"/>
              <a:buChar char="Ø"/>
            </a:pPr>
            <a:r>
              <a:rPr lang="en-US" dirty="0"/>
              <a:t>Adopt to new platforms by pointing to them, a task that takes minutes not months</a:t>
            </a:r>
            <a:endParaRPr lang="en-IN" dirty="0"/>
          </a:p>
        </p:txBody>
      </p:sp>
    </p:spTree>
    <p:extLst>
      <p:ext uri="{BB962C8B-B14F-4D97-AF65-F5344CB8AC3E}">
        <p14:creationId xmlns:p14="http://schemas.microsoft.com/office/powerpoint/2010/main" val="271937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49C23-4157-AC3B-36D1-854D37662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260D6-040C-C64E-D093-37551C902802}"/>
              </a:ext>
            </a:extLst>
          </p:cNvPr>
          <p:cNvSpPr>
            <a:spLocks noGrp="1"/>
          </p:cNvSpPr>
          <p:nvPr>
            <p:ph type="title"/>
          </p:nvPr>
        </p:nvSpPr>
        <p:spPr/>
        <p:txBody>
          <a:bodyPr/>
          <a:lstStyle/>
          <a:p>
            <a:r>
              <a:rPr lang="en-US" dirty="0"/>
              <a:t>Use Cases-</a:t>
            </a:r>
            <a:r>
              <a:rPr lang="en-US" dirty="0" err="1"/>
              <a:t>Contd</a:t>
            </a:r>
            <a:endParaRPr lang="en-US" dirty="0"/>
          </a:p>
        </p:txBody>
      </p:sp>
      <p:sp>
        <p:nvSpPr>
          <p:cNvPr id="3" name="Text Placeholder 2">
            <a:extLst>
              <a:ext uri="{FF2B5EF4-FFF2-40B4-BE49-F238E27FC236}">
                <a16:creationId xmlns:a16="http://schemas.microsoft.com/office/drawing/2014/main" id="{DC603AA7-14B2-D9D9-3089-69D9E4B2941C}"/>
              </a:ext>
            </a:extLst>
          </p:cNvPr>
          <p:cNvSpPr>
            <a:spLocks noGrp="1"/>
          </p:cNvSpPr>
          <p:nvPr>
            <p:ph type="body" sz="quarter" idx="13"/>
          </p:nvPr>
        </p:nvSpPr>
        <p:spPr>
          <a:xfrm>
            <a:off x="152401" y="960792"/>
            <a:ext cx="11811000" cy="5736639"/>
          </a:xfrm>
        </p:spPr>
        <p:txBody>
          <a:bodyPr>
            <a:normAutofit/>
          </a:bodyPr>
          <a:lstStyle/>
          <a:p>
            <a:pPr marL="0" indent="0" algn="just">
              <a:lnSpc>
                <a:spcPct val="150000"/>
              </a:lnSpc>
              <a:buNone/>
            </a:pPr>
            <a:r>
              <a:rPr lang="en-US" b="1" u="sng" dirty="0"/>
              <a:t>Logistics and supply chain optimization</a:t>
            </a:r>
          </a:p>
          <a:p>
            <a:pPr marL="0" indent="0" algn="just">
              <a:lnSpc>
                <a:spcPct val="150000"/>
              </a:lnSpc>
              <a:buNone/>
            </a:pPr>
            <a:r>
              <a:rPr lang="en-US" dirty="0"/>
              <a:t>By integrating </a:t>
            </a:r>
            <a:r>
              <a:rPr lang="en-US" dirty="0" err="1"/>
              <a:t>Fivetran</a:t>
            </a:r>
            <a:r>
              <a:rPr lang="en-US" dirty="0"/>
              <a:t> for data ingestion and </a:t>
            </a:r>
            <a:r>
              <a:rPr lang="en-US" dirty="0" err="1"/>
              <a:t>dbt</a:t>
            </a:r>
            <a:r>
              <a:rPr lang="en-US" dirty="0"/>
              <a:t> for transformation, companies can monitor inventory in real time and predict disruptions. This integration can lead to faster fulfillment, reduced costs and improved </a:t>
            </a:r>
            <a:r>
              <a:rPr lang="en-US" dirty="0">
                <a:hlinkClick r:id="rId2"/>
              </a:rPr>
              <a:t>demand planning </a:t>
            </a:r>
            <a:r>
              <a:rPr lang="en-US" dirty="0"/>
              <a:t>in industries such as retail, manufacturing and transportation.</a:t>
            </a:r>
          </a:p>
          <a:p>
            <a:pPr marL="0" indent="0" algn="just">
              <a:lnSpc>
                <a:spcPct val="150000"/>
              </a:lnSpc>
              <a:buNone/>
            </a:pPr>
            <a:endParaRPr lang="en-US" dirty="0"/>
          </a:p>
          <a:p>
            <a:pPr marL="0" indent="0">
              <a:buNone/>
            </a:pPr>
            <a:r>
              <a:rPr lang="en-US" b="1" u="sng" dirty="0"/>
              <a:t>Fraud detection and risk management</a:t>
            </a:r>
          </a:p>
          <a:p>
            <a:pPr marL="0" indent="0" algn="just">
              <a:lnSpc>
                <a:spcPct val="150000"/>
              </a:lnSpc>
              <a:buNone/>
            </a:pPr>
            <a:r>
              <a:rPr lang="en-US" dirty="0"/>
              <a:t>Financial institutions and e-commerce platforms use MDS to detect fraud and prevent </a:t>
            </a:r>
            <a:r>
              <a:rPr lang="en-US" dirty="0">
                <a:hlinkClick r:id="rId3"/>
              </a:rPr>
              <a:t>data breaches</a:t>
            </a:r>
            <a:r>
              <a:rPr lang="en-US" dirty="0"/>
              <a:t>. By using ML models, </a:t>
            </a:r>
            <a:r>
              <a:rPr lang="en-US" dirty="0">
                <a:hlinkClick r:id="rId4"/>
              </a:rPr>
              <a:t>application programming interfaces</a:t>
            </a:r>
            <a:r>
              <a:rPr lang="en-US" dirty="0"/>
              <a:t> (APIs) and services such as Amazon Redshift, organizations can identify suspicious transactions and automate fraud detection.</a:t>
            </a:r>
          </a:p>
        </p:txBody>
      </p:sp>
    </p:spTree>
    <p:extLst>
      <p:ext uri="{BB962C8B-B14F-4D97-AF65-F5344CB8AC3E}">
        <p14:creationId xmlns:p14="http://schemas.microsoft.com/office/powerpoint/2010/main" val="421141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C736-48AF-F9D5-AE8B-550E4D7C669A}"/>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01CF7771-506F-AA5E-D539-3C3CF0998C38}"/>
              </a:ext>
            </a:extLst>
          </p:cNvPr>
          <p:cNvSpPr>
            <a:spLocks noGrp="1"/>
          </p:cNvSpPr>
          <p:nvPr>
            <p:ph type="body" sz="quarter" idx="13"/>
          </p:nvPr>
        </p:nvSpPr>
        <p:spPr>
          <a:xfrm>
            <a:off x="533400" y="1143000"/>
            <a:ext cx="10160000" cy="5029200"/>
          </a:xfrm>
        </p:spPr>
        <p:txBody>
          <a:bodyPr>
            <a:normAutofit/>
          </a:bodyPr>
          <a:lstStyle/>
          <a:p>
            <a:r>
              <a:rPr lang="en-US" dirty="0"/>
              <a:t>Designing Data Intensive Applications by Martin </a:t>
            </a:r>
            <a:r>
              <a:rPr lang="en-US" dirty="0" err="1"/>
              <a:t>Kleppmann</a:t>
            </a:r>
            <a:r>
              <a:rPr lang="en-US" dirty="0"/>
              <a:t> </a:t>
            </a:r>
          </a:p>
          <a:p>
            <a:r>
              <a:rPr lang="en-US" dirty="0">
                <a:hlinkClick r:id="rId2"/>
              </a:rPr>
              <a:t>https://www.ibm.com/think/topics/data-pipeline</a:t>
            </a:r>
            <a:r>
              <a:rPr lang="en-US" dirty="0"/>
              <a:t> </a:t>
            </a:r>
          </a:p>
          <a:p>
            <a:r>
              <a:rPr lang="en-US" dirty="0">
                <a:hlinkClick r:id="rId3"/>
              </a:rPr>
              <a:t>https://medium.com/@andymadson/the-evolution-of-data-pipelines-from-etl-to-elt-and-beyond-2e04deac7062</a:t>
            </a:r>
            <a:r>
              <a:rPr lang="en-US" dirty="0"/>
              <a:t> 	</a:t>
            </a:r>
          </a:p>
          <a:p>
            <a:r>
              <a:rPr lang="en-US" dirty="0">
                <a:hlinkClick r:id="rId4"/>
              </a:rPr>
              <a:t>https://www.infoworld.com/article/2158174/what-is-service-oriented-architecture.html</a:t>
            </a:r>
            <a:r>
              <a:rPr lang="en-US" dirty="0"/>
              <a:t> </a:t>
            </a:r>
          </a:p>
          <a:p>
            <a:r>
              <a:rPr lang="en-US" dirty="0">
                <a:hlinkClick r:id="rId5"/>
              </a:rPr>
              <a:t>https://www.altexsoft.com/blog/data-pipeline-components-and-types/</a:t>
            </a:r>
            <a:r>
              <a:rPr lang="en-US" dirty="0"/>
              <a:t> </a:t>
            </a:r>
          </a:p>
          <a:p>
            <a:r>
              <a:rPr lang="en-US" dirty="0">
                <a:hlinkClick r:id="rId6"/>
              </a:rPr>
              <a:t>https://underthehood.meltwater.com/blog/2019/07/12/micro-pipelines-analyzing-big-data-with-tiny-apps/</a:t>
            </a:r>
            <a:r>
              <a:rPr lang="en-US" dirty="0"/>
              <a:t> </a:t>
            </a:r>
          </a:p>
          <a:p>
            <a:r>
              <a:rPr lang="en-US" dirty="0">
                <a:hlinkClick r:id="rId7"/>
              </a:rPr>
              <a:t>https://www.ibm.com/think/topics/modern-data-stack</a:t>
            </a:r>
            <a:r>
              <a:rPr lang="en-US" dirty="0"/>
              <a:t> </a:t>
            </a:r>
          </a:p>
        </p:txBody>
      </p:sp>
    </p:spTree>
    <p:extLst>
      <p:ext uri="{BB962C8B-B14F-4D97-AF65-F5344CB8AC3E}">
        <p14:creationId xmlns:p14="http://schemas.microsoft.com/office/powerpoint/2010/main" val="16150680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endParaRPr lang="en-US" dirty="0"/>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17847</TotalTime>
  <Words>5458</Words>
  <Application>Microsoft Office PowerPoint</Application>
  <PresentationFormat>Widescreen</PresentationFormat>
  <Paragraphs>739</Paragraphs>
  <Slides>79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79</vt:i4>
      </vt:variant>
    </vt:vector>
  </HeadingPairs>
  <TitlesOfParts>
    <vt:vector size="87" baseType="lpstr">
      <vt:lpstr>Arial</vt:lpstr>
      <vt:lpstr>Calibri</vt:lpstr>
      <vt:lpstr>Calibri Light</vt:lpstr>
      <vt:lpstr>Courier New</vt:lpstr>
      <vt:lpstr>Helvetica</vt:lpstr>
      <vt:lpstr>Helvetica Light</vt:lpstr>
      <vt:lpstr>Wingdings</vt:lpstr>
      <vt:lpstr>Office Theme</vt:lpstr>
      <vt:lpstr>Data Pipelines</vt:lpstr>
      <vt:lpstr>Agenda</vt:lpstr>
      <vt:lpstr>Introduction</vt:lpstr>
      <vt:lpstr>Have you seen this?</vt:lpstr>
      <vt:lpstr>IMD source systems </vt:lpstr>
      <vt:lpstr>Why?</vt:lpstr>
      <vt:lpstr>Modes of Data Flow</vt:lpstr>
      <vt:lpstr>Introduction</vt:lpstr>
      <vt:lpstr>Modes of Data Flow - Through Databases</vt:lpstr>
      <vt:lpstr>Example</vt:lpstr>
      <vt:lpstr>Illustration</vt:lpstr>
      <vt:lpstr>Scenarios</vt:lpstr>
      <vt:lpstr>Points to Remember</vt:lpstr>
      <vt:lpstr>Changes to data</vt:lpstr>
      <vt:lpstr>Points to Remember</vt:lpstr>
      <vt:lpstr>Points to Remember</vt:lpstr>
      <vt:lpstr>Modes of Data Flow - Through Services</vt:lpstr>
      <vt:lpstr>Introduction</vt:lpstr>
      <vt:lpstr>Client Server Architecture</vt:lpstr>
      <vt:lpstr>Client Server Architecture</vt:lpstr>
      <vt:lpstr>Services Oriented Architecture</vt:lpstr>
      <vt:lpstr>Services Oriented Architecture</vt:lpstr>
      <vt:lpstr>SOA - Microservices</vt:lpstr>
      <vt:lpstr>SOA vs Webservices</vt:lpstr>
      <vt:lpstr>Webservices</vt:lpstr>
      <vt:lpstr>Webservices - REST</vt:lpstr>
      <vt:lpstr>Webservices - SOAP</vt:lpstr>
      <vt:lpstr>Remote Procedure Calls</vt:lpstr>
      <vt:lpstr>Remote Procedure Calls – Current Directions</vt:lpstr>
      <vt:lpstr>Modes of Data Flow - Through Message Passing</vt:lpstr>
      <vt:lpstr>Introduction</vt:lpstr>
      <vt:lpstr>Message Brokers</vt:lpstr>
      <vt:lpstr>Message broker  over direct RPC</vt:lpstr>
      <vt:lpstr>Modern Data Stack</vt:lpstr>
      <vt:lpstr>Traditional/Legacy Data Stack(TDS) -Problems</vt:lpstr>
      <vt:lpstr>Traditional/Legacy Data Stack – Problems - contd</vt:lpstr>
      <vt:lpstr>What is Modern Data Stack?</vt:lpstr>
      <vt:lpstr>TDS vs MDS</vt:lpstr>
      <vt:lpstr>MDS - Key Characteristics</vt:lpstr>
      <vt:lpstr>MDS - Key Characteristics - contd</vt:lpstr>
      <vt:lpstr>Key Building Blocks</vt:lpstr>
      <vt:lpstr>Modern Data Tools</vt:lpstr>
      <vt:lpstr>Modern data tools - contd</vt:lpstr>
      <vt:lpstr>Modern data tools - contd</vt:lpstr>
      <vt:lpstr>Modern data tools - contd</vt:lpstr>
      <vt:lpstr>Modern data tools – Summary</vt:lpstr>
      <vt:lpstr>Modern data tools – Summary - Contd</vt:lpstr>
      <vt:lpstr>Modern data tools – Summary - contd</vt:lpstr>
      <vt:lpstr>Use Cases</vt:lpstr>
      <vt:lpstr>Data Pipeline</vt:lpstr>
      <vt:lpstr>Re-Introduction</vt:lpstr>
      <vt:lpstr>Origin</vt:lpstr>
      <vt:lpstr>Situation</vt:lpstr>
      <vt:lpstr>Purpose</vt:lpstr>
      <vt:lpstr>Benefits</vt:lpstr>
      <vt:lpstr>Challenges</vt:lpstr>
      <vt:lpstr>Data Pipeline Architecture</vt:lpstr>
      <vt:lpstr>Components</vt:lpstr>
      <vt:lpstr>ETL, ELT</vt:lpstr>
      <vt:lpstr>ETL, ELT</vt:lpstr>
      <vt:lpstr>Data Integration Pipeline</vt:lpstr>
      <vt:lpstr>Batch Processing Pipeline</vt:lpstr>
      <vt:lpstr>Stream Processing Pipelines</vt:lpstr>
      <vt:lpstr>Change Data Capture(CDC)</vt:lpstr>
      <vt:lpstr>Dataflow Model &amp; Unified batch &amp; streaming</vt:lpstr>
      <vt:lpstr>Data Pipeline Implementation</vt:lpstr>
      <vt:lpstr>Simple and Complex</vt:lpstr>
      <vt:lpstr>Scenarios</vt:lpstr>
      <vt:lpstr>Development and Execution Pipelines</vt:lpstr>
      <vt:lpstr>Micro Pipeline</vt:lpstr>
      <vt:lpstr>Micro Pipeline - Sample</vt:lpstr>
      <vt:lpstr>Data Pipeline  Tools / Platforms</vt:lpstr>
      <vt:lpstr>Considerations - Overall</vt:lpstr>
      <vt:lpstr>Data Ingestion and Data Loading Tools</vt:lpstr>
      <vt:lpstr>Data Integration, Data Transformation Platforms</vt:lpstr>
      <vt:lpstr>Data Engineering Platforms</vt:lpstr>
      <vt:lpstr>Use Cases-Contd</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Admin</cp:lastModifiedBy>
  <cp:revision>750</cp:revision>
  <dcterms:created xsi:type="dcterms:W3CDTF">2018-10-16T06:13:57Z</dcterms:created>
  <dcterms:modified xsi:type="dcterms:W3CDTF">2026-02-04T08:42:12Z</dcterms:modified>
</cp:coreProperties>
</file>