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100"/>
  </p:notesMasterIdLst>
  <p:sldIdLst>
    <p:sldId id="266" r:id="rId2"/>
    <p:sldId id="284" r:id="rId3"/>
    <p:sldId id="344" r:id="rId4"/>
    <p:sldId id="343" r:id="rId5"/>
    <p:sldId id="350" r:id="rId6"/>
    <p:sldId id="347" r:id="rId7"/>
    <p:sldId id="348" r:id="rId8"/>
    <p:sldId id="349" r:id="rId9"/>
    <p:sldId id="384" r:id="rId10"/>
    <p:sldId id="387" r:id="rId11"/>
    <p:sldId id="386" r:id="rId12"/>
    <p:sldId id="388" r:id="rId13"/>
    <p:sldId id="389" r:id="rId14"/>
    <p:sldId id="390" r:id="rId15"/>
    <p:sldId id="391" r:id="rId16"/>
    <p:sldId id="351" r:id="rId17"/>
    <p:sldId id="352" r:id="rId18"/>
    <p:sldId id="353" r:id="rId19"/>
    <p:sldId id="357" r:id="rId20"/>
    <p:sldId id="356" r:id="rId21"/>
    <p:sldId id="358" r:id="rId22"/>
    <p:sldId id="359" r:id="rId23"/>
    <p:sldId id="360" r:id="rId24"/>
    <p:sldId id="361" r:id="rId25"/>
    <p:sldId id="362" r:id="rId26"/>
    <p:sldId id="363" r:id="rId27"/>
    <p:sldId id="364" r:id="rId28"/>
    <p:sldId id="365" r:id="rId29"/>
    <p:sldId id="366" r:id="rId30"/>
    <p:sldId id="367" r:id="rId31"/>
    <p:sldId id="368" r:id="rId32"/>
    <p:sldId id="369" r:id="rId33"/>
    <p:sldId id="370" r:id="rId34"/>
    <p:sldId id="371" r:id="rId35"/>
    <p:sldId id="372" r:id="rId36"/>
    <p:sldId id="373" r:id="rId37"/>
    <p:sldId id="375" r:id="rId38"/>
    <p:sldId id="376" r:id="rId39"/>
    <p:sldId id="377" r:id="rId40"/>
    <p:sldId id="378" r:id="rId41"/>
    <p:sldId id="379" r:id="rId42"/>
    <p:sldId id="380" r:id="rId43"/>
    <p:sldId id="381" r:id="rId44"/>
    <p:sldId id="382" r:id="rId45"/>
    <p:sldId id="383" r:id="rId46"/>
    <p:sldId id="346" r:id="rId47"/>
    <p:sldId id="345" r:id="rId48"/>
    <p:sldId id="393" r:id="rId49"/>
    <p:sldId id="392" r:id="rId50"/>
    <p:sldId id="394" r:id="rId51"/>
    <p:sldId id="395" r:id="rId52"/>
    <p:sldId id="396" r:id="rId53"/>
    <p:sldId id="397" r:id="rId54"/>
    <p:sldId id="398" r:id="rId55"/>
    <p:sldId id="399" r:id="rId56"/>
    <p:sldId id="400" r:id="rId57"/>
    <p:sldId id="401" r:id="rId58"/>
    <p:sldId id="402" r:id="rId59"/>
    <p:sldId id="403" r:id="rId60"/>
    <p:sldId id="404" r:id="rId61"/>
    <p:sldId id="405" r:id="rId62"/>
    <p:sldId id="406" r:id="rId63"/>
    <p:sldId id="407" r:id="rId64"/>
    <p:sldId id="408" r:id="rId65"/>
    <p:sldId id="409" r:id="rId66"/>
    <p:sldId id="410" r:id="rId67"/>
    <p:sldId id="411" r:id="rId68"/>
    <p:sldId id="412" r:id="rId69"/>
    <p:sldId id="413" r:id="rId70"/>
    <p:sldId id="414" r:id="rId71"/>
    <p:sldId id="416" r:id="rId72"/>
    <p:sldId id="415" r:id="rId73"/>
    <p:sldId id="417" r:id="rId74"/>
    <p:sldId id="418" r:id="rId75"/>
    <p:sldId id="419" r:id="rId76"/>
    <p:sldId id="420" r:id="rId77"/>
    <p:sldId id="421" r:id="rId78"/>
    <p:sldId id="422" r:id="rId79"/>
    <p:sldId id="423" r:id="rId80"/>
    <p:sldId id="424" r:id="rId81"/>
    <p:sldId id="425" r:id="rId82"/>
    <p:sldId id="426" r:id="rId83"/>
    <p:sldId id="427" r:id="rId84"/>
    <p:sldId id="428" r:id="rId85"/>
    <p:sldId id="429" r:id="rId86"/>
    <p:sldId id="430" r:id="rId87"/>
    <p:sldId id="354" r:id="rId88"/>
    <p:sldId id="431" r:id="rId89"/>
    <p:sldId id="432" r:id="rId90"/>
    <p:sldId id="433" r:id="rId91"/>
    <p:sldId id="434" r:id="rId92"/>
    <p:sldId id="435" r:id="rId93"/>
    <p:sldId id="436" r:id="rId94"/>
    <p:sldId id="437" r:id="rId95"/>
    <p:sldId id="385" r:id="rId96"/>
    <p:sldId id="438" r:id="rId97"/>
    <p:sldId id="342" r:id="rId98"/>
    <p:sldId id="268" r:id="rId9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5F3"/>
    <a:srgbClr val="70AD47"/>
    <a:srgbClr val="46AD46"/>
    <a:srgbClr val="1E2F64"/>
    <a:srgbClr val="150860"/>
    <a:srgbClr val="1C1573"/>
    <a:srgbClr val="283E84"/>
    <a:srgbClr val="211D71"/>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05" autoAdjust="0"/>
  </p:normalViewPr>
  <p:slideViewPr>
    <p:cSldViewPr>
      <p:cViewPr varScale="1">
        <p:scale>
          <a:sx n="106" d="100"/>
          <a:sy n="106" d="100"/>
        </p:scale>
        <p:origin x="672" y="120"/>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C2C501-F400-4C59-B3A2-AC6C6922226E}" type="doc">
      <dgm:prSet loTypeId="urn:microsoft.com/office/officeart/2005/8/layout/orgChart1" loCatId="hierarchy" qsTypeId="urn:microsoft.com/office/officeart/2005/8/quickstyle/simple1" qsCatId="simple" csTypeId="urn:microsoft.com/office/officeart/2005/8/colors/colorful4" csCatId="colorful" phldr="1"/>
      <dgm:spPr/>
      <dgm:t>
        <a:bodyPr/>
        <a:lstStyle/>
        <a:p>
          <a:endParaRPr lang="en-US"/>
        </a:p>
      </dgm:t>
    </dgm:pt>
    <dgm:pt modelId="{8383BFDD-8A04-4FC2-B7CE-975777AB9DE7}">
      <dgm:prSet phldrT="[Text]" phldr="0" custT="1"/>
      <dgm:spPr/>
      <dgm:t>
        <a:bodyPr/>
        <a:lstStyle/>
        <a:p>
          <a:r>
            <a:rPr lang="en-US" sz="2000" dirty="0">
              <a:solidFill>
                <a:schemeClr val="tx1"/>
              </a:solidFill>
              <a:latin typeface="Helvetica" panose="020B0604020202020204" pitchFamily="34" charset="0"/>
              <a:cs typeface="Helvetica" panose="020B0604020202020204" pitchFamily="34" charset="0"/>
            </a:rPr>
            <a:t>Major Comparisons</a:t>
          </a:r>
        </a:p>
      </dgm:t>
    </dgm:pt>
    <dgm:pt modelId="{BB318009-9E07-4E7F-9D00-5EBE6211EB88}" type="parTrans" cxnId="{32D76401-9EF0-4D3E-8226-03AFBEC05A7E}">
      <dgm:prSet/>
      <dgm:spPr/>
      <dgm:t>
        <a:bodyPr/>
        <a:lstStyle/>
        <a:p>
          <a:endParaRPr lang="en-US" sz="2000">
            <a:latin typeface="Helvetica" panose="020B0604020202020204" pitchFamily="34" charset="0"/>
            <a:cs typeface="Helvetica" panose="020B0604020202020204" pitchFamily="34" charset="0"/>
          </a:endParaRPr>
        </a:p>
      </dgm:t>
    </dgm:pt>
    <dgm:pt modelId="{37BA6A40-5ADE-4C9F-A98D-B1444EC6C787}" type="sibTrans" cxnId="{32D76401-9EF0-4D3E-8226-03AFBEC05A7E}">
      <dgm:prSet/>
      <dgm:spPr/>
      <dgm:t>
        <a:bodyPr/>
        <a:lstStyle/>
        <a:p>
          <a:endParaRPr lang="en-US" sz="2000">
            <a:latin typeface="Helvetica" panose="020B0604020202020204" pitchFamily="34" charset="0"/>
            <a:cs typeface="Helvetica" panose="020B0604020202020204" pitchFamily="34" charset="0"/>
          </a:endParaRPr>
        </a:p>
      </dgm:t>
    </dgm:pt>
    <dgm:pt modelId="{BB144832-ADBD-4B58-BD5B-DC2DEBC0BE4B}">
      <dgm:prSet phldrT="[Text]" phldr="0" custT="1"/>
      <dgm:spPr/>
      <dgm:t>
        <a:bodyPr/>
        <a:lstStyle/>
        <a:p>
          <a:r>
            <a:rPr lang="en-US" sz="2000" dirty="0">
              <a:latin typeface="Helvetica" panose="020B0604020202020204" pitchFamily="34" charset="0"/>
              <a:cs typeface="Helvetica" panose="020B0604020202020204" pitchFamily="34" charset="0"/>
            </a:rPr>
            <a:t>Single Machine vs Distributed Storage</a:t>
          </a:r>
        </a:p>
      </dgm:t>
    </dgm:pt>
    <dgm:pt modelId="{592A60ED-9DB7-4769-AE47-4C38DD9B60B9}" type="parTrans" cxnId="{89AA29F3-EA94-4B3B-B15B-71CD14B92404}">
      <dgm:prSet/>
      <dgm:spPr/>
      <dgm:t>
        <a:bodyPr/>
        <a:lstStyle/>
        <a:p>
          <a:endParaRPr lang="en-US" sz="2000">
            <a:latin typeface="Helvetica" panose="020B0604020202020204" pitchFamily="34" charset="0"/>
            <a:cs typeface="Helvetica" panose="020B0604020202020204" pitchFamily="34" charset="0"/>
          </a:endParaRPr>
        </a:p>
      </dgm:t>
    </dgm:pt>
    <dgm:pt modelId="{DBD90D91-6175-46CD-84F6-390DDCF13B2C}" type="sibTrans" cxnId="{89AA29F3-EA94-4B3B-B15B-71CD14B92404}">
      <dgm:prSet/>
      <dgm:spPr/>
      <dgm:t>
        <a:bodyPr/>
        <a:lstStyle/>
        <a:p>
          <a:endParaRPr lang="en-US" sz="2000">
            <a:latin typeface="Helvetica" panose="020B0604020202020204" pitchFamily="34" charset="0"/>
            <a:cs typeface="Helvetica" panose="020B0604020202020204" pitchFamily="34" charset="0"/>
          </a:endParaRPr>
        </a:p>
      </dgm:t>
    </dgm:pt>
    <dgm:pt modelId="{4BC0B2D6-2DEF-4AE3-A809-5C676F09FF3C}">
      <dgm:prSet phldrT="[Text]" phldr="0" custT="1"/>
      <dgm:spPr/>
      <dgm:t>
        <a:bodyPr/>
        <a:lstStyle/>
        <a:p>
          <a:r>
            <a:rPr lang="en-US" sz="2000" dirty="0">
              <a:latin typeface="Helvetica" panose="020B0604020202020204" pitchFamily="34" charset="0"/>
              <a:cs typeface="Helvetica" panose="020B0604020202020204" pitchFamily="34" charset="0"/>
            </a:rPr>
            <a:t>Eventual vs Strong Consistency</a:t>
          </a:r>
        </a:p>
      </dgm:t>
    </dgm:pt>
    <dgm:pt modelId="{40FFCF76-ABB8-4AAF-A38B-C281BEC23DA7}" type="parTrans" cxnId="{91FB54CF-023A-4EDC-817E-4782261443F4}">
      <dgm:prSet/>
      <dgm:spPr/>
      <dgm:t>
        <a:bodyPr/>
        <a:lstStyle/>
        <a:p>
          <a:endParaRPr lang="en-US" sz="2000">
            <a:latin typeface="Helvetica" panose="020B0604020202020204" pitchFamily="34" charset="0"/>
            <a:cs typeface="Helvetica" panose="020B0604020202020204" pitchFamily="34" charset="0"/>
          </a:endParaRPr>
        </a:p>
      </dgm:t>
    </dgm:pt>
    <dgm:pt modelId="{015B3E59-F959-483D-8B8A-AACA24F8E171}" type="sibTrans" cxnId="{91FB54CF-023A-4EDC-817E-4782261443F4}">
      <dgm:prSet/>
      <dgm:spPr/>
      <dgm:t>
        <a:bodyPr/>
        <a:lstStyle/>
        <a:p>
          <a:endParaRPr lang="en-US" sz="2000">
            <a:latin typeface="Helvetica" panose="020B0604020202020204" pitchFamily="34" charset="0"/>
            <a:cs typeface="Helvetica" panose="020B0604020202020204" pitchFamily="34" charset="0"/>
          </a:endParaRPr>
        </a:p>
      </dgm:t>
    </dgm:pt>
    <dgm:pt modelId="{765F81A8-7FFF-4A5F-83B9-A47DA6936C7F}" type="pres">
      <dgm:prSet presAssocID="{C1C2C501-F400-4C59-B3A2-AC6C6922226E}" presName="hierChild1" presStyleCnt="0">
        <dgm:presLayoutVars>
          <dgm:orgChart val="1"/>
          <dgm:chPref val="1"/>
          <dgm:dir/>
          <dgm:animOne val="branch"/>
          <dgm:animLvl val="lvl"/>
          <dgm:resizeHandles/>
        </dgm:presLayoutVars>
      </dgm:prSet>
      <dgm:spPr/>
      <dgm:t>
        <a:bodyPr/>
        <a:lstStyle/>
        <a:p>
          <a:endParaRPr lang="en-US"/>
        </a:p>
      </dgm:t>
    </dgm:pt>
    <dgm:pt modelId="{E65088FB-2297-4A33-A290-3C45934647A0}" type="pres">
      <dgm:prSet presAssocID="{8383BFDD-8A04-4FC2-B7CE-975777AB9DE7}" presName="hierRoot1" presStyleCnt="0">
        <dgm:presLayoutVars>
          <dgm:hierBranch val="init"/>
        </dgm:presLayoutVars>
      </dgm:prSet>
      <dgm:spPr/>
    </dgm:pt>
    <dgm:pt modelId="{55B096AF-D702-4BA1-B646-D3C23E02E4CC}" type="pres">
      <dgm:prSet presAssocID="{8383BFDD-8A04-4FC2-B7CE-975777AB9DE7}" presName="rootComposite1" presStyleCnt="0"/>
      <dgm:spPr/>
    </dgm:pt>
    <dgm:pt modelId="{C66C0C67-881A-4B6B-910B-E79001AC3BAC}" type="pres">
      <dgm:prSet presAssocID="{8383BFDD-8A04-4FC2-B7CE-975777AB9DE7}" presName="rootText1" presStyleLbl="node0" presStyleIdx="0" presStyleCnt="1">
        <dgm:presLayoutVars>
          <dgm:chPref val="3"/>
        </dgm:presLayoutVars>
      </dgm:prSet>
      <dgm:spPr/>
      <dgm:t>
        <a:bodyPr/>
        <a:lstStyle/>
        <a:p>
          <a:endParaRPr lang="en-US"/>
        </a:p>
      </dgm:t>
    </dgm:pt>
    <dgm:pt modelId="{27FDEED5-1F83-4521-911C-E3BE13B891EB}" type="pres">
      <dgm:prSet presAssocID="{8383BFDD-8A04-4FC2-B7CE-975777AB9DE7}" presName="rootConnector1" presStyleLbl="node1" presStyleIdx="0" presStyleCnt="0"/>
      <dgm:spPr/>
      <dgm:t>
        <a:bodyPr/>
        <a:lstStyle/>
        <a:p>
          <a:endParaRPr lang="en-US"/>
        </a:p>
      </dgm:t>
    </dgm:pt>
    <dgm:pt modelId="{DD05F001-7BF5-478F-85AC-66E6B4F5BCF5}" type="pres">
      <dgm:prSet presAssocID="{8383BFDD-8A04-4FC2-B7CE-975777AB9DE7}" presName="hierChild2" presStyleCnt="0"/>
      <dgm:spPr/>
    </dgm:pt>
    <dgm:pt modelId="{4B91F334-161A-47CC-A57B-05D40FB68A53}" type="pres">
      <dgm:prSet presAssocID="{592A60ED-9DB7-4769-AE47-4C38DD9B60B9}" presName="Name37" presStyleLbl="parChTrans1D2" presStyleIdx="0" presStyleCnt="2"/>
      <dgm:spPr/>
      <dgm:t>
        <a:bodyPr/>
        <a:lstStyle/>
        <a:p>
          <a:endParaRPr lang="en-US"/>
        </a:p>
      </dgm:t>
    </dgm:pt>
    <dgm:pt modelId="{B78937AA-E820-4506-B05B-375346F252C4}" type="pres">
      <dgm:prSet presAssocID="{BB144832-ADBD-4B58-BD5B-DC2DEBC0BE4B}" presName="hierRoot2" presStyleCnt="0">
        <dgm:presLayoutVars>
          <dgm:hierBranch val="init"/>
        </dgm:presLayoutVars>
      </dgm:prSet>
      <dgm:spPr/>
    </dgm:pt>
    <dgm:pt modelId="{ED0FA8D0-D753-4B64-94D7-550B8513C058}" type="pres">
      <dgm:prSet presAssocID="{BB144832-ADBD-4B58-BD5B-DC2DEBC0BE4B}" presName="rootComposite" presStyleCnt="0"/>
      <dgm:spPr/>
    </dgm:pt>
    <dgm:pt modelId="{EF2BBA84-CCC4-4576-8DF2-3E3A71C44BC1}" type="pres">
      <dgm:prSet presAssocID="{BB144832-ADBD-4B58-BD5B-DC2DEBC0BE4B}" presName="rootText" presStyleLbl="node2" presStyleIdx="0" presStyleCnt="2" custScaleX="167552">
        <dgm:presLayoutVars>
          <dgm:chPref val="3"/>
        </dgm:presLayoutVars>
      </dgm:prSet>
      <dgm:spPr/>
      <dgm:t>
        <a:bodyPr/>
        <a:lstStyle/>
        <a:p>
          <a:endParaRPr lang="en-US"/>
        </a:p>
      </dgm:t>
    </dgm:pt>
    <dgm:pt modelId="{0DD7B16D-C30A-4469-8C23-181E788CAE11}" type="pres">
      <dgm:prSet presAssocID="{BB144832-ADBD-4B58-BD5B-DC2DEBC0BE4B}" presName="rootConnector" presStyleLbl="node2" presStyleIdx="0" presStyleCnt="2"/>
      <dgm:spPr/>
      <dgm:t>
        <a:bodyPr/>
        <a:lstStyle/>
        <a:p>
          <a:endParaRPr lang="en-US"/>
        </a:p>
      </dgm:t>
    </dgm:pt>
    <dgm:pt modelId="{AC1C5075-DD37-4648-AAA6-7D8E26ABA239}" type="pres">
      <dgm:prSet presAssocID="{BB144832-ADBD-4B58-BD5B-DC2DEBC0BE4B}" presName="hierChild4" presStyleCnt="0"/>
      <dgm:spPr/>
    </dgm:pt>
    <dgm:pt modelId="{3A7B63F7-4799-4EAF-BC09-91B280E3304D}" type="pres">
      <dgm:prSet presAssocID="{BB144832-ADBD-4B58-BD5B-DC2DEBC0BE4B}" presName="hierChild5" presStyleCnt="0"/>
      <dgm:spPr/>
    </dgm:pt>
    <dgm:pt modelId="{3C453312-A8A4-451B-9675-9DCC636C9FB0}" type="pres">
      <dgm:prSet presAssocID="{40FFCF76-ABB8-4AAF-A38B-C281BEC23DA7}" presName="Name37" presStyleLbl="parChTrans1D2" presStyleIdx="1" presStyleCnt="2"/>
      <dgm:spPr/>
      <dgm:t>
        <a:bodyPr/>
        <a:lstStyle/>
        <a:p>
          <a:endParaRPr lang="en-US"/>
        </a:p>
      </dgm:t>
    </dgm:pt>
    <dgm:pt modelId="{9D056A14-9F6E-44D0-9C52-E0958706966B}" type="pres">
      <dgm:prSet presAssocID="{4BC0B2D6-2DEF-4AE3-A809-5C676F09FF3C}" presName="hierRoot2" presStyleCnt="0">
        <dgm:presLayoutVars>
          <dgm:hierBranch val="init"/>
        </dgm:presLayoutVars>
      </dgm:prSet>
      <dgm:spPr/>
    </dgm:pt>
    <dgm:pt modelId="{6335CE07-CEA8-42C6-9639-9718EDF83C48}" type="pres">
      <dgm:prSet presAssocID="{4BC0B2D6-2DEF-4AE3-A809-5C676F09FF3C}" presName="rootComposite" presStyleCnt="0"/>
      <dgm:spPr/>
    </dgm:pt>
    <dgm:pt modelId="{FB7F50EB-BAF1-42CD-81F8-74E72DEB277C}" type="pres">
      <dgm:prSet presAssocID="{4BC0B2D6-2DEF-4AE3-A809-5C676F09FF3C}" presName="rootText" presStyleLbl="node2" presStyleIdx="1" presStyleCnt="2" custScaleX="160237">
        <dgm:presLayoutVars>
          <dgm:chPref val="3"/>
        </dgm:presLayoutVars>
      </dgm:prSet>
      <dgm:spPr/>
      <dgm:t>
        <a:bodyPr/>
        <a:lstStyle/>
        <a:p>
          <a:endParaRPr lang="en-US"/>
        </a:p>
      </dgm:t>
    </dgm:pt>
    <dgm:pt modelId="{BA3D0DFD-BE2C-4EDD-A32C-D0358D593F7D}" type="pres">
      <dgm:prSet presAssocID="{4BC0B2D6-2DEF-4AE3-A809-5C676F09FF3C}" presName="rootConnector" presStyleLbl="node2" presStyleIdx="1" presStyleCnt="2"/>
      <dgm:spPr/>
      <dgm:t>
        <a:bodyPr/>
        <a:lstStyle/>
        <a:p>
          <a:endParaRPr lang="en-US"/>
        </a:p>
      </dgm:t>
    </dgm:pt>
    <dgm:pt modelId="{103B5E98-A416-4970-8F93-D7228E348E68}" type="pres">
      <dgm:prSet presAssocID="{4BC0B2D6-2DEF-4AE3-A809-5C676F09FF3C}" presName="hierChild4" presStyleCnt="0"/>
      <dgm:spPr/>
    </dgm:pt>
    <dgm:pt modelId="{E67F4A87-E9B0-4374-A566-CE973F91DF21}" type="pres">
      <dgm:prSet presAssocID="{4BC0B2D6-2DEF-4AE3-A809-5C676F09FF3C}" presName="hierChild5" presStyleCnt="0"/>
      <dgm:spPr/>
    </dgm:pt>
    <dgm:pt modelId="{3EE7CFB4-0044-42EC-BF3F-7F4ACE7E1E12}" type="pres">
      <dgm:prSet presAssocID="{8383BFDD-8A04-4FC2-B7CE-975777AB9DE7}" presName="hierChild3" presStyleCnt="0"/>
      <dgm:spPr/>
    </dgm:pt>
  </dgm:ptLst>
  <dgm:cxnLst>
    <dgm:cxn modelId="{2F0978B7-6B9F-4EF3-A74A-5157D730EBFA}" type="presOf" srcId="{4BC0B2D6-2DEF-4AE3-A809-5C676F09FF3C}" destId="{FB7F50EB-BAF1-42CD-81F8-74E72DEB277C}" srcOrd="0" destOrd="0" presId="urn:microsoft.com/office/officeart/2005/8/layout/orgChart1"/>
    <dgm:cxn modelId="{1ED68FD9-52D5-4EFC-9E0E-5D9BD710E017}" type="presOf" srcId="{40FFCF76-ABB8-4AAF-A38B-C281BEC23DA7}" destId="{3C453312-A8A4-451B-9675-9DCC636C9FB0}" srcOrd="0" destOrd="0" presId="urn:microsoft.com/office/officeart/2005/8/layout/orgChart1"/>
    <dgm:cxn modelId="{2CBEB2F4-A959-4592-ADEB-BC2086F22C2B}" type="presOf" srcId="{8383BFDD-8A04-4FC2-B7CE-975777AB9DE7}" destId="{C66C0C67-881A-4B6B-910B-E79001AC3BAC}" srcOrd="0" destOrd="0" presId="urn:microsoft.com/office/officeart/2005/8/layout/orgChart1"/>
    <dgm:cxn modelId="{85E64595-EA31-4934-B77A-D34355343F53}" type="presOf" srcId="{8383BFDD-8A04-4FC2-B7CE-975777AB9DE7}" destId="{27FDEED5-1F83-4521-911C-E3BE13B891EB}" srcOrd="1" destOrd="0" presId="urn:microsoft.com/office/officeart/2005/8/layout/orgChart1"/>
    <dgm:cxn modelId="{6EBFB57B-8832-4FBF-B758-6B9AEA425FFF}" type="presOf" srcId="{BB144832-ADBD-4B58-BD5B-DC2DEBC0BE4B}" destId="{0DD7B16D-C30A-4469-8C23-181E788CAE11}" srcOrd="1" destOrd="0" presId="urn:microsoft.com/office/officeart/2005/8/layout/orgChart1"/>
    <dgm:cxn modelId="{89AA29F3-EA94-4B3B-B15B-71CD14B92404}" srcId="{8383BFDD-8A04-4FC2-B7CE-975777AB9DE7}" destId="{BB144832-ADBD-4B58-BD5B-DC2DEBC0BE4B}" srcOrd="0" destOrd="0" parTransId="{592A60ED-9DB7-4769-AE47-4C38DD9B60B9}" sibTransId="{DBD90D91-6175-46CD-84F6-390DDCF13B2C}"/>
    <dgm:cxn modelId="{32D76401-9EF0-4D3E-8226-03AFBEC05A7E}" srcId="{C1C2C501-F400-4C59-B3A2-AC6C6922226E}" destId="{8383BFDD-8A04-4FC2-B7CE-975777AB9DE7}" srcOrd="0" destOrd="0" parTransId="{BB318009-9E07-4E7F-9D00-5EBE6211EB88}" sibTransId="{37BA6A40-5ADE-4C9F-A98D-B1444EC6C787}"/>
    <dgm:cxn modelId="{3034F07C-3567-4A29-B022-B942DE5205AD}" type="presOf" srcId="{BB144832-ADBD-4B58-BD5B-DC2DEBC0BE4B}" destId="{EF2BBA84-CCC4-4576-8DF2-3E3A71C44BC1}" srcOrd="0" destOrd="0" presId="urn:microsoft.com/office/officeart/2005/8/layout/orgChart1"/>
    <dgm:cxn modelId="{CDE16FA9-C771-4229-B8BD-7BA4910DE19B}" type="presOf" srcId="{4BC0B2D6-2DEF-4AE3-A809-5C676F09FF3C}" destId="{BA3D0DFD-BE2C-4EDD-A32C-D0358D593F7D}" srcOrd="1" destOrd="0" presId="urn:microsoft.com/office/officeart/2005/8/layout/orgChart1"/>
    <dgm:cxn modelId="{3225152F-D4B1-4F96-A2C1-1086D64E8C1B}" type="presOf" srcId="{592A60ED-9DB7-4769-AE47-4C38DD9B60B9}" destId="{4B91F334-161A-47CC-A57B-05D40FB68A53}" srcOrd="0" destOrd="0" presId="urn:microsoft.com/office/officeart/2005/8/layout/orgChart1"/>
    <dgm:cxn modelId="{91FB54CF-023A-4EDC-817E-4782261443F4}" srcId="{8383BFDD-8A04-4FC2-B7CE-975777AB9DE7}" destId="{4BC0B2D6-2DEF-4AE3-A809-5C676F09FF3C}" srcOrd="1" destOrd="0" parTransId="{40FFCF76-ABB8-4AAF-A38B-C281BEC23DA7}" sibTransId="{015B3E59-F959-483D-8B8A-AACA24F8E171}"/>
    <dgm:cxn modelId="{67B2DCDB-CEA5-495C-91DF-CF629F185D03}" type="presOf" srcId="{C1C2C501-F400-4C59-B3A2-AC6C6922226E}" destId="{765F81A8-7FFF-4A5F-83B9-A47DA6936C7F}" srcOrd="0" destOrd="0" presId="urn:microsoft.com/office/officeart/2005/8/layout/orgChart1"/>
    <dgm:cxn modelId="{08AF0CA3-68DE-418A-A24A-D5422B95C706}" type="presParOf" srcId="{765F81A8-7FFF-4A5F-83B9-A47DA6936C7F}" destId="{E65088FB-2297-4A33-A290-3C45934647A0}" srcOrd="0" destOrd="0" presId="urn:microsoft.com/office/officeart/2005/8/layout/orgChart1"/>
    <dgm:cxn modelId="{D00F4FBB-256B-477B-BD43-4323E67AD5D8}" type="presParOf" srcId="{E65088FB-2297-4A33-A290-3C45934647A0}" destId="{55B096AF-D702-4BA1-B646-D3C23E02E4CC}" srcOrd="0" destOrd="0" presId="urn:microsoft.com/office/officeart/2005/8/layout/orgChart1"/>
    <dgm:cxn modelId="{7AD446D7-CF19-4E99-854D-D1F430B5A1FC}" type="presParOf" srcId="{55B096AF-D702-4BA1-B646-D3C23E02E4CC}" destId="{C66C0C67-881A-4B6B-910B-E79001AC3BAC}" srcOrd="0" destOrd="0" presId="urn:microsoft.com/office/officeart/2005/8/layout/orgChart1"/>
    <dgm:cxn modelId="{2DD7015B-83A3-4B39-90A4-54D11046A26A}" type="presParOf" srcId="{55B096AF-D702-4BA1-B646-D3C23E02E4CC}" destId="{27FDEED5-1F83-4521-911C-E3BE13B891EB}" srcOrd="1" destOrd="0" presId="urn:microsoft.com/office/officeart/2005/8/layout/orgChart1"/>
    <dgm:cxn modelId="{F75B3DE0-C576-43A5-A165-92BD85DBB768}" type="presParOf" srcId="{E65088FB-2297-4A33-A290-3C45934647A0}" destId="{DD05F001-7BF5-478F-85AC-66E6B4F5BCF5}" srcOrd="1" destOrd="0" presId="urn:microsoft.com/office/officeart/2005/8/layout/orgChart1"/>
    <dgm:cxn modelId="{0E138CFE-DAF4-4B4D-8D22-EC86118CD5E0}" type="presParOf" srcId="{DD05F001-7BF5-478F-85AC-66E6B4F5BCF5}" destId="{4B91F334-161A-47CC-A57B-05D40FB68A53}" srcOrd="0" destOrd="0" presId="urn:microsoft.com/office/officeart/2005/8/layout/orgChart1"/>
    <dgm:cxn modelId="{69A63469-99C7-440B-8A85-53E99FD1742F}" type="presParOf" srcId="{DD05F001-7BF5-478F-85AC-66E6B4F5BCF5}" destId="{B78937AA-E820-4506-B05B-375346F252C4}" srcOrd="1" destOrd="0" presId="urn:microsoft.com/office/officeart/2005/8/layout/orgChart1"/>
    <dgm:cxn modelId="{DC0C55C8-E438-4272-A01F-ED84580FE3A4}" type="presParOf" srcId="{B78937AA-E820-4506-B05B-375346F252C4}" destId="{ED0FA8D0-D753-4B64-94D7-550B8513C058}" srcOrd="0" destOrd="0" presId="urn:microsoft.com/office/officeart/2005/8/layout/orgChart1"/>
    <dgm:cxn modelId="{51DF4765-EC6D-4287-84EA-60629AB15B20}" type="presParOf" srcId="{ED0FA8D0-D753-4B64-94D7-550B8513C058}" destId="{EF2BBA84-CCC4-4576-8DF2-3E3A71C44BC1}" srcOrd="0" destOrd="0" presId="urn:microsoft.com/office/officeart/2005/8/layout/orgChart1"/>
    <dgm:cxn modelId="{A59C228F-442F-4D3F-A533-1CFD52154377}" type="presParOf" srcId="{ED0FA8D0-D753-4B64-94D7-550B8513C058}" destId="{0DD7B16D-C30A-4469-8C23-181E788CAE11}" srcOrd="1" destOrd="0" presId="urn:microsoft.com/office/officeart/2005/8/layout/orgChart1"/>
    <dgm:cxn modelId="{897D4F36-434D-4335-9A41-B25E7021FB74}" type="presParOf" srcId="{B78937AA-E820-4506-B05B-375346F252C4}" destId="{AC1C5075-DD37-4648-AAA6-7D8E26ABA239}" srcOrd="1" destOrd="0" presId="urn:microsoft.com/office/officeart/2005/8/layout/orgChart1"/>
    <dgm:cxn modelId="{D55C9E07-F1AA-45F9-ACB3-BA657E91FF38}" type="presParOf" srcId="{B78937AA-E820-4506-B05B-375346F252C4}" destId="{3A7B63F7-4799-4EAF-BC09-91B280E3304D}" srcOrd="2" destOrd="0" presId="urn:microsoft.com/office/officeart/2005/8/layout/orgChart1"/>
    <dgm:cxn modelId="{BE557FED-4AB3-4A69-9F62-2ED356B2A705}" type="presParOf" srcId="{DD05F001-7BF5-478F-85AC-66E6B4F5BCF5}" destId="{3C453312-A8A4-451B-9675-9DCC636C9FB0}" srcOrd="2" destOrd="0" presId="urn:microsoft.com/office/officeart/2005/8/layout/orgChart1"/>
    <dgm:cxn modelId="{1052DB2B-6ECF-4CCA-965E-98CDD7B3FC37}" type="presParOf" srcId="{DD05F001-7BF5-478F-85AC-66E6B4F5BCF5}" destId="{9D056A14-9F6E-44D0-9C52-E0958706966B}" srcOrd="3" destOrd="0" presId="urn:microsoft.com/office/officeart/2005/8/layout/orgChart1"/>
    <dgm:cxn modelId="{93408F29-DFEB-4313-8F69-17505264C429}" type="presParOf" srcId="{9D056A14-9F6E-44D0-9C52-E0958706966B}" destId="{6335CE07-CEA8-42C6-9639-9718EDF83C48}" srcOrd="0" destOrd="0" presId="urn:microsoft.com/office/officeart/2005/8/layout/orgChart1"/>
    <dgm:cxn modelId="{3F062787-79E2-407E-9247-2E188AD65390}" type="presParOf" srcId="{6335CE07-CEA8-42C6-9639-9718EDF83C48}" destId="{FB7F50EB-BAF1-42CD-81F8-74E72DEB277C}" srcOrd="0" destOrd="0" presId="urn:microsoft.com/office/officeart/2005/8/layout/orgChart1"/>
    <dgm:cxn modelId="{AD8C49EC-BA5B-4A70-857D-888A8630F031}" type="presParOf" srcId="{6335CE07-CEA8-42C6-9639-9718EDF83C48}" destId="{BA3D0DFD-BE2C-4EDD-A32C-D0358D593F7D}" srcOrd="1" destOrd="0" presId="urn:microsoft.com/office/officeart/2005/8/layout/orgChart1"/>
    <dgm:cxn modelId="{D881E035-517F-4159-B5CB-73E101BC5473}" type="presParOf" srcId="{9D056A14-9F6E-44D0-9C52-E0958706966B}" destId="{103B5E98-A416-4970-8F93-D7228E348E68}" srcOrd="1" destOrd="0" presId="urn:microsoft.com/office/officeart/2005/8/layout/orgChart1"/>
    <dgm:cxn modelId="{547696EE-E3DC-4062-BD61-065B44AD2EE5}" type="presParOf" srcId="{9D056A14-9F6E-44D0-9C52-E0958706966B}" destId="{E67F4A87-E9B0-4374-A566-CE973F91DF21}" srcOrd="2" destOrd="0" presId="urn:microsoft.com/office/officeart/2005/8/layout/orgChart1"/>
    <dgm:cxn modelId="{04F867E1-7A2B-4294-A456-BE747C56A933}" type="presParOf" srcId="{E65088FB-2297-4A33-A290-3C45934647A0}" destId="{3EE7CFB4-0044-42EC-BF3F-7F4ACE7E1E1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B743B97-567C-4A9D-BF44-4E511E53BA79}" type="doc">
      <dgm:prSet loTypeId="urn:microsoft.com/office/officeart/2005/8/layout/hierarchy1" loCatId="hierarchy" qsTypeId="urn:microsoft.com/office/officeart/2005/8/quickstyle/simple1" qsCatId="simple" csTypeId="urn:microsoft.com/office/officeart/2005/8/colors/colorful4" csCatId="colorful" phldr="1"/>
      <dgm:spPr/>
      <dgm:t>
        <a:bodyPr/>
        <a:lstStyle/>
        <a:p>
          <a:endParaRPr lang="en-US"/>
        </a:p>
      </dgm:t>
    </dgm:pt>
    <dgm:pt modelId="{32CD436E-C2FB-41EE-A3E0-694923D8F95F}">
      <dgm:prSet phldrT="[Text]" phldr="0"/>
      <dgm:spPr/>
      <dgm:t>
        <a:bodyPr/>
        <a:lstStyle/>
        <a:p>
          <a:r>
            <a:rPr lang="en-US">
              <a:latin typeface="Helvetica" panose="020B0604020202020204" pitchFamily="34" charset="0"/>
              <a:cs typeface="Helvetica" panose="020B0604020202020204" pitchFamily="34" charset="0"/>
            </a:rPr>
            <a:t>Ways</a:t>
          </a:r>
          <a:endParaRPr lang="en-US" dirty="0">
            <a:latin typeface="Helvetica" panose="020B0604020202020204" pitchFamily="34" charset="0"/>
            <a:cs typeface="Helvetica" panose="020B0604020202020204" pitchFamily="34" charset="0"/>
          </a:endParaRPr>
        </a:p>
      </dgm:t>
    </dgm:pt>
    <dgm:pt modelId="{6BF0BF60-A61F-41E4-87E4-92B951B649D2}" type="parTrans" cxnId="{BCA6C080-7D0E-4DE2-BC1B-31EB83A289D3}">
      <dgm:prSet/>
      <dgm:spPr/>
      <dgm:t>
        <a:bodyPr/>
        <a:lstStyle/>
        <a:p>
          <a:endParaRPr lang="en-US">
            <a:latin typeface="Helvetica" panose="020B0604020202020204" pitchFamily="34" charset="0"/>
            <a:cs typeface="Helvetica" panose="020B0604020202020204" pitchFamily="34" charset="0"/>
          </a:endParaRPr>
        </a:p>
      </dgm:t>
    </dgm:pt>
    <dgm:pt modelId="{BD7F99A0-336E-47CE-81F3-B8FCCD6F8E4C}" type="sibTrans" cxnId="{BCA6C080-7D0E-4DE2-BC1B-31EB83A289D3}">
      <dgm:prSet/>
      <dgm:spPr/>
      <dgm:t>
        <a:bodyPr/>
        <a:lstStyle/>
        <a:p>
          <a:endParaRPr lang="en-US">
            <a:latin typeface="Helvetica" panose="020B0604020202020204" pitchFamily="34" charset="0"/>
            <a:cs typeface="Helvetica" panose="020B0604020202020204" pitchFamily="34" charset="0"/>
          </a:endParaRPr>
        </a:p>
      </dgm:t>
    </dgm:pt>
    <dgm:pt modelId="{5C59FBD8-AF2D-4407-B0CA-0AAB146CA2DA}">
      <dgm:prSet phldrT="[Text]" phldr="0"/>
      <dgm:spPr/>
      <dgm:t>
        <a:bodyPr/>
        <a:lstStyle/>
        <a:p>
          <a:r>
            <a:rPr lang="en-US" dirty="0">
              <a:latin typeface="Helvetica" panose="020B0604020202020204" pitchFamily="34" charset="0"/>
              <a:cs typeface="Helvetica" panose="020B0604020202020204" pitchFamily="34" charset="0"/>
            </a:rPr>
            <a:t>File Exchange</a:t>
          </a:r>
        </a:p>
      </dgm:t>
    </dgm:pt>
    <dgm:pt modelId="{48AF4E81-7355-4016-8640-853F73AABB4E}" type="parTrans" cxnId="{DF27A596-6F23-4995-B673-5E93895CCB4A}">
      <dgm:prSet/>
      <dgm:spPr/>
      <dgm:t>
        <a:bodyPr/>
        <a:lstStyle/>
        <a:p>
          <a:endParaRPr lang="en-US">
            <a:latin typeface="Helvetica" panose="020B0604020202020204" pitchFamily="34" charset="0"/>
            <a:cs typeface="Helvetica" panose="020B0604020202020204" pitchFamily="34" charset="0"/>
          </a:endParaRPr>
        </a:p>
      </dgm:t>
    </dgm:pt>
    <dgm:pt modelId="{46474E18-DC3D-4704-85B8-DD055B069B0F}" type="sibTrans" cxnId="{DF27A596-6F23-4995-B673-5E93895CCB4A}">
      <dgm:prSet/>
      <dgm:spPr/>
      <dgm:t>
        <a:bodyPr/>
        <a:lstStyle/>
        <a:p>
          <a:endParaRPr lang="en-US">
            <a:latin typeface="Helvetica" panose="020B0604020202020204" pitchFamily="34" charset="0"/>
            <a:cs typeface="Helvetica" panose="020B0604020202020204" pitchFamily="34" charset="0"/>
          </a:endParaRPr>
        </a:p>
      </dgm:t>
    </dgm:pt>
    <dgm:pt modelId="{E053ABCE-F2FB-4810-889C-1B8BD3B00B1C}">
      <dgm:prSet phldrT="[Text]" phldr="0"/>
      <dgm:spPr/>
      <dgm:t>
        <a:bodyPr/>
        <a:lstStyle/>
        <a:p>
          <a:r>
            <a:rPr lang="en-US" dirty="0">
              <a:latin typeface="Helvetica" panose="020B0604020202020204" pitchFamily="34" charset="0"/>
              <a:cs typeface="Helvetica" panose="020B0604020202020204" pitchFamily="34" charset="0"/>
            </a:rPr>
            <a:t>Databases</a:t>
          </a:r>
        </a:p>
      </dgm:t>
    </dgm:pt>
    <dgm:pt modelId="{544CDEB2-2CD8-4CE6-B75A-7FE769932822}" type="parTrans" cxnId="{04A330C7-1A75-4855-BC1E-134870CD0501}">
      <dgm:prSet/>
      <dgm:spPr/>
      <dgm:t>
        <a:bodyPr/>
        <a:lstStyle/>
        <a:p>
          <a:endParaRPr lang="en-US">
            <a:latin typeface="Helvetica" panose="020B0604020202020204" pitchFamily="34" charset="0"/>
            <a:cs typeface="Helvetica" panose="020B0604020202020204" pitchFamily="34" charset="0"/>
          </a:endParaRPr>
        </a:p>
      </dgm:t>
    </dgm:pt>
    <dgm:pt modelId="{DC32CBC2-51D0-46FA-B163-D803BF31958A}" type="sibTrans" cxnId="{04A330C7-1A75-4855-BC1E-134870CD0501}">
      <dgm:prSet/>
      <dgm:spPr/>
      <dgm:t>
        <a:bodyPr/>
        <a:lstStyle/>
        <a:p>
          <a:endParaRPr lang="en-US">
            <a:latin typeface="Helvetica" panose="020B0604020202020204" pitchFamily="34" charset="0"/>
            <a:cs typeface="Helvetica" panose="020B0604020202020204" pitchFamily="34" charset="0"/>
          </a:endParaRPr>
        </a:p>
      </dgm:t>
    </dgm:pt>
    <dgm:pt modelId="{82CCF016-2BCF-4AB1-B0B8-FDEEDBC54EC4}">
      <dgm:prSet phldrT="[Text]" phldr="0"/>
      <dgm:spPr/>
      <dgm:t>
        <a:bodyPr/>
        <a:lstStyle/>
        <a:p>
          <a:r>
            <a:rPr lang="en-US" dirty="0">
              <a:latin typeface="Helvetica" panose="020B0604020202020204" pitchFamily="34" charset="0"/>
              <a:cs typeface="Helvetica" panose="020B0604020202020204" pitchFamily="34" charset="0"/>
            </a:rPr>
            <a:t>Streaming Systems</a:t>
          </a:r>
        </a:p>
      </dgm:t>
    </dgm:pt>
    <dgm:pt modelId="{C37D560A-A9B5-4318-9652-BEFDAB62C69F}" type="parTrans" cxnId="{EA023742-EE53-4FFD-A6EA-7F11C81D5EE4}">
      <dgm:prSet/>
      <dgm:spPr/>
      <dgm:t>
        <a:bodyPr/>
        <a:lstStyle/>
        <a:p>
          <a:endParaRPr lang="en-US">
            <a:latin typeface="Helvetica" panose="020B0604020202020204" pitchFamily="34" charset="0"/>
            <a:cs typeface="Helvetica" panose="020B0604020202020204" pitchFamily="34" charset="0"/>
          </a:endParaRPr>
        </a:p>
      </dgm:t>
    </dgm:pt>
    <dgm:pt modelId="{4AD67447-88C8-41DA-BCB4-1F50F9B7B93E}" type="sibTrans" cxnId="{EA023742-EE53-4FFD-A6EA-7F11C81D5EE4}">
      <dgm:prSet/>
      <dgm:spPr/>
      <dgm:t>
        <a:bodyPr/>
        <a:lstStyle/>
        <a:p>
          <a:endParaRPr lang="en-US">
            <a:latin typeface="Helvetica" panose="020B0604020202020204" pitchFamily="34" charset="0"/>
            <a:cs typeface="Helvetica" panose="020B0604020202020204" pitchFamily="34" charset="0"/>
          </a:endParaRPr>
        </a:p>
      </dgm:t>
    </dgm:pt>
    <dgm:pt modelId="{1817FAD9-CEB5-4286-9E36-9212303978BB}">
      <dgm:prSet phldrT="[Text]" phldr="0"/>
      <dgm:spPr/>
      <dgm:t>
        <a:bodyPr/>
        <a:lstStyle/>
        <a:p>
          <a:r>
            <a:rPr lang="en-US" dirty="0">
              <a:latin typeface="Helvetica" panose="020B0604020202020204" pitchFamily="34" charset="0"/>
              <a:cs typeface="Helvetica" panose="020B0604020202020204" pitchFamily="34" charset="0"/>
            </a:rPr>
            <a:t>Query Federation</a:t>
          </a:r>
        </a:p>
      </dgm:t>
    </dgm:pt>
    <dgm:pt modelId="{56537EA5-1DB3-48BD-A234-D505A433CEE5}" type="parTrans" cxnId="{5B5546CE-699E-46D6-BD88-F737A241EF82}">
      <dgm:prSet/>
      <dgm:spPr/>
      <dgm:t>
        <a:bodyPr/>
        <a:lstStyle/>
        <a:p>
          <a:endParaRPr lang="en-US">
            <a:latin typeface="Helvetica" panose="020B0604020202020204" pitchFamily="34" charset="0"/>
            <a:cs typeface="Helvetica" panose="020B0604020202020204" pitchFamily="34" charset="0"/>
          </a:endParaRPr>
        </a:p>
      </dgm:t>
    </dgm:pt>
    <dgm:pt modelId="{8B686AB3-5633-4FDA-A339-B1FBC80F6FE6}" type="sibTrans" cxnId="{5B5546CE-699E-46D6-BD88-F737A241EF82}">
      <dgm:prSet/>
      <dgm:spPr/>
      <dgm:t>
        <a:bodyPr/>
        <a:lstStyle/>
        <a:p>
          <a:endParaRPr lang="en-US">
            <a:latin typeface="Helvetica" panose="020B0604020202020204" pitchFamily="34" charset="0"/>
            <a:cs typeface="Helvetica" panose="020B0604020202020204" pitchFamily="34" charset="0"/>
          </a:endParaRPr>
        </a:p>
      </dgm:t>
    </dgm:pt>
    <dgm:pt modelId="{761F3159-2D17-42AE-AF73-1495DDC54720}">
      <dgm:prSet phldrT="[Text]" phldr="0"/>
      <dgm:spPr/>
      <dgm:t>
        <a:bodyPr/>
        <a:lstStyle/>
        <a:p>
          <a:r>
            <a:rPr lang="en-US" dirty="0" err="1"/>
            <a:t>Jupyter</a:t>
          </a:r>
          <a:r>
            <a:rPr lang="en-US" dirty="0"/>
            <a:t> Notebook</a:t>
          </a:r>
          <a:endParaRPr lang="en-US" dirty="0">
            <a:latin typeface="Helvetica" panose="020B0604020202020204" pitchFamily="34" charset="0"/>
            <a:cs typeface="Helvetica" panose="020B0604020202020204" pitchFamily="34" charset="0"/>
          </a:endParaRPr>
        </a:p>
      </dgm:t>
    </dgm:pt>
    <dgm:pt modelId="{983807B4-5AD1-4A2C-8A5A-FC227AA961B4}" type="parTrans" cxnId="{42303DFC-AAE2-4013-8539-1A5B360B71E8}">
      <dgm:prSet/>
      <dgm:spPr/>
      <dgm:t>
        <a:bodyPr/>
        <a:lstStyle/>
        <a:p>
          <a:endParaRPr lang="en-US">
            <a:latin typeface="Helvetica" panose="020B0604020202020204" pitchFamily="34" charset="0"/>
            <a:cs typeface="Helvetica" panose="020B0604020202020204" pitchFamily="34" charset="0"/>
          </a:endParaRPr>
        </a:p>
      </dgm:t>
    </dgm:pt>
    <dgm:pt modelId="{0DEF1953-E9BE-4977-825A-3F55030C05B3}" type="sibTrans" cxnId="{42303DFC-AAE2-4013-8539-1A5B360B71E8}">
      <dgm:prSet/>
      <dgm:spPr/>
      <dgm:t>
        <a:bodyPr/>
        <a:lstStyle/>
        <a:p>
          <a:endParaRPr lang="en-US">
            <a:latin typeface="Helvetica" panose="020B0604020202020204" pitchFamily="34" charset="0"/>
            <a:cs typeface="Helvetica" panose="020B0604020202020204" pitchFamily="34" charset="0"/>
          </a:endParaRPr>
        </a:p>
      </dgm:t>
    </dgm:pt>
    <dgm:pt modelId="{A69FAEAE-3468-450B-B674-C6A081ACC1A4}" type="pres">
      <dgm:prSet presAssocID="{2B743B97-567C-4A9D-BF44-4E511E53BA79}" presName="hierChild1" presStyleCnt="0">
        <dgm:presLayoutVars>
          <dgm:chPref val="1"/>
          <dgm:dir/>
          <dgm:animOne val="branch"/>
          <dgm:animLvl val="lvl"/>
          <dgm:resizeHandles/>
        </dgm:presLayoutVars>
      </dgm:prSet>
      <dgm:spPr/>
      <dgm:t>
        <a:bodyPr/>
        <a:lstStyle/>
        <a:p>
          <a:endParaRPr lang="en-US"/>
        </a:p>
      </dgm:t>
    </dgm:pt>
    <dgm:pt modelId="{8BCB4E3F-DB50-4702-BA85-F1C0FDFDF306}" type="pres">
      <dgm:prSet presAssocID="{32CD436E-C2FB-41EE-A3E0-694923D8F95F}" presName="hierRoot1" presStyleCnt="0"/>
      <dgm:spPr/>
    </dgm:pt>
    <dgm:pt modelId="{D371C40C-B440-4024-A955-C8A3B1EE1419}" type="pres">
      <dgm:prSet presAssocID="{32CD436E-C2FB-41EE-A3E0-694923D8F95F}" presName="composite" presStyleCnt="0"/>
      <dgm:spPr/>
    </dgm:pt>
    <dgm:pt modelId="{382080DA-2208-4589-B851-ED7DF4E97334}" type="pres">
      <dgm:prSet presAssocID="{32CD436E-C2FB-41EE-A3E0-694923D8F95F}" presName="background" presStyleLbl="node0" presStyleIdx="0" presStyleCnt="1"/>
      <dgm:spPr/>
    </dgm:pt>
    <dgm:pt modelId="{3EB9CC03-53A2-4EB4-995D-67ED03804A27}" type="pres">
      <dgm:prSet presAssocID="{32CD436E-C2FB-41EE-A3E0-694923D8F95F}" presName="text" presStyleLbl="fgAcc0" presStyleIdx="0" presStyleCnt="1">
        <dgm:presLayoutVars>
          <dgm:chPref val="3"/>
        </dgm:presLayoutVars>
      </dgm:prSet>
      <dgm:spPr/>
      <dgm:t>
        <a:bodyPr/>
        <a:lstStyle/>
        <a:p>
          <a:endParaRPr lang="en-US"/>
        </a:p>
      </dgm:t>
    </dgm:pt>
    <dgm:pt modelId="{1CE0DFE0-6B17-4703-A1C0-0A7D647B350B}" type="pres">
      <dgm:prSet presAssocID="{32CD436E-C2FB-41EE-A3E0-694923D8F95F}" presName="hierChild2" presStyleCnt="0"/>
      <dgm:spPr/>
    </dgm:pt>
    <dgm:pt modelId="{9678E5C3-02BB-47B1-BB6C-E7546ECF2B61}" type="pres">
      <dgm:prSet presAssocID="{48AF4E81-7355-4016-8640-853F73AABB4E}" presName="Name10" presStyleLbl="parChTrans1D2" presStyleIdx="0" presStyleCnt="5"/>
      <dgm:spPr/>
      <dgm:t>
        <a:bodyPr/>
        <a:lstStyle/>
        <a:p>
          <a:endParaRPr lang="en-US"/>
        </a:p>
      </dgm:t>
    </dgm:pt>
    <dgm:pt modelId="{0D308F18-11C6-4E08-9735-28A4778FDAAC}" type="pres">
      <dgm:prSet presAssocID="{5C59FBD8-AF2D-4407-B0CA-0AAB146CA2DA}" presName="hierRoot2" presStyleCnt="0"/>
      <dgm:spPr/>
    </dgm:pt>
    <dgm:pt modelId="{F9EDDC7D-D034-49FC-9DCD-F524059C5664}" type="pres">
      <dgm:prSet presAssocID="{5C59FBD8-AF2D-4407-B0CA-0AAB146CA2DA}" presName="composite2" presStyleCnt="0"/>
      <dgm:spPr/>
    </dgm:pt>
    <dgm:pt modelId="{EDCE175C-84F5-43D0-968C-0E02FC0D9E3F}" type="pres">
      <dgm:prSet presAssocID="{5C59FBD8-AF2D-4407-B0CA-0AAB146CA2DA}" presName="background2" presStyleLbl="node2" presStyleIdx="0" presStyleCnt="5"/>
      <dgm:spPr/>
    </dgm:pt>
    <dgm:pt modelId="{F5A7E995-9E58-4C48-BDCE-1454A492CE98}" type="pres">
      <dgm:prSet presAssocID="{5C59FBD8-AF2D-4407-B0CA-0AAB146CA2DA}" presName="text2" presStyleLbl="fgAcc2" presStyleIdx="0" presStyleCnt="5">
        <dgm:presLayoutVars>
          <dgm:chPref val="3"/>
        </dgm:presLayoutVars>
      </dgm:prSet>
      <dgm:spPr/>
      <dgm:t>
        <a:bodyPr/>
        <a:lstStyle/>
        <a:p>
          <a:endParaRPr lang="en-US"/>
        </a:p>
      </dgm:t>
    </dgm:pt>
    <dgm:pt modelId="{1DA0A45B-2229-4C97-8275-4F2BDC2CFC1F}" type="pres">
      <dgm:prSet presAssocID="{5C59FBD8-AF2D-4407-B0CA-0AAB146CA2DA}" presName="hierChild3" presStyleCnt="0"/>
      <dgm:spPr/>
    </dgm:pt>
    <dgm:pt modelId="{FC89880F-BFC0-46D4-9822-DDF39EB36645}" type="pres">
      <dgm:prSet presAssocID="{544CDEB2-2CD8-4CE6-B75A-7FE769932822}" presName="Name10" presStyleLbl="parChTrans1D2" presStyleIdx="1" presStyleCnt="5"/>
      <dgm:spPr/>
      <dgm:t>
        <a:bodyPr/>
        <a:lstStyle/>
        <a:p>
          <a:endParaRPr lang="en-US"/>
        </a:p>
      </dgm:t>
    </dgm:pt>
    <dgm:pt modelId="{0BF50665-1CC2-4099-A2B6-756C82040731}" type="pres">
      <dgm:prSet presAssocID="{E053ABCE-F2FB-4810-889C-1B8BD3B00B1C}" presName="hierRoot2" presStyleCnt="0"/>
      <dgm:spPr/>
    </dgm:pt>
    <dgm:pt modelId="{CCFDC548-BC79-40CA-9C5E-D03C3D76E23A}" type="pres">
      <dgm:prSet presAssocID="{E053ABCE-F2FB-4810-889C-1B8BD3B00B1C}" presName="composite2" presStyleCnt="0"/>
      <dgm:spPr/>
    </dgm:pt>
    <dgm:pt modelId="{D105294C-B559-4B8E-9745-0D1E460F24D4}" type="pres">
      <dgm:prSet presAssocID="{E053ABCE-F2FB-4810-889C-1B8BD3B00B1C}" presName="background2" presStyleLbl="node2" presStyleIdx="1" presStyleCnt="5"/>
      <dgm:spPr/>
    </dgm:pt>
    <dgm:pt modelId="{2A0B5CEF-B800-4FDE-A6B4-8AAB993E1DAD}" type="pres">
      <dgm:prSet presAssocID="{E053ABCE-F2FB-4810-889C-1B8BD3B00B1C}" presName="text2" presStyleLbl="fgAcc2" presStyleIdx="1" presStyleCnt="5">
        <dgm:presLayoutVars>
          <dgm:chPref val="3"/>
        </dgm:presLayoutVars>
      </dgm:prSet>
      <dgm:spPr/>
      <dgm:t>
        <a:bodyPr/>
        <a:lstStyle/>
        <a:p>
          <a:endParaRPr lang="en-US"/>
        </a:p>
      </dgm:t>
    </dgm:pt>
    <dgm:pt modelId="{345537B8-FBBE-4C91-A30B-05A12C4E0B6B}" type="pres">
      <dgm:prSet presAssocID="{E053ABCE-F2FB-4810-889C-1B8BD3B00B1C}" presName="hierChild3" presStyleCnt="0"/>
      <dgm:spPr/>
    </dgm:pt>
    <dgm:pt modelId="{CAC9FFC1-7841-451A-ACCE-968F1EF04A8D}" type="pres">
      <dgm:prSet presAssocID="{C37D560A-A9B5-4318-9652-BEFDAB62C69F}" presName="Name10" presStyleLbl="parChTrans1D2" presStyleIdx="2" presStyleCnt="5"/>
      <dgm:spPr/>
      <dgm:t>
        <a:bodyPr/>
        <a:lstStyle/>
        <a:p>
          <a:endParaRPr lang="en-US"/>
        </a:p>
      </dgm:t>
    </dgm:pt>
    <dgm:pt modelId="{CFA3D572-6760-43B2-BCC1-892CEEA2FF98}" type="pres">
      <dgm:prSet presAssocID="{82CCF016-2BCF-4AB1-B0B8-FDEEDBC54EC4}" presName="hierRoot2" presStyleCnt="0"/>
      <dgm:spPr/>
    </dgm:pt>
    <dgm:pt modelId="{0F30E7C5-EC57-4FA4-8638-35D1B0947570}" type="pres">
      <dgm:prSet presAssocID="{82CCF016-2BCF-4AB1-B0B8-FDEEDBC54EC4}" presName="composite2" presStyleCnt="0"/>
      <dgm:spPr/>
    </dgm:pt>
    <dgm:pt modelId="{8671A721-679B-480B-AD58-DAB099D60C06}" type="pres">
      <dgm:prSet presAssocID="{82CCF016-2BCF-4AB1-B0B8-FDEEDBC54EC4}" presName="background2" presStyleLbl="node2" presStyleIdx="2" presStyleCnt="5"/>
      <dgm:spPr/>
    </dgm:pt>
    <dgm:pt modelId="{AFD9B841-A7DB-46EB-B999-3578EE51F4A6}" type="pres">
      <dgm:prSet presAssocID="{82CCF016-2BCF-4AB1-B0B8-FDEEDBC54EC4}" presName="text2" presStyleLbl="fgAcc2" presStyleIdx="2" presStyleCnt="5">
        <dgm:presLayoutVars>
          <dgm:chPref val="3"/>
        </dgm:presLayoutVars>
      </dgm:prSet>
      <dgm:spPr/>
      <dgm:t>
        <a:bodyPr/>
        <a:lstStyle/>
        <a:p>
          <a:endParaRPr lang="en-US"/>
        </a:p>
      </dgm:t>
    </dgm:pt>
    <dgm:pt modelId="{0EDE4D41-27EE-4184-8BD9-EAD65A6C055C}" type="pres">
      <dgm:prSet presAssocID="{82CCF016-2BCF-4AB1-B0B8-FDEEDBC54EC4}" presName="hierChild3" presStyleCnt="0"/>
      <dgm:spPr/>
    </dgm:pt>
    <dgm:pt modelId="{483EADB0-7290-43D0-B236-D8A23AB17DFC}" type="pres">
      <dgm:prSet presAssocID="{56537EA5-1DB3-48BD-A234-D505A433CEE5}" presName="Name10" presStyleLbl="parChTrans1D2" presStyleIdx="3" presStyleCnt="5"/>
      <dgm:spPr/>
      <dgm:t>
        <a:bodyPr/>
        <a:lstStyle/>
        <a:p>
          <a:endParaRPr lang="en-US"/>
        </a:p>
      </dgm:t>
    </dgm:pt>
    <dgm:pt modelId="{B03FF6AF-EFB1-4EC2-BC96-AE08D5A59AB5}" type="pres">
      <dgm:prSet presAssocID="{1817FAD9-CEB5-4286-9E36-9212303978BB}" presName="hierRoot2" presStyleCnt="0"/>
      <dgm:spPr/>
    </dgm:pt>
    <dgm:pt modelId="{CCC6DB45-6E9D-47FD-8BE4-0AB50AFDCF0C}" type="pres">
      <dgm:prSet presAssocID="{1817FAD9-CEB5-4286-9E36-9212303978BB}" presName="composite2" presStyleCnt="0"/>
      <dgm:spPr/>
    </dgm:pt>
    <dgm:pt modelId="{ECADDF08-FEB9-4A7F-973F-145676B2BA96}" type="pres">
      <dgm:prSet presAssocID="{1817FAD9-CEB5-4286-9E36-9212303978BB}" presName="background2" presStyleLbl="node2" presStyleIdx="3" presStyleCnt="5"/>
      <dgm:spPr/>
    </dgm:pt>
    <dgm:pt modelId="{5BF30B21-A98E-4D8E-8B0A-B717D14849B4}" type="pres">
      <dgm:prSet presAssocID="{1817FAD9-CEB5-4286-9E36-9212303978BB}" presName="text2" presStyleLbl="fgAcc2" presStyleIdx="3" presStyleCnt="5">
        <dgm:presLayoutVars>
          <dgm:chPref val="3"/>
        </dgm:presLayoutVars>
      </dgm:prSet>
      <dgm:spPr/>
      <dgm:t>
        <a:bodyPr/>
        <a:lstStyle/>
        <a:p>
          <a:endParaRPr lang="en-US"/>
        </a:p>
      </dgm:t>
    </dgm:pt>
    <dgm:pt modelId="{5598548B-955E-457D-A6ED-0AE0597405A0}" type="pres">
      <dgm:prSet presAssocID="{1817FAD9-CEB5-4286-9E36-9212303978BB}" presName="hierChild3" presStyleCnt="0"/>
      <dgm:spPr/>
    </dgm:pt>
    <dgm:pt modelId="{305E152B-E416-4D1E-9AE6-635E5016663E}" type="pres">
      <dgm:prSet presAssocID="{983807B4-5AD1-4A2C-8A5A-FC227AA961B4}" presName="Name10" presStyleLbl="parChTrans1D2" presStyleIdx="4" presStyleCnt="5"/>
      <dgm:spPr/>
      <dgm:t>
        <a:bodyPr/>
        <a:lstStyle/>
        <a:p>
          <a:endParaRPr lang="en-US"/>
        </a:p>
      </dgm:t>
    </dgm:pt>
    <dgm:pt modelId="{8021B152-EEEC-4D29-8956-5C1A3B0E6A8E}" type="pres">
      <dgm:prSet presAssocID="{761F3159-2D17-42AE-AF73-1495DDC54720}" presName="hierRoot2" presStyleCnt="0"/>
      <dgm:spPr/>
    </dgm:pt>
    <dgm:pt modelId="{D0BF008F-D363-4BEA-A318-A5F7B0E43C74}" type="pres">
      <dgm:prSet presAssocID="{761F3159-2D17-42AE-AF73-1495DDC54720}" presName="composite2" presStyleCnt="0"/>
      <dgm:spPr/>
    </dgm:pt>
    <dgm:pt modelId="{24D6E69F-6303-4D7B-B71A-BE72193B8100}" type="pres">
      <dgm:prSet presAssocID="{761F3159-2D17-42AE-AF73-1495DDC54720}" presName="background2" presStyleLbl="node2" presStyleIdx="4" presStyleCnt="5"/>
      <dgm:spPr/>
    </dgm:pt>
    <dgm:pt modelId="{942F01F3-A317-4CFC-9E1E-460E4FD2B981}" type="pres">
      <dgm:prSet presAssocID="{761F3159-2D17-42AE-AF73-1495DDC54720}" presName="text2" presStyleLbl="fgAcc2" presStyleIdx="4" presStyleCnt="5">
        <dgm:presLayoutVars>
          <dgm:chPref val="3"/>
        </dgm:presLayoutVars>
      </dgm:prSet>
      <dgm:spPr/>
      <dgm:t>
        <a:bodyPr/>
        <a:lstStyle/>
        <a:p>
          <a:endParaRPr lang="en-US"/>
        </a:p>
      </dgm:t>
    </dgm:pt>
    <dgm:pt modelId="{9DE9F68A-4486-4E45-B1DA-7997DA3E0260}" type="pres">
      <dgm:prSet presAssocID="{761F3159-2D17-42AE-AF73-1495DDC54720}" presName="hierChild3" presStyleCnt="0"/>
      <dgm:spPr/>
    </dgm:pt>
  </dgm:ptLst>
  <dgm:cxnLst>
    <dgm:cxn modelId="{04A330C7-1A75-4855-BC1E-134870CD0501}" srcId="{32CD436E-C2FB-41EE-A3E0-694923D8F95F}" destId="{E053ABCE-F2FB-4810-889C-1B8BD3B00B1C}" srcOrd="1" destOrd="0" parTransId="{544CDEB2-2CD8-4CE6-B75A-7FE769932822}" sibTransId="{DC32CBC2-51D0-46FA-B163-D803BF31958A}"/>
    <dgm:cxn modelId="{C226B0F6-D293-4542-88B5-CE6E6698CD1C}" type="presOf" srcId="{C37D560A-A9B5-4318-9652-BEFDAB62C69F}" destId="{CAC9FFC1-7841-451A-ACCE-968F1EF04A8D}" srcOrd="0" destOrd="0" presId="urn:microsoft.com/office/officeart/2005/8/layout/hierarchy1"/>
    <dgm:cxn modelId="{7E3C2250-0352-48EF-8CFE-D2AD7F7E5526}" type="presOf" srcId="{E053ABCE-F2FB-4810-889C-1B8BD3B00B1C}" destId="{2A0B5CEF-B800-4FDE-A6B4-8AAB993E1DAD}" srcOrd="0" destOrd="0" presId="urn:microsoft.com/office/officeart/2005/8/layout/hierarchy1"/>
    <dgm:cxn modelId="{5B5546CE-699E-46D6-BD88-F737A241EF82}" srcId="{32CD436E-C2FB-41EE-A3E0-694923D8F95F}" destId="{1817FAD9-CEB5-4286-9E36-9212303978BB}" srcOrd="3" destOrd="0" parTransId="{56537EA5-1DB3-48BD-A234-D505A433CEE5}" sibTransId="{8B686AB3-5633-4FDA-A339-B1FBC80F6FE6}"/>
    <dgm:cxn modelId="{B269A568-3B00-4041-B364-325632A726D3}" type="presOf" srcId="{56537EA5-1DB3-48BD-A234-D505A433CEE5}" destId="{483EADB0-7290-43D0-B236-D8A23AB17DFC}" srcOrd="0" destOrd="0" presId="urn:microsoft.com/office/officeart/2005/8/layout/hierarchy1"/>
    <dgm:cxn modelId="{C72267CD-F02F-4458-98E3-A6AC01576C8F}" type="presOf" srcId="{48AF4E81-7355-4016-8640-853F73AABB4E}" destId="{9678E5C3-02BB-47B1-BB6C-E7546ECF2B61}" srcOrd="0" destOrd="0" presId="urn:microsoft.com/office/officeart/2005/8/layout/hierarchy1"/>
    <dgm:cxn modelId="{1E3ADAAB-5CF9-4AF2-8256-C4092F27A14F}" type="presOf" srcId="{983807B4-5AD1-4A2C-8A5A-FC227AA961B4}" destId="{305E152B-E416-4D1E-9AE6-635E5016663E}" srcOrd="0" destOrd="0" presId="urn:microsoft.com/office/officeart/2005/8/layout/hierarchy1"/>
    <dgm:cxn modelId="{42303DFC-AAE2-4013-8539-1A5B360B71E8}" srcId="{32CD436E-C2FB-41EE-A3E0-694923D8F95F}" destId="{761F3159-2D17-42AE-AF73-1495DDC54720}" srcOrd="4" destOrd="0" parTransId="{983807B4-5AD1-4A2C-8A5A-FC227AA961B4}" sibTransId="{0DEF1953-E9BE-4977-825A-3F55030C05B3}"/>
    <dgm:cxn modelId="{BCB793DF-23E3-4526-AC2B-59917AD112A4}" type="presOf" srcId="{1817FAD9-CEB5-4286-9E36-9212303978BB}" destId="{5BF30B21-A98E-4D8E-8B0A-B717D14849B4}" srcOrd="0" destOrd="0" presId="urn:microsoft.com/office/officeart/2005/8/layout/hierarchy1"/>
    <dgm:cxn modelId="{6D4E2C23-6BDE-4C2E-A6E7-1C24141BC6EE}" type="presOf" srcId="{761F3159-2D17-42AE-AF73-1495DDC54720}" destId="{942F01F3-A317-4CFC-9E1E-460E4FD2B981}" srcOrd="0" destOrd="0" presId="urn:microsoft.com/office/officeart/2005/8/layout/hierarchy1"/>
    <dgm:cxn modelId="{EA023742-EE53-4FFD-A6EA-7F11C81D5EE4}" srcId="{32CD436E-C2FB-41EE-A3E0-694923D8F95F}" destId="{82CCF016-2BCF-4AB1-B0B8-FDEEDBC54EC4}" srcOrd="2" destOrd="0" parTransId="{C37D560A-A9B5-4318-9652-BEFDAB62C69F}" sibTransId="{4AD67447-88C8-41DA-BCB4-1F50F9B7B93E}"/>
    <dgm:cxn modelId="{47F44C53-ABD8-49B8-B697-C0E48DF8E3A6}" type="presOf" srcId="{2B743B97-567C-4A9D-BF44-4E511E53BA79}" destId="{A69FAEAE-3468-450B-B674-C6A081ACC1A4}" srcOrd="0" destOrd="0" presId="urn:microsoft.com/office/officeart/2005/8/layout/hierarchy1"/>
    <dgm:cxn modelId="{3D0C7D26-E1C9-4F1D-99A1-81264BF53FE3}" type="presOf" srcId="{5C59FBD8-AF2D-4407-B0CA-0AAB146CA2DA}" destId="{F5A7E995-9E58-4C48-BDCE-1454A492CE98}" srcOrd="0" destOrd="0" presId="urn:microsoft.com/office/officeart/2005/8/layout/hierarchy1"/>
    <dgm:cxn modelId="{BCA6C080-7D0E-4DE2-BC1B-31EB83A289D3}" srcId="{2B743B97-567C-4A9D-BF44-4E511E53BA79}" destId="{32CD436E-C2FB-41EE-A3E0-694923D8F95F}" srcOrd="0" destOrd="0" parTransId="{6BF0BF60-A61F-41E4-87E4-92B951B649D2}" sibTransId="{BD7F99A0-336E-47CE-81F3-B8FCCD6F8E4C}"/>
    <dgm:cxn modelId="{87B8AB4C-0415-450C-A8CD-FB58B5249D91}" type="presOf" srcId="{32CD436E-C2FB-41EE-A3E0-694923D8F95F}" destId="{3EB9CC03-53A2-4EB4-995D-67ED03804A27}" srcOrd="0" destOrd="0" presId="urn:microsoft.com/office/officeart/2005/8/layout/hierarchy1"/>
    <dgm:cxn modelId="{DF27A596-6F23-4995-B673-5E93895CCB4A}" srcId="{32CD436E-C2FB-41EE-A3E0-694923D8F95F}" destId="{5C59FBD8-AF2D-4407-B0CA-0AAB146CA2DA}" srcOrd="0" destOrd="0" parTransId="{48AF4E81-7355-4016-8640-853F73AABB4E}" sibTransId="{46474E18-DC3D-4704-85B8-DD055B069B0F}"/>
    <dgm:cxn modelId="{2286110E-5F96-4746-BF77-218C0FEF120F}" type="presOf" srcId="{82CCF016-2BCF-4AB1-B0B8-FDEEDBC54EC4}" destId="{AFD9B841-A7DB-46EB-B999-3578EE51F4A6}" srcOrd="0" destOrd="0" presId="urn:microsoft.com/office/officeart/2005/8/layout/hierarchy1"/>
    <dgm:cxn modelId="{D36A10AD-E1C2-4041-BA13-0A3FA3DB0895}" type="presOf" srcId="{544CDEB2-2CD8-4CE6-B75A-7FE769932822}" destId="{FC89880F-BFC0-46D4-9822-DDF39EB36645}" srcOrd="0" destOrd="0" presId="urn:microsoft.com/office/officeart/2005/8/layout/hierarchy1"/>
    <dgm:cxn modelId="{53802E62-7170-4E92-8493-0C6B510F6333}" type="presParOf" srcId="{A69FAEAE-3468-450B-B674-C6A081ACC1A4}" destId="{8BCB4E3F-DB50-4702-BA85-F1C0FDFDF306}" srcOrd="0" destOrd="0" presId="urn:microsoft.com/office/officeart/2005/8/layout/hierarchy1"/>
    <dgm:cxn modelId="{DA502C78-5B02-4FBE-8051-3BAD48911127}" type="presParOf" srcId="{8BCB4E3F-DB50-4702-BA85-F1C0FDFDF306}" destId="{D371C40C-B440-4024-A955-C8A3B1EE1419}" srcOrd="0" destOrd="0" presId="urn:microsoft.com/office/officeart/2005/8/layout/hierarchy1"/>
    <dgm:cxn modelId="{4BE5EDF5-B0B6-434D-A8DE-69BFC7AB7424}" type="presParOf" srcId="{D371C40C-B440-4024-A955-C8A3B1EE1419}" destId="{382080DA-2208-4589-B851-ED7DF4E97334}" srcOrd="0" destOrd="0" presId="urn:microsoft.com/office/officeart/2005/8/layout/hierarchy1"/>
    <dgm:cxn modelId="{A19013F0-86B1-4BC9-80B7-A1A5C443F36D}" type="presParOf" srcId="{D371C40C-B440-4024-A955-C8A3B1EE1419}" destId="{3EB9CC03-53A2-4EB4-995D-67ED03804A27}" srcOrd="1" destOrd="0" presId="urn:microsoft.com/office/officeart/2005/8/layout/hierarchy1"/>
    <dgm:cxn modelId="{18E0D8C3-2417-441E-B7E2-65CCFD48AD5F}" type="presParOf" srcId="{8BCB4E3F-DB50-4702-BA85-F1C0FDFDF306}" destId="{1CE0DFE0-6B17-4703-A1C0-0A7D647B350B}" srcOrd="1" destOrd="0" presId="urn:microsoft.com/office/officeart/2005/8/layout/hierarchy1"/>
    <dgm:cxn modelId="{7CD1B412-0DA6-4460-A682-0D74A48C3554}" type="presParOf" srcId="{1CE0DFE0-6B17-4703-A1C0-0A7D647B350B}" destId="{9678E5C3-02BB-47B1-BB6C-E7546ECF2B61}" srcOrd="0" destOrd="0" presId="urn:microsoft.com/office/officeart/2005/8/layout/hierarchy1"/>
    <dgm:cxn modelId="{B0B33465-1B2B-45FE-8DA2-EE607BBECE69}" type="presParOf" srcId="{1CE0DFE0-6B17-4703-A1C0-0A7D647B350B}" destId="{0D308F18-11C6-4E08-9735-28A4778FDAAC}" srcOrd="1" destOrd="0" presId="urn:microsoft.com/office/officeart/2005/8/layout/hierarchy1"/>
    <dgm:cxn modelId="{BE3BF3F8-90CB-448B-93BC-85E335CEC9B5}" type="presParOf" srcId="{0D308F18-11C6-4E08-9735-28A4778FDAAC}" destId="{F9EDDC7D-D034-49FC-9DCD-F524059C5664}" srcOrd="0" destOrd="0" presId="urn:microsoft.com/office/officeart/2005/8/layout/hierarchy1"/>
    <dgm:cxn modelId="{B00C08B4-9137-4B9D-B30E-B7A9103E1EC7}" type="presParOf" srcId="{F9EDDC7D-D034-49FC-9DCD-F524059C5664}" destId="{EDCE175C-84F5-43D0-968C-0E02FC0D9E3F}" srcOrd="0" destOrd="0" presId="urn:microsoft.com/office/officeart/2005/8/layout/hierarchy1"/>
    <dgm:cxn modelId="{9DC714CF-E826-477B-915E-2908D2417FBE}" type="presParOf" srcId="{F9EDDC7D-D034-49FC-9DCD-F524059C5664}" destId="{F5A7E995-9E58-4C48-BDCE-1454A492CE98}" srcOrd="1" destOrd="0" presId="urn:microsoft.com/office/officeart/2005/8/layout/hierarchy1"/>
    <dgm:cxn modelId="{993871A3-BEAE-4964-9327-B479F0CDF86E}" type="presParOf" srcId="{0D308F18-11C6-4E08-9735-28A4778FDAAC}" destId="{1DA0A45B-2229-4C97-8275-4F2BDC2CFC1F}" srcOrd="1" destOrd="0" presId="urn:microsoft.com/office/officeart/2005/8/layout/hierarchy1"/>
    <dgm:cxn modelId="{24B70139-E18C-44C9-A60C-8BAC3C125130}" type="presParOf" srcId="{1CE0DFE0-6B17-4703-A1C0-0A7D647B350B}" destId="{FC89880F-BFC0-46D4-9822-DDF39EB36645}" srcOrd="2" destOrd="0" presId="urn:microsoft.com/office/officeart/2005/8/layout/hierarchy1"/>
    <dgm:cxn modelId="{CCDCE4F8-8C08-4546-A158-7B5D7E4A7D8B}" type="presParOf" srcId="{1CE0DFE0-6B17-4703-A1C0-0A7D647B350B}" destId="{0BF50665-1CC2-4099-A2B6-756C82040731}" srcOrd="3" destOrd="0" presId="urn:microsoft.com/office/officeart/2005/8/layout/hierarchy1"/>
    <dgm:cxn modelId="{8BEF117A-B40D-45AA-8F86-2E9369389748}" type="presParOf" srcId="{0BF50665-1CC2-4099-A2B6-756C82040731}" destId="{CCFDC548-BC79-40CA-9C5E-D03C3D76E23A}" srcOrd="0" destOrd="0" presId="urn:microsoft.com/office/officeart/2005/8/layout/hierarchy1"/>
    <dgm:cxn modelId="{09BCF50C-1178-44FF-A1A9-21EE7864D4E2}" type="presParOf" srcId="{CCFDC548-BC79-40CA-9C5E-D03C3D76E23A}" destId="{D105294C-B559-4B8E-9745-0D1E460F24D4}" srcOrd="0" destOrd="0" presId="urn:microsoft.com/office/officeart/2005/8/layout/hierarchy1"/>
    <dgm:cxn modelId="{2CF7037B-265D-43EC-A3F9-8B82824CCD87}" type="presParOf" srcId="{CCFDC548-BC79-40CA-9C5E-D03C3D76E23A}" destId="{2A0B5CEF-B800-4FDE-A6B4-8AAB993E1DAD}" srcOrd="1" destOrd="0" presId="urn:microsoft.com/office/officeart/2005/8/layout/hierarchy1"/>
    <dgm:cxn modelId="{8CA015D7-4FBF-43B0-8FC9-4796381BC6C2}" type="presParOf" srcId="{0BF50665-1CC2-4099-A2B6-756C82040731}" destId="{345537B8-FBBE-4C91-A30B-05A12C4E0B6B}" srcOrd="1" destOrd="0" presId="urn:microsoft.com/office/officeart/2005/8/layout/hierarchy1"/>
    <dgm:cxn modelId="{12221F2E-F4C0-41A9-ACF7-1501E9A2F62F}" type="presParOf" srcId="{1CE0DFE0-6B17-4703-A1C0-0A7D647B350B}" destId="{CAC9FFC1-7841-451A-ACCE-968F1EF04A8D}" srcOrd="4" destOrd="0" presId="urn:microsoft.com/office/officeart/2005/8/layout/hierarchy1"/>
    <dgm:cxn modelId="{4C188F4F-FCAD-4F76-8C8E-6125A592E942}" type="presParOf" srcId="{1CE0DFE0-6B17-4703-A1C0-0A7D647B350B}" destId="{CFA3D572-6760-43B2-BCC1-892CEEA2FF98}" srcOrd="5" destOrd="0" presId="urn:microsoft.com/office/officeart/2005/8/layout/hierarchy1"/>
    <dgm:cxn modelId="{AA7CE7A5-1E66-4909-BF3F-8B0697890D88}" type="presParOf" srcId="{CFA3D572-6760-43B2-BCC1-892CEEA2FF98}" destId="{0F30E7C5-EC57-4FA4-8638-35D1B0947570}" srcOrd="0" destOrd="0" presId="urn:microsoft.com/office/officeart/2005/8/layout/hierarchy1"/>
    <dgm:cxn modelId="{5C049F2D-BAC8-486C-8838-F66FDB4B4922}" type="presParOf" srcId="{0F30E7C5-EC57-4FA4-8638-35D1B0947570}" destId="{8671A721-679B-480B-AD58-DAB099D60C06}" srcOrd="0" destOrd="0" presId="urn:microsoft.com/office/officeart/2005/8/layout/hierarchy1"/>
    <dgm:cxn modelId="{06C1EBFE-9B8C-48D4-AEDC-85F3911BB155}" type="presParOf" srcId="{0F30E7C5-EC57-4FA4-8638-35D1B0947570}" destId="{AFD9B841-A7DB-46EB-B999-3578EE51F4A6}" srcOrd="1" destOrd="0" presId="urn:microsoft.com/office/officeart/2005/8/layout/hierarchy1"/>
    <dgm:cxn modelId="{A0668F04-C2E8-4A5B-9C94-54061FB29633}" type="presParOf" srcId="{CFA3D572-6760-43B2-BCC1-892CEEA2FF98}" destId="{0EDE4D41-27EE-4184-8BD9-EAD65A6C055C}" srcOrd="1" destOrd="0" presId="urn:microsoft.com/office/officeart/2005/8/layout/hierarchy1"/>
    <dgm:cxn modelId="{C5FA9E09-F66E-4223-BA8D-3D9BC0C0CB86}" type="presParOf" srcId="{1CE0DFE0-6B17-4703-A1C0-0A7D647B350B}" destId="{483EADB0-7290-43D0-B236-D8A23AB17DFC}" srcOrd="6" destOrd="0" presId="urn:microsoft.com/office/officeart/2005/8/layout/hierarchy1"/>
    <dgm:cxn modelId="{50B72E93-6277-4152-BC1A-7FF80EF8DB61}" type="presParOf" srcId="{1CE0DFE0-6B17-4703-A1C0-0A7D647B350B}" destId="{B03FF6AF-EFB1-4EC2-BC96-AE08D5A59AB5}" srcOrd="7" destOrd="0" presId="urn:microsoft.com/office/officeart/2005/8/layout/hierarchy1"/>
    <dgm:cxn modelId="{789456FC-D228-412B-8E57-150ED0CF9759}" type="presParOf" srcId="{B03FF6AF-EFB1-4EC2-BC96-AE08D5A59AB5}" destId="{CCC6DB45-6E9D-47FD-8BE4-0AB50AFDCF0C}" srcOrd="0" destOrd="0" presId="urn:microsoft.com/office/officeart/2005/8/layout/hierarchy1"/>
    <dgm:cxn modelId="{72AD98A2-F54E-4539-AEBC-4FDA90975D56}" type="presParOf" srcId="{CCC6DB45-6E9D-47FD-8BE4-0AB50AFDCF0C}" destId="{ECADDF08-FEB9-4A7F-973F-145676B2BA96}" srcOrd="0" destOrd="0" presId="urn:microsoft.com/office/officeart/2005/8/layout/hierarchy1"/>
    <dgm:cxn modelId="{4A9715B4-ACD8-4330-A501-152FBC1F652C}" type="presParOf" srcId="{CCC6DB45-6E9D-47FD-8BE4-0AB50AFDCF0C}" destId="{5BF30B21-A98E-4D8E-8B0A-B717D14849B4}" srcOrd="1" destOrd="0" presId="urn:microsoft.com/office/officeart/2005/8/layout/hierarchy1"/>
    <dgm:cxn modelId="{780C71C5-F8F3-4DFC-BC29-8AC8C80767A3}" type="presParOf" srcId="{B03FF6AF-EFB1-4EC2-BC96-AE08D5A59AB5}" destId="{5598548B-955E-457D-A6ED-0AE0597405A0}" srcOrd="1" destOrd="0" presId="urn:microsoft.com/office/officeart/2005/8/layout/hierarchy1"/>
    <dgm:cxn modelId="{E37C37B7-C2BE-4F5E-A16C-09A755053E7B}" type="presParOf" srcId="{1CE0DFE0-6B17-4703-A1C0-0A7D647B350B}" destId="{305E152B-E416-4D1E-9AE6-635E5016663E}" srcOrd="8" destOrd="0" presId="urn:microsoft.com/office/officeart/2005/8/layout/hierarchy1"/>
    <dgm:cxn modelId="{4C9A3A68-EE86-4B35-9B1E-DA351C3A2719}" type="presParOf" srcId="{1CE0DFE0-6B17-4703-A1C0-0A7D647B350B}" destId="{8021B152-EEEC-4D29-8956-5C1A3B0E6A8E}" srcOrd="9" destOrd="0" presId="urn:microsoft.com/office/officeart/2005/8/layout/hierarchy1"/>
    <dgm:cxn modelId="{6AE1B98D-BFF6-4B66-90B8-B61AFA6B219C}" type="presParOf" srcId="{8021B152-EEEC-4D29-8956-5C1A3B0E6A8E}" destId="{D0BF008F-D363-4BEA-A318-A5F7B0E43C74}" srcOrd="0" destOrd="0" presId="urn:microsoft.com/office/officeart/2005/8/layout/hierarchy1"/>
    <dgm:cxn modelId="{1AF0FAF6-2186-40A1-9528-C891D49779F5}" type="presParOf" srcId="{D0BF008F-D363-4BEA-A318-A5F7B0E43C74}" destId="{24D6E69F-6303-4D7B-B71A-BE72193B8100}" srcOrd="0" destOrd="0" presId="urn:microsoft.com/office/officeart/2005/8/layout/hierarchy1"/>
    <dgm:cxn modelId="{2B1C7CAA-1803-40A2-B317-079B6C0EAEBC}" type="presParOf" srcId="{D0BF008F-D363-4BEA-A318-A5F7B0E43C74}" destId="{942F01F3-A317-4CFC-9E1E-460E4FD2B981}" srcOrd="1" destOrd="0" presId="urn:microsoft.com/office/officeart/2005/8/layout/hierarchy1"/>
    <dgm:cxn modelId="{9A999CA4-E4EA-427A-B47B-A384D582C1D5}" type="presParOf" srcId="{8021B152-EEEC-4D29-8956-5C1A3B0E6A8E}" destId="{9DE9F68A-4486-4E45-B1DA-7997DA3E026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453312-A8A4-451B-9675-9DCC636C9FB0}">
      <dsp:nvSpPr>
        <dsp:cNvPr id="0" name=""/>
        <dsp:cNvSpPr/>
      </dsp:nvSpPr>
      <dsp:spPr>
        <a:xfrm>
          <a:off x="4660900" y="1308758"/>
          <a:ext cx="2464713" cy="549015"/>
        </a:xfrm>
        <a:custGeom>
          <a:avLst/>
          <a:gdLst/>
          <a:ahLst/>
          <a:cxnLst/>
          <a:rect l="0" t="0" r="0" b="0"/>
          <a:pathLst>
            <a:path>
              <a:moveTo>
                <a:pt x="0" y="0"/>
              </a:moveTo>
              <a:lnTo>
                <a:pt x="0" y="274507"/>
              </a:lnTo>
              <a:lnTo>
                <a:pt x="2464713" y="274507"/>
              </a:lnTo>
              <a:lnTo>
                <a:pt x="2464713" y="54901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91F334-161A-47CC-A57B-05D40FB68A53}">
      <dsp:nvSpPr>
        <dsp:cNvPr id="0" name=""/>
        <dsp:cNvSpPr/>
      </dsp:nvSpPr>
      <dsp:spPr>
        <a:xfrm>
          <a:off x="2291806" y="1308758"/>
          <a:ext cx="2369093" cy="549015"/>
        </a:xfrm>
        <a:custGeom>
          <a:avLst/>
          <a:gdLst/>
          <a:ahLst/>
          <a:cxnLst/>
          <a:rect l="0" t="0" r="0" b="0"/>
          <a:pathLst>
            <a:path>
              <a:moveTo>
                <a:pt x="2369093" y="0"/>
              </a:moveTo>
              <a:lnTo>
                <a:pt x="2369093" y="274507"/>
              </a:lnTo>
              <a:lnTo>
                <a:pt x="0" y="274507"/>
              </a:lnTo>
              <a:lnTo>
                <a:pt x="0" y="54901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66C0C67-881A-4B6B-910B-E79001AC3BAC}">
      <dsp:nvSpPr>
        <dsp:cNvPr id="0" name=""/>
        <dsp:cNvSpPr/>
      </dsp:nvSpPr>
      <dsp:spPr>
        <a:xfrm>
          <a:off x="3353720" y="1578"/>
          <a:ext cx="2614359" cy="130717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a:solidFill>
                <a:schemeClr val="tx1"/>
              </a:solidFill>
              <a:latin typeface="Helvetica" panose="020B0604020202020204" pitchFamily="34" charset="0"/>
              <a:cs typeface="Helvetica" panose="020B0604020202020204" pitchFamily="34" charset="0"/>
            </a:rPr>
            <a:t>Major Comparisons</a:t>
          </a:r>
        </a:p>
      </dsp:txBody>
      <dsp:txXfrm>
        <a:off x="3353720" y="1578"/>
        <a:ext cx="2614359" cy="1307179"/>
      </dsp:txXfrm>
    </dsp:sp>
    <dsp:sp modelId="{EF2BBA84-CCC4-4576-8DF2-3E3A71C44BC1}">
      <dsp:nvSpPr>
        <dsp:cNvPr id="0" name=""/>
        <dsp:cNvSpPr/>
      </dsp:nvSpPr>
      <dsp:spPr>
        <a:xfrm>
          <a:off x="101600" y="1857774"/>
          <a:ext cx="4380412" cy="130717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a:latin typeface="Helvetica" panose="020B0604020202020204" pitchFamily="34" charset="0"/>
              <a:cs typeface="Helvetica" panose="020B0604020202020204" pitchFamily="34" charset="0"/>
            </a:rPr>
            <a:t>Single Machine vs Distributed Storage</a:t>
          </a:r>
        </a:p>
      </dsp:txBody>
      <dsp:txXfrm>
        <a:off x="101600" y="1857774"/>
        <a:ext cx="4380412" cy="1307179"/>
      </dsp:txXfrm>
    </dsp:sp>
    <dsp:sp modelId="{FB7F50EB-BAF1-42CD-81F8-74E72DEB277C}">
      <dsp:nvSpPr>
        <dsp:cNvPr id="0" name=""/>
        <dsp:cNvSpPr/>
      </dsp:nvSpPr>
      <dsp:spPr>
        <a:xfrm>
          <a:off x="5031027" y="1857774"/>
          <a:ext cx="4189171" cy="130717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a:latin typeface="Helvetica" panose="020B0604020202020204" pitchFamily="34" charset="0"/>
              <a:cs typeface="Helvetica" panose="020B0604020202020204" pitchFamily="34" charset="0"/>
            </a:rPr>
            <a:t>Eventual vs Strong Consistency</a:t>
          </a:r>
        </a:p>
      </dsp:txBody>
      <dsp:txXfrm>
        <a:off x="5031027" y="1857774"/>
        <a:ext cx="4189171" cy="13071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5E152B-E416-4D1E-9AE6-635E5016663E}">
      <dsp:nvSpPr>
        <dsp:cNvPr id="0" name=""/>
        <dsp:cNvSpPr/>
      </dsp:nvSpPr>
      <dsp:spPr>
        <a:xfrm>
          <a:off x="5871003" y="2445657"/>
          <a:ext cx="4870645" cy="579496"/>
        </a:xfrm>
        <a:custGeom>
          <a:avLst/>
          <a:gdLst/>
          <a:ahLst/>
          <a:cxnLst/>
          <a:rect l="0" t="0" r="0" b="0"/>
          <a:pathLst>
            <a:path>
              <a:moveTo>
                <a:pt x="0" y="0"/>
              </a:moveTo>
              <a:lnTo>
                <a:pt x="0" y="394909"/>
              </a:lnTo>
              <a:lnTo>
                <a:pt x="4870645" y="394909"/>
              </a:lnTo>
              <a:lnTo>
                <a:pt x="4870645" y="57949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3EADB0-7290-43D0-B236-D8A23AB17DFC}">
      <dsp:nvSpPr>
        <dsp:cNvPr id="0" name=""/>
        <dsp:cNvSpPr/>
      </dsp:nvSpPr>
      <dsp:spPr>
        <a:xfrm>
          <a:off x="5871003" y="2445657"/>
          <a:ext cx="2435322" cy="579496"/>
        </a:xfrm>
        <a:custGeom>
          <a:avLst/>
          <a:gdLst/>
          <a:ahLst/>
          <a:cxnLst/>
          <a:rect l="0" t="0" r="0" b="0"/>
          <a:pathLst>
            <a:path>
              <a:moveTo>
                <a:pt x="0" y="0"/>
              </a:moveTo>
              <a:lnTo>
                <a:pt x="0" y="394909"/>
              </a:lnTo>
              <a:lnTo>
                <a:pt x="2435322" y="394909"/>
              </a:lnTo>
              <a:lnTo>
                <a:pt x="2435322" y="57949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C9FFC1-7841-451A-ACCE-968F1EF04A8D}">
      <dsp:nvSpPr>
        <dsp:cNvPr id="0" name=""/>
        <dsp:cNvSpPr/>
      </dsp:nvSpPr>
      <dsp:spPr>
        <a:xfrm>
          <a:off x="5825283" y="2445657"/>
          <a:ext cx="91440" cy="579496"/>
        </a:xfrm>
        <a:custGeom>
          <a:avLst/>
          <a:gdLst/>
          <a:ahLst/>
          <a:cxnLst/>
          <a:rect l="0" t="0" r="0" b="0"/>
          <a:pathLst>
            <a:path>
              <a:moveTo>
                <a:pt x="45720" y="0"/>
              </a:moveTo>
              <a:lnTo>
                <a:pt x="45720" y="57949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89880F-BFC0-46D4-9822-DDF39EB36645}">
      <dsp:nvSpPr>
        <dsp:cNvPr id="0" name=""/>
        <dsp:cNvSpPr/>
      </dsp:nvSpPr>
      <dsp:spPr>
        <a:xfrm>
          <a:off x="3435680" y="2445657"/>
          <a:ext cx="2435322" cy="579496"/>
        </a:xfrm>
        <a:custGeom>
          <a:avLst/>
          <a:gdLst/>
          <a:ahLst/>
          <a:cxnLst/>
          <a:rect l="0" t="0" r="0" b="0"/>
          <a:pathLst>
            <a:path>
              <a:moveTo>
                <a:pt x="2435322" y="0"/>
              </a:moveTo>
              <a:lnTo>
                <a:pt x="2435322" y="394909"/>
              </a:lnTo>
              <a:lnTo>
                <a:pt x="0" y="394909"/>
              </a:lnTo>
              <a:lnTo>
                <a:pt x="0" y="57949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78E5C3-02BB-47B1-BB6C-E7546ECF2B61}">
      <dsp:nvSpPr>
        <dsp:cNvPr id="0" name=""/>
        <dsp:cNvSpPr/>
      </dsp:nvSpPr>
      <dsp:spPr>
        <a:xfrm>
          <a:off x="1000357" y="2445657"/>
          <a:ext cx="4870645" cy="579496"/>
        </a:xfrm>
        <a:custGeom>
          <a:avLst/>
          <a:gdLst/>
          <a:ahLst/>
          <a:cxnLst/>
          <a:rect l="0" t="0" r="0" b="0"/>
          <a:pathLst>
            <a:path>
              <a:moveTo>
                <a:pt x="4870645" y="0"/>
              </a:moveTo>
              <a:lnTo>
                <a:pt x="4870645" y="394909"/>
              </a:lnTo>
              <a:lnTo>
                <a:pt x="0" y="394909"/>
              </a:lnTo>
              <a:lnTo>
                <a:pt x="0" y="57949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2080DA-2208-4589-B851-ED7DF4E97334}">
      <dsp:nvSpPr>
        <dsp:cNvPr id="0" name=""/>
        <dsp:cNvSpPr/>
      </dsp:nvSpPr>
      <dsp:spPr>
        <a:xfrm>
          <a:off x="4874734" y="1180396"/>
          <a:ext cx="1992536" cy="1265260"/>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B9CC03-53A2-4EB4-995D-67ED03804A27}">
      <dsp:nvSpPr>
        <dsp:cNvPr id="0" name=""/>
        <dsp:cNvSpPr/>
      </dsp:nvSpPr>
      <dsp:spPr>
        <a:xfrm>
          <a:off x="5096127" y="1390719"/>
          <a:ext cx="1992536" cy="1265260"/>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a:latin typeface="Helvetica" panose="020B0604020202020204" pitchFamily="34" charset="0"/>
              <a:cs typeface="Helvetica" panose="020B0604020202020204" pitchFamily="34" charset="0"/>
            </a:rPr>
            <a:t>Ways</a:t>
          </a:r>
          <a:endParaRPr lang="en-US" sz="2800" kern="1200" dirty="0">
            <a:latin typeface="Helvetica" panose="020B0604020202020204" pitchFamily="34" charset="0"/>
            <a:cs typeface="Helvetica" panose="020B0604020202020204" pitchFamily="34" charset="0"/>
          </a:endParaRPr>
        </a:p>
      </dsp:txBody>
      <dsp:txXfrm>
        <a:off x="5133185" y="1427777"/>
        <a:ext cx="1918420" cy="1191144"/>
      </dsp:txXfrm>
    </dsp:sp>
    <dsp:sp modelId="{EDCE175C-84F5-43D0-968C-0E02FC0D9E3F}">
      <dsp:nvSpPr>
        <dsp:cNvPr id="0" name=""/>
        <dsp:cNvSpPr/>
      </dsp:nvSpPr>
      <dsp:spPr>
        <a:xfrm>
          <a:off x="4089" y="3025153"/>
          <a:ext cx="1992536" cy="126526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A7E995-9E58-4C48-BDCE-1454A492CE98}">
      <dsp:nvSpPr>
        <dsp:cNvPr id="0" name=""/>
        <dsp:cNvSpPr/>
      </dsp:nvSpPr>
      <dsp:spPr>
        <a:xfrm>
          <a:off x="225482" y="3235476"/>
          <a:ext cx="1992536" cy="126526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a:latin typeface="Helvetica" panose="020B0604020202020204" pitchFamily="34" charset="0"/>
              <a:cs typeface="Helvetica" panose="020B0604020202020204" pitchFamily="34" charset="0"/>
            </a:rPr>
            <a:t>File Exchange</a:t>
          </a:r>
        </a:p>
      </dsp:txBody>
      <dsp:txXfrm>
        <a:off x="262540" y="3272534"/>
        <a:ext cx="1918420" cy="1191144"/>
      </dsp:txXfrm>
    </dsp:sp>
    <dsp:sp modelId="{D105294C-B559-4B8E-9745-0D1E460F24D4}">
      <dsp:nvSpPr>
        <dsp:cNvPr id="0" name=""/>
        <dsp:cNvSpPr/>
      </dsp:nvSpPr>
      <dsp:spPr>
        <a:xfrm>
          <a:off x="2439411" y="3025153"/>
          <a:ext cx="1992536" cy="126526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0B5CEF-B800-4FDE-A6B4-8AAB993E1DAD}">
      <dsp:nvSpPr>
        <dsp:cNvPr id="0" name=""/>
        <dsp:cNvSpPr/>
      </dsp:nvSpPr>
      <dsp:spPr>
        <a:xfrm>
          <a:off x="2660804" y="3235476"/>
          <a:ext cx="1992536" cy="126526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a:latin typeface="Helvetica" panose="020B0604020202020204" pitchFamily="34" charset="0"/>
              <a:cs typeface="Helvetica" panose="020B0604020202020204" pitchFamily="34" charset="0"/>
            </a:rPr>
            <a:t>Databases</a:t>
          </a:r>
        </a:p>
      </dsp:txBody>
      <dsp:txXfrm>
        <a:off x="2697862" y="3272534"/>
        <a:ext cx="1918420" cy="1191144"/>
      </dsp:txXfrm>
    </dsp:sp>
    <dsp:sp modelId="{8671A721-679B-480B-AD58-DAB099D60C06}">
      <dsp:nvSpPr>
        <dsp:cNvPr id="0" name=""/>
        <dsp:cNvSpPr/>
      </dsp:nvSpPr>
      <dsp:spPr>
        <a:xfrm>
          <a:off x="4874734" y="3025153"/>
          <a:ext cx="1992536" cy="126526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D9B841-A7DB-46EB-B999-3578EE51F4A6}">
      <dsp:nvSpPr>
        <dsp:cNvPr id="0" name=""/>
        <dsp:cNvSpPr/>
      </dsp:nvSpPr>
      <dsp:spPr>
        <a:xfrm>
          <a:off x="5096127" y="3235476"/>
          <a:ext cx="1992536" cy="126526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a:latin typeface="Helvetica" panose="020B0604020202020204" pitchFamily="34" charset="0"/>
              <a:cs typeface="Helvetica" panose="020B0604020202020204" pitchFamily="34" charset="0"/>
            </a:rPr>
            <a:t>Streaming Systems</a:t>
          </a:r>
        </a:p>
      </dsp:txBody>
      <dsp:txXfrm>
        <a:off x="5133185" y="3272534"/>
        <a:ext cx="1918420" cy="1191144"/>
      </dsp:txXfrm>
    </dsp:sp>
    <dsp:sp modelId="{ECADDF08-FEB9-4A7F-973F-145676B2BA96}">
      <dsp:nvSpPr>
        <dsp:cNvPr id="0" name=""/>
        <dsp:cNvSpPr/>
      </dsp:nvSpPr>
      <dsp:spPr>
        <a:xfrm>
          <a:off x="7310057" y="3025153"/>
          <a:ext cx="1992536" cy="126526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F30B21-A98E-4D8E-8B0A-B717D14849B4}">
      <dsp:nvSpPr>
        <dsp:cNvPr id="0" name=""/>
        <dsp:cNvSpPr/>
      </dsp:nvSpPr>
      <dsp:spPr>
        <a:xfrm>
          <a:off x="7531450" y="3235476"/>
          <a:ext cx="1992536" cy="126526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a:latin typeface="Helvetica" panose="020B0604020202020204" pitchFamily="34" charset="0"/>
              <a:cs typeface="Helvetica" panose="020B0604020202020204" pitchFamily="34" charset="0"/>
            </a:rPr>
            <a:t>Query Federation</a:t>
          </a:r>
        </a:p>
      </dsp:txBody>
      <dsp:txXfrm>
        <a:off x="7568508" y="3272534"/>
        <a:ext cx="1918420" cy="1191144"/>
      </dsp:txXfrm>
    </dsp:sp>
    <dsp:sp modelId="{24D6E69F-6303-4D7B-B71A-BE72193B8100}">
      <dsp:nvSpPr>
        <dsp:cNvPr id="0" name=""/>
        <dsp:cNvSpPr/>
      </dsp:nvSpPr>
      <dsp:spPr>
        <a:xfrm>
          <a:off x="9745380" y="3025153"/>
          <a:ext cx="1992536" cy="126526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2F01F3-A317-4CFC-9E1E-460E4FD2B981}">
      <dsp:nvSpPr>
        <dsp:cNvPr id="0" name=""/>
        <dsp:cNvSpPr/>
      </dsp:nvSpPr>
      <dsp:spPr>
        <a:xfrm>
          <a:off x="9966773" y="3235476"/>
          <a:ext cx="1992536" cy="126526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err="1"/>
            <a:t>Jupyter</a:t>
          </a:r>
          <a:r>
            <a:rPr lang="en-US" sz="2800" kern="1200" dirty="0"/>
            <a:t> Notebook</a:t>
          </a:r>
          <a:endParaRPr lang="en-US" sz="2800" kern="1200" dirty="0">
            <a:latin typeface="Helvetica" panose="020B0604020202020204" pitchFamily="34" charset="0"/>
            <a:cs typeface="Helvetica" panose="020B0604020202020204" pitchFamily="34" charset="0"/>
          </a:endParaRPr>
        </a:p>
      </dsp:txBody>
      <dsp:txXfrm>
        <a:off x="10003831" y="3272534"/>
        <a:ext cx="1918420" cy="1191144"/>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t>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B1DED4-035E-4548-AB9E-F9B1FE638F58}" type="slidenum">
              <a:rPr lang="en-US" smtClean="0"/>
              <a:t>33</a:t>
            </a:fld>
            <a:endParaRPr lang="en-US"/>
          </a:p>
        </p:txBody>
      </p:sp>
    </p:spTree>
    <p:extLst>
      <p:ext uri="{BB962C8B-B14F-4D97-AF65-F5344CB8AC3E}">
        <p14:creationId xmlns:p14="http://schemas.microsoft.com/office/powerpoint/2010/main" val="26176743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hyperlink" Target="https://medium.com/@priyasrivastava18official/consistency-vs-strong-consistency-vs-eventual-consistency-93302083e641"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massive.io/file-transfer/file-storage-vs-object-storage/" TargetMode="External"/><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hyperlink" Target="https://ecomputertips.com/glossary/raid" TargetMode="External"/><Relationship Id="rId5" Type="http://schemas.openxmlformats.org/officeDocument/2006/relationships/hyperlink" Target="https://www.google.com/search?q=storage+area+network&amp;sca_esv=3f626f5782a50780&amp;rlz=1C1RLNS_enIN765IN765&amp;udm=2&amp;biw=1366&amp;bih=641&amp;sxsrf=AE3TifOrhRisZdO4No1R3eFxuCmks5Ca-A:1762775828954&amp;ei=FNMRafP_ObObseMPndTAwQM&amp;oq=Storage+area+&amp;gs_lp=Egtnd3Mtd2l6LWltZyINU3RvcmFnZSBhcmVhICoCCAAyBRAAGIAEMgUQABiABDIFEAAYgAQyBRAAGIAEMgUQABiABDIFEAAYgAQyBRAAGIAEMgUQABiABDIFEAAYgAQyBRAAGIAESIYlUNYHWModcAR4AJABAJgBpwGgAcsNqgEEMS4xM7gBA8gBAPgBAZgCEqACwA_CAgYQABgHGB7CAgoQABiABBhDGIoFwgIIEAAYBxgKGB7CAgcQIxgnGMkCwgILEAAYgAQYsQMYgwHCAggQABiABBixA8ICEBAAGIAEGLEDGIMBGIoFGArCAg0QABiABBixAxhDGIoFmAMAiAYBkgcENC4xNKAHi2CyBwQwLjE0uAeQD8IHCDItNi4xMS4xyAfJAQ&amp;sclient=gws-wiz-img#vhid=R241oJrGlhB_GM&amp;vssid=mosaic" TargetMode="Externa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hyperlink" Target="https://www.engineersgarage.com/how-cache-memory-works/" TargetMode="External"/><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wallarm.com/cloud-native-products-101/redis-vs-memcached-in-memory-data-store" TargetMode="Externa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wallarm.com/cloud-native-products-101/redis-vs-memcached-in-memory-data-store" TargetMode="Externa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hyperlink" Target="https://dzone.com/articles/an-introduction-to-hdfs" TargetMode="External"/><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hyperlink" Target="https://docs.jst.oit.umn.edu/Autosys/autosys-self-help/" TargetMode="External"/></Relationships>
</file>

<file path=ppt/slides/_rels/slide6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hyperlink" Target="https://www.qlik.com/us/dataops" TargetMode="External"/><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hyperlink" Target="https://www.techtarget.com/searchdatacenter/definition/infrastructure" TargetMode="External"/><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hyperlink" Target="https://www.linkedin.com/pulse/continuous-integration-deployment-training-ci-cd-ct-damien-ajx7c/" TargetMode="External"/><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3" Type="http://schemas.openxmlformats.org/officeDocument/2006/relationships/hyperlink" Target="https://medium.com/innovationendeavors/operational-machine-learning-for-the-modern-data-stack-178a3feba334" TargetMode="External"/><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hyperlink" Target="https://www.linkedin.com/pulse/continuous-integration-deployment-training-ci-cd-ct-damien-ajx7c/" TargetMode="External"/><Relationship Id="rId7" Type="http://schemas.openxmlformats.org/officeDocument/2006/relationships/hyperlink" Target="https://medium.com/innovationendeavors/operational-machine-learning-for-the-modern-data-stack-178a3feba334" TargetMode="External"/><Relationship Id="rId2" Type="http://schemas.openxmlformats.org/officeDocument/2006/relationships/hyperlink" Target="https://medium.com/@ZhouAnnaWrites/book-notes-fundamentals-of-data-engineering-chapter-6-storage-81a533f81f0c" TargetMode="External"/><Relationship Id="rId1" Type="http://schemas.openxmlformats.org/officeDocument/2006/relationships/slideLayout" Target="../slideLayouts/slideLayout3.xml"/><Relationship Id="rId6" Type="http://schemas.openxmlformats.org/officeDocument/2006/relationships/hyperlink" Target="https://www.hardtechnology.net/post/dynamic-dns/" TargetMode="External"/><Relationship Id="rId5" Type="http://schemas.openxmlformats.org/officeDocument/2006/relationships/hyperlink" Target="https://www.pcloudy.com/cicd-pipeline-demystifying-the-complexities/" TargetMode="External"/><Relationship Id="rId4" Type="http://schemas.openxmlformats.org/officeDocument/2006/relationships/hyperlink" Target="https://www.techtarget.com/searchdatacenter/definition/infrastructure"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973663" y="2532184"/>
            <a:ext cx="8245231" cy="1793631"/>
          </a:xfrm>
        </p:spPr>
        <p:txBody>
          <a:bodyPr/>
          <a:lstStyle/>
          <a:p>
            <a:r>
              <a:rPr lang="en-US" dirty="0"/>
              <a:t> Modern Data Infrastructure and </a:t>
            </a:r>
            <a:r>
              <a:rPr lang="en-US" dirty="0" err="1"/>
              <a:t>DataOps</a:t>
            </a:r>
            <a:r>
              <a:rPr lang="en-US" dirty="0"/>
              <a:t> </a:t>
            </a:r>
          </a:p>
        </p:txBody>
      </p:sp>
      <p:sp>
        <p:nvSpPr>
          <p:cNvPr id="6" name="Subtitle 5"/>
          <p:cNvSpPr>
            <a:spLocks noGrp="1"/>
          </p:cNvSpPr>
          <p:nvPr>
            <p:ph type="subTitle" idx="1"/>
          </p:nvPr>
        </p:nvSpPr>
        <p:spPr/>
        <p:txBody>
          <a:bodyPr/>
          <a:lstStyle/>
          <a:p>
            <a:r>
              <a:rPr lang="en-US" sz="1800" dirty="0" smtClean="0">
                <a:solidFill>
                  <a:srgbClr val="211D71"/>
                </a:solidFill>
              </a:rPr>
              <a:t>Sunil </a:t>
            </a:r>
            <a:r>
              <a:rPr lang="en-US" sz="1800" dirty="0" err="1" smtClean="0">
                <a:solidFill>
                  <a:srgbClr val="211D71"/>
                </a:solidFill>
              </a:rPr>
              <a:t>Bhutada</a:t>
            </a:r>
            <a:endParaRPr lang="en-US" sz="1800" dirty="0">
              <a:solidFill>
                <a:srgbClr val="211D71"/>
              </a:solidFill>
            </a:endParaRPr>
          </a:p>
        </p:txBody>
      </p:sp>
    </p:spTree>
    <p:extLst>
      <p:ext uri="{BB962C8B-B14F-4D97-AF65-F5344CB8AC3E}">
        <p14:creationId xmlns:p14="http://schemas.microsoft.com/office/powerpoint/2010/main" val="3797254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Agenda</a:t>
            </a:r>
          </a:p>
        </p:txBody>
      </p:sp>
      <p:sp>
        <p:nvSpPr>
          <p:cNvPr id="3" name="Text Placeholder 2"/>
          <p:cNvSpPr>
            <a:spLocks noGrp="1"/>
          </p:cNvSpPr>
          <p:nvPr>
            <p:ph type="body" sz="quarter" idx="13"/>
          </p:nvPr>
        </p:nvSpPr>
        <p:spPr>
          <a:xfrm>
            <a:off x="152400" y="1143000"/>
            <a:ext cx="10668000" cy="5344881"/>
          </a:xfrm>
        </p:spPr>
        <p:txBody>
          <a:bodyPr>
            <a:normAutofit lnSpcReduction="10000"/>
          </a:bodyPr>
          <a:lstStyle/>
          <a:p>
            <a:pPr marL="533400" indent="-533400">
              <a:spcBef>
                <a:spcPts val="1200"/>
              </a:spcBef>
              <a:buFont typeface="Wingdings" panose="05000000000000000000" pitchFamily="2" charset="2"/>
              <a:buChar char="Ø"/>
            </a:pPr>
            <a:r>
              <a:rPr lang="en-US" dirty="0"/>
              <a:t>Introduction</a:t>
            </a:r>
          </a:p>
          <a:p>
            <a:pPr marL="533400" indent="-533400">
              <a:spcBef>
                <a:spcPts val="1200"/>
              </a:spcBef>
              <a:buFont typeface="Wingdings" panose="05000000000000000000" pitchFamily="2" charset="2"/>
              <a:buChar char="Ø"/>
            </a:pPr>
            <a:r>
              <a:rPr lang="en-US" dirty="0"/>
              <a:t>Data Ingestion Infrastructure</a:t>
            </a:r>
          </a:p>
          <a:p>
            <a:pPr marL="533400" indent="-533400">
              <a:spcBef>
                <a:spcPts val="1200"/>
              </a:spcBef>
              <a:buFont typeface="Wingdings" panose="05000000000000000000" pitchFamily="2" charset="2"/>
              <a:buChar char="Ø"/>
            </a:pPr>
            <a:r>
              <a:rPr lang="en-US" dirty="0"/>
              <a:t>Data Transformation Infrastructure</a:t>
            </a:r>
          </a:p>
          <a:p>
            <a:pPr marL="533400" indent="-533400">
              <a:spcBef>
                <a:spcPts val="1200"/>
              </a:spcBef>
              <a:buFont typeface="Wingdings" panose="05000000000000000000" pitchFamily="2" charset="2"/>
              <a:buChar char="Ø"/>
            </a:pPr>
            <a:r>
              <a:rPr lang="en-US" dirty="0"/>
              <a:t>Workflow Orchestration Platforms</a:t>
            </a:r>
          </a:p>
          <a:p>
            <a:pPr marL="533400" indent="-533400">
              <a:spcBef>
                <a:spcPts val="1200"/>
              </a:spcBef>
              <a:buFont typeface="Wingdings" panose="05000000000000000000" pitchFamily="2" charset="2"/>
              <a:buChar char="Ø"/>
            </a:pPr>
            <a:r>
              <a:rPr lang="en-US" dirty="0"/>
              <a:t>Data Storage Infrastructure</a:t>
            </a:r>
          </a:p>
          <a:p>
            <a:pPr marL="533400" indent="-533400">
              <a:spcBef>
                <a:spcPts val="1200"/>
              </a:spcBef>
              <a:buFont typeface="Wingdings" panose="05000000000000000000" pitchFamily="2" charset="2"/>
              <a:buChar char="Ø"/>
            </a:pPr>
            <a:r>
              <a:rPr lang="en-US" dirty="0"/>
              <a:t>Data Serving Infrastructure</a:t>
            </a:r>
          </a:p>
          <a:p>
            <a:pPr marL="533400" indent="-533400">
              <a:spcBef>
                <a:spcPts val="1200"/>
              </a:spcBef>
              <a:buFont typeface="Wingdings" panose="05000000000000000000" pitchFamily="2" charset="2"/>
              <a:buChar char="Ø"/>
            </a:pPr>
            <a:r>
              <a:rPr lang="en-US" dirty="0"/>
              <a:t>Automation in </a:t>
            </a:r>
            <a:br>
              <a:rPr lang="en-US" dirty="0"/>
            </a:br>
            <a:r>
              <a:rPr lang="en-US" dirty="0"/>
              <a:t>Data Infrastructure Management</a:t>
            </a:r>
          </a:p>
          <a:p>
            <a:pPr marL="533400" indent="-533400">
              <a:spcBef>
                <a:spcPts val="1200"/>
              </a:spcBef>
              <a:buFont typeface="Wingdings" panose="05000000000000000000" pitchFamily="2" charset="2"/>
              <a:buChar char="Ø"/>
            </a:pPr>
            <a:r>
              <a:rPr lang="en-US" dirty="0"/>
              <a:t>DevOps &amp; </a:t>
            </a:r>
            <a:r>
              <a:rPr lang="en-US" dirty="0" err="1"/>
              <a:t>DataOps</a:t>
            </a:r>
            <a:r>
              <a:rPr lang="en-US" dirty="0"/>
              <a:t> Foundation</a:t>
            </a:r>
          </a:p>
          <a:p>
            <a:pPr marL="533400" indent="-533400">
              <a:spcBef>
                <a:spcPts val="1200"/>
              </a:spcBef>
              <a:buFont typeface="Wingdings" panose="05000000000000000000" pitchFamily="2" charset="2"/>
              <a:buChar char="Ø"/>
            </a:pPr>
            <a:r>
              <a:rPr lang="en-US" dirty="0"/>
              <a:t>Cloud Foundation</a:t>
            </a:r>
          </a:p>
          <a:p>
            <a:pPr marL="533400" indent="-533400">
              <a:spcBef>
                <a:spcPts val="1200"/>
              </a:spcBef>
              <a:buFont typeface="Wingdings" panose="05000000000000000000" pitchFamily="2" charset="2"/>
              <a:buChar char="Ø"/>
            </a:pPr>
            <a:r>
              <a:rPr lang="en-US" dirty="0"/>
              <a:t>Security Foundation</a:t>
            </a:r>
          </a:p>
          <a:p>
            <a:pPr marL="533400" indent="-533400">
              <a:spcBef>
                <a:spcPts val="1200"/>
              </a:spcBef>
              <a:buFont typeface="Wingdings" panose="05000000000000000000" pitchFamily="2" charset="2"/>
              <a:buChar char="Ø"/>
            </a:pPr>
            <a:r>
              <a:rPr lang="en-US" dirty="0"/>
              <a:t>Continuous Training (CT) and Continuous Deployment (CD) pipelines</a:t>
            </a:r>
          </a:p>
          <a:p>
            <a:pPr marL="533400" indent="-533400">
              <a:spcBef>
                <a:spcPts val="1200"/>
              </a:spcBef>
              <a:buFont typeface="Wingdings" panose="05000000000000000000" pitchFamily="2" charset="2"/>
              <a:buChar char="Ø"/>
            </a:pPr>
            <a:r>
              <a:rPr lang="en-US" dirty="0" err="1"/>
              <a:t>DataOps</a:t>
            </a:r>
            <a:r>
              <a:rPr lang="en-US" dirty="0"/>
              <a:t> and Observability</a:t>
            </a:r>
          </a:p>
          <a:p>
            <a:pPr marL="533400" indent="-533400">
              <a:spcBef>
                <a:spcPts val="1200"/>
              </a:spcBef>
              <a:buFont typeface="Wingdings" panose="05000000000000000000" pitchFamily="2" charset="2"/>
              <a:buChar char="Ø"/>
            </a:pPr>
            <a:r>
              <a:rPr lang="en-US" dirty="0"/>
              <a:t>Case Study</a:t>
            </a:r>
          </a:p>
        </p:txBody>
      </p:sp>
    </p:spTree>
    <p:extLst>
      <p:ext uri="{BB962C8B-B14F-4D97-AF65-F5344CB8AC3E}">
        <p14:creationId xmlns:p14="http://schemas.microsoft.com/office/powerpoint/2010/main" val="18474810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F77CC-7EF2-5670-78EA-310BDD27E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66A91-0CE3-B19D-BD45-6B5C3AF5725C}"/>
              </a:ext>
            </a:extLst>
          </p:cNvPr>
          <p:cNvSpPr>
            <a:spLocks noGrp="1"/>
          </p:cNvSpPr>
          <p:nvPr>
            <p:ph type="title"/>
          </p:nvPr>
        </p:nvSpPr>
        <p:spPr>
          <a:xfrm>
            <a:off x="831850" y="1709738"/>
            <a:ext cx="10515600" cy="2852737"/>
          </a:xfrm>
        </p:spPr>
        <p:txBody>
          <a:bodyPr anchor="b">
            <a:normAutofit/>
          </a:bodyPr>
          <a:lstStyle/>
          <a:p>
            <a:r>
              <a:rPr lang="en-US" dirty="0"/>
              <a:t>Introduction</a:t>
            </a:r>
          </a:p>
        </p:txBody>
      </p:sp>
    </p:spTree>
    <p:extLst>
      <p:ext uri="{BB962C8B-B14F-4D97-AF65-F5344CB8AC3E}">
        <p14:creationId xmlns:p14="http://schemas.microsoft.com/office/powerpoint/2010/main" val="10407770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D336A-C92D-2711-DD05-2DDDD96192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FFA799-0D34-9851-3E4E-A16194626FFE}"/>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Data Pipeline Architecture – Re-Introduction</a:t>
            </a:r>
          </a:p>
        </p:txBody>
      </p:sp>
      <p:sp>
        <p:nvSpPr>
          <p:cNvPr id="2" name="Rectangle 1">
            <a:extLst>
              <a:ext uri="{FF2B5EF4-FFF2-40B4-BE49-F238E27FC236}">
                <a16:creationId xmlns:a16="http://schemas.microsoft.com/office/drawing/2014/main" id="{F0352DB6-9F49-942C-BD6E-01A1EC22F25F}"/>
              </a:ext>
            </a:extLst>
          </p:cNvPr>
          <p:cNvSpPr/>
          <p:nvPr/>
        </p:nvSpPr>
        <p:spPr>
          <a:xfrm>
            <a:off x="3430868" y="3565669"/>
            <a:ext cx="4929466" cy="1729557"/>
          </a:xfrm>
          <a:prstGeom prst="rect">
            <a:avLst/>
          </a:prstGeom>
          <a:solidFill>
            <a:schemeClr val="lt1">
              <a:alpha val="0"/>
            </a:schemeClr>
          </a:solidFill>
          <a:ln w="69850" cmpd="thinThick">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b"/>
          <a:lstStyle/>
          <a:p>
            <a:pPr algn="ctr"/>
            <a:r>
              <a:rPr lang="en-US" dirty="0">
                <a:latin typeface="Helvetica" panose="020B0604020202020204" pitchFamily="34" charset="0"/>
                <a:cs typeface="Helvetica" panose="020B0604020202020204" pitchFamily="34" charset="0"/>
              </a:rPr>
              <a:t>Storage</a:t>
            </a:r>
          </a:p>
        </p:txBody>
      </p:sp>
      <p:sp>
        <p:nvSpPr>
          <p:cNvPr id="3" name="Rectangle 2">
            <a:extLst>
              <a:ext uri="{FF2B5EF4-FFF2-40B4-BE49-F238E27FC236}">
                <a16:creationId xmlns:a16="http://schemas.microsoft.com/office/drawing/2014/main" id="{72314690-AC4C-BBA9-334E-652A012AB014}"/>
              </a:ext>
            </a:extLst>
          </p:cNvPr>
          <p:cNvSpPr/>
          <p:nvPr/>
        </p:nvSpPr>
        <p:spPr>
          <a:xfrm>
            <a:off x="524810" y="3565669"/>
            <a:ext cx="2133600" cy="76436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Generation/Source</a:t>
            </a:r>
          </a:p>
        </p:txBody>
      </p:sp>
      <p:sp>
        <p:nvSpPr>
          <p:cNvPr id="7" name="Rectangle 6">
            <a:extLst>
              <a:ext uri="{FF2B5EF4-FFF2-40B4-BE49-F238E27FC236}">
                <a16:creationId xmlns:a16="http://schemas.microsoft.com/office/drawing/2014/main" id="{6D6C0DD2-AD14-2536-B426-7AC540C9E5A6}"/>
              </a:ext>
            </a:extLst>
          </p:cNvPr>
          <p:cNvSpPr/>
          <p:nvPr/>
        </p:nvSpPr>
        <p:spPr>
          <a:xfrm>
            <a:off x="3408458" y="3565669"/>
            <a:ext cx="1464047" cy="76436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Ingestion</a:t>
            </a:r>
          </a:p>
        </p:txBody>
      </p:sp>
      <p:sp>
        <p:nvSpPr>
          <p:cNvPr id="15" name="Rectangle 14">
            <a:extLst>
              <a:ext uri="{FF2B5EF4-FFF2-40B4-BE49-F238E27FC236}">
                <a16:creationId xmlns:a16="http://schemas.microsoft.com/office/drawing/2014/main" id="{4042103A-049C-6760-5F8A-BBEDB89062C5}"/>
              </a:ext>
            </a:extLst>
          </p:cNvPr>
          <p:cNvSpPr/>
          <p:nvPr/>
        </p:nvSpPr>
        <p:spPr>
          <a:xfrm>
            <a:off x="4894915" y="3565669"/>
            <a:ext cx="1804335" cy="7643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Transformation</a:t>
            </a:r>
          </a:p>
        </p:txBody>
      </p:sp>
      <p:sp>
        <p:nvSpPr>
          <p:cNvPr id="17" name="Rectangle 16">
            <a:extLst>
              <a:ext uri="{FF2B5EF4-FFF2-40B4-BE49-F238E27FC236}">
                <a16:creationId xmlns:a16="http://schemas.microsoft.com/office/drawing/2014/main" id="{2D22376C-31EF-7FD0-FB7B-FAED25846C5B}"/>
              </a:ext>
            </a:extLst>
          </p:cNvPr>
          <p:cNvSpPr/>
          <p:nvPr/>
        </p:nvSpPr>
        <p:spPr>
          <a:xfrm>
            <a:off x="6726144" y="3565669"/>
            <a:ext cx="1634191" cy="76436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Serving</a:t>
            </a:r>
          </a:p>
        </p:txBody>
      </p:sp>
      <p:sp>
        <p:nvSpPr>
          <p:cNvPr id="18" name="Rectangle 17">
            <a:extLst>
              <a:ext uri="{FF2B5EF4-FFF2-40B4-BE49-F238E27FC236}">
                <a16:creationId xmlns:a16="http://schemas.microsoft.com/office/drawing/2014/main" id="{041C32C1-3569-3FE5-5BA6-64457274726D}"/>
              </a:ext>
            </a:extLst>
          </p:cNvPr>
          <p:cNvSpPr/>
          <p:nvPr/>
        </p:nvSpPr>
        <p:spPr>
          <a:xfrm>
            <a:off x="9697199" y="2131236"/>
            <a:ext cx="1634191" cy="764364"/>
          </a:xfrm>
          <a:prstGeom prst="rect">
            <a:avLst/>
          </a:prstGeom>
          <a:solidFill>
            <a:srgbClr val="E6D5F3"/>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Reverse ETL</a:t>
            </a:r>
          </a:p>
        </p:txBody>
      </p:sp>
      <p:sp>
        <p:nvSpPr>
          <p:cNvPr id="19" name="Rectangle 18">
            <a:extLst>
              <a:ext uri="{FF2B5EF4-FFF2-40B4-BE49-F238E27FC236}">
                <a16:creationId xmlns:a16="http://schemas.microsoft.com/office/drawing/2014/main" id="{B7E56B0B-1AE4-5E10-4C27-A91C8545BE53}"/>
              </a:ext>
            </a:extLst>
          </p:cNvPr>
          <p:cNvSpPr/>
          <p:nvPr/>
        </p:nvSpPr>
        <p:spPr>
          <a:xfrm>
            <a:off x="9719608" y="3558987"/>
            <a:ext cx="1634191" cy="764364"/>
          </a:xfrm>
          <a:prstGeom prst="rect">
            <a:avLst/>
          </a:prstGeom>
          <a:solidFill>
            <a:srgbClr val="E6D5F3"/>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Data Analytics</a:t>
            </a:r>
          </a:p>
        </p:txBody>
      </p:sp>
      <p:sp>
        <p:nvSpPr>
          <p:cNvPr id="20" name="Rectangle 19">
            <a:extLst>
              <a:ext uri="{FF2B5EF4-FFF2-40B4-BE49-F238E27FC236}">
                <a16:creationId xmlns:a16="http://schemas.microsoft.com/office/drawing/2014/main" id="{13CDF251-0238-3C92-299D-0F8CB33DADD8}"/>
              </a:ext>
            </a:extLst>
          </p:cNvPr>
          <p:cNvSpPr/>
          <p:nvPr/>
        </p:nvSpPr>
        <p:spPr>
          <a:xfrm>
            <a:off x="9719609" y="4950636"/>
            <a:ext cx="1634191" cy="764364"/>
          </a:xfrm>
          <a:prstGeom prst="rect">
            <a:avLst/>
          </a:prstGeom>
          <a:solidFill>
            <a:srgbClr val="E6D5F3"/>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Data Science &amp; Machine Learning</a:t>
            </a:r>
          </a:p>
        </p:txBody>
      </p:sp>
      <p:cxnSp>
        <p:nvCxnSpPr>
          <p:cNvPr id="21" name="Straight Arrow Connector 20">
            <a:extLst>
              <a:ext uri="{FF2B5EF4-FFF2-40B4-BE49-F238E27FC236}">
                <a16:creationId xmlns:a16="http://schemas.microsoft.com/office/drawing/2014/main" id="{D9C8C845-BBAA-AAF4-DA84-E1507B569C92}"/>
              </a:ext>
            </a:extLst>
          </p:cNvPr>
          <p:cNvCxnSpPr>
            <a:cxnSpLocks/>
            <a:stCxn id="3" idx="3"/>
            <a:endCxn id="7" idx="1"/>
          </p:cNvCxnSpPr>
          <p:nvPr/>
        </p:nvCxnSpPr>
        <p:spPr>
          <a:xfrm>
            <a:off x="2658410" y="3947851"/>
            <a:ext cx="75004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Connector: Elbow 21">
            <a:extLst>
              <a:ext uri="{FF2B5EF4-FFF2-40B4-BE49-F238E27FC236}">
                <a16:creationId xmlns:a16="http://schemas.microsoft.com/office/drawing/2014/main" id="{5E22329C-8B4C-54A5-AD90-33430C064B37}"/>
              </a:ext>
            </a:extLst>
          </p:cNvPr>
          <p:cNvCxnSpPr>
            <a:stCxn id="17" idx="3"/>
            <a:endCxn id="18" idx="1"/>
          </p:cNvCxnSpPr>
          <p:nvPr/>
        </p:nvCxnSpPr>
        <p:spPr>
          <a:xfrm flipV="1">
            <a:off x="8360335" y="2513418"/>
            <a:ext cx="1336864" cy="1434433"/>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Connector: Elbow 22">
            <a:extLst>
              <a:ext uri="{FF2B5EF4-FFF2-40B4-BE49-F238E27FC236}">
                <a16:creationId xmlns:a16="http://schemas.microsoft.com/office/drawing/2014/main" id="{BC73F6B8-999C-0149-6149-0C6822440DFB}"/>
              </a:ext>
            </a:extLst>
          </p:cNvPr>
          <p:cNvCxnSpPr/>
          <p:nvPr/>
        </p:nvCxnSpPr>
        <p:spPr>
          <a:xfrm flipV="1">
            <a:off x="8382743" y="3959127"/>
            <a:ext cx="1359273" cy="6682"/>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Connector: Elbow 24">
            <a:extLst>
              <a:ext uri="{FF2B5EF4-FFF2-40B4-BE49-F238E27FC236}">
                <a16:creationId xmlns:a16="http://schemas.microsoft.com/office/drawing/2014/main" id="{856BD393-C589-0B13-20CF-6C185B558739}"/>
              </a:ext>
            </a:extLst>
          </p:cNvPr>
          <p:cNvCxnSpPr/>
          <p:nvPr/>
        </p:nvCxnSpPr>
        <p:spPr>
          <a:xfrm>
            <a:off x="8349130" y="3959127"/>
            <a:ext cx="1359274" cy="1384967"/>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1944124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D02B5-8297-7E1E-FC95-E8D45158621B}"/>
              </a:ext>
            </a:extLst>
          </p:cNvPr>
          <p:cNvSpPr>
            <a:spLocks noGrp="1"/>
          </p:cNvSpPr>
          <p:nvPr>
            <p:ph type="title"/>
          </p:nvPr>
        </p:nvSpPr>
        <p:spPr/>
        <p:txBody>
          <a:bodyPr/>
          <a:lstStyle/>
          <a:p>
            <a:r>
              <a:rPr lang="en-US" dirty="0"/>
              <a:t>Key Drivers from Last 2 Decades</a:t>
            </a:r>
          </a:p>
        </p:txBody>
      </p:sp>
      <p:sp>
        <p:nvSpPr>
          <p:cNvPr id="7" name="Wave 6">
            <a:extLst>
              <a:ext uri="{FF2B5EF4-FFF2-40B4-BE49-F238E27FC236}">
                <a16:creationId xmlns:a16="http://schemas.microsoft.com/office/drawing/2014/main" id="{E32DB58E-F0E2-B00A-0094-A4FCDF323FEE}"/>
              </a:ext>
            </a:extLst>
          </p:cNvPr>
          <p:cNvSpPr/>
          <p:nvPr/>
        </p:nvSpPr>
        <p:spPr>
          <a:xfrm>
            <a:off x="304800" y="1066800"/>
            <a:ext cx="3962400" cy="1515035"/>
          </a:xfrm>
          <a:prstGeom prst="wave">
            <a:avLst/>
          </a:prstGeom>
          <a:solidFill>
            <a:schemeClr val="accent6">
              <a:lumMod val="40000"/>
              <a:lumOff val="60000"/>
            </a:schemeClr>
          </a:solidFill>
          <a:ln>
            <a:solidFill>
              <a:schemeClr val="accent6">
                <a:lumMod val="5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solidFill>
                  <a:schemeClr val="tx1"/>
                </a:solidFill>
                <a:latin typeface="Helvetica" panose="020B0604020202020204" pitchFamily="34" charset="0"/>
                <a:cs typeface="Helvetica" panose="020B0604020202020204" pitchFamily="34" charset="0"/>
              </a:rPr>
              <a:t>Emergence </a:t>
            </a:r>
            <a:r>
              <a:rPr lang="en-US" dirty="0">
                <a:solidFill>
                  <a:schemeClr val="tx1"/>
                </a:solidFill>
                <a:latin typeface="Helvetica" panose="020B0604020202020204" pitchFamily="34" charset="0"/>
                <a:cs typeface="Helvetica" panose="020B0604020202020204" pitchFamily="34" charset="0"/>
              </a:rPr>
              <a:t>of the major public cloud providers</a:t>
            </a:r>
          </a:p>
          <a:p>
            <a:pPr algn="ctr"/>
            <a:r>
              <a:rPr lang="en-US" sz="1400" dirty="0">
                <a:solidFill>
                  <a:schemeClr val="accent4">
                    <a:lumMod val="50000"/>
                  </a:schemeClr>
                </a:solidFill>
                <a:latin typeface="Helvetica" panose="020B0604020202020204" pitchFamily="34" charset="0"/>
                <a:cs typeface="Helvetica" panose="020B0604020202020204" pitchFamily="34" charset="0"/>
              </a:rPr>
              <a:t>(AWS, GCP, Azure)</a:t>
            </a:r>
          </a:p>
        </p:txBody>
      </p:sp>
      <p:sp>
        <p:nvSpPr>
          <p:cNvPr id="8" name="Wave 7">
            <a:extLst>
              <a:ext uri="{FF2B5EF4-FFF2-40B4-BE49-F238E27FC236}">
                <a16:creationId xmlns:a16="http://schemas.microsoft.com/office/drawing/2014/main" id="{06437EEE-C57C-C48B-4E29-0FF672428498}"/>
              </a:ext>
            </a:extLst>
          </p:cNvPr>
          <p:cNvSpPr/>
          <p:nvPr/>
        </p:nvSpPr>
        <p:spPr>
          <a:xfrm>
            <a:off x="295835" y="2345837"/>
            <a:ext cx="3962400" cy="1515035"/>
          </a:xfrm>
          <a:prstGeom prst="wave">
            <a:avLst/>
          </a:prstGeom>
          <a:solidFill>
            <a:schemeClr val="accent6">
              <a:lumMod val="40000"/>
              <a:lumOff val="60000"/>
            </a:schemeClr>
          </a:solidFill>
          <a:ln>
            <a:solidFill>
              <a:schemeClr val="accent6">
                <a:lumMod val="5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solidFill>
                  <a:schemeClr val="tx1"/>
                </a:solidFill>
                <a:latin typeface="Helvetica" panose="020B0604020202020204" pitchFamily="34" charset="0"/>
                <a:cs typeface="Helvetica" panose="020B0604020202020204" pitchFamily="34" charset="0"/>
              </a:rPr>
              <a:t>Ease </a:t>
            </a:r>
            <a:r>
              <a:rPr lang="en-US" dirty="0">
                <a:solidFill>
                  <a:schemeClr val="tx1"/>
                </a:solidFill>
                <a:latin typeface="Helvetica" panose="020B0604020202020204" pitchFamily="34" charset="0"/>
                <a:cs typeface="Helvetica" panose="020B0604020202020204" pitchFamily="34" charset="0"/>
              </a:rPr>
              <a:t>of building and deploying</a:t>
            </a:r>
          </a:p>
        </p:txBody>
      </p:sp>
      <p:sp>
        <p:nvSpPr>
          <p:cNvPr id="9" name="Wave 8">
            <a:extLst>
              <a:ext uri="{FF2B5EF4-FFF2-40B4-BE49-F238E27FC236}">
                <a16:creationId xmlns:a16="http://schemas.microsoft.com/office/drawing/2014/main" id="{F8EFFAD6-E04E-A52D-BADB-447330F39448}"/>
              </a:ext>
            </a:extLst>
          </p:cNvPr>
          <p:cNvSpPr/>
          <p:nvPr/>
        </p:nvSpPr>
        <p:spPr>
          <a:xfrm>
            <a:off x="304800" y="3624874"/>
            <a:ext cx="3962400" cy="1515035"/>
          </a:xfrm>
          <a:prstGeom prst="wave">
            <a:avLst/>
          </a:prstGeom>
          <a:solidFill>
            <a:schemeClr val="accent6">
              <a:lumMod val="40000"/>
              <a:lumOff val="60000"/>
            </a:schemeClr>
          </a:solidFill>
          <a:ln>
            <a:solidFill>
              <a:schemeClr val="accent6">
                <a:lumMod val="5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solidFill>
                  <a:schemeClr val="tx1"/>
                </a:solidFill>
                <a:latin typeface="Helvetica" panose="020B0604020202020204" pitchFamily="34" charset="0"/>
                <a:cs typeface="Helvetica" panose="020B0604020202020204" pitchFamily="34" charset="0"/>
              </a:rPr>
              <a:t>Drop-in </a:t>
            </a:r>
            <a:r>
              <a:rPr lang="en-US" dirty="0">
                <a:solidFill>
                  <a:schemeClr val="tx1"/>
                </a:solidFill>
                <a:latin typeface="Helvetica" panose="020B0604020202020204" pitchFamily="34" charset="0"/>
                <a:cs typeface="Helvetica" panose="020B0604020202020204" pitchFamily="34" charset="0"/>
              </a:rPr>
              <a:t>storage costs</a:t>
            </a:r>
          </a:p>
        </p:txBody>
      </p:sp>
      <p:sp>
        <p:nvSpPr>
          <p:cNvPr id="10" name="Wave 9">
            <a:extLst>
              <a:ext uri="{FF2B5EF4-FFF2-40B4-BE49-F238E27FC236}">
                <a16:creationId xmlns:a16="http://schemas.microsoft.com/office/drawing/2014/main" id="{E63DC4A1-0358-22B0-F9ED-EF91315B4137}"/>
              </a:ext>
            </a:extLst>
          </p:cNvPr>
          <p:cNvSpPr/>
          <p:nvPr/>
        </p:nvSpPr>
        <p:spPr>
          <a:xfrm>
            <a:off x="295835" y="4935069"/>
            <a:ext cx="3962400" cy="1515035"/>
          </a:xfrm>
          <a:prstGeom prst="wave">
            <a:avLst/>
          </a:prstGeom>
          <a:solidFill>
            <a:schemeClr val="accent6">
              <a:lumMod val="40000"/>
              <a:lumOff val="60000"/>
            </a:schemeClr>
          </a:solidFill>
          <a:ln>
            <a:solidFill>
              <a:schemeClr val="accent6">
                <a:lumMod val="5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solidFill>
                  <a:schemeClr val="tx1"/>
                </a:solidFill>
                <a:latin typeface="Helvetica" panose="020B0604020202020204" pitchFamily="34" charset="0"/>
                <a:cs typeface="Helvetica" panose="020B0604020202020204" pitchFamily="34" charset="0"/>
              </a:rPr>
              <a:t>Emergence </a:t>
            </a:r>
            <a:r>
              <a:rPr lang="en-US" dirty="0">
                <a:solidFill>
                  <a:schemeClr val="tx1"/>
                </a:solidFill>
                <a:latin typeface="Helvetica" panose="020B0604020202020204" pitchFamily="34" charset="0"/>
                <a:cs typeface="Helvetica" panose="020B0604020202020204" pitchFamily="34" charset="0"/>
              </a:rPr>
              <a:t>of highly scalable, columnar databases</a:t>
            </a:r>
          </a:p>
          <a:p>
            <a:pPr algn="ctr"/>
            <a:r>
              <a:rPr lang="en-US" sz="1400" dirty="0">
                <a:solidFill>
                  <a:schemeClr val="accent4">
                    <a:lumMod val="50000"/>
                  </a:schemeClr>
                </a:solidFill>
                <a:latin typeface="Helvetica" panose="020B0604020202020204" pitchFamily="34" charset="0"/>
                <a:cs typeface="Helvetica" panose="020B0604020202020204" pitchFamily="34" charset="0"/>
              </a:rPr>
              <a:t>(Redshift, Snowflake, </a:t>
            </a:r>
            <a:r>
              <a:rPr lang="en-US" sz="1400" dirty="0" err="1">
                <a:solidFill>
                  <a:schemeClr val="accent4">
                    <a:lumMod val="50000"/>
                  </a:schemeClr>
                </a:solidFill>
                <a:latin typeface="Helvetica" panose="020B0604020202020204" pitchFamily="34" charset="0"/>
                <a:cs typeface="Helvetica" panose="020B0604020202020204" pitchFamily="34" charset="0"/>
              </a:rPr>
              <a:t>BigQuery</a:t>
            </a:r>
            <a:r>
              <a:rPr lang="en-US" sz="1400" dirty="0">
                <a:solidFill>
                  <a:schemeClr val="accent4">
                    <a:lumMod val="50000"/>
                  </a:schemeClr>
                </a:solidFill>
                <a:latin typeface="Helvetica" panose="020B0604020202020204" pitchFamily="34" charset="0"/>
                <a:cs typeface="Helvetica" panose="020B0604020202020204" pitchFamily="34" charset="0"/>
              </a:rPr>
              <a:t>)</a:t>
            </a:r>
          </a:p>
        </p:txBody>
      </p:sp>
      <p:pic>
        <p:nvPicPr>
          <p:cNvPr id="4098" name="Picture 2" descr="Right Curly Bracket Icon - Free PNG ...">
            <a:extLst>
              <a:ext uri="{FF2B5EF4-FFF2-40B4-BE49-F238E27FC236}">
                <a16:creationId xmlns:a16="http://schemas.microsoft.com/office/drawing/2014/main" id="{DF124355-1DF1-1A52-CAE1-F874492FBF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6165" y="1219200"/>
            <a:ext cx="1134035" cy="5176900"/>
          </a:xfrm>
          <a:prstGeom prst="rect">
            <a:avLst/>
          </a:prstGeom>
          <a:noFill/>
          <a:extLst>
            <a:ext uri="{909E8E84-426E-40DD-AFC4-6F175D3DCCD1}">
              <a14:hiddenFill xmlns:a14="http://schemas.microsoft.com/office/drawing/2010/main">
                <a:solidFill>
                  <a:srgbClr val="FFFFFF"/>
                </a:solidFill>
              </a14:hiddenFill>
            </a:ext>
          </a:extLst>
        </p:spPr>
      </p:pic>
      <p:sp>
        <p:nvSpPr>
          <p:cNvPr id="12" name="Scroll: Vertical 11">
            <a:extLst>
              <a:ext uri="{FF2B5EF4-FFF2-40B4-BE49-F238E27FC236}">
                <a16:creationId xmlns:a16="http://schemas.microsoft.com/office/drawing/2014/main" id="{918BEA6E-94E3-63DE-C281-12964E89A220}"/>
              </a:ext>
            </a:extLst>
          </p:cNvPr>
          <p:cNvSpPr/>
          <p:nvPr/>
        </p:nvSpPr>
        <p:spPr>
          <a:xfrm>
            <a:off x="8249771" y="1824317"/>
            <a:ext cx="2819400" cy="1828800"/>
          </a:xfrm>
          <a:prstGeom prst="verticalScroll">
            <a:avLst/>
          </a:prstGeom>
          <a:solidFill>
            <a:schemeClr val="accent4">
              <a:lumMod val="20000"/>
              <a:lumOff val="80000"/>
            </a:schemeClr>
          </a:solidFill>
          <a:ln>
            <a:solidFill>
              <a:srgbClr val="7030A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Modernization of Datawarehouse</a:t>
            </a:r>
          </a:p>
        </p:txBody>
      </p:sp>
      <p:sp>
        <p:nvSpPr>
          <p:cNvPr id="13" name="Scroll: Vertical 12">
            <a:extLst>
              <a:ext uri="{FF2B5EF4-FFF2-40B4-BE49-F238E27FC236}">
                <a16:creationId xmlns:a16="http://schemas.microsoft.com/office/drawing/2014/main" id="{6B14CF83-6DD1-7E24-304E-C19897BC9C3C}"/>
              </a:ext>
            </a:extLst>
          </p:cNvPr>
          <p:cNvSpPr/>
          <p:nvPr/>
        </p:nvSpPr>
        <p:spPr>
          <a:xfrm>
            <a:off x="8249771" y="4123762"/>
            <a:ext cx="2819400" cy="1828800"/>
          </a:xfrm>
          <a:prstGeom prst="verticalScroll">
            <a:avLst/>
          </a:prstGeom>
          <a:solidFill>
            <a:schemeClr val="accent4">
              <a:lumMod val="20000"/>
              <a:lumOff val="80000"/>
            </a:schemeClr>
          </a:solidFill>
          <a:ln>
            <a:solidFill>
              <a:srgbClr val="7030A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Data Lakes</a:t>
            </a:r>
          </a:p>
        </p:txBody>
      </p:sp>
      <p:sp>
        <p:nvSpPr>
          <p:cNvPr id="14" name="TextBox 13">
            <a:extLst>
              <a:ext uri="{FF2B5EF4-FFF2-40B4-BE49-F238E27FC236}">
                <a16:creationId xmlns:a16="http://schemas.microsoft.com/office/drawing/2014/main" id="{46F4103B-2287-9ED2-D679-D4EED29CA472}"/>
              </a:ext>
            </a:extLst>
          </p:cNvPr>
          <p:cNvSpPr txBox="1"/>
          <p:nvPr/>
        </p:nvSpPr>
        <p:spPr>
          <a:xfrm>
            <a:off x="5386812" y="3515262"/>
            <a:ext cx="2819400" cy="584775"/>
          </a:xfrm>
          <a:prstGeom prst="rect">
            <a:avLst/>
          </a:prstGeom>
          <a:noFill/>
        </p:spPr>
        <p:txBody>
          <a:bodyPr wrap="square" rtlCol="0">
            <a:spAutoFit/>
          </a:bodyPr>
          <a:lstStyle/>
          <a:p>
            <a:pPr algn="ctr"/>
            <a:r>
              <a:rPr lang="en-US" sz="3200" dirty="0">
                <a:latin typeface="Helvetica" panose="020B0604020202020204" pitchFamily="34" charset="0"/>
                <a:cs typeface="Helvetica" panose="020B0604020202020204" pitchFamily="34" charset="0"/>
              </a:rPr>
              <a:t>Contributed To</a:t>
            </a:r>
          </a:p>
        </p:txBody>
      </p:sp>
    </p:spTree>
    <p:extLst>
      <p:ext uri="{BB962C8B-B14F-4D97-AF65-F5344CB8AC3E}">
        <p14:creationId xmlns:p14="http://schemas.microsoft.com/office/powerpoint/2010/main" val="10702360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8A6B3-1180-1390-997A-7BD2D5B35C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565BA1-F5DD-8324-E376-BE3E3758D155}"/>
              </a:ext>
            </a:extLst>
          </p:cNvPr>
          <p:cNvSpPr>
            <a:spLocks noGrp="1"/>
          </p:cNvSpPr>
          <p:nvPr>
            <p:ph type="title"/>
          </p:nvPr>
        </p:nvSpPr>
        <p:spPr>
          <a:xfrm>
            <a:off x="831850" y="1709738"/>
            <a:ext cx="10515600" cy="2852737"/>
          </a:xfrm>
        </p:spPr>
        <p:txBody>
          <a:bodyPr anchor="b">
            <a:normAutofit/>
          </a:bodyPr>
          <a:lstStyle/>
          <a:p>
            <a:r>
              <a:rPr lang="en-US" dirty="0"/>
              <a:t>Data Ingestion Infrastructure</a:t>
            </a:r>
          </a:p>
        </p:txBody>
      </p:sp>
    </p:spTree>
    <p:extLst>
      <p:ext uri="{BB962C8B-B14F-4D97-AF65-F5344CB8AC3E}">
        <p14:creationId xmlns:p14="http://schemas.microsoft.com/office/powerpoint/2010/main" val="40769838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244A0-0332-E6EE-0789-CBD22536E7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6DD7C-4EAD-E8F9-1F85-3DFCA2B5687D}"/>
              </a:ext>
            </a:extLst>
          </p:cNvPr>
          <p:cNvSpPr>
            <a:spLocks noGrp="1"/>
          </p:cNvSpPr>
          <p:nvPr>
            <p:ph type="title"/>
          </p:nvPr>
        </p:nvSpPr>
        <p:spPr/>
        <p:txBody>
          <a:bodyPr/>
          <a:lstStyle/>
          <a:p>
            <a:r>
              <a:rPr lang="en-US" dirty="0"/>
              <a:t>Generation / Source Systems </a:t>
            </a:r>
          </a:p>
        </p:txBody>
      </p:sp>
      <p:pic>
        <p:nvPicPr>
          <p:cNvPr id="5" name="Picture 4">
            <a:extLst>
              <a:ext uri="{FF2B5EF4-FFF2-40B4-BE49-F238E27FC236}">
                <a16:creationId xmlns:a16="http://schemas.microsoft.com/office/drawing/2014/main" id="{6C77CD92-8FFE-25CD-0C3D-042C9A277BF0}"/>
              </a:ext>
            </a:extLst>
          </p:cNvPr>
          <p:cNvPicPr>
            <a:picLocks noChangeAspect="1"/>
          </p:cNvPicPr>
          <p:nvPr/>
        </p:nvPicPr>
        <p:blipFill>
          <a:blip r:embed="rId2"/>
          <a:stretch>
            <a:fillRect/>
          </a:stretch>
        </p:blipFill>
        <p:spPr>
          <a:xfrm>
            <a:off x="152400" y="1447800"/>
            <a:ext cx="4703170" cy="283799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TextBox 5">
            <a:extLst>
              <a:ext uri="{FF2B5EF4-FFF2-40B4-BE49-F238E27FC236}">
                <a16:creationId xmlns:a16="http://schemas.microsoft.com/office/drawing/2014/main" id="{B38F23A2-0438-4ECA-095C-2B0747FD8A38}"/>
              </a:ext>
            </a:extLst>
          </p:cNvPr>
          <p:cNvSpPr txBox="1"/>
          <p:nvPr/>
        </p:nvSpPr>
        <p:spPr>
          <a:xfrm>
            <a:off x="4953000" y="1103720"/>
            <a:ext cx="7239000" cy="313932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61950" indent="-361950" algn="just"/>
            <a:r>
              <a:rPr lang="en-US" b="1" dirty="0">
                <a:latin typeface="Helvetica" panose="020B0604020202020204" pitchFamily="34" charset="0"/>
                <a:cs typeface="Helvetica" panose="020B0604020202020204" pitchFamily="34" charset="0"/>
              </a:rPr>
              <a:t>For instance consider an ecommerce company</a:t>
            </a:r>
          </a:p>
          <a:p>
            <a:pPr marL="361950" indent="-361950" algn="just">
              <a:buFont typeface="Wingdings" panose="05000000000000000000" pitchFamily="2" charset="2"/>
              <a:buChar char="Ø"/>
            </a:pPr>
            <a:endParaRPr lang="en-US" dirty="0" smtClean="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Stores </a:t>
            </a:r>
            <a:r>
              <a:rPr lang="en-US" dirty="0">
                <a:latin typeface="Helvetica" panose="020B0604020202020204" pitchFamily="34" charset="0"/>
                <a:cs typeface="Helvetica" panose="020B0604020202020204" pitchFamily="34" charset="0"/>
              </a:rPr>
              <a:t>data from their shopping cart in a PostgreSQL database behind their web </a:t>
            </a:r>
            <a:r>
              <a:rPr lang="en-US" dirty="0" smtClean="0">
                <a:latin typeface="Helvetica" panose="020B0604020202020204" pitchFamily="34" charset="0"/>
                <a:cs typeface="Helvetica" panose="020B0604020202020204" pitchFamily="34" charset="0"/>
              </a:rPr>
              <a:t>app</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Uses a third-party web analytics tool such as Google Analytics to track usage on their website</a:t>
            </a:r>
          </a:p>
          <a:p>
            <a:pPr marL="361950" indent="-361950" algn="just">
              <a:buFont typeface="Wingdings" panose="05000000000000000000" pitchFamily="2" charset="2"/>
              <a:buChar char="Ø"/>
            </a:pPr>
            <a:endParaRPr lang="en-US" dirty="0" smtClean="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Combination </a:t>
            </a:r>
            <a:r>
              <a:rPr lang="en-US" dirty="0">
                <a:latin typeface="Helvetica" panose="020B0604020202020204" pitchFamily="34" charset="0"/>
                <a:cs typeface="Helvetica" panose="020B0604020202020204" pitchFamily="34" charset="0"/>
              </a:rPr>
              <a:t>of the two data sources is required to get a full understanding of customer behavior leading up to a purchase</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p:txBody>
      </p:sp>
      <p:sp>
        <p:nvSpPr>
          <p:cNvPr id="8" name="TextBox 7">
            <a:extLst>
              <a:ext uri="{FF2B5EF4-FFF2-40B4-BE49-F238E27FC236}">
                <a16:creationId xmlns:a16="http://schemas.microsoft.com/office/drawing/2014/main" id="{A799C0BC-5405-9F7C-5746-6269E98BF9DB}"/>
              </a:ext>
            </a:extLst>
          </p:cNvPr>
          <p:cNvSpPr txBox="1"/>
          <p:nvPr/>
        </p:nvSpPr>
        <p:spPr>
          <a:xfrm>
            <a:off x="8964" y="4483996"/>
            <a:ext cx="12183036" cy="258532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661988" indent="-661988"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The majority of organizations have dozens, if not hundreds, of data sources that feed their analytics endeavors</a:t>
            </a:r>
          </a:p>
          <a:p>
            <a:pPr marL="661988" indent="-661988" algn="just">
              <a:buFont typeface="Wingdings" panose="05000000000000000000" pitchFamily="2" charset="2"/>
              <a:buChar char="Ø"/>
            </a:pPr>
            <a:endParaRPr lang="en-US" dirty="0" smtClean="0">
              <a:latin typeface="Helvetica" panose="020B0604020202020204" pitchFamily="34" charset="0"/>
              <a:cs typeface="Helvetica" panose="020B0604020202020204" pitchFamily="34" charset="0"/>
            </a:endParaRPr>
          </a:p>
          <a:p>
            <a:pPr marL="661988" indent="-661988" algn="just">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Typical </a:t>
            </a:r>
            <a:r>
              <a:rPr lang="en-US" dirty="0">
                <a:latin typeface="Helvetica" panose="020B0604020202020204" pitchFamily="34" charset="0"/>
                <a:cs typeface="Helvetica" panose="020B0604020202020204" pitchFamily="34" charset="0"/>
              </a:rPr>
              <a:t>for an analytics team to ingest data from source systems that are built and owned by the organization as </a:t>
            </a:r>
            <a:endParaRPr lang="en-US" dirty="0" smtClean="0">
              <a:latin typeface="Helvetica" panose="020B0604020202020204" pitchFamily="34" charset="0"/>
              <a:cs typeface="Helvetica" panose="020B0604020202020204" pitchFamily="34" charset="0"/>
            </a:endParaRPr>
          </a:p>
          <a:p>
            <a:pPr marL="661988" indent="-661988" algn="just"/>
            <a:r>
              <a:rPr lang="en-US" dirty="0" smtClean="0">
                <a:latin typeface="Helvetica" panose="020B0604020202020204" pitchFamily="34" charset="0"/>
                <a:cs typeface="Helvetica" panose="020B0604020202020204" pitchFamily="34" charset="0"/>
              </a:rPr>
              <a:t>	well </a:t>
            </a:r>
            <a:r>
              <a:rPr lang="en-US" dirty="0">
                <a:latin typeface="Helvetica" panose="020B0604020202020204" pitchFamily="34" charset="0"/>
                <a:cs typeface="Helvetica" panose="020B0604020202020204" pitchFamily="34" charset="0"/>
              </a:rPr>
              <a:t>as from third-party tools and vendors</a:t>
            </a:r>
          </a:p>
          <a:p>
            <a:pPr marL="661988" indent="-661988" algn="just">
              <a:buFont typeface="Wingdings" panose="05000000000000000000" pitchFamily="2" charset="2"/>
              <a:buChar char="Ø"/>
            </a:pPr>
            <a:endParaRPr lang="en-US" dirty="0" smtClean="0">
              <a:latin typeface="Helvetica" panose="020B0604020202020204" pitchFamily="34" charset="0"/>
              <a:cs typeface="Helvetica" panose="020B0604020202020204" pitchFamily="34" charset="0"/>
            </a:endParaRPr>
          </a:p>
          <a:p>
            <a:pPr marL="661988" indent="-661988" algn="just">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A </a:t>
            </a:r>
            <a:r>
              <a:rPr lang="en-US" dirty="0">
                <a:latin typeface="Helvetica" panose="020B0604020202020204" pitchFamily="34" charset="0"/>
                <a:cs typeface="Helvetica" panose="020B0604020202020204" pitchFamily="34" charset="0"/>
              </a:rPr>
              <a:t>data pipeline that ends with an analysis of such behavior starts with the ingestion of data from both sources.</a:t>
            </a:r>
          </a:p>
          <a:p>
            <a:pPr marL="661988" indent="-661988" algn="just">
              <a:buFont typeface="Wingdings" panose="05000000000000000000" pitchFamily="2" charset="2"/>
              <a:buChar char="Ø"/>
            </a:pPr>
            <a:endParaRPr lang="en-US" dirty="0" smtClean="0">
              <a:latin typeface="Helvetica" panose="020B0604020202020204" pitchFamily="34" charset="0"/>
              <a:cs typeface="Helvetica" panose="020B0604020202020204" pitchFamily="34" charset="0"/>
            </a:endParaRPr>
          </a:p>
          <a:p>
            <a:pPr marL="661988" indent="-661988" algn="just">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Regardless </a:t>
            </a:r>
            <a:r>
              <a:rPr lang="en-US" dirty="0">
                <a:latin typeface="Helvetica" panose="020B0604020202020204" pitchFamily="34" charset="0"/>
                <a:cs typeface="Helvetica" panose="020B0604020202020204" pitchFamily="34" charset="0"/>
              </a:rPr>
              <a:t>of who owns the source data, how you get it and in what form is the first thing a data engineer will examine when building a new data ingestion</a:t>
            </a:r>
          </a:p>
        </p:txBody>
      </p:sp>
    </p:spTree>
    <p:extLst>
      <p:ext uri="{BB962C8B-B14F-4D97-AF65-F5344CB8AC3E}">
        <p14:creationId xmlns:p14="http://schemas.microsoft.com/office/powerpoint/2010/main" val="12676458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FC2A-B989-9ED1-EF43-DD2B9AC985AA}"/>
              </a:ext>
            </a:extLst>
          </p:cNvPr>
          <p:cNvSpPr>
            <a:spLocks noGrp="1"/>
          </p:cNvSpPr>
          <p:nvPr>
            <p:ph type="title"/>
          </p:nvPr>
        </p:nvSpPr>
        <p:spPr/>
        <p:txBody>
          <a:bodyPr/>
          <a:lstStyle/>
          <a:p>
            <a:r>
              <a:rPr lang="en-US" dirty="0"/>
              <a:t>Data Ingestion Infra – Key parameters</a:t>
            </a:r>
          </a:p>
        </p:txBody>
      </p:sp>
      <p:sp>
        <p:nvSpPr>
          <p:cNvPr id="6" name="TextBox 5">
            <a:extLst>
              <a:ext uri="{FF2B5EF4-FFF2-40B4-BE49-F238E27FC236}">
                <a16:creationId xmlns:a16="http://schemas.microsoft.com/office/drawing/2014/main" id="{E13B6CAF-6D12-2C73-1AF3-1FE8B67A8AF2}"/>
              </a:ext>
            </a:extLst>
          </p:cNvPr>
          <p:cNvSpPr txBox="1"/>
          <p:nvPr/>
        </p:nvSpPr>
        <p:spPr>
          <a:xfrm>
            <a:off x="13447" y="1528482"/>
            <a:ext cx="6096000" cy="502701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how to get data </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A database behind an application, such as a Postgres or MySQL database</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A layer of abstraction on top of a system such as a REST API</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A stream processing platform such as Apache Kafka</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A shared network file system or cloud storage bucket containing logs, comma-separated value (CSV) files, and other flat files</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A data warehouse or data lake</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Data in HDFS or HBase database</a:t>
            </a:r>
          </a:p>
          <a:p>
            <a:pPr marL="285750" indent="-285750">
              <a:lnSpc>
                <a:spcPct val="150000"/>
              </a:lnSpc>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p:txBody>
      </p:sp>
      <p:sp>
        <p:nvSpPr>
          <p:cNvPr id="7" name="Rectangle 6">
            <a:extLst>
              <a:ext uri="{FF2B5EF4-FFF2-40B4-BE49-F238E27FC236}">
                <a16:creationId xmlns:a16="http://schemas.microsoft.com/office/drawing/2014/main" id="{C9BD945F-C5A2-B349-90E0-016A04C0B663}"/>
              </a:ext>
            </a:extLst>
          </p:cNvPr>
          <p:cNvSpPr/>
          <p:nvPr/>
        </p:nvSpPr>
        <p:spPr>
          <a:xfrm>
            <a:off x="0" y="924933"/>
            <a:ext cx="6096000" cy="599067"/>
          </a:xfrm>
          <a:prstGeom prst="rect">
            <a:avLst/>
          </a:prstGeom>
          <a:ln w="69850" cmpd="dbl"/>
        </p:spPr>
        <p:style>
          <a:lnRef idx="2">
            <a:schemeClr val="accent2"/>
          </a:lnRef>
          <a:fillRef idx="1">
            <a:schemeClr val="lt1"/>
          </a:fillRef>
          <a:effectRef idx="0">
            <a:schemeClr val="accent2"/>
          </a:effectRef>
          <a:fontRef idx="minor">
            <a:schemeClr val="dk1"/>
          </a:fontRef>
        </p:style>
        <p:txBody>
          <a:bodyPr rtlCol="0" anchor="ctr"/>
          <a:lstStyle/>
          <a:p>
            <a:pPr algn="ctr">
              <a:lnSpc>
                <a:spcPct val="150000"/>
              </a:lnSpc>
            </a:pPr>
            <a:r>
              <a:rPr lang="en-US" sz="2000" dirty="0">
                <a:solidFill>
                  <a:srgbClr val="FF0000"/>
                </a:solidFill>
                <a:latin typeface="Helvetica" panose="020B0604020202020204" pitchFamily="34" charset="0"/>
                <a:cs typeface="Helvetica" panose="020B0604020202020204" pitchFamily="34" charset="0"/>
              </a:rPr>
              <a:t>Interface to the data</a:t>
            </a:r>
            <a:endParaRPr lang="en-US" sz="2000" dirty="0">
              <a:latin typeface="Helvetica" panose="020B0604020202020204" pitchFamily="34" charset="0"/>
              <a:cs typeface="Helvetica" panose="020B0604020202020204" pitchFamily="34" charset="0"/>
            </a:endParaRPr>
          </a:p>
        </p:txBody>
      </p:sp>
      <p:sp>
        <p:nvSpPr>
          <p:cNvPr id="8" name="TextBox 7">
            <a:extLst>
              <a:ext uri="{FF2B5EF4-FFF2-40B4-BE49-F238E27FC236}">
                <a16:creationId xmlns:a16="http://schemas.microsoft.com/office/drawing/2014/main" id="{1C0F5334-240C-A8B6-E961-8C327D480254}"/>
              </a:ext>
            </a:extLst>
          </p:cNvPr>
          <p:cNvSpPr txBox="1"/>
          <p:nvPr/>
        </p:nvSpPr>
        <p:spPr>
          <a:xfrm>
            <a:off x="6145306" y="1528482"/>
            <a:ext cx="6033247" cy="5027017"/>
          </a:xfrm>
          <a:prstGeom prst="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JSON from a REST API</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Well-structured data from a MySQL database</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SON within columns of a MySQL database table</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Semi-structured log data</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CSV, fixed-width format (FWF), and other flat file formats</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JSON in flat files</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Stream output from Kafka</a:t>
            </a:r>
          </a:p>
          <a:p>
            <a:pPr marL="285750" indent="-285750">
              <a:lnSpc>
                <a:spcPct val="150000"/>
              </a:lnSpc>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nSpc>
                <a:spcPct val="150000"/>
              </a:lnSpc>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nSpc>
                <a:spcPct val="150000"/>
              </a:lnSpc>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nSpc>
                <a:spcPct val="150000"/>
              </a:lnSpc>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p:txBody>
      </p:sp>
      <p:sp>
        <p:nvSpPr>
          <p:cNvPr id="9" name="Rectangle 8">
            <a:extLst>
              <a:ext uri="{FF2B5EF4-FFF2-40B4-BE49-F238E27FC236}">
                <a16:creationId xmlns:a16="http://schemas.microsoft.com/office/drawing/2014/main" id="{0BB08B91-1968-F1A8-031A-7CEBBC10A04E}"/>
              </a:ext>
            </a:extLst>
          </p:cNvPr>
          <p:cNvSpPr/>
          <p:nvPr/>
        </p:nvSpPr>
        <p:spPr>
          <a:xfrm>
            <a:off x="6131859" y="924933"/>
            <a:ext cx="6033247" cy="599067"/>
          </a:xfrm>
          <a:prstGeom prst="rect">
            <a:avLst/>
          </a:prstGeom>
          <a:ln w="69850" cmpd="dbl">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lnSpc>
                <a:spcPct val="150000"/>
              </a:lnSpc>
            </a:pPr>
            <a:r>
              <a:rPr lang="en-US" sz="2000" dirty="0">
                <a:solidFill>
                  <a:srgbClr val="FF0000"/>
                </a:solidFill>
                <a:latin typeface="Helvetica" panose="020B0604020202020204" pitchFamily="34" charset="0"/>
                <a:cs typeface="Helvetica" panose="020B0604020202020204" pitchFamily="34" charset="0"/>
              </a:rPr>
              <a:t>Structure of the data </a:t>
            </a:r>
            <a:endParaRPr lang="en-US" sz="20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959491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50743-79F3-0EFE-CD94-A482515008ED}"/>
              </a:ext>
            </a:extLst>
          </p:cNvPr>
          <p:cNvSpPr>
            <a:spLocks noGrp="1"/>
          </p:cNvSpPr>
          <p:nvPr>
            <p:ph type="title"/>
          </p:nvPr>
        </p:nvSpPr>
        <p:spPr/>
        <p:txBody>
          <a:bodyPr/>
          <a:lstStyle/>
          <a:p>
            <a:r>
              <a:rPr lang="en-US" dirty="0"/>
              <a:t>Tools</a:t>
            </a:r>
          </a:p>
        </p:txBody>
      </p:sp>
      <p:sp>
        <p:nvSpPr>
          <p:cNvPr id="3" name="Text Placeholder 2">
            <a:extLst>
              <a:ext uri="{FF2B5EF4-FFF2-40B4-BE49-F238E27FC236}">
                <a16:creationId xmlns:a16="http://schemas.microsoft.com/office/drawing/2014/main" id="{0C586AB0-2D99-E067-2A45-32D042781624}"/>
              </a:ext>
            </a:extLst>
          </p:cNvPr>
          <p:cNvSpPr>
            <a:spLocks noGrp="1"/>
          </p:cNvSpPr>
          <p:nvPr>
            <p:ph type="body" sz="quarter" idx="13"/>
          </p:nvPr>
        </p:nvSpPr>
        <p:spPr>
          <a:xfrm>
            <a:off x="228600" y="1143000"/>
            <a:ext cx="11734800" cy="5554431"/>
          </a:xfrm>
        </p:spPr>
        <p:txBody>
          <a:bodyPr>
            <a:normAutofit/>
          </a:bodyPr>
          <a:lstStyle/>
          <a:p>
            <a:pPr marL="0" indent="0" algn="just">
              <a:lnSpc>
                <a:spcPct val="150000"/>
              </a:lnSpc>
              <a:buNone/>
            </a:pPr>
            <a:r>
              <a:rPr lang="en-US" b="1" u="sng" dirty="0"/>
              <a:t>Background</a:t>
            </a:r>
          </a:p>
          <a:p>
            <a:pPr marL="0" indent="0" algn="just">
              <a:lnSpc>
                <a:spcPct val="150000"/>
              </a:lnSpc>
              <a:buNone/>
            </a:pPr>
            <a:r>
              <a:rPr lang="en-US" dirty="0" smtClean="0"/>
              <a:t>“</a:t>
            </a:r>
            <a:r>
              <a:rPr lang="en-US" dirty="0"/>
              <a:t>Data teams must contend with a diverse range of data sources from which they must ingest data.”</a:t>
            </a:r>
          </a:p>
          <a:p>
            <a:pPr marL="0" indent="0" algn="just">
              <a:lnSpc>
                <a:spcPct val="150000"/>
              </a:lnSpc>
              <a:buNone/>
            </a:pPr>
            <a:r>
              <a:rPr lang="en-US" b="1" u="sng" dirty="0"/>
              <a:t>Commercial Tools</a:t>
            </a:r>
          </a:p>
          <a:p>
            <a:pPr marL="0" indent="0" algn="just">
              <a:lnSpc>
                <a:spcPct val="150000"/>
              </a:lnSpc>
              <a:buNone/>
            </a:pPr>
            <a:r>
              <a:rPr lang="en-US" dirty="0"/>
              <a:t>A number of commercial and open source tools are available in a modern data infrastructure.</a:t>
            </a:r>
          </a:p>
          <a:p>
            <a:pPr marL="361950" indent="-361950" algn="just">
              <a:lnSpc>
                <a:spcPct val="150000"/>
              </a:lnSpc>
              <a:buFont typeface="Wingdings" panose="05000000000000000000" pitchFamily="2" charset="2"/>
              <a:buChar char="Ø"/>
            </a:pPr>
            <a:r>
              <a:rPr lang="en-US" dirty="0"/>
              <a:t>Singer</a:t>
            </a:r>
          </a:p>
          <a:p>
            <a:pPr marL="361950" indent="-361950" algn="just">
              <a:lnSpc>
                <a:spcPct val="150000"/>
              </a:lnSpc>
              <a:buFont typeface="Wingdings" panose="05000000000000000000" pitchFamily="2" charset="2"/>
              <a:buChar char="Ø"/>
            </a:pPr>
            <a:r>
              <a:rPr lang="en-US" dirty="0"/>
              <a:t>Stitch</a:t>
            </a:r>
          </a:p>
          <a:p>
            <a:pPr marL="361950" indent="-361950" algn="just">
              <a:lnSpc>
                <a:spcPct val="150000"/>
              </a:lnSpc>
              <a:buFont typeface="Wingdings" panose="05000000000000000000" pitchFamily="2" charset="2"/>
              <a:buChar char="Ø"/>
            </a:pPr>
            <a:r>
              <a:rPr lang="en-US" dirty="0" err="1"/>
              <a:t>Fivetran</a:t>
            </a:r>
            <a:endParaRPr lang="en-US" dirty="0"/>
          </a:p>
          <a:p>
            <a:pPr marL="0" indent="0" algn="just">
              <a:lnSpc>
                <a:spcPct val="150000"/>
              </a:lnSpc>
              <a:buNone/>
            </a:pPr>
            <a:endParaRPr lang="en-US" b="1" u="sng" dirty="0"/>
          </a:p>
          <a:p>
            <a:pPr marL="0" indent="0" algn="just">
              <a:lnSpc>
                <a:spcPct val="150000"/>
              </a:lnSpc>
              <a:buNone/>
            </a:pPr>
            <a:r>
              <a:rPr lang="en-US" dirty="0"/>
              <a:t>Data ingestion is traditionally both the extract and load steps of an ETL or ELT process</a:t>
            </a:r>
          </a:p>
          <a:p>
            <a:pPr marL="0" indent="0" algn="just">
              <a:lnSpc>
                <a:spcPct val="150000"/>
              </a:lnSpc>
              <a:buNone/>
            </a:pPr>
            <a:r>
              <a:rPr lang="en-US" dirty="0"/>
              <a:t>Some tools focus on just these steps, while others provide the user with some transform capabilities as </a:t>
            </a:r>
            <a:r>
              <a:rPr lang="en-US" dirty="0" smtClean="0"/>
              <a:t>well</a:t>
            </a:r>
            <a:endParaRPr lang="en-US" dirty="0"/>
          </a:p>
        </p:txBody>
      </p:sp>
    </p:spTree>
    <p:extLst>
      <p:ext uri="{BB962C8B-B14F-4D97-AF65-F5344CB8AC3E}">
        <p14:creationId xmlns:p14="http://schemas.microsoft.com/office/powerpoint/2010/main" val="537177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B886B-523D-C5E9-EE91-A0AE5C127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C4771-12CD-D2EC-F9A7-D0A5789E9553}"/>
              </a:ext>
            </a:extLst>
          </p:cNvPr>
          <p:cNvSpPr>
            <a:spLocks noGrp="1"/>
          </p:cNvSpPr>
          <p:nvPr>
            <p:ph type="title"/>
          </p:nvPr>
        </p:nvSpPr>
        <p:spPr>
          <a:xfrm>
            <a:off x="-152400" y="1709738"/>
            <a:ext cx="12344400" cy="2852737"/>
          </a:xfrm>
        </p:spPr>
        <p:txBody>
          <a:bodyPr anchor="b">
            <a:normAutofit/>
          </a:bodyPr>
          <a:lstStyle/>
          <a:p>
            <a:r>
              <a:rPr lang="en-US" dirty="0"/>
              <a:t>Data Transformation Infrastructure</a:t>
            </a:r>
          </a:p>
        </p:txBody>
      </p:sp>
    </p:spTree>
    <p:extLst>
      <p:ext uri="{BB962C8B-B14F-4D97-AF65-F5344CB8AC3E}">
        <p14:creationId xmlns:p14="http://schemas.microsoft.com/office/powerpoint/2010/main" val="1061316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5FE53-56A6-3057-4AD4-0E85444943A0}"/>
              </a:ext>
            </a:extLst>
          </p:cNvPr>
          <p:cNvSpPr>
            <a:spLocks noGrp="1"/>
          </p:cNvSpPr>
          <p:nvPr>
            <p:ph type="title"/>
          </p:nvPr>
        </p:nvSpPr>
        <p:spPr/>
        <p:txBody>
          <a:bodyPr/>
          <a:lstStyle/>
          <a:p>
            <a:r>
              <a:rPr lang="en-US" dirty="0"/>
              <a:t>Transformation &amp; Modelling</a:t>
            </a:r>
          </a:p>
        </p:txBody>
      </p:sp>
      <p:sp>
        <p:nvSpPr>
          <p:cNvPr id="3" name="Text Placeholder 2">
            <a:extLst>
              <a:ext uri="{FF2B5EF4-FFF2-40B4-BE49-F238E27FC236}">
                <a16:creationId xmlns:a16="http://schemas.microsoft.com/office/drawing/2014/main" id="{F45F1456-D475-0491-4D1F-6ADBFA154346}"/>
              </a:ext>
            </a:extLst>
          </p:cNvPr>
          <p:cNvSpPr>
            <a:spLocks noGrp="1"/>
          </p:cNvSpPr>
          <p:nvPr>
            <p:ph type="body" sz="quarter" idx="13"/>
          </p:nvPr>
        </p:nvSpPr>
        <p:spPr>
          <a:xfrm>
            <a:off x="1" y="2211835"/>
            <a:ext cx="6127376" cy="4445256"/>
          </a:xfrm>
        </p:spPr>
        <p:style>
          <a:lnRef idx="2">
            <a:schemeClr val="accent2"/>
          </a:lnRef>
          <a:fillRef idx="1">
            <a:schemeClr val="lt1"/>
          </a:fillRef>
          <a:effectRef idx="0">
            <a:schemeClr val="accent2"/>
          </a:effectRef>
          <a:fontRef idx="minor">
            <a:schemeClr val="dk1"/>
          </a:fontRef>
        </p:style>
        <p:txBody>
          <a:bodyPr>
            <a:noAutofit/>
          </a:bodyPr>
          <a:lstStyle/>
          <a:p>
            <a:pPr marL="0" indent="0" algn="just">
              <a:lnSpc>
                <a:spcPct val="100000"/>
              </a:lnSpc>
              <a:buNone/>
            </a:pPr>
            <a:r>
              <a:rPr lang="en-US" b="1" u="sng" dirty="0"/>
              <a:t>Data </a:t>
            </a:r>
            <a:r>
              <a:rPr lang="en-US" b="1" u="sng" dirty="0" smtClean="0"/>
              <a:t>Transformation</a:t>
            </a:r>
            <a:endParaRPr lang="en-US" b="1" u="sng" dirty="0"/>
          </a:p>
          <a:p>
            <a:pPr algn="just">
              <a:lnSpc>
                <a:spcPct val="100000"/>
              </a:lnSpc>
              <a:buFont typeface="Wingdings" panose="05000000000000000000" pitchFamily="2" charset="2"/>
              <a:buChar char="Ø"/>
            </a:pPr>
            <a:r>
              <a:rPr lang="en-US" dirty="0"/>
              <a:t>Transforming data is a broad term that is signified by the T in an ETL or ELT </a:t>
            </a:r>
            <a:r>
              <a:rPr lang="en-US" dirty="0" smtClean="0"/>
              <a:t>process</a:t>
            </a:r>
          </a:p>
          <a:p>
            <a:pPr algn="just">
              <a:lnSpc>
                <a:spcPct val="100000"/>
              </a:lnSpc>
              <a:buFont typeface="Wingdings" panose="05000000000000000000" pitchFamily="2" charset="2"/>
              <a:buChar char="Ø"/>
            </a:pPr>
            <a:endParaRPr lang="en-US" dirty="0"/>
          </a:p>
          <a:p>
            <a:pPr algn="just">
              <a:lnSpc>
                <a:spcPct val="100000"/>
              </a:lnSpc>
              <a:buFont typeface="Wingdings" panose="05000000000000000000" pitchFamily="2" charset="2"/>
              <a:buChar char="Ø"/>
            </a:pPr>
            <a:r>
              <a:rPr lang="en-US" dirty="0"/>
              <a:t>A transformation can be something </a:t>
            </a:r>
          </a:p>
          <a:p>
            <a:pPr lvl="1" algn="just">
              <a:lnSpc>
                <a:spcPct val="100000"/>
              </a:lnSpc>
              <a:buFont typeface="Wingdings" panose="05000000000000000000" pitchFamily="2" charset="2"/>
              <a:buChar char="Ø"/>
            </a:pPr>
            <a:endParaRPr lang="en-US" sz="1800" dirty="0" smtClean="0"/>
          </a:p>
          <a:p>
            <a:pPr lvl="1" algn="just">
              <a:lnSpc>
                <a:spcPct val="100000"/>
              </a:lnSpc>
              <a:buFont typeface="Wingdings" panose="05000000000000000000" pitchFamily="2" charset="2"/>
              <a:buChar char="Ø"/>
            </a:pPr>
            <a:r>
              <a:rPr lang="en-US" sz="1800" dirty="0" smtClean="0"/>
              <a:t>As </a:t>
            </a:r>
            <a:r>
              <a:rPr lang="en-US" sz="1800" dirty="0"/>
              <a:t>simple as converting a timestamp stored in a table from one time zone to </a:t>
            </a:r>
            <a:r>
              <a:rPr lang="en-US" sz="1800" dirty="0" smtClean="0"/>
              <a:t>another</a:t>
            </a:r>
          </a:p>
          <a:p>
            <a:pPr lvl="1" algn="just">
              <a:lnSpc>
                <a:spcPct val="100000"/>
              </a:lnSpc>
              <a:buFont typeface="Wingdings" panose="05000000000000000000" pitchFamily="2" charset="2"/>
              <a:buChar char="Ø"/>
            </a:pPr>
            <a:endParaRPr lang="en-US" sz="1800" dirty="0"/>
          </a:p>
          <a:p>
            <a:pPr lvl="1" algn="just">
              <a:lnSpc>
                <a:spcPct val="100000"/>
              </a:lnSpc>
              <a:buFont typeface="Wingdings" panose="05000000000000000000" pitchFamily="2" charset="2"/>
              <a:buChar char="Ø"/>
            </a:pPr>
            <a:r>
              <a:rPr lang="en-US" sz="1800" dirty="0" smtClean="0"/>
              <a:t>A </a:t>
            </a:r>
            <a:r>
              <a:rPr lang="en-US" sz="1800" dirty="0"/>
              <a:t>more complex operation that creates a new metric from multiple source columns that are aggregated and filtered through some business logic</a:t>
            </a:r>
            <a:endParaRPr lang="en-US" dirty="0"/>
          </a:p>
        </p:txBody>
      </p:sp>
      <p:sp>
        <p:nvSpPr>
          <p:cNvPr id="5" name="Text Placeholder 2">
            <a:extLst>
              <a:ext uri="{FF2B5EF4-FFF2-40B4-BE49-F238E27FC236}">
                <a16:creationId xmlns:a16="http://schemas.microsoft.com/office/drawing/2014/main" id="{FB1C4CCE-C544-DB6E-E993-95A08D3B79DC}"/>
              </a:ext>
            </a:extLst>
          </p:cNvPr>
          <p:cNvSpPr txBox="1">
            <a:spLocks/>
          </p:cNvSpPr>
          <p:nvPr/>
        </p:nvSpPr>
        <p:spPr>
          <a:xfrm>
            <a:off x="6145305" y="2193907"/>
            <a:ext cx="6024283" cy="4463184"/>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indent="-361950" algn="just">
              <a:lnSpc>
                <a:spcPct val="100000"/>
              </a:lnSpc>
              <a:spcBef>
                <a:spcPts val="0"/>
              </a:spcBef>
              <a:buFont typeface="Arial" panose="020B0604020202020204" pitchFamily="34" charset="0"/>
              <a:buNone/>
            </a:pPr>
            <a:r>
              <a:rPr lang="en-US" b="1" u="sng" dirty="0"/>
              <a:t>Data </a:t>
            </a:r>
            <a:r>
              <a:rPr lang="en-US" b="1" u="sng" dirty="0" smtClean="0"/>
              <a:t>Modeling</a:t>
            </a:r>
            <a:endParaRPr lang="en-US" b="1" u="sng" dirty="0"/>
          </a:p>
          <a:p>
            <a:pPr marL="361950" indent="-361950" algn="just">
              <a:lnSpc>
                <a:spcPct val="100000"/>
              </a:lnSpc>
              <a:spcBef>
                <a:spcPts val="0"/>
              </a:spcBef>
              <a:buFont typeface="Wingdings" panose="05000000000000000000" pitchFamily="2" charset="2"/>
              <a:buChar char="Ø"/>
            </a:pPr>
            <a:endParaRPr lang="en-US" dirty="0" smtClean="0"/>
          </a:p>
          <a:p>
            <a:pPr marL="361950" indent="-361950" algn="just">
              <a:lnSpc>
                <a:spcPct val="100000"/>
              </a:lnSpc>
              <a:spcBef>
                <a:spcPts val="0"/>
              </a:spcBef>
              <a:buFont typeface="Wingdings" panose="05000000000000000000" pitchFamily="2" charset="2"/>
              <a:buChar char="Ø"/>
            </a:pPr>
            <a:r>
              <a:rPr lang="en-US" dirty="0" smtClean="0"/>
              <a:t>Data </a:t>
            </a:r>
            <a:r>
              <a:rPr lang="en-US" dirty="0"/>
              <a:t>modeling is a more specific type of data </a:t>
            </a:r>
            <a:r>
              <a:rPr lang="en-US" dirty="0" smtClean="0"/>
              <a:t>transformation</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A </a:t>
            </a:r>
            <a:r>
              <a:rPr lang="en-US" dirty="0" smtClean="0"/>
              <a:t>Data Model </a:t>
            </a:r>
            <a:r>
              <a:rPr lang="en-US" dirty="0"/>
              <a:t>structures and defines data in a format that is understood and optimized for data </a:t>
            </a:r>
            <a:r>
              <a:rPr lang="en-US" dirty="0" smtClean="0"/>
              <a:t>analysis</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A </a:t>
            </a:r>
            <a:r>
              <a:rPr lang="en-US" dirty="0" smtClean="0"/>
              <a:t>Data Model </a:t>
            </a:r>
            <a:r>
              <a:rPr lang="en-US" dirty="0"/>
              <a:t>is usually represented as one or more tables in a data </a:t>
            </a:r>
            <a:r>
              <a:rPr lang="en-US" dirty="0" smtClean="0"/>
              <a:t>warehouse</a:t>
            </a:r>
            <a:endParaRPr lang="en-US" dirty="0"/>
          </a:p>
        </p:txBody>
      </p:sp>
      <p:sp>
        <p:nvSpPr>
          <p:cNvPr id="6" name="TextBox 5">
            <a:extLst>
              <a:ext uri="{FF2B5EF4-FFF2-40B4-BE49-F238E27FC236}">
                <a16:creationId xmlns:a16="http://schemas.microsoft.com/office/drawing/2014/main" id="{D53BA81C-8C19-8A9D-0A78-BCA71B8282A1}"/>
              </a:ext>
            </a:extLst>
          </p:cNvPr>
          <p:cNvSpPr txBox="1"/>
          <p:nvPr/>
        </p:nvSpPr>
        <p:spPr>
          <a:xfrm>
            <a:off x="0" y="898039"/>
            <a:ext cx="12192000" cy="129586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61950" indent="-361950">
              <a:lnSpc>
                <a:spcPct val="150000"/>
              </a:lnSpc>
            </a:pPr>
            <a:r>
              <a:rPr lang="en-US" dirty="0">
                <a:latin typeface="Helvetica" panose="020B0604020202020204" pitchFamily="34" charset="0"/>
                <a:cs typeface="Helvetica" panose="020B0604020202020204" pitchFamily="34" charset="0"/>
              </a:rPr>
              <a:t>Pipelines are also made up of tasks that transform and model data for new purposes</a:t>
            </a:r>
          </a:p>
          <a:p>
            <a:pPr marL="361950" indent="-361950">
              <a:lnSpc>
                <a:spcPct val="150000"/>
              </a:lnSpc>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Such </a:t>
            </a:r>
            <a:r>
              <a:rPr lang="en-US" dirty="0">
                <a:latin typeface="Helvetica" panose="020B0604020202020204" pitchFamily="34" charset="0"/>
                <a:cs typeface="Helvetica" panose="020B0604020202020204" pitchFamily="34" charset="0"/>
              </a:rPr>
              <a:t>as machine learning, analysis, and reporting</a:t>
            </a:r>
          </a:p>
          <a:p>
            <a:pPr marL="361950" indent="-361950">
              <a:lnSpc>
                <a:spcPct val="150000"/>
              </a:lnSpc>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Terms </a:t>
            </a:r>
            <a:r>
              <a:rPr lang="en-US" dirty="0">
                <a:latin typeface="Helvetica" panose="020B0604020202020204" pitchFamily="34" charset="0"/>
                <a:cs typeface="Helvetica" panose="020B0604020202020204" pitchFamily="34" charset="0"/>
              </a:rPr>
              <a:t>often used interchangeably</a:t>
            </a:r>
          </a:p>
        </p:txBody>
      </p:sp>
    </p:spTree>
    <p:extLst>
      <p:ext uri="{BB962C8B-B14F-4D97-AF65-F5344CB8AC3E}">
        <p14:creationId xmlns:p14="http://schemas.microsoft.com/office/powerpoint/2010/main" val="2057782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92BB3-E3D4-8493-6C96-A4159DD8A8F0}"/>
              </a:ext>
            </a:extLst>
          </p:cNvPr>
          <p:cNvSpPr>
            <a:spLocks noGrp="1"/>
          </p:cNvSpPr>
          <p:nvPr>
            <p:ph type="title"/>
          </p:nvPr>
        </p:nvSpPr>
        <p:spPr/>
        <p:txBody>
          <a:bodyPr/>
          <a:lstStyle/>
          <a:p>
            <a:r>
              <a:rPr lang="en-US" dirty="0"/>
              <a:t>Tools</a:t>
            </a:r>
          </a:p>
        </p:txBody>
      </p:sp>
      <p:sp>
        <p:nvSpPr>
          <p:cNvPr id="3" name="Text Placeholder 2">
            <a:extLst>
              <a:ext uri="{FF2B5EF4-FFF2-40B4-BE49-F238E27FC236}">
                <a16:creationId xmlns:a16="http://schemas.microsoft.com/office/drawing/2014/main" id="{9A26B0A9-CE43-D10E-D621-0877FFADBF11}"/>
              </a:ext>
            </a:extLst>
          </p:cNvPr>
          <p:cNvSpPr>
            <a:spLocks noGrp="1"/>
          </p:cNvSpPr>
          <p:nvPr>
            <p:ph type="body" sz="quarter" idx="13"/>
          </p:nvPr>
        </p:nvSpPr>
        <p:spPr>
          <a:xfrm>
            <a:off x="31376" y="914400"/>
            <a:ext cx="6064624" cy="5892725"/>
          </a:xfrm>
        </p:spPr>
        <p:style>
          <a:lnRef idx="2">
            <a:schemeClr val="accent2"/>
          </a:lnRef>
          <a:fillRef idx="1">
            <a:schemeClr val="lt1"/>
          </a:fillRef>
          <a:effectRef idx="0">
            <a:schemeClr val="accent2"/>
          </a:effectRef>
          <a:fontRef idx="minor">
            <a:schemeClr val="dk1"/>
          </a:fontRef>
        </p:style>
        <p:txBody>
          <a:bodyPr>
            <a:normAutofit/>
          </a:bodyPr>
          <a:lstStyle/>
          <a:p>
            <a:pPr marL="361950" indent="-361950" algn="just">
              <a:lnSpc>
                <a:spcPct val="100000"/>
              </a:lnSpc>
              <a:buNone/>
            </a:pPr>
            <a:r>
              <a:rPr lang="en-US" b="1" u="sng" dirty="0">
                <a:solidFill>
                  <a:schemeClr val="tx1"/>
                </a:solidFill>
              </a:rPr>
              <a:t>Data Transformation</a:t>
            </a:r>
          </a:p>
          <a:p>
            <a:pPr marL="361950" indent="-361950" algn="just">
              <a:lnSpc>
                <a:spcPct val="100000"/>
              </a:lnSpc>
              <a:buFont typeface="Wingdings" panose="05000000000000000000" pitchFamily="2" charset="2"/>
              <a:buChar char="Ø"/>
            </a:pPr>
            <a:r>
              <a:rPr lang="en-US" dirty="0">
                <a:solidFill>
                  <a:schemeClr val="tx1"/>
                </a:solidFill>
              </a:rPr>
              <a:t>Some data ingestion tools provide some level of data transformation capabilities, but these are often quite </a:t>
            </a:r>
            <a:endParaRPr lang="en-US" dirty="0" smtClean="0">
              <a:solidFill>
                <a:schemeClr val="tx1"/>
              </a:solidFill>
            </a:endParaRPr>
          </a:p>
          <a:p>
            <a:pPr marL="361950" indent="-361950" algn="just">
              <a:lnSpc>
                <a:spcPct val="100000"/>
              </a:lnSpc>
              <a:buFont typeface="Wingdings" panose="05000000000000000000" pitchFamily="2" charset="2"/>
              <a:buChar char="Ø"/>
            </a:pPr>
            <a:r>
              <a:rPr lang="en-US" dirty="0" smtClean="0">
                <a:solidFill>
                  <a:schemeClr val="tx1"/>
                </a:solidFill>
              </a:rPr>
              <a:t>Simple</a:t>
            </a:r>
          </a:p>
          <a:p>
            <a:pPr marL="361950" indent="-361950" algn="just">
              <a:lnSpc>
                <a:spcPct val="100000"/>
              </a:lnSpc>
              <a:buFont typeface="Wingdings" panose="05000000000000000000" pitchFamily="2" charset="2"/>
              <a:buChar char="Ø"/>
            </a:pPr>
            <a:endParaRPr lang="en-US" dirty="0">
              <a:solidFill>
                <a:schemeClr val="tx1"/>
              </a:solidFill>
            </a:endParaRPr>
          </a:p>
          <a:p>
            <a:pPr marL="819150" lvl="3" indent="-361950" algn="just">
              <a:lnSpc>
                <a:spcPct val="100000"/>
              </a:lnSpc>
              <a:buFont typeface="Wingdings" panose="05000000000000000000" pitchFamily="2" charset="2"/>
              <a:buChar char="Ø"/>
            </a:pPr>
            <a:r>
              <a:rPr lang="en-US" sz="1400" dirty="0" smtClean="0">
                <a:solidFill>
                  <a:schemeClr val="tx1"/>
                </a:solidFill>
              </a:rPr>
              <a:t>For </a:t>
            </a:r>
            <a:r>
              <a:rPr lang="en-US" sz="1400" dirty="0">
                <a:solidFill>
                  <a:schemeClr val="tx1"/>
                </a:solidFill>
              </a:rPr>
              <a:t>the sake of protecting personally identifiable information (PII) it may be desirable to turn an email address into a hashed value </a:t>
            </a:r>
            <a:endParaRPr lang="en-US" sz="1400" dirty="0" smtClean="0">
              <a:solidFill>
                <a:schemeClr val="tx1"/>
              </a:solidFill>
            </a:endParaRPr>
          </a:p>
          <a:p>
            <a:pPr marL="361950" lvl="2" indent="-361950" algn="just">
              <a:lnSpc>
                <a:spcPct val="100000"/>
              </a:lnSpc>
              <a:buFont typeface="Wingdings" panose="05000000000000000000" pitchFamily="2" charset="2"/>
              <a:buChar char="Ø"/>
            </a:pPr>
            <a:endParaRPr lang="en-US" sz="1600" dirty="0">
              <a:solidFill>
                <a:schemeClr val="tx1"/>
              </a:solidFill>
            </a:endParaRPr>
          </a:p>
          <a:p>
            <a:pPr marL="361950" indent="-361950" algn="just">
              <a:lnSpc>
                <a:spcPct val="100000"/>
              </a:lnSpc>
              <a:spcBef>
                <a:spcPts val="0"/>
              </a:spcBef>
              <a:buFont typeface="Wingdings" panose="05000000000000000000" pitchFamily="2" charset="2"/>
              <a:buChar char="Ø"/>
            </a:pPr>
            <a:r>
              <a:rPr lang="en-US" dirty="0" smtClean="0">
                <a:solidFill>
                  <a:schemeClr val="tx1"/>
                </a:solidFill>
              </a:rPr>
              <a:t>For </a:t>
            </a:r>
            <a:r>
              <a:rPr lang="en-US" dirty="0">
                <a:solidFill>
                  <a:schemeClr val="tx1"/>
                </a:solidFill>
              </a:rPr>
              <a:t>more complex data transformations and data modeling, find it desirable to seek out tools and frameworks specifically designed for the task, such as </a:t>
            </a:r>
            <a:r>
              <a:rPr lang="en-US" dirty="0" err="1">
                <a:solidFill>
                  <a:schemeClr val="tx1"/>
                </a:solidFill>
              </a:rPr>
              <a:t>dbt</a:t>
            </a:r>
            <a:r>
              <a:rPr lang="en-US" dirty="0">
                <a:solidFill>
                  <a:schemeClr val="tx1"/>
                </a:solidFill>
              </a:rPr>
              <a:t> </a:t>
            </a:r>
            <a:endParaRPr lang="en-US" dirty="0" smtClean="0">
              <a:solidFill>
                <a:schemeClr val="tx1"/>
              </a:solidFill>
            </a:endParaRPr>
          </a:p>
          <a:p>
            <a:pPr marL="361950" indent="-361950" algn="just">
              <a:lnSpc>
                <a:spcPct val="100000"/>
              </a:lnSpc>
              <a:spcBef>
                <a:spcPts val="0"/>
              </a:spcBef>
              <a:buFont typeface="Wingdings" panose="05000000000000000000" pitchFamily="2" charset="2"/>
              <a:buChar char="Ø"/>
            </a:pPr>
            <a:endParaRPr lang="en-US" dirty="0">
              <a:solidFill>
                <a:schemeClr val="tx1"/>
              </a:solidFill>
            </a:endParaRPr>
          </a:p>
          <a:p>
            <a:pPr marL="361950" indent="-361950" algn="just">
              <a:lnSpc>
                <a:spcPct val="100000"/>
              </a:lnSpc>
              <a:spcBef>
                <a:spcPts val="0"/>
              </a:spcBef>
              <a:buFont typeface="Wingdings" panose="05000000000000000000" pitchFamily="2" charset="2"/>
              <a:buChar char="Ø"/>
            </a:pPr>
            <a:r>
              <a:rPr lang="en-US" dirty="0">
                <a:solidFill>
                  <a:schemeClr val="tx1"/>
                </a:solidFill>
              </a:rPr>
              <a:t>Additionally data transformation is often context-specific and can be written in a language familiar to data </a:t>
            </a:r>
            <a:endParaRPr lang="en-US" dirty="0" smtClean="0">
              <a:solidFill>
                <a:schemeClr val="tx1"/>
              </a:solidFill>
            </a:endParaRPr>
          </a:p>
          <a:p>
            <a:pPr marL="361950" indent="-361950" algn="just">
              <a:lnSpc>
                <a:spcPct val="100000"/>
              </a:lnSpc>
              <a:spcBef>
                <a:spcPts val="0"/>
              </a:spcBef>
              <a:buFont typeface="Wingdings" panose="05000000000000000000" pitchFamily="2" charset="2"/>
              <a:buChar char="Ø"/>
            </a:pPr>
            <a:endParaRPr lang="en-US" dirty="0">
              <a:solidFill>
                <a:schemeClr val="tx1"/>
              </a:solidFill>
            </a:endParaRPr>
          </a:p>
          <a:p>
            <a:pPr marL="361950" indent="-361950" algn="just">
              <a:lnSpc>
                <a:spcPct val="100000"/>
              </a:lnSpc>
              <a:spcBef>
                <a:spcPts val="0"/>
              </a:spcBef>
              <a:buFont typeface="Wingdings" panose="05000000000000000000" pitchFamily="2" charset="2"/>
              <a:buChar char="Ø"/>
            </a:pPr>
            <a:r>
              <a:rPr lang="en-US" dirty="0" smtClean="0">
                <a:solidFill>
                  <a:schemeClr val="tx1"/>
                </a:solidFill>
              </a:rPr>
              <a:t>Engineers </a:t>
            </a:r>
            <a:r>
              <a:rPr lang="en-US" dirty="0">
                <a:solidFill>
                  <a:schemeClr val="tx1"/>
                </a:solidFill>
              </a:rPr>
              <a:t>and data analysts, such as SQL or Python.</a:t>
            </a:r>
          </a:p>
          <a:p>
            <a:pPr marL="361950" indent="-361950" algn="just">
              <a:lnSpc>
                <a:spcPct val="100000"/>
              </a:lnSpc>
              <a:buNone/>
            </a:pPr>
            <a:endParaRPr lang="en-US" dirty="0">
              <a:solidFill>
                <a:schemeClr val="tx1"/>
              </a:solidFill>
            </a:endParaRPr>
          </a:p>
        </p:txBody>
      </p:sp>
      <p:sp>
        <p:nvSpPr>
          <p:cNvPr id="5" name="Text Placeholder 2">
            <a:extLst>
              <a:ext uri="{FF2B5EF4-FFF2-40B4-BE49-F238E27FC236}">
                <a16:creationId xmlns:a16="http://schemas.microsoft.com/office/drawing/2014/main" id="{CCCF013F-0A4F-9A0E-5B8E-FFF386C57A16}"/>
              </a:ext>
            </a:extLst>
          </p:cNvPr>
          <p:cNvSpPr txBox="1">
            <a:spLocks/>
          </p:cNvSpPr>
          <p:nvPr/>
        </p:nvSpPr>
        <p:spPr>
          <a:xfrm>
            <a:off x="6096000" y="924933"/>
            <a:ext cx="6064624" cy="4104267"/>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dk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dk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dk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dk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dk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361950" indent="-319088" algn="just">
              <a:lnSpc>
                <a:spcPct val="100000"/>
              </a:lnSpc>
              <a:buNone/>
            </a:pPr>
            <a:r>
              <a:rPr lang="en-US" b="1" u="sng" dirty="0">
                <a:solidFill>
                  <a:schemeClr val="tx1"/>
                </a:solidFill>
              </a:rPr>
              <a:t>Data modeling Tools</a:t>
            </a:r>
          </a:p>
          <a:p>
            <a:pPr marL="361950" indent="-319088" algn="just">
              <a:lnSpc>
                <a:spcPct val="100000"/>
              </a:lnSpc>
              <a:buFont typeface="Wingdings" panose="05000000000000000000" pitchFamily="2" charset="2"/>
              <a:buChar char="Ø"/>
            </a:pPr>
            <a:r>
              <a:rPr lang="en-US" dirty="0" smtClean="0">
                <a:solidFill>
                  <a:schemeClr val="tx1"/>
                </a:solidFill>
              </a:rPr>
              <a:t>Typically </a:t>
            </a:r>
            <a:r>
              <a:rPr lang="en-US" dirty="0">
                <a:solidFill>
                  <a:schemeClr val="tx1"/>
                </a:solidFill>
              </a:rPr>
              <a:t>defined and written in SQL or via point-and-click user </a:t>
            </a:r>
            <a:r>
              <a:rPr lang="en-US" dirty="0" smtClean="0">
                <a:solidFill>
                  <a:schemeClr val="tx1"/>
                </a:solidFill>
              </a:rPr>
              <a:t>interfaces</a:t>
            </a:r>
          </a:p>
          <a:p>
            <a:pPr marL="361950" indent="-319088" algn="just">
              <a:lnSpc>
                <a:spcPct val="100000"/>
              </a:lnSpc>
              <a:buFont typeface="Wingdings" panose="05000000000000000000" pitchFamily="2" charset="2"/>
              <a:buChar char="Ø"/>
            </a:pPr>
            <a:endParaRPr lang="en-US" dirty="0">
              <a:solidFill>
                <a:schemeClr val="tx1"/>
              </a:solidFill>
            </a:endParaRPr>
          </a:p>
          <a:p>
            <a:pPr marL="361950" indent="-319088" algn="just">
              <a:lnSpc>
                <a:spcPct val="100000"/>
              </a:lnSpc>
              <a:buFont typeface="Wingdings" panose="05000000000000000000" pitchFamily="2" charset="2"/>
              <a:buChar char="Ø"/>
            </a:pPr>
            <a:r>
              <a:rPr lang="en-US" dirty="0">
                <a:solidFill>
                  <a:schemeClr val="tx1"/>
                </a:solidFill>
              </a:rPr>
              <a:t>SQL is a highly accessible language that is common to both data engineers and </a:t>
            </a:r>
            <a:r>
              <a:rPr lang="en-US" dirty="0" smtClean="0">
                <a:solidFill>
                  <a:schemeClr val="tx1"/>
                </a:solidFill>
              </a:rPr>
              <a:t>analysts</a:t>
            </a:r>
          </a:p>
          <a:p>
            <a:pPr marL="361950" indent="-319088" algn="just">
              <a:lnSpc>
                <a:spcPct val="100000"/>
              </a:lnSpc>
              <a:buFont typeface="Wingdings" panose="05000000000000000000" pitchFamily="2" charset="2"/>
              <a:buChar char="Ø"/>
            </a:pPr>
            <a:endParaRPr lang="en-US" dirty="0">
              <a:solidFill>
                <a:schemeClr val="tx1"/>
              </a:solidFill>
            </a:endParaRPr>
          </a:p>
          <a:p>
            <a:pPr marL="361950" lvl="1" indent="-319088" algn="just">
              <a:lnSpc>
                <a:spcPct val="100000"/>
              </a:lnSpc>
              <a:buFont typeface="Wingdings" panose="05000000000000000000" pitchFamily="2" charset="2"/>
              <a:buChar char="Ø"/>
            </a:pPr>
            <a:r>
              <a:rPr lang="en-US" sz="1800" dirty="0" smtClean="0">
                <a:solidFill>
                  <a:schemeClr val="tx1"/>
                </a:solidFill>
              </a:rPr>
              <a:t>Empowers </a:t>
            </a:r>
            <a:r>
              <a:rPr lang="en-US" sz="1800" dirty="0">
                <a:solidFill>
                  <a:schemeClr val="tx1"/>
                </a:solidFill>
              </a:rPr>
              <a:t>the analyst to work directly with the data and optimize the design of models for their </a:t>
            </a:r>
            <a:r>
              <a:rPr lang="en-US" sz="1800" dirty="0" smtClean="0">
                <a:solidFill>
                  <a:schemeClr val="tx1"/>
                </a:solidFill>
              </a:rPr>
              <a:t>needs</a:t>
            </a:r>
          </a:p>
          <a:p>
            <a:pPr marL="361950" lvl="1" indent="-319088" algn="just">
              <a:lnSpc>
                <a:spcPct val="100000"/>
              </a:lnSpc>
              <a:buFont typeface="Wingdings" panose="05000000000000000000" pitchFamily="2" charset="2"/>
              <a:buChar char="Ø"/>
            </a:pPr>
            <a:endParaRPr lang="en-US" sz="1800" dirty="0">
              <a:solidFill>
                <a:schemeClr val="tx1"/>
              </a:solidFill>
            </a:endParaRPr>
          </a:p>
          <a:p>
            <a:pPr marL="361950" lvl="1" indent="-319088" algn="just">
              <a:lnSpc>
                <a:spcPct val="100000"/>
              </a:lnSpc>
              <a:buFont typeface="Wingdings" panose="05000000000000000000" pitchFamily="2" charset="2"/>
              <a:buChar char="Ø"/>
            </a:pPr>
            <a:r>
              <a:rPr lang="en-US" sz="1800" dirty="0" smtClean="0">
                <a:solidFill>
                  <a:schemeClr val="tx1"/>
                </a:solidFill>
              </a:rPr>
              <a:t>Used </a:t>
            </a:r>
            <a:r>
              <a:rPr lang="en-US" sz="1800" dirty="0">
                <a:solidFill>
                  <a:schemeClr val="tx1"/>
                </a:solidFill>
              </a:rPr>
              <a:t>in nearly every organization, thus providing a familiar entry point for new hires to a team</a:t>
            </a:r>
          </a:p>
        </p:txBody>
      </p:sp>
      <p:sp>
        <p:nvSpPr>
          <p:cNvPr id="6" name="Text Placeholder 2">
            <a:extLst>
              <a:ext uri="{FF2B5EF4-FFF2-40B4-BE49-F238E27FC236}">
                <a16:creationId xmlns:a16="http://schemas.microsoft.com/office/drawing/2014/main" id="{1347F221-FBBB-C7BC-9509-9DCD11DB87B5}"/>
              </a:ext>
            </a:extLst>
          </p:cNvPr>
          <p:cNvSpPr txBox="1">
            <a:spLocks/>
          </p:cNvSpPr>
          <p:nvPr/>
        </p:nvSpPr>
        <p:spPr>
          <a:xfrm>
            <a:off x="6127376" y="5029201"/>
            <a:ext cx="6064624" cy="182880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dk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dk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dk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dk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dk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just">
              <a:lnSpc>
                <a:spcPct val="100000"/>
              </a:lnSpc>
              <a:spcBef>
                <a:spcPts val="0"/>
              </a:spcBef>
              <a:buNone/>
            </a:pPr>
            <a:r>
              <a:rPr lang="en-US" dirty="0" smtClean="0">
                <a:solidFill>
                  <a:schemeClr val="tx1"/>
                </a:solidFill>
              </a:rPr>
              <a:t/>
            </a:r>
            <a:br>
              <a:rPr lang="en-US" dirty="0" smtClean="0">
                <a:solidFill>
                  <a:schemeClr val="tx1"/>
                </a:solidFill>
              </a:rPr>
            </a:br>
            <a:r>
              <a:rPr lang="en-US" dirty="0" smtClean="0">
                <a:solidFill>
                  <a:schemeClr val="tx1"/>
                </a:solidFill>
              </a:rPr>
              <a:t>In </a:t>
            </a:r>
            <a:r>
              <a:rPr lang="en-US" dirty="0">
                <a:solidFill>
                  <a:schemeClr val="tx1"/>
                </a:solidFill>
              </a:rPr>
              <a:t>most cases, choosing a transformation framework that supports building data models in SQL rather than via a point-and click user interface is desirable!</a:t>
            </a:r>
            <a:endParaRPr lang="en-IN" dirty="0">
              <a:solidFill>
                <a:schemeClr val="tx1"/>
              </a:solidFill>
            </a:endParaRPr>
          </a:p>
        </p:txBody>
      </p:sp>
    </p:spTree>
    <p:extLst>
      <p:ext uri="{BB962C8B-B14F-4D97-AF65-F5344CB8AC3E}">
        <p14:creationId xmlns:p14="http://schemas.microsoft.com/office/powerpoint/2010/main" val="1254309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B7C32-4AC8-B942-CC8A-32D0FD92C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B1118-9F07-C3D7-D45F-3623D844E7B1}"/>
              </a:ext>
            </a:extLst>
          </p:cNvPr>
          <p:cNvSpPr>
            <a:spLocks noGrp="1"/>
          </p:cNvSpPr>
          <p:nvPr>
            <p:ph type="title"/>
          </p:nvPr>
        </p:nvSpPr>
        <p:spPr>
          <a:xfrm>
            <a:off x="152400" y="1709738"/>
            <a:ext cx="12039600" cy="2852737"/>
          </a:xfrm>
        </p:spPr>
        <p:txBody>
          <a:bodyPr anchor="b">
            <a:normAutofit/>
          </a:bodyPr>
          <a:lstStyle/>
          <a:p>
            <a:r>
              <a:rPr lang="en-IN" dirty="0"/>
              <a:t>Workflow Orchestration Platforms</a:t>
            </a:r>
            <a:endParaRPr lang="en-US" dirty="0"/>
          </a:p>
        </p:txBody>
      </p:sp>
    </p:spTree>
    <p:extLst>
      <p:ext uri="{BB962C8B-B14F-4D97-AF65-F5344CB8AC3E}">
        <p14:creationId xmlns:p14="http://schemas.microsoft.com/office/powerpoint/2010/main" val="39981900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F9CD-FE5A-8D27-8BFD-9305A788E1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6B3927-CA8F-6342-8372-FE1FB62205DB}"/>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Problem Statement</a:t>
            </a:r>
          </a:p>
        </p:txBody>
      </p:sp>
      <p:sp>
        <p:nvSpPr>
          <p:cNvPr id="10" name="Rectangle 9">
            <a:extLst>
              <a:ext uri="{FF2B5EF4-FFF2-40B4-BE49-F238E27FC236}">
                <a16:creationId xmlns:a16="http://schemas.microsoft.com/office/drawing/2014/main" id="{758FF3F5-2600-97FE-9858-D27E77FD49D1}"/>
              </a:ext>
            </a:extLst>
          </p:cNvPr>
          <p:cNvSpPr/>
          <p:nvPr/>
        </p:nvSpPr>
        <p:spPr>
          <a:xfrm>
            <a:off x="228600" y="1715201"/>
            <a:ext cx="2133600" cy="76436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Generation/Source</a:t>
            </a:r>
          </a:p>
        </p:txBody>
      </p:sp>
      <p:sp>
        <p:nvSpPr>
          <p:cNvPr id="11" name="Rectangle 10">
            <a:extLst>
              <a:ext uri="{FF2B5EF4-FFF2-40B4-BE49-F238E27FC236}">
                <a16:creationId xmlns:a16="http://schemas.microsoft.com/office/drawing/2014/main" id="{51194D0D-E057-B0A2-CB17-AEF9CEA1CB6C}"/>
              </a:ext>
            </a:extLst>
          </p:cNvPr>
          <p:cNvSpPr/>
          <p:nvPr/>
        </p:nvSpPr>
        <p:spPr>
          <a:xfrm>
            <a:off x="4048500" y="1719683"/>
            <a:ext cx="1464047" cy="76436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Ingestion</a:t>
            </a:r>
          </a:p>
        </p:txBody>
      </p:sp>
      <p:sp>
        <p:nvSpPr>
          <p:cNvPr id="12" name="Rectangle 11">
            <a:extLst>
              <a:ext uri="{FF2B5EF4-FFF2-40B4-BE49-F238E27FC236}">
                <a16:creationId xmlns:a16="http://schemas.microsoft.com/office/drawing/2014/main" id="{99CC4A1E-B3E2-A523-7551-2A0FC6B9C2AE}"/>
              </a:ext>
            </a:extLst>
          </p:cNvPr>
          <p:cNvSpPr/>
          <p:nvPr/>
        </p:nvSpPr>
        <p:spPr>
          <a:xfrm>
            <a:off x="7139829" y="1715201"/>
            <a:ext cx="1804335" cy="7643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Transformation</a:t>
            </a:r>
          </a:p>
        </p:txBody>
      </p:sp>
      <p:sp>
        <p:nvSpPr>
          <p:cNvPr id="13" name="TextBox 12">
            <a:extLst>
              <a:ext uri="{FF2B5EF4-FFF2-40B4-BE49-F238E27FC236}">
                <a16:creationId xmlns:a16="http://schemas.microsoft.com/office/drawing/2014/main" id="{D4FCDE90-1B3C-CEA8-7F96-569C5974A080}"/>
              </a:ext>
            </a:extLst>
          </p:cNvPr>
          <p:cNvSpPr txBox="1"/>
          <p:nvPr/>
        </p:nvSpPr>
        <p:spPr>
          <a:xfrm>
            <a:off x="228600" y="2479565"/>
            <a:ext cx="2133600" cy="646331"/>
          </a:xfrm>
          <a:prstGeom prst="rect">
            <a:avLst/>
          </a:prstGeom>
          <a:noFill/>
        </p:spPr>
        <p:txBody>
          <a:bodyPr wrap="square" rtlCol="0">
            <a:spAutoFit/>
          </a:bodyPr>
          <a:lstStyle/>
          <a:p>
            <a:pPr algn="ctr"/>
            <a:r>
              <a:rPr lang="en-US" dirty="0">
                <a:latin typeface="Helvetica" panose="020B0604020202020204" pitchFamily="34" charset="0"/>
                <a:cs typeface="Helvetica" panose="020B0604020202020204" pitchFamily="34" charset="0"/>
              </a:rPr>
              <a:t>External – so not to worry much</a:t>
            </a:r>
          </a:p>
        </p:txBody>
      </p:sp>
      <p:sp>
        <p:nvSpPr>
          <p:cNvPr id="14" name="TextBox 13">
            <a:extLst>
              <a:ext uri="{FF2B5EF4-FFF2-40B4-BE49-F238E27FC236}">
                <a16:creationId xmlns:a16="http://schemas.microsoft.com/office/drawing/2014/main" id="{38C06F7C-5DDF-3A85-9D9D-2B3B73B41922}"/>
              </a:ext>
            </a:extLst>
          </p:cNvPr>
          <p:cNvSpPr txBox="1"/>
          <p:nvPr/>
        </p:nvSpPr>
        <p:spPr>
          <a:xfrm>
            <a:off x="3713723" y="2479564"/>
            <a:ext cx="2133600" cy="369332"/>
          </a:xfrm>
          <a:prstGeom prst="rect">
            <a:avLst/>
          </a:prstGeom>
          <a:noFill/>
        </p:spPr>
        <p:txBody>
          <a:bodyPr wrap="square" rtlCol="0">
            <a:spAutoFit/>
          </a:bodyPr>
          <a:lstStyle/>
          <a:p>
            <a:pPr algn="ctr"/>
            <a:r>
              <a:rPr lang="en-US" dirty="0">
                <a:latin typeface="Helvetica" panose="020B0604020202020204" pitchFamily="34" charset="0"/>
                <a:cs typeface="Helvetica" panose="020B0604020202020204" pitchFamily="34" charset="0"/>
              </a:rPr>
              <a:t>Python Code</a:t>
            </a:r>
          </a:p>
        </p:txBody>
      </p:sp>
      <p:sp>
        <p:nvSpPr>
          <p:cNvPr id="15" name="TextBox 14">
            <a:extLst>
              <a:ext uri="{FF2B5EF4-FFF2-40B4-BE49-F238E27FC236}">
                <a16:creationId xmlns:a16="http://schemas.microsoft.com/office/drawing/2014/main" id="{CFB20A8D-619F-9DF4-A435-D146AE71D3B5}"/>
              </a:ext>
            </a:extLst>
          </p:cNvPr>
          <p:cNvSpPr txBox="1"/>
          <p:nvPr/>
        </p:nvSpPr>
        <p:spPr>
          <a:xfrm>
            <a:off x="6975196" y="2479564"/>
            <a:ext cx="2133600" cy="369332"/>
          </a:xfrm>
          <a:prstGeom prst="rect">
            <a:avLst/>
          </a:prstGeom>
          <a:noFill/>
        </p:spPr>
        <p:txBody>
          <a:bodyPr wrap="square" rtlCol="0">
            <a:spAutoFit/>
          </a:bodyPr>
          <a:lstStyle/>
          <a:p>
            <a:pPr algn="ctr"/>
            <a:r>
              <a:rPr lang="en-US" dirty="0">
                <a:latin typeface="Helvetica" panose="020B0604020202020204" pitchFamily="34" charset="0"/>
                <a:cs typeface="Helvetica" panose="020B0604020202020204" pitchFamily="34" charset="0"/>
              </a:rPr>
              <a:t>SQL procedures</a:t>
            </a:r>
          </a:p>
        </p:txBody>
      </p:sp>
      <p:sp>
        <p:nvSpPr>
          <p:cNvPr id="16" name="Speech Bubble: Rectangle with Corners Rounded 15">
            <a:extLst>
              <a:ext uri="{FF2B5EF4-FFF2-40B4-BE49-F238E27FC236}">
                <a16:creationId xmlns:a16="http://schemas.microsoft.com/office/drawing/2014/main" id="{2AC5C8AF-3A4A-83D8-0F71-9D7A40038291}"/>
              </a:ext>
            </a:extLst>
          </p:cNvPr>
          <p:cNvSpPr/>
          <p:nvPr/>
        </p:nvSpPr>
        <p:spPr>
          <a:xfrm>
            <a:off x="9646865" y="914400"/>
            <a:ext cx="2199435" cy="1012403"/>
          </a:xfrm>
          <a:prstGeom prst="wedgeRoundRectCallout">
            <a:avLst>
              <a:gd name="adj1" fmla="val -101109"/>
              <a:gd name="adj2" fmla="val 2437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Sounds Simple?</a:t>
            </a:r>
          </a:p>
        </p:txBody>
      </p:sp>
      <p:cxnSp>
        <p:nvCxnSpPr>
          <p:cNvPr id="18" name="Straight Arrow Connector 17">
            <a:extLst>
              <a:ext uri="{FF2B5EF4-FFF2-40B4-BE49-F238E27FC236}">
                <a16:creationId xmlns:a16="http://schemas.microsoft.com/office/drawing/2014/main" id="{9301AF28-C608-633E-430E-077CE7E5F8BC}"/>
              </a:ext>
            </a:extLst>
          </p:cNvPr>
          <p:cNvCxnSpPr>
            <a:stCxn id="10" idx="3"/>
            <a:endCxn id="11" idx="1"/>
          </p:cNvCxnSpPr>
          <p:nvPr/>
        </p:nvCxnSpPr>
        <p:spPr>
          <a:xfrm>
            <a:off x="2362200" y="2097383"/>
            <a:ext cx="1686300" cy="4482"/>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4025E4BD-A3E4-9441-029A-96EFF755399D}"/>
              </a:ext>
            </a:extLst>
          </p:cNvPr>
          <p:cNvCxnSpPr>
            <a:stCxn id="11" idx="3"/>
            <a:endCxn id="12" idx="1"/>
          </p:cNvCxnSpPr>
          <p:nvPr/>
        </p:nvCxnSpPr>
        <p:spPr>
          <a:xfrm flipV="1">
            <a:off x="5512547" y="2097383"/>
            <a:ext cx="1627282" cy="4482"/>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 name="Rectangle 20">
            <a:extLst>
              <a:ext uri="{FF2B5EF4-FFF2-40B4-BE49-F238E27FC236}">
                <a16:creationId xmlns:a16="http://schemas.microsoft.com/office/drawing/2014/main" id="{0376E22B-096C-548C-2A9E-42C203D652D6}"/>
              </a:ext>
            </a:extLst>
          </p:cNvPr>
          <p:cNvSpPr/>
          <p:nvPr/>
        </p:nvSpPr>
        <p:spPr>
          <a:xfrm>
            <a:off x="246529" y="3321065"/>
            <a:ext cx="2133600" cy="76436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Source-2</a:t>
            </a:r>
          </a:p>
        </p:txBody>
      </p:sp>
      <p:sp>
        <p:nvSpPr>
          <p:cNvPr id="22" name="Rectangle 21">
            <a:extLst>
              <a:ext uri="{FF2B5EF4-FFF2-40B4-BE49-F238E27FC236}">
                <a16:creationId xmlns:a16="http://schemas.microsoft.com/office/drawing/2014/main" id="{2CCDB696-567B-BD4F-3E6F-7FC463FCE362}"/>
              </a:ext>
            </a:extLst>
          </p:cNvPr>
          <p:cNvSpPr/>
          <p:nvPr/>
        </p:nvSpPr>
        <p:spPr>
          <a:xfrm>
            <a:off x="4066429" y="3325547"/>
            <a:ext cx="1464047" cy="76436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Ingestion-2</a:t>
            </a:r>
          </a:p>
        </p:txBody>
      </p:sp>
      <p:sp>
        <p:nvSpPr>
          <p:cNvPr id="23" name="Rectangle 22">
            <a:extLst>
              <a:ext uri="{FF2B5EF4-FFF2-40B4-BE49-F238E27FC236}">
                <a16:creationId xmlns:a16="http://schemas.microsoft.com/office/drawing/2014/main" id="{18A5B900-79BE-194E-F892-D15A6C1C29C1}"/>
              </a:ext>
            </a:extLst>
          </p:cNvPr>
          <p:cNvSpPr/>
          <p:nvPr/>
        </p:nvSpPr>
        <p:spPr>
          <a:xfrm>
            <a:off x="6993126" y="3321065"/>
            <a:ext cx="1968968" cy="7643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Transformation-2</a:t>
            </a:r>
          </a:p>
        </p:txBody>
      </p:sp>
      <p:sp>
        <p:nvSpPr>
          <p:cNvPr id="27" name="Rectangle 26">
            <a:extLst>
              <a:ext uri="{FF2B5EF4-FFF2-40B4-BE49-F238E27FC236}">
                <a16:creationId xmlns:a16="http://schemas.microsoft.com/office/drawing/2014/main" id="{EE613B2C-73A1-A3FF-C468-097677664F6D}"/>
              </a:ext>
            </a:extLst>
          </p:cNvPr>
          <p:cNvSpPr/>
          <p:nvPr/>
        </p:nvSpPr>
        <p:spPr>
          <a:xfrm>
            <a:off x="219635" y="5304629"/>
            <a:ext cx="2133600" cy="76436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Source-n</a:t>
            </a:r>
          </a:p>
        </p:txBody>
      </p:sp>
      <p:sp>
        <p:nvSpPr>
          <p:cNvPr id="28" name="Rectangle 27">
            <a:extLst>
              <a:ext uri="{FF2B5EF4-FFF2-40B4-BE49-F238E27FC236}">
                <a16:creationId xmlns:a16="http://schemas.microsoft.com/office/drawing/2014/main" id="{C05F5818-7034-03C1-C307-E36C0133B91E}"/>
              </a:ext>
            </a:extLst>
          </p:cNvPr>
          <p:cNvSpPr/>
          <p:nvPr/>
        </p:nvSpPr>
        <p:spPr>
          <a:xfrm>
            <a:off x="4039535" y="5309111"/>
            <a:ext cx="1464047" cy="76436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Ingestion-n</a:t>
            </a:r>
          </a:p>
        </p:txBody>
      </p:sp>
      <p:sp>
        <p:nvSpPr>
          <p:cNvPr id="29" name="Rectangle 28">
            <a:extLst>
              <a:ext uri="{FF2B5EF4-FFF2-40B4-BE49-F238E27FC236}">
                <a16:creationId xmlns:a16="http://schemas.microsoft.com/office/drawing/2014/main" id="{50F1A60D-7643-79D5-8514-91D36111D350}"/>
              </a:ext>
            </a:extLst>
          </p:cNvPr>
          <p:cNvSpPr/>
          <p:nvPr/>
        </p:nvSpPr>
        <p:spPr>
          <a:xfrm>
            <a:off x="6966232" y="5304629"/>
            <a:ext cx="1968968" cy="7643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Transformation-n</a:t>
            </a:r>
          </a:p>
        </p:txBody>
      </p:sp>
      <p:cxnSp>
        <p:nvCxnSpPr>
          <p:cNvPr id="30" name="Straight Arrow Connector 29">
            <a:extLst>
              <a:ext uri="{FF2B5EF4-FFF2-40B4-BE49-F238E27FC236}">
                <a16:creationId xmlns:a16="http://schemas.microsoft.com/office/drawing/2014/main" id="{2D5360E5-1C48-567F-82BB-E6EDE6B6F9CE}"/>
              </a:ext>
            </a:extLst>
          </p:cNvPr>
          <p:cNvCxnSpPr>
            <a:cxnSpLocks/>
            <a:stCxn id="21" idx="3"/>
            <a:endCxn id="22" idx="1"/>
          </p:cNvCxnSpPr>
          <p:nvPr/>
        </p:nvCxnSpPr>
        <p:spPr>
          <a:xfrm>
            <a:off x="2380129" y="3703247"/>
            <a:ext cx="1686300" cy="4482"/>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Straight Arrow Connector 32">
            <a:extLst>
              <a:ext uri="{FF2B5EF4-FFF2-40B4-BE49-F238E27FC236}">
                <a16:creationId xmlns:a16="http://schemas.microsoft.com/office/drawing/2014/main" id="{A4059BBF-1927-69D2-C56D-1F96487866FF}"/>
              </a:ext>
            </a:extLst>
          </p:cNvPr>
          <p:cNvCxnSpPr>
            <a:cxnSpLocks/>
            <a:stCxn id="22" idx="3"/>
            <a:endCxn id="23" idx="1"/>
          </p:cNvCxnSpPr>
          <p:nvPr/>
        </p:nvCxnSpPr>
        <p:spPr>
          <a:xfrm flipV="1">
            <a:off x="5530476" y="3703247"/>
            <a:ext cx="1462650" cy="4482"/>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Straight Arrow Connector 35">
            <a:extLst>
              <a:ext uri="{FF2B5EF4-FFF2-40B4-BE49-F238E27FC236}">
                <a16:creationId xmlns:a16="http://schemas.microsoft.com/office/drawing/2014/main" id="{0E7A6DC1-09C0-8B8E-CF7F-6543CA4BCE9A}"/>
              </a:ext>
            </a:extLst>
          </p:cNvPr>
          <p:cNvCxnSpPr>
            <a:cxnSpLocks/>
            <a:stCxn id="27" idx="3"/>
          </p:cNvCxnSpPr>
          <p:nvPr/>
        </p:nvCxnSpPr>
        <p:spPr>
          <a:xfrm flipV="1">
            <a:off x="2353235" y="3804415"/>
            <a:ext cx="1686300" cy="1882396"/>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Straight Arrow Connector 38">
            <a:extLst>
              <a:ext uri="{FF2B5EF4-FFF2-40B4-BE49-F238E27FC236}">
                <a16:creationId xmlns:a16="http://schemas.microsoft.com/office/drawing/2014/main" id="{8FA31EE6-3FD8-4968-7B7D-380F3245288C}"/>
              </a:ext>
            </a:extLst>
          </p:cNvPr>
          <p:cNvCxnSpPr>
            <a:cxnSpLocks/>
            <a:stCxn id="27" idx="3"/>
            <a:endCxn id="28" idx="1"/>
          </p:cNvCxnSpPr>
          <p:nvPr/>
        </p:nvCxnSpPr>
        <p:spPr>
          <a:xfrm>
            <a:off x="2353235" y="5686811"/>
            <a:ext cx="1686300" cy="4482"/>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2" name="Straight Arrow Connector 41">
            <a:extLst>
              <a:ext uri="{FF2B5EF4-FFF2-40B4-BE49-F238E27FC236}">
                <a16:creationId xmlns:a16="http://schemas.microsoft.com/office/drawing/2014/main" id="{446CB54C-2B62-1EB6-051D-C013BE468D3A}"/>
              </a:ext>
            </a:extLst>
          </p:cNvPr>
          <p:cNvCxnSpPr>
            <a:cxnSpLocks/>
            <a:endCxn id="23" idx="1"/>
          </p:cNvCxnSpPr>
          <p:nvPr/>
        </p:nvCxnSpPr>
        <p:spPr>
          <a:xfrm flipV="1">
            <a:off x="5530476" y="3703247"/>
            <a:ext cx="1462650" cy="2080250"/>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5" name="Straight Arrow Connector 44">
            <a:extLst>
              <a:ext uri="{FF2B5EF4-FFF2-40B4-BE49-F238E27FC236}">
                <a16:creationId xmlns:a16="http://schemas.microsoft.com/office/drawing/2014/main" id="{232E1A43-AECB-D0BC-A97E-09D06C5CEE55}"/>
              </a:ext>
            </a:extLst>
          </p:cNvPr>
          <p:cNvCxnSpPr>
            <a:cxnSpLocks/>
            <a:stCxn id="22" idx="3"/>
            <a:endCxn id="12" idx="1"/>
          </p:cNvCxnSpPr>
          <p:nvPr/>
        </p:nvCxnSpPr>
        <p:spPr>
          <a:xfrm flipV="1">
            <a:off x="5530476" y="2097383"/>
            <a:ext cx="1609353" cy="1610346"/>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8" name="Straight Arrow Connector 47">
            <a:extLst>
              <a:ext uri="{FF2B5EF4-FFF2-40B4-BE49-F238E27FC236}">
                <a16:creationId xmlns:a16="http://schemas.microsoft.com/office/drawing/2014/main" id="{EC911392-9EA8-E75E-93D8-A2E5898E2BCD}"/>
              </a:ext>
            </a:extLst>
          </p:cNvPr>
          <p:cNvCxnSpPr>
            <a:cxnSpLocks/>
            <a:endCxn id="29" idx="1"/>
          </p:cNvCxnSpPr>
          <p:nvPr/>
        </p:nvCxnSpPr>
        <p:spPr>
          <a:xfrm flipV="1">
            <a:off x="5557370" y="5686811"/>
            <a:ext cx="1408862" cy="186609"/>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1" name="Straight Arrow Connector 50">
            <a:extLst>
              <a:ext uri="{FF2B5EF4-FFF2-40B4-BE49-F238E27FC236}">
                <a16:creationId xmlns:a16="http://schemas.microsoft.com/office/drawing/2014/main" id="{995B527B-3A94-FA90-BC77-80F5308B5AC4}"/>
              </a:ext>
            </a:extLst>
          </p:cNvPr>
          <p:cNvCxnSpPr>
            <a:cxnSpLocks/>
            <a:stCxn id="11" idx="3"/>
            <a:endCxn id="29" idx="1"/>
          </p:cNvCxnSpPr>
          <p:nvPr/>
        </p:nvCxnSpPr>
        <p:spPr>
          <a:xfrm>
            <a:off x="5512547" y="2101865"/>
            <a:ext cx="1453685" cy="3584946"/>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4" name="Speech Bubble: Rectangle with Corners Rounded 53">
            <a:extLst>
              <a:ext uri="{FF2B5EF4-FFF2-40B4-BE49-F238E27FC236}">
                <a16:creationId xmlns:a16="http://schemas.microsoft.com/office/drawing/2014/main" id="{41D4BD98-B712-C719-F9FF-8CF36E056DB0}"/>
              </a:ext>
            </a:extLst>
          </p:cNvPr>
          <p:cNvSpPr/>
          <p:nvPr/>
        </p:nvSpPr>
        <p:spPr>
          <a:xfrm>
            <a:off x="9940318" y="2802730"/>
            <a:ext cx="2199435" cy="1012403"/>
          </a:xfrm>
          <a:prstGeom prst="wedgeRoundRectCallout">
            <a:avLst>
              <a:gd name="adj1" fmla="val -81545"/>
              <a:gd name="adj2" fmla="val 72187"/>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How is this complexity?</a:t>
            </a:r>
          </a:p>
        </p:txBody>
      </p:sp>
      <p:cxnSp>
        <p:nvCxnSpPr>
          <p:cNvPr id="57" name="Straight Connector 56">
            <a:extLst>
              <a:ext uri="{FF2B5EF4-FFF2-40B4-BE49-F238E27FC236}">
                <a16:creationId xmlns:a16="http://schemas.microsoft.com/office/drawing/2014/main" id="{D4A60641-0CF5-22E4-131F-E5D74C82E170}"/>
              </a:ext>
            </a:extLst>
          </p:cNvPr>
          <p:cNvCxnSpPr>
            <a:cxnSpLocks/>
          </p:cNvCxnSpPr>
          <p:nvPr/>
        </p:nvCxnSpPr>
        <p:spPr>
          <a:xfrm flipH="1">
            <a:off x="1286435" y="4280598"/>
            <a:ext cx="26894" cy="646331"/>
          </a:xfrm>
          <a:prstGeom prst="line">
            <a:avLst/>
          </a:prstGeom>
          <a:ln w="19050"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4B8784EC-4844-90BF-90F5-C7AAD3600164}"/>
              </a:ext>
            </a:extLst>
          </p:cNvPr>
          <p:cNvCxnSpPr>
            <a:cxnSpLocks/>
          </p:cNvCxnSpPr>
          <p:nvPr/>
        </p:nvCxnSpPr>
        <p:spPr>
          <a:xfrm flipH="1">
            <a:off x="4785005" y="4353592"/>
            <a:ext cx="26894" cy="646331"/>
          </a:xfrm>
          <a:prstGeom prst="line">
            <a:avLst/>
          </a:prstGeom>
          <a:ln w="19050"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2" name="Straight Connector 61">
            <a:extLst>
              <a:ext uri="{FF2B5EF4-FFF2-40B4-BE49-F238E27FC236}">
                <a16:creationId xmlns:a16="http://schemas.microsoft.com/office/drawing/2014/main" id="{CDA5B9E5-FE60-A13C-2749-A299D474CAE3}"/>
              </a:ext>
            </a:extLst>
          </p:cNvPr>
          <p:cNvCxnSpPr>
            <a:cxnSpLocks/>
          </p:cNvCxnSpPr>
          <p:nvPr/>
        </p:nvCxnSpPr>
        <p:spPr>
          <a:xfrm flipH="1">
            <a:off x="7708243" y="4359737"/>
            <a:ext cx="26894" cy="646331"/>
          </a:xfrm>
          <a:prstGeom prst="line">
            <a:avLst/>
          </a:prstGeom>
          <a:ln w="19050"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3" name="Speech Bubble: Rectangle with Corners Rounded 62">
            <a:extLst>
              <a:ext uri="{FF2B5EF4-FFF2-40B4-BE49-F238E27FC236}">
                <a16:creationId xmlns:a16="http://schemas.microsoft.com/office/drawing/2014/main" id="{4599F18A-0A7A-4C49-718E-3FE27C2CE3BA}"/>
              </a:ext>
            </a:extLst>
          </p:cNvPr>
          <p:cNvSpPr/>
          <p:nvPr/>
        </p:nvSpPr>
        <p:spPr>
          <a:xfrm>
            <a:off x="9838765" y="4995860"/>
            <a:ext cx="2199435" cy="1012403"/>
          </a:xfrm>
          <a:prstGeom prst="wedgeRoundRectCallout">
            <a:avLst>
              <a:gd name="adj1" fmla="val -74208"/>
              <a:gd name="adj2" fmla="val -21675"/>
              <a:gd name="adj3" fmla="val 16667"/>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Helvetica" panose="020B0604020202020204" pitchFamily="34" charset="0"/>
                <a:cs typeface="Helvetica" panose="020B0604020202020204" pitchFamily="34" charset="0"/>
              </a:rPr>
              <a:t>What if this has to run multiple times?</a:t>
            </a:r>
          </a:p>
        </p:txBody>
      </p:sp>
      <p:sp>
        <p:nvSpPr>
          <p:cNvPr id="64" name="Rectangle 63">
            <a:extLst>
              <a:ext uri="{FF2B5EF4-FFF2-40B4-BE49-F238E27FC236}">
                <a16:creationId xmlns:a16="http://schemas.microsoft.com/office/drawing/2014/main" id="{22CAC994-C768-49F7-C852-B5DD2DB9C419}"/>
              </a:ext>
            </a:extLst>
          </p:cNvPr>
          <p:cNvSpPr/>
          <p:nvPr/>
        </p:nvSpPr>
        <p:spPr>
          <a:xfrm>
            <a:off x="3196385" y="6236059"/>
            <a:ext cx="5562600" cy="53712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Helvetica" panose="020B0604020202020204" pitchFamily="34" charset="0"/>
                <a:cs typeface="Helvetica" panose="020B0604020202020204" pitchFamily="34" charset="0"/>
              </a:rPr>
              <a:t>How long you can mange this with </a:t>
            </a:r>
            <a:r>
              <a:rPr lang="en-US" dirty="0" smtClean="0">
                <a:latin typeface="Helvetica" panose="020B0604020202020204" pitchFamily="34" charset="0"/>
                <a:cs typeface="Helvetica" panose="020B0604020202020204" pitchFamily="34" charset="0"/>
              </a:rPr>
              <a:t>Python </a:t>
            </a:r>
            <a:r>
              <a:rPr lang="en-US" dirty="0">
                <a:latin typeface="Helvetica" panose="020B0604020202020204" pitchFamily="34" charset="0"/>
                <a:cs typeface="Helvetica" panose="020B0604020202020204" pitchFamily="34" charset="0"/>
              </a:rPr>
              <a:t>&amp; SQL?</a:t>
            </a:r>
          </a:p>
        </p:txBody>
      </p:sp>
    </p:spTree>
    <p:extLst>
      <p:ext uri="{BB962C8B-B14F-4D97-AF65-F5344CB8AC3E}">
        <p14:creationId xmlns:p14="http://schemas.microsoft.com/office/powerpoint/2010/main" val="25654015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973E2-F957-9A48-19CF-A046578422CB}"/>
              </a:ext>
            </a:extLst>
          </p:cNvPr>
          <p:cNvSpPr>
            <a:spLocks noGrp="1"/>
          </p:cNvSpPr>
          <p:nvPr>
            <p:ph type="title"/>
          </p:nvPr>
        </p:nvSpPr>
        <p:spPr/>
        <p:txBody>
          <a:bodyPr/>
          <a:lstStyle/>
          <a:p>
            <a:r>
              <a:rPr lang="en-US" dirty="0"/>
              <a:t>Solution</a:t>
            </a:r>
          </a:p>
        </p:txBody>
      </p:sp>
      <p:sp>
        <p:nvSpPr>
          <p:cNvPr id="3" name="Text Placeholder 2">
            <a:extLst>
              <a:ext uri="{FF2B5EF4-FFF2-40B4-BE49-F238E27FC236}">
                <a16:creationId xmlns:a16="http://schemas.microsoft.com/office/drawing/2014/main" id="{D7834545-0492-F3DA-B44C-536A01738630}"/>
              </a:ext>
            </a:extLst>
          </p:cNvPr>
          <p:cNvSpPr>
            <a:spLocks noGrp="1"/>
          </p:cNvSpPr>
          <p:nvPr>
            <p:ph type="body" sz="quarter" idx="13"/>
          </p:nvPr>
        </p:nvSpPr>
        <p:spPr>
          <a:xfrm>
            <a:off x="228600" y="1066800"/>
            <a:ext cx="11811000" cy="5410200"/>
          </a:xfrm>
        </p:spPr>
        <p:txBody>
          <a:bodyPr>
            <a:normAutofit/>
          </a:bodyPr>
          <a:lstStyle/>
          <a:p>
            <a:pPr marL="361950" indent="-361950" algn="just">
              <a:lnSpc>
                <a:spcPct val="100000"/>
              </a:lnSpc>
              <a:spcBef>
                <a:spcPts val="0"/>
              </a:spcBef>
              <a:buNone/>
            </a:pPr>
            <a:r>
              <a:rPr lang="en-US" dirty="0"/>
              <a:t>As the complexity and number of data pipelines in an organization </a:t>
            </a:r>
            <a:r>
              <a:rPr lang="en-US" dirty="0" smtClean="0"/>
              <a:t>grows</a:t>
            </a:r>
          </a:p>
          <a:p>
            <a:pPr marL="361950" indent="-361950" algn="just">
              <a:lnSpc>
                <a:spcPct val="100000"/>
              </a:lnSpc>
              <a:spcBef>
                <a:spcPts val="0"/>
              </a:spcBef>
              <a:buNone/>
            </a:pPr>
            <a:endParaRPr lang="en-US" dirty="0"/>
          </a:p>
          <a:p>
            <a:pPr marL="361950" indent="-361950" algn="just">
              <a:lnSpc>
                <a:spcPct val="100000"/>
              </a:lnSpc>
              <a:spcBef>
                <a:spcPts val="0"/>
              </a:spcBef>
              <a:buFont typeface="Wingdings" panose="05000000000000000000" pitchFamily="2" charset="2"/>
              <a:buChar char="Ø"/>
            </a:pPr>
            <a:r>
              <a:rPr lang="en-US" dirty="0" smtClean="0"/>
              <a:t>It’s </a:t>
            </a:r>
            <a:r>
              <a:rPr lang="en-US" dirty="0"/>
              <a:t>important to introduce a workflow orchestration platform to data </a:t>
            </a:r>
            <a:r>
              <a:rPr lang="en-US" dirty="0" smtClean="0"/>
              <a:t>infrastructure</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Manages </a:t>
            </a:r>
            <a:r>
              <a:rPr lang="en-US" dirty="0"/>
              <a:t>the scheduling and flow of tasks in a </a:t>
            </a:r>
            <a:r>
              <a:rPr lang="en-US" dirty="0" smtClean="0"/>
              <a:t>pipeline</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None/>
            </a:pPr>
            <a:endParaRPr lang="en-US" dirty="0"/>
          </a:p>
          <a:p>
            <a:pPr marL="361950" indent="-361950" algn="just">
              <a:lnSpc>
                <a:spcPct val="100000"/>
              </a:lnSpc>
              <a:spcBef>
                <a:spcPts val="0"/>
              </a:spcBef>
              <a:buNone/>
            </a:pPr>
            <a:r>
              <a:rPr lang="en-US" dirty="0" err="1"/>
              <a:t>Eg</a:t>
            </a:r>
            <a:r>
              <a:rPr lang="en-US" dirty="0" smtClean="0"/>
              <a:t>:</a:t>
            </a:r>
          </a:p>
          <a:p>
            <a:pPr marL="361950" indent="-361950" algn="just">
              <a:lnSpc>
                <a:spcPct val="100000"/>
              </a:lnSpc>
              <a:spcBef>
                <a:spcPts val="0"/>
              </a:spcBef>
              <a:buNone/>
            </a:pPr>
            <a:endParaRPr lang="en-US" dirty="0"/>
          </a:p>
          <a:p>
            <a:pPr marL="361950" indent="-361950" algn="just">
              <a:lnSpc>
                <a:spcPct val="100000"/>
              </a:lnSpc>
              <a:spcBef>
                <a:spcPts val="0"/>
              </a:spcBef>
              <a:buFont typeface="Wingdings" panose="05000000000000000000" pitchFamily="2" charset="2"/>
              <a:buChar char="Ø"/>
            </a:pPr>
            <a:r>
              <a:rPr lang="en-US" dirty="0"/>
              <a:t>Apache Airflow, Luigi, and AWS Glue, are designed for more general use cases and are thus used for a wide variety of data </a:t>
            </a:r>
            <a:r>
              <a:rPr lang="en-US" dirty="0" smtClean="0"/>
              <a:t>pipelines</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Kubeflow Pipelines, are designed for more specific use cases and platforms (machine learning workflows built on Docker containers in the case of Kubeflow Pipelines</a:t>
            </a:r>
            <a:endParaRPr lang="en-IN" dirty="0"/>
          </a:p>
          <a:p>
            <a:pPr marL="361950" indent="-361950" algn="just">
              <a:lnSpc>
                <a:spcPct val="100000"/>
              </a:lnSpc>
              <a:spcBef>
                <a:spcPts val="0"/>
              </a:spcBef>
              <a:buNone/>
            </a:pPr>
            <a:endParaRPr lang="en-US" dirty="0"/>
          </a:p>
          <a:p>
            <a:pPr marL="361950" indent="-361950" algn="just">
              <a:lnSpc>
                <a:spcPct val="100000"/>
              </a:lnSpc>
              <a:spcBef>
                <a:spcPts val="0"/>
              </a:spcBef>
            </a:pPr>
            <a:endParaRPr lang="en-US" dirty="0"/>
          </a:p>
        </p:txBody>
      </p:sp>
    </p:spTree>
    <p:extLst>
      <p:ext uri="{BB962C8B-B14F-4D97-AF65-F5344CB8AC3E}">
        <p14:creationId xmlns:p14="http://schemas.microsoft.com/office/powerpoint/2010/main" val="22362202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EAFD6-DB71-61E3-71B6-BF44D0BA96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98BD9-8DDE-EAAF-73C1-EF0DBF27CC49}"/>
              </a:ext>
            </a:extLst>
          </p:cNvPr>
          <p:cNvSpPr>
            <a:spLocks noGrp="1"/>
          </p:cNvSpPr>
          <p:nvPr>
            <p:ph type="title"/>
          </p:nvPr>
        </p:nvSpPr>
        <p:spPr>
          <a:xfrm>
            <a:off x="831850" y="1709738"/>
            <a:ext cx="10515600" cy="2852737"/>
          </a:xfrm>
        </p:spPr>
        <p:txBody>
          <a:bodyPr anchor="b">
            <a:normAutofit/>
          </a:bodyPr>
          <a:lstStyle/>
          <a:p>
            <a:r>
              <a:rPr lang="en-US" dirty="0"/>
              <a:t>Data Storage Infrastructure</a:t>
            </a:r>
          </a:p>
        </p:txBody>
      </p:sp>
    </p:spTree>
    <p:extLst>
      <p:ext uri="{BB962C8B-B14F-4D97-AF65-F5344CB8AC3E}">
        <p14:creationId xmlns:p14="http://schemas.microsoft.com/office/powerpoint/2010/main" val="3516335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02F9C-41E9-A469-DD9B-078EFA0F6598}"/>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B19F0639-48E5-FA72-34F1-1715DC5C4AEF}"/>
              </a:ext>
            </a:extLst>
          </p:cNvPr>
          <p:cNvSpPr/>
          <p:nvPr/>
        </p:nvSpPr>
        <p:spPr>
          <a:xfrm>
            <a:off x="2943880" y="3412711"/>
            <a:ext cx="5110440" cy="1960283"/>
          </a:xfrm>
          <a:prstGeom prst="rect">
            <a:avLst/>
          </a:prstGeom>
          <a:solidFill>
            <a:schemeClr val="accent1">
              <a:alpha val="0"/>
            </a:schemeClr>
          </a:solid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73DCC1-7DAC-0891-2AB9-7F2025C536DA}"/>
              </a:ext>
            </a:extLst>
          </p:cNvPr>
          <p:cNvSpPr>
            <a:spLocks noGrp="1"/>
          </p:cNvSpPr>
          <p:nvPr>
            <p:ph type="title"/>
          </p:nvPr>
        </p:nvSpPr>
        <p:spPr/>
        <p:txBody>
          <a:bodyPr/>
          <a:lstStyle/>
          <a:p>
            <a:r>
              <a:rPr lang="en-US" dirty="0"/>
              <a:t>Introduction</a:t>
            </a:r>
          </a:p>
        </p:txBody>
      </p:sp>
      <p:sp>
        <p:nvSpPr>
          <p:cNvPr id="20" name="TextBox 19">
            <a:extLst>
              <a:ext uri="{FF2B5EF4-FFF2-40B4-BE49-F238E27FC236}">
                <a16:creationId xmlns:a16="http://schemas.microsoft.com/office/drawing/2014/main" id="{80F0FE2F-6BB6-9C2E-8544-580BCF18DC37}"/>
              </a:ext>
            </a:extLst>
          </p:cNvPr>
          <p:cNvSpPr txBox="1"/>
          <p:nvPr/>
        </p:nvSpPr>
        <p:spPr>
          <a:xfrm>
            <a:off x="148105" y="1143000"/>
            <a:ext cx="8081495" cy="1338828"/>
          </a:xfrm>
          <a:prstGeom prst="rect">
            <a:avLst/>
          </a:prstGeom>
          <a:noFill/>
        </p:spPr>
        <p:txBody>
          <a:bodyPr wrap="square" rtlCol="0">
            <a:spAutoFit/>
          </a:bodyPr>
          <a:lstStyle/>
          <a:p>
            <a:pPr marL="361950" indent="-361950" algn="just">
              <a:lnSpc>
                <a:spcPct val="150000"/>
              </a:lnSpc>
              <a:buFont typeface="Wingdings" panose="05000000000000000000" pitchFamily="2" charset="2"/>
              <a:buChar char="Ø"/>
            </a:pPr>
            <a:r>
              <a:rPr lang="en-IN" dirty="0">
                <a:latin typeface="Helvetica" panose="020B0604020202020204" pitchFamily="34" charset="0"/>
                <a:cs typeface="Helvetica" panose="020B0604020202020204" pitchFamily="34" charset="0"/>
              </a:rPr>
              <a:t>Cornerstone in the data engineering life cycle</a:t>
            </a:r>
          </a:p>
          <a:p>
            <a:pPr marL="361950" indent="-361950" algn="just">
              <a:lnSpc>
                <a:spcPct val="150000"/>
              </a:lnSpc>
              <a:buFont typeface="Wingdings" panose="05000000000000000000" pitchFamily="2" charset="2"/>
              <a:buChar char="Ø"/>
            </a:pPr>
            <a:r>
              <a:rPr lang="en-IN" dirty="0">
                <a:latin typeface="Helvetica" panose="020B0604020202020204" pitchFamily="34" charset="0"/>
                <a:cs typeface="Helvetica" panose="020B0604020202020204" pitchFamily="34" charset="0"/>
              </a:rPr>
              <a:t>Underlies major stages – </a:t>
            </a:r>
            <a:r>
              <a:rPr lang="en-IN" dirty="0" smtClean="0">
                <a:latin typeface="Helvetica" panose="020B0604020202020204" pitchFamily="34" charset="0"/>
                <a:cs typeface="Helvetica" panose="020B0604020202020204" pitchFamily="34" charset="0"/>
              </a:rPr>
              <a:t>Ingestion</a:t>
            </a:r>
            <a:r>
              <a:rPr lang="en-IN" dirty="0">
                <a:latin typeface="Helvetica" panose="020B0604020202020204" pitchFamily="34" charset="0"/>
                <a:cs typeface="Helvetica" panose="020B0604020202020204" pitchFamily="34" charset="0"/>
              </a:rPr>
              <a:t>, </a:t>
            </a:r>
            <a:r>
              <a:rPr lang="en-IN" dirty="0" smtClean="0">
                <a:latin typeface="Helvetica" panose="020B0604020202020204" pitchFamily="34" charset="0"/>
                <a:cs typeface="Helvetica" panose="020B0604020202020204" pitchFamily="34" charset="0"/>
              </a:rPr>
              <a:t>Transformation </a:t>
            </a:r>
            <a:r>
              <a:rPr lang="en-IN" dirty="0">
                <a:latin typeface="Helvetica" panose="020B0604020202020204" pitchFamily="34" charset="0"/>
                <a:cs typeface="Helvetica" panose="020B0604020202020204" pitchFamily="34" charset="0"/>
              </a:rPr>
              <a:t>and </a:t>
            </a:r>
            <a:r>
              <a:rPr lang="en-IN" dirty="0" smtClean="0">
                <a:latin typeface="Helvetica" panose="020B0604020202020204" pitchFamily="34" charset="0"/>
                <a:cs typeface="Helvetica" panose="020B0604020202020204" pitchFamily="34" charset="0"/>
              </a:rPr>
              <a:t>Serving</a:t>
            </a:r>
            <a:endParaRPr lang="en-IN" dirty="0">
              <a:latin typeface="Helvetica" panose="020B0604020202020204" pitchFamily="34" charset="0"/>
              <a:cs typeface="Helvetica" panose="020B0604020202020204" pitchFamily="34" charset="0"/>
            </a:endParaRPr>
          </a:p>
          <a:p>
            <a:pPr marL="361950" indent="-361950" algn="just">
              <a:lnSpc>
                <a:spcPct val="150000"/>
              </a:lnSpc>
              <a:buFont typeface="Wingdings" panose="05000000000000000000" pitchFamily="2" charset="2"/>
              <a:buChar char="Ø"/>
            </a:pPr>
            <a:r>
              <a:rPr lang="en-IN" dirty="0">
                <a:latin typeface="Helvetica" panose="020B0604020202020204" pitchFamily="34" charset="0"/>
                <a:cs typeface="Helvetica" panose="020B0604020202020204" pitchFamily="34" charset="0"/>
              </a:rPr>
              <a:t>Get stored many times when it moved though </a:t>
            </a:r>
            <a:r>
              <a:rPr lang="en-IN" dirty="0" smtClean="0">
                <a:latin typeface="Helvetica" panose="020B0604020202020204" pitchFamily="34" charset="0"/>
                <a:cs typeface="Helvetica" panose="020B0604020202020204" pitchFamily="34" charset="0"/>
              </a:rPr>
              <a:t>lifecycle</a:t>
            </a:r>
            <a:endParaRPr lang="en-US" dirty="0"/>
          </a:p>
        </p:txBody>
      </p:sp>
      <p:sp>
        <p:nvSpPr>
          <p:cNvPr id="3" name="Rectangle 2">
            <a:extLst>
              <a:ext uri="{FF2B5EF4-FFF2-40B4-BE49-F238E27FC236}">
                <a16:creationId xmlns:a16="http://schemas.microsoft.com/office/drawing/2014/main" id="{0768246F-3F97-AFFC-3660-6DE32A389E77}"/>
              </a:ext>
            </a:extLst>
          </p:cNvPr>
          <p:cNvSpPr/>
          <p:nvPr/>
        </p:nvSpPr>
        <p:spPr>
          <a:xfrm>
            <a:off x="3054163" y="3565669"/>
            <a:ext cx="4929466" cy="1729557"/>
          </a:xfrm>
          <a:prstGeom prst="rect">
            <a:avLst/>
          </a:prstGeom>
          <a:solidFill>
            <a:schemeClr val="lt1">
              <a:alpha val="0"/>
            </a:schemeClr>
          </a:solidFill>
          <a:ln w="69850" cmpd="thinThick">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b"/>
          <a:lstStyle/>
          <a:p>
            <a:pPr algn="ctr"/>
            <a:r>
              <a:rPr lang="en-US" dirty="0">
                <a:latin typeface="Helvetica" panose="020B0604020202020204" pitchFamily="34" charset="0"/>
                <a:cs typeface="Helvetica" panose="020B0604020202020204" pitchFamily="34" charset="0"/>
              </a:rPr>
              <a:t>Storage</a:t>
            </a:r>
          </a:p>
        </p:txBody>
      </p:sp>
      <p:sp>
        <p:nvSpPr>
          <p:cNvPr id="4" name="Rectangle 3">
            <a:extLst>
              <a:ext uri="{FF2B5EF4-FFF2-40B4-BE49-F238E27FC236}">
                <a16:creationId xmlns:a16="http://schemas.microsoft.com/office/drawing/2014/main" id="{53316ADB-75DA-4C9E-E6D4-1A5D3CC590AF}"/>
              </a:ext>
            </a:extLst>
          </p:cNvPr>
          <p:cNvSpPr/>
          <p:nvPr/>
        </p:nvSpPr>
        <p:spPr>
          <a:xfrm>
            <a:off x="148105" y="3565669"/>
            <a:ext cx="2133600" cy="76436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Generation/Source</a:t>
            </a:r>
          </a:p>
        </p:txBody>
      </p:sp>
      <p:sp>
        <p:nvSpPr>
          <p:cNvPr id="21" name="Rectangle 20">
            <a:extLst>
              <a:ext uri="{FF2B5EF4-FFF2-40B4-BE49-F238E27FC236}">
                <a16:creationId xmlns:a16="http://schemas.microsoft.com/office/drawing/2014/main" id="{D22AC633-DA15-987A-9567-8B1CEE00DECB}"/>
              </a:ext>
            </a:extLst>
          </p:cNvPr>
          <p:cNvSpPr/>
          <p:nvPr/>
        </p:nvSpPr>
        <p:spPr>
          <a:xfrm>
            <a:off x="3031753" y="3565669"/>
            <a:ext cx="1464047" cy="76436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Ingestion</a:t>
            </a:r>
          </a:p>
        </p:txBody>
      </p:sp>
      <p:sp>
        <p:nvSpPr>
          <p:cNvPr id="22" name="Rectangle 21">
            <a:extLst>
              <a:ext uri="{FF2B5EF4-FFF2-40B4-BE49-F238E27FC236}">
                <a16:creationId xmlns:a16="http://schemas.microsoft.com/office/drawing/2014/main" id="{1E3172E2-40C8-156F-58AF-0E88362421E8}"/>
              </a:ext>
            </a:extLst>
          </p:cNvPr>
          <p:cNvSpPr/>
          <p:nvPr/>
        </p:nvSpPr>
        <p:spPr>
          <a:xfrm>
            <a:off x="4518210" y="3565669"/>
            <a:ext cx="1804335" cy="7643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Transformation</a:t>
            </a:r>
          </a:p>
        </p:txBody>
      </p:sp>
      <p:sp>
        <p:nvSpPr>
          <p:cNvPr id="23" name="Rectangle 22">
            <a:extLst>
              <a:ext uri="{FF2B5EF4-FFF2-40B4-BE49-F238E27FC236}">
                <a16:creationId xmlns:a16="http://schemas.microsoft.com/office/drawing/2014/main" id="{7ADC34F7-781B-C952-66FD-4B6456000756}"/>
              </a:ext>
            </a:extLst>
          </p:cNvPr>
          <p:cNvSpPr/>
          <p:nvPr/>
        </p:nvSpPr>
        <p:spPr>
          <a:xfrm>
            <a:off x="6349439" y="3565669"/>
            <a:ext cx="1634191" cy="76436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Serving</a:t>
            </a:r>
          </a:p>
        </p:txBody>
      </p:sp>
      <p:sp>
        <p:nvSpPr>
          <p:cNvPr id="24" name="Rectangle 23">
            <a:extLst>
              <a:ext uri="{FF2B5EF4-FFF2-40B4-BE49-F238E27FC236}">
                <a16:creationId xmlns:a16="http://schemas.microsoft.com/office/drawing/2014/main" id="{A7DF9EEE-BDAE-3442-BFDD-4EE5C42DCEDF}"/>
              </a:ext>
            </a:extLst>
          </p:cNvPr>
          <p:cNvSpPr/>
          <p:nvPr/>
        </p:nvSpPr>
        <p:spPr>
          <a:xfrm>
            <a:off x="9320494" y="2131236"/>
            <a:ext cx="1634191" cy="764364"/>
          </a:xfrm>
          <a:prstGeom prst="rect">
            <a:avLst/>
          </a:prstGeom>
          <a:solidFill>
            <a:srgbClr val="E6D5F3"/>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Reverse ETL</a:t>
            </a:r>
          </a:p>
        </p:txBody>
      </p:sp>
      <p:sp>
        <p:nvSpPr>
          <p:cNvPr id="25" name="Rectangle 24">
            <a:extLst>
              <a:ext uri="{FF2B5EF4-FFF2-40B4-BE49-F238E27FC236}">
                <a16:creationId xmlns:a16="http://schemas.microsoft.com/office/drawing/2014/main" id="{21FD99DF-1844-26AE-224B-E62F257EF412}"/>
              </a:ext>
            </a:extLst>
          </p:cNvPr>
          <p:cNvSpPr/>
          <p:nvPr/>
        </p:nvSpPr>
        <p:spPr>
          <a:xfrm>
            <a:off x="9342903" y="3558987"/>
            <a:ext cx="1634191" cy="764364"/>
          </a:xfrm>
          <a:prstGeom prst="rect">
            <a:avLst/>
          </a:prstGeom>
          <a:solidFill>
            <a:srgbClr val="E6D5F3"/>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Data Analytics</a:t>
            </a:r>
          </a:p>
        </p:txBody>
      </p:sp>
      <p:sp>
        <p:nvSpPr>
          <p:cNvPr id="26" name="Rectangle 25">
            <a:extLst>
              <a:ext uri="{FF2B5EF4-FFF2-40B4-BE49-F238E27FC236}">
                <a16:creationId xmlns:a16="http://schemas.microsoft.com/office/drawing/2014/main" id="{498E4AF4-26C7-D237-16D5-3F31E69D49D7}"/>
              </a:ext>
            </a:extLst>
          </p:cNvPr>
          <p:cNvSpPr/>
          <p:nvPr/>
        </p:nvSpPr>
        <p:spPr>
          <a:xfrm>
            <a:off x="9342904" y="4950636"/>
            <a:ext cx="1634191" cy="764364"/>
          </a:xfrm>
          <a:prstGeom prst="rect">
            <a:avLst/>
          </a:prstGeom>
          <a:solidFill>
            <a:srgbClr val="E6D5F3"/>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700" dirty="0">
                <a:latin typeface="Helvetica" panose="020B0604020202020204" pitchFamily="34" charset="0"/>
                <a:cs typeface="Helvetica" panose="020B0604020202020204" pitchFamily="34" charset="0"/>
              </a:rPr>
              <a:t>Data Science &amp; Machine Learning</a:t>
            </a:r>
          </a:p>
        </p:txBody>
      </p:sp>
      <p:cxnSp>
        <p:nvCxnSpPr>
          <p:cNvPr id="27" name="Straight Arrow Connector 26">
            <a:extLst>
              <a:ext uri="{FF2B5EF4-FFF2-40B4-BE49-F238E27FC236}">
                <a16:creationId xmlns:a16="http://schemas.microsoft.com/office/drawing/2014/main" id="{04E60DAE-86AF-E136-F68D-E99C93322E89}"/>
              </a:ext>
            </a:extLst>
          </p:cNvPr>
          <p:cNvCxnSpPr>
            <a:cxnSpLocks/>
            <a:stCxn id="4" idx="3"/>
            <a:endCxn id="21" idx="1"/>
          </p:cNvCxnSpPr>
          <p:nvPr/>
        </p:nvCxnSpPr>
        <p:spPr>
          <a:xfrm>
            <a:off x="2281705" y="3947851"/>
            <a:ext cx="75004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Connector: Elbow 27">
            <a:extLst>
              <a:ext uri="{FF2B5EF4-FFF2-40B4-BE49-F238E27FC236}">
                <a16:creationId xmlns:a16="http://schemas.microsoft.com/office/drawing/2014/main" id="{09157B4C-F753-EB90-908C-258C404987D0}"/>
              </a:ext>
            </a:extLst>
          </p:cNvPr>
          <p:cNvCxnSpPr>
            <a:stCxn id="23" idx="3"/>
            <a:endCxn id="24" idx="1"/>
          </p:cNvCxnSpPr>
          <p:nvPr/>
        </p:nvCxnSpPr>
        <p:spPr>
          <a:xfrm flipV="1">
            <a:off x="7983630" y="2513418"/>
            <a:ext cx="1336864" cy="1434433"/>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Connector: Elbow 28">
            <a:extLst>
              <a:ext uri="{FF2B5EF4-FFF2-40B4-BE49-F238E27FC236}">
                <a16:creationId xmlns:a16="http://schemas.microsoft.com/office/drawing/2014/main" id="{28CE8123-F47C-414E-D8C5-9F715C0B0EB6}"/>
              </a:ext>
            </a:extLst>
          </p:cNvPr>
          <p:cNvCxnSpPr>
            <a:stCxn id="23" idx="3"/>
            <a:endCxn id="25" idx="1"/>
          </p:cNvCxnSpPr>
          <p:nvPr/>
        </p:nvCxnSpPr>
        <p:spPr>
          <a:xfrm flipV="1">
            <a:off x="7983630" y="3941169"/>
            <a:ext cx="1359273" cy="6682"/>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Connector: Elbow 29">
            <a:extLst>
              <a:ext uri="{FF2B5EF4-FFF2-40B4-BE49-F238E27FC236}">
                <a16:creationId xmlns:a16="http://schemas.microsoft.com/office/drawing/2014/main" id="{AD423ABD-2085-0F0B-ADDA-85BB69D8CB39}"/>
              </a:ext>
            </a:extLst>
          </p:cNvPr>
          <p:cNvCxnSpPr>
            <a:stCxn id="23" idx="3"/>
            <a:endCxn id="26" idx="1"/>
          </p:cNvCxnSpPr>
          <p:nvPr/>
        </p:nvCxnSpPr>
        <p:spPr>
          <a:xfrm>
            <a:off x="7983630" y="3947851"/>
            <a:ext cx="1359274" cy="1384967"/>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247612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7B1B7-4F89-FC65-3D93-54E05692006B}"/>
              </a:ext>
            </a:extLst>
          </p:cNvPr>
          <p:cNvSpPr>
            <a:spLocks noGrp="1"/>
          </p:cNvSpPr>
          <p:nvPr>
            <p:ph type="title"/>
          </p:nvPr>
        </p:nvSpPr>
        <p:spPr/>
        <p:txBody>
          <a:bodyPr/>
          <a:lstStyle/>
          <a:p>
            <a:r>
              <a:rPr lang="en-US" dirty="0"/>
              <a:t>Storage Layering</a:t>
            </a:r>
          </a:p>
        </p:txBody>
      </p:sp>
      <p:pic>
        <p:nvPicPr>
          <p:cNvPr id="5" name="Picture 4">
            <a:extLst>
              <a:ext uri="{FF2B5EF4-FFF2-40B4-BE49-F238E27FC236}">
                <a16:creationId xmlns:a16="http://schemas.microsoft.com/office/drawing/2014/main" id="{543ED2D0-998D-9F34-4FD0-7B36FD0C8DB9}"/>
              </a:ext>
            </a:extLst>
          </p:cNvPr>
          <p:cNvPicPr>
            <a:picLocks noChangeAspect="1"/>
          </p:cNvPicPr>
          <p:nvPr/>
        </p:nvPicPr>
        <p:blipFill>
          <a:blip r:embed="rId2"/>
          <a:stretch>
            <a:fillRect/>
          </a:stretch>
        </p:blipFill>
        <p:spPr>
          <a:xfrm>
            <a:off x="457200" y="1143000"/>
            <a:ext cx="4572000" cy="5301492"/>
          </a:xfrm>
          <a:prstGeom prst="rect">
            <a:avLst/>
          </a:prstGeom>
        </p:spPr>
      </p:pic>
      <p:sp>
        <p:nvSpPr>
          <p:cNvPr id="6" name="TextBox 5">
            <a:extLst>
              <a:ext uri="{FF2B5EF4-FFF2-40B4-BE49-F238E27FC236}">
                <a16:creationId xmlns:a16="http://schemas.microsoft.com/office/drawing/2014/main" id="{08546EFC-4683-4E41-15AC-EC598BDC7981}"/>
              </a:ext>
            </a:extLst>
          </p:cNvPr>
          <p:cNvSpPr txBox="1"/>
          <p:nvPr/>
        </p:nvSpPr>
        <p:spPr>
          <a:xfrm>
            <a:off x="5029200" y="1143000"/>
            <a:ext cx="6934200" cy="3693319"/>
          </a:xfrm>
          <a:prstGeom prst="rect">
            <a:avLst/>
          </a:prstGeom>
          <a:noFill/>
        </p:spPr>
        <p:txBody>
          <a:bodyPr wrap="square" rtlCol="0">
            <a:spAutoFit/>
          </a:bodyPr>
          <a:lstStyle/>
          <a:p>
            <a:pPr marL="361950" indent="-361950" algn="just">
              <a:buFont typeface="Wingdings" panose="05000000000000000000" pitchFamily="2" charset="2"/>
              <a:buChar char="Ø"/>
            </a:pPr>
            <a:r>
              <a:rPr lang="en-US" b="1" dirty="0">
                <a:latin typeface="Helvetica" panose="020B0604020202020204" pitchFamily="34" charset="0"/>
                <a:cs typeface="Helvetica" panose="020B0604020202020204" pitchFamily="34" charset="0"/>
              </a:rPr>
              <a:t>Raw Ingredients of Data Storage</a:t>
            </a:r>
            <a:r>
              <a:rPr lang="en-US" dirty="0">
                <a:latin typeface="Helvetica" panose="020B0604020202020204" pitchFamily="34" charset="0"/>
                <a:cs typeface="Helvetica" panose="020B0604020202020204" pitchFamily="34" charset="0"/>
              </a:rPr>
              <a:t>: </a:t>
            </a:r>
            <a:r>
              <a:rPr lang="en-US" dirty="0" smtClean="0">
                <a:latin typeface="Helvetica" panose="020B0604020202020204" pitchFamily="34" charset="0"/>
                <a:cs typeface="Helvetica" panose="020B0604020202020204" pitchFamily="34" charset="0"/>
              </a:rPr>
              <a:t>HDD/SDD/RAM, Networking and  CPU, Serialization, Compression</a:t>
            </a:r>
            <a:r>
              <a:rPr lang="en-US" dirty="0">
                <a:latin typeface="Helvetica" panose="020B0604020202020204" pitchFamily="34" charset="0"/>
                <a:cs typeface="Helvetica" panose="020B0604020202020204" pitchFamily="34" charset="0"/>
              </a:rPr>
              <a:t>, Caching</a:t>
            </a:r>
          </a:p>
          <a:p>
            <a:pPr marL="361950" indent="-361950" algn="just">
              <a:buFont typeface="Wingdings" panose="05000000000000000000" pitchFamily="2" charset="2"/>
              <a:buChar char="Ø"/>
            </a:pPr>
            <a:endParaRPr lang="en-US" dirty="0" smtClean="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b="1" dirty="0">
                <a:latin typeface="Helvetica" panose="020B0604020202020204" pitchFamily="34" charset="0"/>
                <a:cs typeface="Helvetica" panose="020B0604020202020204" pitchFamily="34" charset="0"/>
              </a:rPr>
              <a:t>Data Storage Systems</a:t>
            </a:r>
            <a:r>
              <a:rPr lang="en-US" dirty="0">
                <a:latin typeface="Helvetica" panose="020B0604020202020204" pitchFamily="34" charset="0"/>
                <a:cs typeface="Helvetica" panose="020B0604020202020204" pitchFamily="34" charset="0"/>
              </a:rPr>
              <a:t>: Single Machine Versus Distributed Storage, Eventual Versus Strong Consistency, File Storage, Block Storage, Object Storage, Cache and Memory-Based Storage Systems, The Hadoop Distributed File System, Streaming Storage, Indexes, Partitioning, and </a:t>
            </a:r>
            <a:r>
              <a:rPr lang="en-US" dirty="0" smtClean="0">
                <a:latin typeface="Helvetica" panose="020B0604020202020204" pitchFamily="34" charset="0"/>
                <a:cs typeface="Helvetica" panose="020B0604020202020204" pitchFamily="34" charset="0"/>
              </a:rPr>
              <a:t>Clustering</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b="1" dirty="0">
                <a:latin typeface="Helvetica" panose="020B0604020202020204" pitchFamily="34" charset="0"/>
                <a:cs typeface="Helvetica" panose="020B0604020202020204" pitchFamily="34" charset="0"/>
              </a:rPr>
              <a:t>Data Engineering Storage Abstractions</a:t>
            </a:r>
          </a:p>
        </p:txBody>
      </p:sp>
    </p:spTree>
    <p:extLst>
      <p:ext uri="{BB962C8B-B14F-4D97-AF65-F5344CB8AC3E}">
        <p14:creationId xmlns:p14="http://schemas.microsoft.com/office/powerpoint/2010/main" val="2466224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B97F3-0F73-178B-3DAF-763E386A07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F2C61-2477-F4A2-6F5E-9C19A905D727}"/>
              </a:ext>
            </a:extLst>
          </p:cNvPr>
          <p:cNvSpPr>
            <a:spLocks noGrp="1"/>
          </p:cNvSpPr>
          <p:nvPr>
            <p:ph type="title"/>
          </p:nvPr>
        </p:nvSpPr>
        <p:spPr>
          <a:xfrm>
            <a:off x="5486400" y="2514600"/>
            <a:ext cx="5867400" cy="2852737"/>
          </a:xfrm>
        </p:spPr>
        <p:txBody>
          <a:bodyPr anchor="b">
            <a:normAutofit/>
          </a:bodyPr>
          <a:lstStyle/>
          <a:p>
            <a:r>
              <a:rPr lang="en-US" dirty="0"/>
              <a:t>Data Storage Infrastructure</a:t>
            </a:r>
            <a:br>
              <a:rPr lang="en-US" dirty="0"/>
            </a:br>
            <a:r>
              <a:rPr lang="en-US" dirty="0"/>
              <a:t>-Raw Ingredients</a:t>
            </a:r>
          </a:p>
        </p:txBody>
      </p:sp>
      <p:pic>
        <p:nvPicPr>
          <p:cNvPr id="3" name="Picture 2">
            <a:extLst>
              <a:ext uri="{FF2B5EF4-FFF2-40B4-BE49-F238E27FC236}">
                <a16:creationId xmlns:a16="http://schemas.microsoft.com/office/drawing/2014/main" id="{83B5338E-8F68-C498-96BA-9F4ACEB3715F}"/>
              </a:ext>
            </a:extLst>
          </p:cNvPr>
          <p:cNvPicPr>
            <a:picLocks noChangeAspect="1"/>
          </p:cNvPicPr>
          <p:nvPr/>
        </p:nvPicPr>
        <p:blipFill>
          <a:blip r:embed="rId2"/>
          <a:stretch>
            <a:fillRect/>
          </a:stretch>
        </p:blipFill>
        <p:spPr>
          <a:xfrm>
            <a:off x="304800" y="609600"/>
            <a:ext cx="4572000" cy="5301492"/>
          </a:xfrm>
          <a:prstGeom prst="rect">
            <a:avLst/>
          </a:prstGeom>
        </p:spPr>
      </p:pic>
      <p:sp>
        <p:nvSpPr>
          <p:cNvPr id="4" name="Rectangle 3">
            <a:extLst>
              <a:ext uri="{FF2B5EF4-FFF2-40B4-BE49-F238E27FC236}">
                <a16:creationId xmlns:a16="http://schemas.microsoft.com/office/drawing/2014/main" id="{6CFCCA5E-AABE-A2EF-8758-F535639E77A5}"/>
              </a:ext>
            </a:extLst>
          </p:cNvPr>
          <p:cNvSpPr/>
          <p:nvPr/>
        </p:nvSpPr>
        <p:spPr>
          <a:xfrm>
            <a:off x="152400" y="3810000"/>
            <a:ext cx="4953000" cy="2286000"/>
          </a:xfrm>
          <a:prstGeom prst="rect">
            <a:avLst/>
          </a:prstGeom>
          <a:solidFill>
            <a:schemeClr val="accent1">
              <a:alpha val="12000"/>
            </a:schemeClr>
          </a:solidFill>
          <a:ln w="66675" cmpd="dbl">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6018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7C359-0F78-74D0-6831-E19633A3DD6E}"/>
              </a:ext>
            </a:extLst>
          </p:cNvPr>
          <p:cNvSpPr>
            <a:spLocks noGrp="1"/>
          </p:cNvSpPr>
          <p:nvPr>
            <p:ph type="title"/>
          </p:nvPr>
        </p:nvSpPr>
        <p:spPr/>
        <p:txBody>
          <a:bodyPr>
            <a:normAutofit/>
          </a:bodyPr>
          <a:lstStyle/>
          <a:p>
            <a:r>
              <a:rPr lang="en-US" dirty="0"/>
              <a:t>HDD/SDD/RAM</a:t>
            </a:r>
          </a:p>
        </p:txBody>
      </p:sp>
      <p:sp>
        <p:nvSpPr>
          <p:cNvPr id="5" name="TextBox 4">
            <a:extLst>
              <a:ext uri="{FF2B5EF4-FFF2-40B4-BE49-F238E27FC236}">
                <a16:creationId xmlns:a16="http://schemas.microsoft.com/office/drawing/2014/main" id="{63F97B73-005E-F829-FDE6-46E61248DAC1}"/>
              </a:ext>
            </a:extLst>
          </p:cNvPr>
          <p:cNvSpPr txBox="1"/>
          <p:nvPr/>
        </p:nvSpPr>
        <p:spPr>
          <a:xfrm>
            <a:off x="13447" y="924933"/>
            <a:ext cx="11721354" cy="4524315"/>
          </a:xfrm>
          <a:prstGeom prst="rect">
            <a:avLst/>
          </a:prstGeom>
          <a:noFill/>
        </p:spPr>
        <p:txBody>
          <a:bodyPr wrap="square" rtlCol="0">
            <a:spAutoFit/>
          </a:bodyPr>
          <a:lstStyle/>
          <a:p>
            <a:pPr marL="361950" indent="-361950" algn="just"/>
            <a:r>
              <a:rPr lang="en-US" dirty="0">
                <a:latin typeface="Helvetica" panose="020B0604020202020204" pitchFamily="34" charset="0"/>
                <a:cs typeface="Helvetica" panose="020B0604020202020204" pitchFamily="34" charset="0"/>
              </a:rPr>
              <a:t>Raw ingredients that compose storage systems, including hard drives, solid state drives, and system memory.</a:t>
            </a:r>
          </a:p>
          <a:p>
            <a:pPr marL="361950" indent="-361950" algn="just"/>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b="1" dirty="0">
                <a:latin typeface="Helvetica" panose="020B0604020202020204" pitchFamily="34" charset="0"/>
                <a:cs typeface="Helvetica" panose="020B0604020202020204" pitchFamily="34" charset="0"/>
              </a:rPr>
              <a:t>Hard Drives (HDDs — Hard Disk Drives):</a:t>
            </a:r>
            <a:r>
              <a:rPr lang="en-US" dirty="0">
                <a:latin typeface="Helvetica" panose="020B0604020202020204" pitchFamily="34" charset="0"/>
                <a:cs typeface="Helvetica" panose="020B0604020202020204" pitchFamily="34" charset="0"/>
              </a:rPr>
              <a:t> These are mechanical storage devices that use rotating disks coated with magnetic material to store data. They offer large storage capacities at relatively lower costs but are slower in terms of data access compared to SSDs</a:t>
            </a:r>
            <a:r>
              <a:rPr lang="en-US" dirty="0" smtClean="0">
                <a:latin typeface="Helvetica" panose="020B0604020202020204" pitchFamily="34" charset="0"/>
                <a:cs typeface="Helvetica" panose="020B0604020202020204" pitchFamily="34" charset="0"/>
              </a:rPr>
              <a:t>.</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b="1" dirty="0">
                <a:latin typeface="Helvetica" panose="020B0604020202020204" pitchFamily="34" charset="0"/>
                <a:cs typeface="Helvetica" panose="020B0604020202020204" pitchFamily="34" charset="0"/>
              </a:rPr>
              <a:t>Solid State (SSDs):</a:t>
            </a:r>
            <a:r>
              <a:rPr lang="en-US" dirty="0">
                <a:latin typeface="Helvetica" panose="020B0604020202020204" pitchFamily="34" charset="0"/>
                <a:cs typeface="Helvetica" panose="020B0604020202020204" pitchFamily="34" charset="0"/>
              </a:rPr>
              <a:t> SSDs are storage devices that use flash memory to store data. They have no moving parts, making </a:t>
            </a:r>
            <a:r>
              <a:rPr lang="en-US" dirty="0" err="1">
                <a:latin typeface="Helvetica" panose="020B0604020202020204" pitchFamily="34" charset="0"/>
                <a:cs typeface="Helvetica" panose="020B0604020202020204" pitchFamily="34" charset="0"/>
              </a:rPr>
              <a:t>theDrivesm</a:t>
            </a:r>
            <a:r>
              <a:rPr lang="en-US" dirty="0">
                <a:latin typeface="Helvetica" panose="020B0604020202020204" pitchFamily="34" charset="0"/>
                <a:cs typeface="Helvetica" panose="020B0604020202020204" pitchFamily="34" charset="0"/>
              </a:rPr>
              <a:t> faster, quieter, and more durable than HDDs. SSDs offer faster data access and are commonly used for faster performance in computers and servers.</a:t>
            </a:r>
          </a:p>
          <a:p>
            <a:pPr marL="361950" indent="-361950" algn="just">
              <a:buFont typeface="Wingdings" panose="05000000000000000000" pitchFamily="2" charset="2"/>
              <a:buChar char="Ø"/>
            </a:pPr>
            <a:endParaRPr lang="en-US" dirty="0" smtClean="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b="1" dirty="0">
                <a:latin typeface="Helvetica" panose="020B0604020202020204" pitchFamily="34" charset="0"/>
                <a:cs typeface="Helvetica" panose="020B0604020202020204" pitchFamily="34" charset="0"/>
              </a:rPr>
              <a:t>System Memory (RAM — Random Access Memory):</a:t>
            </a:r>
            <a:r>
              <a:rPr lang="en-US" dirty="0">
                <a:latin typeface="Helvetica" panose="020B0604020202020204" pitchFamily="34" charset="0"/>
                <a:cs typeface="Helvetica" panose="020B0604020202020204" pitchFamily="34" charset="0"/>
              </a:rPr>
              <a:t> RAM is volatile memory used by computers to temporarily store data that the CPU needs to access quickly. It provides fast access to data and instructions, allowing the CPU to operate efficiently. However, unlike storage drives, RAM loses its data when the computer is powered off.</a:t>
            </a:r>
          </a:p>
        </p:txBody>
      </p:sp>
    </p:spTree>
    <p:extLst>
      <p:ext uri="{BB962C8B-B14F-4D97-AF65-F5344CB8AC3E}">
        <p14:creationId xmlns:p14="http://schemas.microsoft.com/office/powerpoint/2010/main" val="6701037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8574E-8593-E121-486B-D23EB90EC1D6}"/>
              </a:ext>
            </a:extLst>
          </p:cNvPr>
          <p:cNvSpPr>
            <a:spLocks noGrp="1"/>
          </p:cNvSpPr>
          <p:nvPr>
            <p:ph type="title"/>
          </p:nvPr>
        </p:nvSpPr>
        <p:spPr/>
        <p:txBody>
          <a:bodyPr>
            <a:normAutofit/>
          </a:bodyPr>
          <a:lstStyle/>
          <a:p>
            <a:r>
              <a:rPr lang="en-US" dirty="0"/>
              <a:t>Networking and CPU</a:t>
            </a:r>
          </a:p>
        </p:txBody>
      </p:sp>
      <p:sp>
        <p:nvSpPr>
          <p:cNvPr id="3" name="Text Placeholder 2">
            <a:extLst>
              <a:ext uri="{FF2B5EF4-FFF2-40B4-BE49-F238E27FC236}">
                <a16:creationId xmlns:a16="http://schemas.microsoft.com/office/drawing/2014/main" id="{164FD6C1-93DA-DF50-A44B-6170FABB7E1C}"/>
              </a:ext>
            </a:extLst>
          </p:cNvPr>
          <p:cNvSpPr>
            <a:spLocks noGrp="1"/>
          </p:cNvSpPr>
          <p:nvPr>
            <p:ph type="body" sz="quarter" idx="13"/>
          </p:nvPr>
        </p:nvSpPr>
        <p:spPr>
          <a:xfrm>
            <a:off x="228600" y="1219200"/>
            <a:ext cx="11734800" cy="3810000"/>
          </a:xfrm>
        </p:spPr>
        <p:txBody>
          <a:bodyPr/>
          <a:lstStyle/>
          <a:p>
            <a:pPr marL="361950" indent="-361950" algn="just">
              <a:lnSpc>
                <a:spcPct val="100000"/>
              </a:lnSpc>
              <a:spcBef>
                <a:spcPts val="0"/>
              </a:spcBef>
              <a:buFont typeface="Wingdings" panose="05000000000000000000" pitchFamily="2" charset="2"/>
              <a:buChar char="Ø"/>
            </a:pPr>
            <a:r>
              <a:rPr lang="en-US" dirty="0"/>
              <a:t>Networking and CPU are essential components in modern distributed storage systems</a:t>
            </a:r>
            <a:r>
              <a:rPr lang="en-US" dirty="0" smtClean="0"/>
              <a:t>.</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Networking facilitates </a:t>
            </a:r>
            <a:r>
              <a:rPr lang="en-US" b="1" dirty="0"/>
              <a:t>data distribution</a:t>
            </a:r>
            <a:r>
              <a:rPr lang="en-US" dirty="0"/>
              <a:t> across multiple nodes, enhancing performance, durability, and availability</a:t>
            </a:r>
            <a:r>
              <a:rPr lang="en-US" dirty="0" smtClean="0"/>
              <a:t>.</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CPUs handle </a:t>
            </a:r>
            <a:r>
              <a:rPr lang="en-US" b="1" dirty="0"/>
              <a:t>request servicing, data aggregation, and distribution.</a:t>
            </a:r>
            <a:endParaRPr lang="en-US" dirty="0"/>
          </a:p>
          <a:p>
            <a:pPr marL="361950" indent="-361950" algn="just">
              <a:lnSpc>
                <a:spcPct val="100000"/>
              </a:lnSpc>
              <a:spcBef>
                <a:spcPts val="0"/>
              </a:spcBef>
              <a:buFont typeface="Wingdings" panose="05000000000000000000" pitchFamily="2" charset="2"/>
              <a:buChar char="Ø"/>
            </a:pPr>
            <a:endParaRPr lang="en-US" dirty="0"/>
          </a:p>
        </p:txBody>
      </p:sp>
    </p:spTree>
    <p:extLst>
      <p:ext uri="{BB962C8B-B14F-4D97-AF65-F5344CB8AC3E}">
        <p14:creationId xmlns:p14="http://schemas.microsoft.com/office/powerpoint/2010/main" val="1415783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A4817-900E-428A-1D9B-77B52EF71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26A0B0-D8EB-892D-53AF-9AFBC02FFA9D}"/>
              </a:ext>
            </a:extLst>
          </p:cNvPr>
          <p:cNvSpPr>
            <a:spLocks noGrp="1"/>
          </p:cNvSpPr>
          <p:nvPr>
            <p:ph type="title"/>
          </p:nvPr>
        </p:nvSpPr>
        <p:spPr/>
        <p:txBody>
          <a:bodyPr>
            <a:normAutofit/>
          </a:bodyPr>
          <a:lstStyle/>
          <a:p>
            <a:r>
              <a:rPr lang="en-US" dirty="0"/>
              <a:t>Serialization</a:t>
            </a:r>
          </a:p>
        </p:txBody>
      </p:sp>
      <p:sp>
        <p:nvSpPr>
          <p:cNvPr id="3" name="Text Placeholder 2">
            <a:extLst>
              <a:ext uri="{FF2B5EF4-FFF2-40B4-BE49-F238E27FC236}">
                <a16:creationId xmlns:a16="http://schemas.microsoft.com/office/drawing/2014/main" id="{E9C0FD9C-558F-E96C-00A4-628B88FE3164}"/>
              </a:ext>
            </a:extLst>
          </p:cNvPr>
          <p:cNvSpPr>
            <a:spLocks noGrp="1"/>
          </p:cNvSpPr>
          <p:nvPr>
            <p:ph type="body" sz="quarter" idx="13"/>
          </p:nvPr>
        </p:nvSpPr>
        <p:spPr>
          <a:xfrm>
            <a:off x="228600" y="1219200"/>
            <a:ext cx="11734800" cy="4191000"/>
          </a:xfrm>
        </p:spPr>
        <p:txBody>
          <a:bodyPr>
            <a:normAutofit/>
          </a:bodyPr>
          <a:lstStyle/>
          <a:p>
            <a:pPr marL="361950" indent="-361950" algn="just">
              <a:lnSpc>
                <a:spcPct val="100000"/>
              </a:lnSpc>
              <a:spcBef>
                <a:spcPts val="0"/>
              </a:spcBef>
              <a:buFont typeface="Wingdings" panose="05000000000000000000" pitchFamily="2" charset="2"/>
              <a:buChar char="Ø"/>
            </a:pPr>
            <a:r>
              <a:rPr lang="en-US" dirty="0"/>
              <a:t>Essential for database design and network efficiency, it packs data into a standard format for storage or </a:t>
            </a:r>
            <a:r>
              <a:rPr lang="en-US" dirty="0" smtClean="0"/>
              <a:t>transmission.</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Purpose: Facilitates data exchange between systems using formats like XML, JSON, or CSV for compatibility across platforms</a:t>
            </a:r>
            <a:r>
              <a:rPr lang="en-US" dirty="0" smtClean="0"/>
              <a:t>.</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Algorithm: Handles data types, structures, and exceptions, accommodating complex data structures like cyclic references</a:t>
            </a:r>
            <a:r>
              <a:rPr lang="en-US" dirty="0" smtClean="0"/>
              <a:t>.</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Database Storage: Utilizes row-oriented (e.g., relational databases) and columnar (e.g., columnar databases) approaches, each optimized for specific tasks</a:t>
            </a:r>
            <a:r>
              <a:rPr lang="en-US" dirty="0" smtClean="0"/>
              <a:t>.</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Most popular current formats (e.g., Apache Parquet), hybrid serialization (e.g., Apache Hudi), and in-memory serialization (e.g., Apache Arrow).</a:t>
            </a:r>
          </a:p>
        </p:txBody>
      </p:sp>
    </p:spTree>
    <p:extLst>
      <p:ext uri="{BB962C8B-B14F-4D97-AF65-F5344CB8AC3E}">
        <p14:creationId xmlns:p14="http://schemas.microsoft.com/office/powerpoint/2010/main" val="1094000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6208A-8DAF-B723-0902-1BF0023AAF72}"/>
              </a:ext>
            </a:extLst>
          </p:cNvPr>
          <p:cNvSpPr>
            <a:spLocks noGrp="1"/>
          </p:cNvSpPr>
          <p:nvPr>
            <p:ph type="title"/>
          </p:nvPr>
        </p:nvSpPr>
        <p:spPr/>
        <p:txBody>
          <a:bodyPr>
            <a:normAutofit/>
          </a:bodyPr>
          <a:lstStyle/>
          <a:p>
            <a:r>
              <a:rPr lang="en-US" dirty="0"/>
              <a:t>Compression &amp; Caching</a:t>
            </a:r>
          </a:p>
        </p:txBody>
      </p:sp>
      <p:sp>
        <p:nvSpPr>
          <p:cNvPr id="3" name="Text Placeholder 2">
            <a:extLst>
              <a:ext uri="{FF2B5EF4-FFF2-40B4-BE49-F238E27FC236}">
                <a16:creationId xmlns:a16="http://schemas.microsoft.com/office/drawing/2014/main" id="{E8E4C2D1-A5C4-C795-A925-6EEA623578D2}"/>
              </a:ext>
            </a:extLst>
          </p:cNvPr>
          <p:cNvSpPr>
            <a:spLocks noGrp="1"/>
          </p:cNvSpPr>
          <p:nvPr>
            <p:ph type="body" sz="quarter" idx="13"/>
          </p:nvPr>
        </p:nvSpPr>
        <p:spPr>
          <a:xfrm>
            <a:off x="225679" y="1295400"/>
            <a:ext cx="11432921" cy="5257800"/>
          </a:xfrm>
          <a:ln>
            <a:noFill/>
          </a:ln>
        </p:spPr>
        <p:style>
          <a:lnRef idx="2">
            <a:schemeClr val="accent2"/>
          </a:lnRef>
          <a:fillRef idx="1">
            <a:schemeClr val="lt1"/>
          </a:fillRef>
          <a:effectRef idx="0">
            <a:schemeClr val="accent2"/>
          </a:effectRef>
          <a:fontRef idx="minor">
            <a:schemeClr val="dk1"/>
          </a:fontRef>
        </p:style>
        <p:txBody>
          <a:bodyPr>
            <a:normAutofit/>
          </a:bodyPr>
          <a:lstStyle/>
          <a:p>
            <a:pPr marL="0" indent="0" algn="just">
              <a:lnSpc>
                <a:spcPct val="100000"/>
              </a:lnSpc>
              <a:spcBef>
                <a:spcPts val="0"/>
              </a:spcBef>
              <a:buNone/>
            </a:pPr>
            <a:r>
              <a:rPr lang="en-US" b="1" u="sng" dirty="0"/>
              <a:t>Compression</a:t>
            </a:r>
          </a:p>
          <a:p>
            <a:pPr marL="0" indent="0" algn="just">
              <a:lnSpc>
                <a:spcPct val="100000"/>
              </a:lnSpc>
              <a:spcBef>
                <a:spcPts val="0"/>
              </a:spcBef>
              <a:buNone/>
            </a:pPr>
            <a:r>
              <a:rPr lang="en-US" dirty="0"/>
              <a:t>Critical for storage efficiency, reducing data size and improving scan speed and network performance.</a:t>
            </a:r>
          </a:p>
          <a:p>
            <a:pPr marL="0" indent="0" algn="just">
              <a:lnSpc>
                <a:spcPct val="100000"/>
              </a:lnSpc>
              <a:spcBef>
                <a:spcPts val="0"/>
              </a:spcBef>
              <a:buNone/>
            </a:pPr>
            <a:endParaRPr lang="en-US" dirty="0"/>
          </a:p>
          <a:p>
            <a:pPr marL="0" indent="0" algn="just">
              <a:lnSpc>
                <a:spcPct val="100000"/>
              </a:lnSpc>
              <a:spcBef>
                <a:spcPts val="0"/>
              </a:spcBef>
              <a:buNone/>
            </a:pPr>
            <a:endParaRPr lang="en-US" dirty="0"/>
          </a:p>
          <a:p>
            <a:pPr marL="0" indent="0" algn="just">
              <a:lnSpc>
                <a:spcPct val="100000"/>
              </a:lnSpc>
              <a:spcBef>
                <a:spcPts val="0"/>
              </a:spcBef>
              <a:buNone/>
            </a:pPr>
            <a:r>
              <a:rPr lang="en-US" b="1" u="sng" dirty="0"/>
              <a:t>Caching</a:t>
            </a:r>
          </a:p>
          <a:p>
            <a:pPr marL="0" indent="0" algn="just">
              <a:lnSpc>
                <a:spcPct val="100000"/>
              </a:lnSpc>
              <a:spcBef>
                <a:spcPts val="0"/>
              </a:spcBef>
              <a:buNone/>
            </a:pPr>
            <a:r>
              <a:rPr lang="en-US" dirty="0"/>
              <a:t>Stores frequently or recently accessed data in a fast access layer, critical for data serving, processing, and transformation</a:t>
            </a:r>
            <a:endParaRPr lang="en-US" b="1" u="sng" dirty="0"/>
          </a:p>
          <a:p>
            <a:pPr algn="just">
              <a:lnSpc>
                <a:spcPct val="100000"/>
              </a:lnSpc>
              <a:spcBef>
                <a:spcPts val="0"/>
              </a:spcBef>
            </a:pPr>
            <a:endParaRPr lang="en-US" dirty="0"/>
          </a:p>
        </p:txBody>
      </p:sp>
    </p:spTree>
    <p:extLst>
      <p:ext uri="{BB962C8B-B14F-4D97-AF65-F5344CB8AC3E}">
        <p14:creationId xmlns:p14="http://schemas.microsoft.com/office/powerpoint/2010/main" val="2372229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0588F-9062-0499-9642-37184B178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3ECD3-D51B-522B-4EC6-B200EE64A4F4}"/>
              </a:ext>
            </a:extLst>
          </p:cNvPr>
          <p:cNvSpPr>
            <a:spLocks noGrp="1"/>
          </p:cNvSpPr>
          <p:nvPr>
            <p:ph type="title"/>
          </p:nvPr>
        </p:nvSpPr>
        <p:spPr>
          <a:xfrm>
            <a:off x="5486400" y="2514600"/>
            <a:ext cx="5867400" cy="2852737"/>
          </a:xfrm>
        </p:spPr>
        <p:txBody>
          <a:bodyPr anchor="b">
            <a:normAutofit fontScale="90000"/>
          </a:bodyPr>
          <a:lstStyle/>
          <a:p>
            <a:r>
              <a:rPr lang="en-US" dirty="0"/>
              <a:t>Data Storage Infrastructure</a:t>
            </a:r>
            <a:br>
              <a:rPr lang="en-US" dirty="0"/>
            </a:br>
            <a:r>
              <a:rPr lang="en-US" dirty="0" smtClean="0"/>
              <a:t>- Storage </a:t>
            </a:r>
            <a:r>
              <a:rPr lang="en-US" dirty="0"/>
              <a:t>Systems</a:t>
            </a:r>
          </a:p>
        </p:txBody>
      </p:sp>
      <p:pic>
        <p:nvPicPr>
          <p:cNvPr id="3" name="Picture 2">
            <a:extLst>
              <a:ext uri="{FF2B5EF4-FFF2-40B4-BE49-F238E27FC236}">
                <a16:creationId xmlns:a16="http://schemas.microsoft.com/office/drawing/2014/main" id="{573C5DC0-43A2-EE16-9BEF-CF97959819D6}"/>
              </a:ext>
            </a:extLst>
          </p:cNvPr>
          <p:cNvPicPr>
            <a:picLocks noChangeAspect="1"/>
          </p:cNvPicPr>
          <p:nvPr/>
        </p:nvPicPr>
        <p:blipFill>
          <a:blip r:embed="rId2"/>
          <a:stretch>
            <a:fillRect/>
          </a:stretch>
        </p:blipFill>
        <p:spPr>
          <a:xfrm>
            <a:off x="304800" y="718308"/>
            <a:ext cx="4572000" cy="5301492"/>
          </a:xfrm>
          <a:prstGeom prst="rect">
            <a:avLst/>
          </a:prstGeom>
        </p:spPr>
      </p:pic>
      <p:sp>
        <p:nvSpPr>
          <p:cNvPr id="4" name="Rectangle 3">
            <a:extLst>
              <a:ext uri="{FF2B5EF4-FFF2-40B4-BE49-F238E27FC236}">
                <a16:creationId xmlns:a16="http://schemas.microsoft.com/office/drawing/2014/main" id="{0646845F-F895-2A52-BC34-C62EB47E1E47}"/>
              </a:ext>
            </a:extLst>
          </p:cNvPr>
          <p:cNvSpPr/>
          <p:nvPr/>
        </p:nvSpPr>
        <p:spPr>
          <a:xfrm>
            <a:off x="114300" y="2133600"/>
            <a:ext cx="4953000" cy="1752600"/>
          </a:xfrm>
          <a:prstGeom prst="rect">
            <a:avLst/>
          </a:prstGeom>
          <a:solidFill>
            <a:schemeClr val="accent1">
              <a:alpha val="12000"/>
            </a:schemeClr>
          </a:solidFill>
          <a:ln w="66675" cmpd="dbl">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41665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F70FF-6A76-E186-3349-CDA5E18C7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C0989-61F7-1AB4-A68D-CEF65CA218A2}"/>
              </a:ext>
            </a:extLst>
          </p:cNvPr>
          <p:cNvSpPr>
            <a:spLocks noGrp="1"/>
          </p:cNvSpPr>
          <p:nvPr>
            <p:ph type="title"/>
          </p:nvPr>
        </p:nvSpPr>
        <p:spPr/>
        <p:txBody>
          <a:bodyPr/>
          <a:lstStyle/>
          <a:p>
            <a:r>
              <a:rPr lang="en-US" dirty="0"/>
              <a:t>Introduction</a:t>
            </a:r>
          </a:p>
        </p:txBody>
      </p:sp>
      <p:sp>
        <p:nvSpPr>
          <p:cNvPr id="5" name="TextBox 4">
            <a:extLst>
              <a:ext uri="{FF2B5EF4-FFF2-40B4-BE49-F238E27FC236}">
                <a16:creationId xmlns:a16="http://schemas.microsoft.com/office/drawing/2014/main" id="{E836598D-17CF-3D47-594C-95213B1F87C5}"/>
              </a:ext>
            </a:extLst>
          </p:cNvPr>
          <p:cNvSpPr txBox="1"/>
          <p:nvPr/>
        </p:nvSpPr>
        <p:spPr>
          <a:xfrm>
            <a:off x="35859" y="983204"/>
            <a:ext cx="11927542" cy="1754326"/>
          </a:xfrm>
          <a:prstGeom prst="rect">
            <a:avLst/>
          </a:prstGeom>
          <a:noFill/>
        </p:spPr>
        <p:txBody>
          <a:bodyPr wrap="square" rtlCol="0">
            <a:spAutoFit/>
          </a:bodyPr>
          <a:lstStyle/>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Storage systems exist at a level of abstraction above raw ingredients</a:t>
            </a:r>
            <a:r>
              <a:rPr lang="en-US" dirty="0" smtClean="0">
                <a:latin typeface="Helvetica" panose="020B0604020202020204" pitchFamily="34" charset="0"/>
                <a:cs typeface="Helvetica" panose="020B0604020202020204" pitchFamily="34" charset="0"/>
              </a:rPr>
              <a:t>.</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For </a:t>
            </a:r>
            <a:r>
              <a:rPr lang="en-US" dirty="0" smtClean="0">
                <a:latin typeface="Helvetica" panose="020B0604020202020204" pitchFamily="34" charset="0"/>
                <a:cs typeface="Helvetica" panose="020B0604020202020204" pitchFamily="34" charset="0"/>
              </a:rPr>
              <a:t>example</a:t>
            </a:r>
            <a:r>
              <a:rPr lang="en-US" dirty="0">
                <a:latin typeface="Helvetica" panose="020B0604020202020204" pitchFamily="34" charset="0"/>
                <a:cs typeface="Helvetica" panose="020B0604020202020204" pitchFamily="34" charset="0"/>
              </a:rPr>
              <a:t>, magnetic disks are a raw storage ingredient, while major cloud object storage Data Storage Systems | 197 platforms and HDFS are storage systems that utilize magnetic disks</a:t>
            </a:r>
            <a:r>
              <a:rPr lang="en-US" dirty="0" smtClean="0">
                <a:latin typeface="Helvetica" panose="020B0604020202020204" pitchFamily="34" charset="0"/>
                <a:cs typeface="Helvetica" panose="020B0604020202020204" pitchFamily="34" charset="0"/>
              </a:rPr>
              <a:t>.</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Before getting into the details, we need to understand major comparisons</a:t>
            </a:r>
          </a:p>
        </p:txBody>
      </p:sp>
      <p:graphicFrame>
        <p:nvGraphicFramePr>
          <p:cNvPr id="6" name="Diagram 5">
            <a:extLst>
              <a:ext uri="{FF2B5EF4-FFF2-40B4-BE49-F238E27FC236}">
                <a16:creationId xmlns:a16="http://schemas.microsoft.com/office/drawing/2014/main" id="{92E5CACE-C082-5696-808B-AE75793FBCD7}"/>
              </a:ext>
            </a:extLst>
          </p:cNvPr>
          <p:cNvGraphicFramePr/>
          <p:nvPr>
            <p:extLst>
              <p:ext uri="{D42A27DB-BD31-4B8C-83A1-F6EECF244321}">
                <p14:modId xmlns:p14="http://schemas.microsoft.com/office/powerpoint/2010/main" val="381188732"/>
              </p:ext>
            </p:extLst>
          </p:nvPr>
        </p:nvGraphicFramePr>
        <p:xfrm>
          <a:off x="2032000" y="2971800"/>
          <a:ext cx="9321800" cy="31665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53178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939A2-845D-CD5F-600F-CFD48A9F4CD7}"/>
              </a:ext>
            </a:extLst>
          </p:cNvPr>
          <p:cNvSpPr>
            <a:spLocks noGrp="1"/>
          </p:cNvSpPr>
          <p:nvPr>
            <p:ph type="title"/>
          </p:nvPr>
        </p:nvSpPr>
        <p:spPr/>
        <p:txBody>
          <a:bodyPr/>
          <a:lstStyle/>
          <a:p>
            <a:r>
              <a:rPr lang="en-US" dirty="0"/>
              <a:t>Single Machine vs Distributed Storage</a:t>
            </a:r>
          </a:p>
        </p:txBody>
      </p:sp>
      <p:sp>
        <p:nvSpPr>
          <p:cNvPr id="3" name="Text Placeholder 2">
            <a:extLst>
              <a:ext uri="{FF2B5EF4-FFF2-40B4-BE49-F238E27FC236}">
                <a16:creationId xmlns:a16="http://schemas.microsoft.com/office/drawing/2014/main" id="{5FACE097-C2E7-7B85-763B-5875D5D3B438}"/>
              </a:ext>
            </a:extLst>
          </p:cNvPr>
          <p:cNvSpPr>
            <a:spLocks noGrp="1"/>
          </p:cNvSpPr>
          <p:nvPr>
            <p:ph type="body" sz="quarter" idx="13"/>
          </p:nvPr>
        </p:nvSpPr>
        <p:spPr>
          <a:xfrm>
            <a:off x="152400" y="2918562"/>
            <a:ext cx="11582400" cy="3962400"/>
          </a:xfrm>
        </p:spPr>
        <p:txBody>
          <a:bodyPr>
            <a:normAutofit/>
          </a:bodyPr>
          <a:lstStyle/>
          <a:p>
            <a:pPr marL="715963" indent="-534988" algn="just">
              <a:lnSpc>
                <a:spcPct val="100000"/>
              </a:lnSpc>
              <a:spcBef>
                <a:spcPts val="0"/>
              </a:spcBef>
              <a:buFont typeface="Wingdings" panose="05000000000000000000" pitchFamily="2" charset="2"/>
              <a:buChar char="Ø"/>
            </a:pPr>
            <a:r>
              <a:rPr lang="en-US" dirty="0"/>
              <a:t>As data storage and access patterns become more complex and outgrow the usefulness of a single server distributing data to more than one server becomes </a:t>
            </a:r>
            <a:r>
              <a:rPr lang="en-US" dirty="0" smtClean="0"/>
              <a:t>necessary</a:t>
            </a:r>
          </a:p>
          <a:p>
            <a:pPr marL="715963" indent="-534988" algn="just">
              <a:lnSpc>
                <a:spcPct val="100000"/>
              </a:lnSpc>
              <a:spcBef>
                <a:spcPts val="0"/>
              </a:spcBef>
              <a:buFont typeface="Wingdings" panose="05000000000000000000" pitchFamily="2" charset="2"/>
              <a:buChar char="Ø"/>
            </a:pPr>
            <a:endParaRPr lang="en-US" dirty="0"/>
          </a:p>
          <a:p>
            <a:pPr marL="715963" indent="-534988" algn="just">
              <a:lnSpc>
                <a:spcPct val="100000"/>
              </a:lnSpc>
              <a:spcBef>
                <a:spcPts val="0"/>
              </a:spcBef>
              <a:buFont typeface="Wingdings" panose="05000000000000000000" pitchFamily="2" charset="2"/>
              <a:buChar char="Ø"/>
            </a:pPr>
            <a:r>
              <a:rPr lang="en-US" dirty="0"/>
              <a:t>Data can be stored on multiple servers, known as distributed storage, with purpose is to store data in a distributed </a:t>
            </a:r>
            <a:r>
              <a:rPr lang="en-US" dirty="0" smtClean="0"/>
              <a:t>fashion</a:t>
            </a:r>
          </a:p>
          <a:p>
            <a:pPr marL="715963" indent="-534988" algn="just">
              <a:lnSpc>
                <a:spcPct val="100000"/>
              </a:lnSpc>
              <a:spcBef>
                <a:spcPts val="0"/>
              </a:spcBef>
              <a:buFont typeface="Wingdings" panose="05000000000000000000" pitchFamily="2" charset="2"/>
              <a:buChar char="Ø"/>
            </a:pPr>
            <a:endParaRPr lang="en-US" dirty="0"/>
          </a:p>
          <a:p>
            <a:pPr marL="715963" indent="-534988" algn="just">
              <a:lnSpc>
                <a:spcPct val="100000"/>
              </a:lnSpc>
              <a:spcBef>
                <a:spcPts val="0"/>
              </a:spcBef>
              <a:buFont typeface="Wingdings" panose="05000000000000000000" pitchFamily="2" charset="2"/>
              <a:buChar char="Ø"/>
            </a:pPr>
            <a:r>
              <a:rPr lang="en-US" dirty="0"/>
              <a:t>Distributed storage coordinates the activities of multiple servers </a:t>
            </a:r>
          </a:p>
          <a:p>
            <a:pPr marL="1173163" lvl="2" indent="-534988" algn="just">
              <a:lnSpc>
                <a:spcPct val="100000"/>
              </a:lnSpc>
              <a:spcBef>
                <a:spcPts val="0"/>
              </a:spcBef>
              <a:buFont typeface="Wingdings" panose="05000000000000000000" pitchFamily="2" charset="2"/>
              <a:buChar char="§"/>
            </a:pPr>
            <a:r>
              <a:rPr lang="en-US" sz="1600" dirty="0" smtClean="0"/>
              <a:t>To </a:t>
            </a:r>
            <a:r>
              <a:rPr lang="en-US" sz="1600" dirty="0"/>
              <a:t>store, retrieve, and process data faster and at a larger scale, all while providing redundancy in case a server becomes unavailable</a:t>
            </a:r>
          </a:p>
          <a:p>
            <a:pPr marL="1173163" lvl="2" indent="-534988" algn="just">
              <a:lnSpc>
                <a:spcPct val="100000"/>
              </a:lnSpc>
              <a:spcBef>
                <a:spcPts val="0"/>
              </a:spcBef>
              <a:buFont typeface="Wingdings" panose="05000000000000000000" pitchFamily="2" charset="2"/>
              <a:buChar char="§"/>
            </a:pPr>
            <a:r>
              <a:rPr lang="en-US" sz="1600" dirty="0" smtClean="0"/>
              <a:t>Provides </a:t>
            </a:r>
            <a:r>
              <a:rPr lang="en-US" sz="1600" dirty="0"/>
              <a:t>built-in redundancy and scalability for large amounts of </a:t>
            </a:r>
            <a:r>
              <a:rPr lang="en-US" sz="1600" dirty="0" smtClean="0"/>
              <a:t>data</a:t>
            </a:r>
          </a:p>
          <a:p>
            <a:pPr marL="1173163" lvl="2" indent="-534988" algn="just">
              <a:lnSpc>
                <a:spcPct val="100000"/>
              </a:lnSpc>
              <a:spcBef>
                <a:spcPts val="0"/>
              </a:spcBef>
              <a:buFont typeface="Wingdings" panose="05000000000000000000" pitchFamily="2" charset="2"/>
              <a:buChar char="§"/>
            </a:pPr>
            <a:endParaRPr lang="en-US" sz="1600" dirty="0"/>
          </a:p>
          <a:p>
            <a:pPr marL="715963" indent="-534988" algn="just">
              <a:lnSpc>
                <a:spcPct val="100000"/>
              </a:lnSpc>
              <a:spcBef>
                <a:spcPts val="0"/>
              </a:spcBef>
              <a:buFont typeface="Wingdings" panose="05000000000000000000" pitchFamily="2" charset="2"/>
              <a:buChar char="Ø"/>
            </a:pPr>
            <a:r>
              <a:rPr lang="en-US" dirty="0"/>
              <a:t>Examples, object storage, Apache Spark, and cloud data warehouses rely on distributed storage architectures</a:t>
            </a:r>
            <a:endParaRPr lang="en-IN" dirty="0"/>
          </a:p>
        </p:txBody>
      </p:sp>
      <p:pic>
        <p:nvPicPr>
          <p:cNvPr id="6" name="Picture 5">
            <a:extLst>
              <a:ext uri="{FF2B5EF4-FFF2-40B4-BE49-F238E27FC236}">
                <a16:creationId xmlns:a16="http://schemas.microsoft.com/office/drawing/2014/main" id="{FD30E2EB-A7D6-BAF9-ED2D-1AE723BCA2E5}"/>
              </a:ext>
            </a:extLst>
          </p:cNvPr>
          <p:cNvPicPr>
            <a:picLocks noChangeAspect="1"/>
          </p:cNvPicPr>
          <p:nvPr/>
        </p:nvPicPr>
        <p:blipFill>
          <a:blip r:embed="rId2"/>
          <a:stretch>
            <a:fillRect/>
          </a:stretch>
        </p:blipFill>
        <p:spPr>
          <a:xfrm>
            <a:off x="387917" y="924933"/>
            <a:ext cx="10601318" cy="1975700"/>
          </a:xfrm>
          <a:prstGeom prst="rect">
            <a:avLst/>
          </a:prstGeom>
        </p:spPr>
      </p:pic>
    </p:spTree>
    <p:extLst>
      <p:ext uri="{BB962C8B-B14F-4D97-AF65-F5344CB8AC3E}">
        <p14:creationId xmlns:p14="http://schemas.microsoft.com/office/powerpoint/2010/main" val="22344919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FF3FC-BB63-A1A4-0CB7-903036C8D6CC}"/>
              </a:ext>
            </a:extLst>
          </p:cNvPr>
          <p:cNvSpPr>
            <a:spLocks noGrp="1"/>
          </p:cNvSpPr>
          <p:nvPr>
            <p:ph type="title"/>
          </p:nvPr>
        </p:nvSpPr>
        <p:spPr/>
        <p:txBody>
          <a:bodyPr>
            <a:normAutofit/>
          </a:bodyPr>
          <a:lstStyle/>
          <a:p>
            <a:r>
              <a:rPr lang="en-US" dirty="0">
                <a:latin typeface="Helvetica" panose="020B0604020202020204" pitchFamily="34" charset="0"/>
                <a:cs typeface="Helvetica" panose="020B0604020202020204" pitchFamily="34" charset="0"/>
              </a:rPr>
              <a:t>Eventual vs Strong Consistency</a:t>
            </a:r>
            <a:endParaRPr lang="en-US" dirty="0"/>
          </a:p>
        </p:txBody>
      </p:sp>
      <p:pic>
        <p:nvPicPr>
          <p:cNvPr id="9" name="Picture 8">
            <a:extLst>
              <a:ext uri="{FF2B5EF4-FFF2-40B4-BE49-F238E27FC236}">
                <a16:creationId xmlns:a16="http://schemas.microsoft.com/office/drawing/2014/main" id="{19B718D5-E7A2-A5D7-C7AF-223B9DA19E43}"/>
              </a:ext>
            </a:extLst>
          </p:cNvPr>
          <p:cNvPicPr>
            <a:picLocks noChangeAspect="1"/>
          </p:cNvPicPr>
          <p:nvPr/>
        </p:nvPicPr>
        <p:blipFill>
          <a:blip r:embed="rId2"/>
          <a:stretch>
            <a:fillRect/>
          </a:stretch>
        </p:blipFill>
        <p:spPr>
          <a:xfrm>
            <a:off x="889466" y="3943350"/>
            <a:ext cx="3038475" cy="276225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0" name="Rectangle 9">
            <a:extLst>
              <a:ext uri="{FF2B5EF4-FFF2-40B4-BE49-F238E27FC236}">
                <a16:creationId xmlns:a16="http://schemas.microsoft.com/office/drawing/2014/main" id="{7CD01797-28E6-4EA8-B770-ACFEEFFEFEA5}"/>
              </a:ext>
            </a:extLst>
          </p:cNvPr>
          <p:cNvSpPr/>
          <p:nvPr/>
        </p:nvSpPr>
        <p:spPr>
          <a:xfrm rot="16200000">
            <a:off x="-921964" y="4981575"/>
            <a:ext cx="2762250" cy="6858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Strong Consistency</a:t>
            </a:r>
          </a:p>
        </p:txBody>
      </p:sp>
      <p:sp>
        <p:nvSpPr>
          <p:cNvPr id="12" name="Rectangle 11">
            <a:extLst>
              <a:ext uri="{FF2B5EF4-FFF2-40B4-BE49-F238E27FC236}">
                <a16:creationId xmlns:a16="http://schemas.microsoft.com/office/drawing/2014/main" id="{DFBB1A3D-D5DC-9EC9-FE01-99437E5DE084}"/>
              </a:ext>
            </a:extLst>
          </p:cNvPr>
          <p:cNvSpPr/>
          <p:nvPr/>
        </p:nvSpPr>
        <p:spPr>
          <a:xfrm rot="16200000">
            <a:off x="-939894" y="2048050"/>
            <a:ext cx="2762250" cy="6858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Eventual Consistency</a:t>
            </a:r>
          </a:p>
        </p:txBody>
      </p:sp>
      <p:pic>
        <p:nvPicPr>
          <p:cNvPr id="14" name="Picture 13">
            <a:extLst>
              <a:ext uri="{FF2B5EF4-FFF2-40B4-BE49-F238E27FC236}">
                <a16:creationId xmlns:a16="http://schemas.microsoft.com/office/drawing/2014/main" id="{B6CDF018-6446-26E3-3660-16995C3A2E76}"/>
              </a:ext>
            </a:extLst>
          </p:cNvPr>
          <p:cNvPicPr>
            <a:picLocks noChangeAspect="1"/>
          </p:cNvPicPr>
          <p:nvPr/>
        </p:nvPicPr>
        <p:blipFill>
          <a:blip r:embed="rId3"/>
          <a:stretch>
            <a:fillRect/>
          </a:stretch>
        </p:blipFill>
        <p:spPr>
          <a:xfrm>
            <a:off x="994942" y="1021640"/>
            <a:ext cx="2971800" cy="276225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6" name="TextBox 15">
            <a:extLst>
              <a:ext uri="{FF2B5EF4-FFF2-40B4-BE49-F238E27FC236}">
                <a16:creationId xmlns:a16="http://schemas.microsoft.com/office/drawing/2014/main" id="{8773E0DF-943C-D677-6A3A-9FDC2D100848}"/>
              </a:ext>
            </a:extLst>
          </p:cNvPr>
          <p:cNvSpPr txBox="1"/>
          <p:nvPr/>
        </p:nvSpPr>
        <p:spPr>
          <a:xfrm>
            <a:off x="2298886" y="3666247"/>
            <a:ext cx="1519238"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4"/>
              </a:rPr>
              <a:t>Image Source</a:t>
            </a:r>
            <a:endParaRPr lang="en-US" sz="1200" dirty="0">
              <a:latin typeface="Helvetica" panose="020B0604020202020204" pitchFamily="34" charset="0"/>
              <a:cs typeface="Helvetica" panose="020B0604020202020204" pitchFamily="34" charset="0"/>
            </a:endParaRPr>
          </a:p>
        </p:txBody>
      </p:sp>
      <p:sp>
        <p:nvSpPr>
          <p:cNvPr id="17" name="TextBox 16">
            <a:extLst>
              <a:ext uri="{FF2B5EF4-FFF2-40B4-BE49-F238E27FC236}">
                <a16:creationId xmlns:a16="http://schemas.microsoft.com/office/drawing/2014/main" id="{9E3E425D-7084-A69E-29DD-7EF0DA004352}"/>
              </a:ext>
            </a:extLst>
          </p:cNvPr>
          <p:cNvSpPr txBox="1"/>
          <p:nvPr/>
        </p:nvSpPr>
        <p:spPr>
          <a:xfrm>
            <a:off x="4177553" y="988591"/>
            <a:ext cx="7898186" cy="5355312"/>
          </a:xfrm>
          <a:prstGeom prst="rect">
            <a:avLst/>
          </a:prstGeom>
          <a:noFill/>
        </p:spPr>
        <p:txBody>
          <a:bodyPr wrap="square" rtlCol="0">
            <a:spAutoFit/>
          </a:bodyPr>
          <a:lstStyle/>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A challenge with distributed systems is that your data is spread across multiple servers</a:t>
            </a:r>
            <a:r>
              <a:rPr lang="en-US" dirty="0" smtClean="0">
                <a:latin typeface="Helvetica" panose="020B0604020202020204" pitchFamily="34" charset="0"/>
                <a:cs typeface="Helvetica" panose="020B0604020202020204" pitchFamily="34" charset="0"/>
              </a:rPr>
              <a:t>.</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Unfortunately, distributed systems pose a dilemma for storage and query accuracy. </a:t>
            </a:r>
            <a:endParaRPr lang="en-US" dirty="0" smtClean="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It takes time to replicate changes across the nodes of a system; often a balance exists between getting current data and getting “</a:t>
            </a:r>
            <a:r>
              <a:rPr lang="en-US" dirty="0" err="1">
                <a:latin typeface="Helvetica" panose="020B0604020202020204" pitchFamily="34" charset="0"/>
                <a:cs typeface="Helvetica" panose="020B0604020202020204" pitchFamily="34" charset="0"/>
              </a:rPr>
              <a:t>sorta</a:t>
            </a:r>
            <a:r>
              <a:rPr lang="en-US" dirty="0">
                <a:latin typeface="Helvetica" panose="020B0604020202020204" pitchFamily="34" charset="0"/>
                <a:cs typeface="Helvetica" panose="020B0604020202020204" pitchFamily="34" charset="0"/>
              </a:rPr>
              <a:t>” current data in a distributed database. </a:t>
            </a:r>
            <a:endParaRPr lang="en-US" dirty="0" smtClean="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Eventual consistency is a common trade-off in large-scale, distributed systems. </a:t>
            </a:r>
            <a:endParaRPr lang="en-US" dirty="0" smtClean="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Eventual consistency allows you to retrieve data quickly without verifying that you have the latest version across all </a:t>
            </a:r>
            <a:r>
              <a:rPr lang="en-US" dirty="0" smtClean="0">
                <a:latin typeface="Helvetica" panose="020B0604020202020204" pitchFamily="34" charset="0"/>
                <a:cs typeface="Helvetica" panose="020B0604020202020204" pitchFamily="34" charset="0"/>
              </a:rPr>
              <a:t>nodes</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With strong consistency, the distributed database ensures that writes to any node are first distributed with a consensus and that any reads against the database return consistent values. </a:t>
            </a:r>
          </a:p>
        </p:txBody>
      </p:sp>
    </p:spTree>
    <p:extLst>
      <p:ext uri="{BB962C8B-B14F-4D97-AF65-F5344CB8AC3E}">
        <p14:creationId xmlns:p14="http://schemas.microsoft.com/office/powerpoint/2010/main" val="29310904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A0071-F2D9-083E-3912-A1C287BDA558}"/>
              </a:ext>
            </a:extLst>
          </p:cNvPr>
          <p:cNvSpPr>
            <a:spLocks noGrp="1"/>
          </p:cNvSpPr>
          <p:nvPr>
            <p:ph type="title"/>
          </p:nvPr>
        </p:nvSpPr>
        <p:spPr/>
        <p:txBody>
          <a:bodyPr/>
          <a:lstStyle/>
          <a:p>
            <a:r>
              <a:rPr lang="en-US" dirty="0"/>
              <a:t>Storage Types</a:t>
            </a:r>
          </a:p>
        </p:txBody>
      </p:sp>
      <p:pic>
        <p:nvPicPr>
          <p:cNvPr id="7" name="Picture 6">
            <a:extLst>
              <a:ext uri="{FF2B5EF4-FFF2-40B4-BE49-F238E27FC236}">
                <a16:creationId xmlns:a16="http://schemas.microsoft.com/office/drawing/2014/main" id="{56E20F04-E3EF-E801-0B3A-2DAD4A80169A}"/>
              </a:ext>
            </a:extLst>
          </p:cNvPr>
          <p:cNvPicPr>
            <a:picLocks noChangeAspect="1"/>
          </p:cNvPicPr>
          <p:nvPr/>
        </p:nvPicPr>
        <p:blipFill>
          <a:blip r:embed="rId2"/>
          <a:stretch>
            <a:fillRect/>
          </a:stretch>
        </p:blipFill>
        <p:spPr>
          <a:xfrm>
            <a:off x="0" y="1066800"/>
            <a:ext cx="12192000" cy="5177515"/>
          </a:xfrm>
          <a:prstGeom prst="rect">
            <a:avLst/>
          </a:prstGeom>
        </p:spPr>
      </p:pic>
      <p:sp>
        <p:nvSpPr>
          <p:cNvPr id="8" name="TextBox 7">
            <a:extLst>
              <a:ext uri="{FF2B5EF4-FFF2-40B4-BE49-F238E27FC236}">
                <a16:creationId xmlns:a16="http://schemas.microsoft.com/office/drawing/2014/main" id="{B2515163-49E0-DE51-200E-39D99087C23A}"/>
              </a:ext>
            </a:extLst>
          </p:cNvPr>
          <p:cNvSpPr txBox="1"/>
          <p:nvPr/>
        </p:nvSpPr>
        <p:spPr>
          <a:xfrm>
            <a:off x="10672762" y="6420431"/>
            <a:ext cx="1519238"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3"/>
              </a:rPr>
              <a:t>Image Source</a:t>
            </a:r>
            <a:endParaRPr lang="en-US" sz="1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2074701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5850A-F656-5D4C-C3B4-D39AA815A0F0}"/>
              </a:ext>
            </a:extLst>
          </p:cNvPr>
          <p:cNvSpPr>
            <a:spLocks noGrp="1"/>
          </p:cNvSpPr>
          <p:nvPr>
            <p:ph type="title"/>
          </p:nvPr>
        </p:nvSpPr>
        <p:spPr/>
        <p:txBody>
          <a:bodyPr/>
          <a:lstStyle/>
          <a:p>
            <a:r>
              <a:rPr lang="en-US" dirty="0"/>
              <a:t>File Storage</a:t>
            </a:r>
          </a:p>
        </p:txBody>
      </p:sp>
      <p:sp>
        <p:nvSpPr>
          <p:cNvPr id="3" name="Text Placeholder 2">
            <a:extLst>
              <a:ext uri="{FF2B5EF4-FFF2-40B4-BE49-F238E27FC236}">
                <a16:creationId xmlns:a16="http://schemas.microsoft.com/office/drawing/2014/main" id="{45563144-072F-A87B-D7E0-28AB1CD48D6F}"/>
              </a:ext>
            </a:extLst>
          </p:cNvPr>
          <p:cNvSpPr>
            <a:spLocks noGrp="1"/>
          </p:cNvSpPr>
          <p:nvPr>
            <p:ph type="body" sz="quarter" idx="13"/>
          </p:nvPr>
        </p:nvSpPr>
        <p:spPr>
          <a:xfrm>
            <a:off x="152400" y="965275"/>
            <a:ext cx="5943600" cy="5732156"/>
          </a:xfrm>
        </p:spPr>
        <p:style>
          <a:lnRef idx="2">
            <a:schemeClr val="accent2"/>
          </a:lnRef>
          <a:fillRef idx="1">
            <a:schemeClr val="lt1"/>
          </a:fillRef>
          <a:effectRef idx="0">
            <a:schemeClr val="accent2"/>
          </a:effectRef>
          <a:fontRef idx="minor">
            <a:schemeClr val="dk1"/>
          </a:fontRef>
        </p:style>
        <p:txBody>
          <a:bodyPr>
            <a:normAutofit/>
          </a:bodyPr>
          <a:lstStyle/>
          <a:p>
            <a:pPr marL="361950" indent="-361950" algn="just">
              <a:lnSpc>
                <a:spcPct val="100000"/>
              </a:lnSpc>
              <a:spcBef>
                <a:spcPts val="0"/>
              </a:spcBef>
              <a:buNone/>
            </a:pPr>
            <a:r>
              <a:rPr lang="en-US" dirty="0" smtClean="0"/>
              <a:t>	A </a:t>
            </a:r>
            <a:r>
              <a:rPr lang="en-US" dirty="0"/>
              <a:t>file is a data entity with specific read, write, and reference characteristics used by software and operating systems</a:t>
            </a:r>
          </a:p>
          <a:p>
            <a:pPr marL="361950" indent="-361950" algn="just">
              <a:lnSpc>
                <a:spcPct val="100000"/>
              </a:lnSpc>
              <a:spcBef>
                <a:spcPts val="0"/>
              </a:spcBef>
              <a:buNone/>
            </a:pPr>
            <a:r>
              <a:rPr lang="en-US" b="1" u="sng" dirty="0"/>
              <a:t>Characteristics of a </a:t>
            </a:r>
            <a:r>
              <a:rPr lang="en-US" b="1" u="sng" dirty="0" smtClean="0"/>
              <a:t>File</a:t>
            </a:r>
          </a:p>
          <a:p>
            <a:pPr marL="361950" indent="-361950" algn="just">
              <a:lnSpc>
                <a:spcPct val="100000"/>
              </a:lnSpc>
              <a:spcBef>
                <a:spcPts val="0"/>
              </a:spcBef>
              <a:buNone/>
            </a:pPr>
            <a:endParaRPr lang="en-US" b="1" u="sng" dirty="0"/>
          </a:p>
          <a:p>
            <a:pPr marL="361950" indent="-361950" algn="just">
              <a:lnSpc>
                <a:spcPct val="100000"/>
              </a:lnSpc>
              <a:spcBef>
                <a:spcPts val="0"/>
              </a:spcBef>
              <a:buFont typeface="Wingdings" panose="05000000000000000000" pitchFamily="2" charset="2"/>
              <a:buChar char="Ø"/>
            </a:pPr>
            <a:r>
              <a:rPr lang="en-US" dirty="0" smtClean="0"/>
              <a:t>Has </a:t>
            </a:r>
            <a:r>
              <a:rPr lang="en-US" dirty="0"/>
              <a:t>finite length - stream of </a:t>
            </a:r>
            <a:r>
              <a:rPr lang="en-US" dirty="0" smtClean="0"/>
              <a:t>bytes</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Supports </a:t>
            </a:r>
            <a:r>
              <a:rPr lang="en-US" dirty="0"/>
              <a:t>append operations - append bytes to the </a:t>
            </a:r>
            <a:r>
              <a:rPr lang="en-US" dirty="0" smtClean="0"/>
              <a:t>files</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Supports </a:t>
            </a:r>
            <a:r>
              <a:rPr lang="en-US" dirty="0"/>
              <a:t>random access - read from any location in the file or write updates to any </a:t>
            </a:r>
            <a:r>
              <a:rPr lang="en-US" dirty="0" smtClean="0"/>
              <a:t>location</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None/>
            </a:pPr>
            <a:r>
              <a:rPr lang="en-US" b="1" u="sng" dirty="0"/>
              <a:t>Organization</a:t>
            </a:r>
          </a:p>
          <a:p>
            <a:pPr marL="361950" indent="-361950" algn="just">
              <a:lnSpc>
                <a:spcPct val="100000"/>
              </a:lnSpc>
              <a:spcBef>
                <a:spcPts val="0"/>
              </a:spcBef>
              <a:buFont typeface="Wingdings" panose="05000000000000000000" pitchFamily="2" charset="2"/>
              <a:buChar char="Ø"/>
            </a:pPr>
            <a:r>
              <a:rPr lang="en-US" dirty="0"/>
              <a:t>File storage systems organize files into a directory </a:t>
            </a:r>
            <a:r>
              <a:rPr lang="en-US" dirty="0" smtClean="0"/>
              <a:t>tree</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Eg: /</a:t>
            </a:r>
            <a:r>
              <a:rPr lang="en-US" dirty="0" smtClean="0"/>
              <a:t>Users/Sunil/file.txt</a:t>
            </a:r>
            <a:endParaRPr lang="en-US" b="1" u="sng" dirty="0"/>
          </a:p>
        </p:txBody>
      </p:sp>
      <p:sp>
        <p:nvSpPr>
          <p:cNvPr id="5" name="Text Placeholder 2">
            <a:extLst>
              <a:ext uri="{FF2B5EF4-FFF2-40B4-BE49-F238E27FC236}">
                <a16:creationId xmlns:a16="http://schemas.microsoft.com/office/drawing/2014/main" id="{FBE99362-AA78-086D-38FA-10CBAA4D9E90}"/>
              </a:ext>
            </a:extLst>
          </p:cNvPr>
          <p:cNvSpPr txBox="1">
            <a:spLocks/>
          </p:cNvSpPr>
          <p:nvPr/>
        </p:nvSpPr>
        <p:spPr>
          <a:xfrm>
            <a:off x="6118412" y="973444"/>
            <a:ext cx="6096000" cy="5732156"/>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indent="-319088" algn="just">
              <a:lnSpc>
                <a:spcPct val="100000"/>
              </a:lnSpc>
              <a:spcBef>
                <a:spcPts val="0"/>
              </a:spcBef>
              <a:buFont typeface="Arial" panose="020B0604020202020204" pitchFamily="34" charset="0"/>
              <a:buNone/>
            </a:pPr>
            <a:r>
              <a:rPr lang="en-US" b="1" u="sng" dirty="0"/>
              <a:t>File System</a:t>
            </a:r>
          </a:p>
          <a:p>
            <a:pPr marL="361950" indent="-319088" algn="just">
              <a:lnSpc>
                <a:spcPct val="100000"/>
              </a:lnSpc>
              <a:spcBef>
                <a:spcPts val="0"/>
              </a:spcBef>
              <a:buFont typeface="Wingdings" panose="05000000000000000000" pitchFamily="2" charset="2"/>
              <a:buChar char="Ø"/>
            </a:pPr>
            <a:r>
              <a:rPr lang="en-US" dirty="0"/>
              <a:t>The filesystem stores each directory as metadata about the files and directories that it </a:t>
            </a:r>
            <a:r>
              <a:rPr lang="en-US" dirty="0" smtClean="0"/>
              <a:t>contains</a:t>
            </a:r>
          </a:p>
          <a:p>
            <a:pPr marL="361950" indent="-319088" algn="just">
              <a:lnSpc>
                <a:spcPct val="100000"/>
              </a:lnSpc>
              <a:spcBef>
                <a:spcPts val="0"/>
              </a:spcBef>
              <a:buFont typeface="Wingdings" panose="05000000000000000000" pitchFamily="2" charset="2"/>
              <a:buChar char="Ø"/>
            </a:pPr>
            <a:endParaRPr lang="en-US" dirty="0"/>
          </a:p>
          <a:p>
            <a:pPr marL="361950" indent="-319088" algn="just">
              <a:lnSpc>
                <a:spcPct val="100000"/>
              </a:lnSpc>
              <a:spcBef>
                <a:spcPts val="0"/>
              </a:spcBef>
              <a:buFont typeface="Wingdings" panose="05000000000000000000" pitchFamily="2" charset="2"/>
              <a:buChar char="Ø"/>
            </a:pPr>
            <a:r>
              <a:rPr lang="en-US" dirty="0" smtClean="0"/>
              <a:t>Consists </a:t>
            </a:r>
            <a:r>
              <a:rPr lang="en-US" dirty="0"/>
              <a:t>of the name of each entity, relevant permission details, and a pointer to the actual </a:t>
            </a:r>
            <a:r>
              <a:rPr lang="en-US" dirty="0" smtClean="0"/>
              <a:t>entity/file</a:t>
            </a:r>
          </a:p>
          <a:p>
            <a:pPr marL="361950" indent="-319088" algn="just">
              <a:lnSpc>
                <a:spcPct val="100000"/>
              </a:lnSpc>
              <a:spcBef>
                <a:spcPts val="0"/>
              </a:spcBef>
              <a:buFont typeface="Wingdings" panose="05000000000000000000" pitchFamily="2" charset="2"/>
              <a:buChar char="Ø"/>
            </a:pPr>
            <a:endParaRPr lang="en-US" dirty="0"/>
          </a:p>
          <a:p>
            <a:pPr marL="361950" indent="-319088" algn="just">
              <a:lnSpc>
                <a:spcPct val="100000"/>
              </a:lnSpc>
              <a:spcBef>
                <a:spcPts val="0"/>
              </a:spcBef>
              <a:buFont typeface="Wingdings" panose="05000000000000000000" pitchFamily="2" charset="2"/>
              <a:buChar char="Ø"/>
            </a:pPr>
            <a:r>
              <a:rPr lang="en-US" dirty="0"/>
              <a:t>To find a file on disk, the operating system looks at the metadata at each hierarchy level and follows the pointer to the next subdirectory entity until finally reaching the file itself.</a:t>
            </a:r>
            <a:endParaRPr lang="en-IN" dirty="0"/>
          </a:p>
          <a:p>
            <a:pPr marL="361950" indent="-319088" algn="just">
              <a:lnSpc>
                <a:spcPct val="100000"/>
              </a:lnSpc>
              <a:spcBef>
                <a:spcPts val="0"/>
              </a:spcBef>
              <a:buFont typeface="Arial" panose="020B0604020202020204" pitchFamily="34" charset="0"/>
              <a:buNone/>
            </a:pPr>
            <a:endParaRPr lang="en-US" b="1" u="sng" dirty="0"/>
          </a:p>
        </p:txBody>
      </p:sp>
    </p:spTree>
    <p:extLst>
      <p:ext uri="{BB962C8B-B14F-4D97-AF65-F5344CB8AC3E}">
        <p14:creationId xmlns:p14="http://schemas.microsoft.com/office/powerpoint/2010/main" val="22504868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776BB-4710-2A98-59CA-B9BED182F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FD74D4-0A1B-4697-0B8B-DC5E8C2024E6}"/>
              </a:ext>
            </a:extLst>
          </p:cNvPr>
          <p:cNvSpPr>
            <a:spLocks noGrp="1"/>
          </p:cNvSpPr>
          <p:nvPr>
            <p:ph type="title"/>
          </p:nvPr>
        </p:nvSpPr>
        <p:spPr/>
        <p:txBody>
          <a:bodyPr/>
          <a:lstStyle/>
          <a:p>
            <a:r>
              <a:rPr lang="en-US" dirty="0"/>
              <a:t>File Storage - Types</a:t>
            </a:r>
          </a:p>
        </p:txBody>
      </p:sp>
      <p:sp>
        <p:nvSpPr>
          <p:cNvPr id="3" name="Text Placeholder 2">
            <a:extLst>
              <a:ext uri="{FF2B5EF4-FFF2-40B4-BE49-F238E27FC236}">
                <a16:creationId xmlns:a16="http://schemas.microsoft.com/office/drawing/2014/main" id="{A4A872F0-50D0-61D8-2B98-0464D383F3CB}"/>
              </a:ext>
            </a:extLst>
          </p:cNvPr>
          <p:cNvSpPr>
            <a:spLocks noGrp="1"/>
          </p:cNvSpPr>
          <p:nvPr>
            <p:ph type="body" sz="quarter" idx="13"/>
          </p:nvPr>
        </p:nvSpPr>
        <p:spPr>
          <a:xfrm>
            <a:off x="0" y="965275"/>
            <a:ext cx="11658600" cy="5732156"/>
          </a:xfrm>
          <a:ln>
            <a:noFill/>
          </a:ln>
        </p:spPr>
        <p:style>
          <a:lnRef idx="2">
            <a:schemeClr val="accent2"/>
          </a:lnRef>
          <a:fillRef idx="1">
            <a:schemeClr val="lt1"/>
          </a:fillRef>
          <a:effectRef idx="0">
            <a:schemeClr val="accent2"/>
          </a:effectRef>
          <a:fontRef idx="minor">
            <a:schemeClr val="dk1"/>
          </a:fontRef>
        </p:style>
        <p:txBody>
          <a:bodyPr>
            <a:noAutofit/>
          </a:bodyPr>
          <a:lstStyle/>
          <a:p>
            <a:pPr marL="533400" indent="-304800" algn="just">
              <a:lnSpc>
                <a:spcPct val="100000"/>
              </a:lnSpc>
              <a:spcBef>
                <a:spcPts val="0"/>
              </a:spcBef>
              <a:buNone/>
            </a:pPr>
            <a:r>
              <a:rPr lang="en-US" b="1" u="sng" dirty="0"/>
              <a:t>Local disk </a:t>
            </a:r>
            <a:r>
              <a:rPr lang="en-US" b="1" u="sng" dirty="0" smtClean="0"/>
              <a:t>storage</a:t>
            </a:r>
          </a:p>
          <a:p>
            <a:pPr marL="533400" indent="-304800" algn="just">
              <a:lnSpc>
                <a:spcPct val="100000"/>
              </a:lnSpc>
              <a:spcBef>
                <a:spcPts val="0"/>
              </a:spcBef>
              <a:buNone/>
            </a:pPr>
            <a:endParaRPr lang="en-US" b="1" u="sng" dirty="0"/>
          </a:p>
          <a:p>
            <a:pPr marL="533400" indent="-304800" algn="just">
              <a:lnSpc>
                <a:spcPct val="100000"/>
              </a:lnSpc>
              <a:spcBef>
                <a:spcPts val="0"/>
              </a:spcBef>
              <a:buFont typeface="Wingdings" panose="05000000000000000000" pitchFamily="2" charset="2"/>
              <a:buChar char="Ø"/>
            </a:pPr>
            <a:r>
              <a:rPr lang="en-US" dirty="0"/>
              <a:t>The most familiar type of file storage is an operating system–managed filesystem on a local disk partition of SSD or magnetic </a:t>
            </a:r>
            <a:r>
              <a:rPr lang="en-US" dirty="0" smtClean="0"/>
              <a:t>dis</a:t>
            </a:r>
          </a:p>
          <a:p>
            <a:pPr marL="533400" indent="-304800" algn="just">
              <a:lnSpc>
                <a:spcPct val="100000"/>
              </a:lnSpc>
              <a:spcBef>
                <a:spcPts val="0"/>
              </a:spcBef>
              <a:buFont typeface="Wingdings" panose="05000000000000000000" pitchFamily="2" charset="2"/>
              <a:buChar char="Ø"/>
            </a:pPr>
            <a:endParaRPr lang="en-US" dirty="0"/>
          </a:p>
          <a:p>
            <a:pPr marL="533400" indent="-304800" algn="just">
              <a:lnSpc>
                <a:spcPct val="100000"/>
              </a:lnSpc>
              <a:spcBef>
                <a:spcPts val="0"/>
              </a:spcBef>
              <a:buFont typeface="Wingdings" panose="05000000000000000000" pitchFamily="2" charset="2"/>
              <a:buChar char="Ø"/>
            </a:pPr>
            <a:r>
              <a:rPr lang="en-US" dirty="0"/>
              <a:t>New Technology File System (NTFS) and ext4 are popular filesystems on Windows and Linux </a:t>
            </a:r>
            <a:r>
              <a:rPr lang="en-US" dirty="0" smtClean="0"/>
              <a:t>respectively</a:t>
            </a:r>
          </a:p>
          <a:p>
            <a:pPr marL="533400" indent="-304800" algn="just">
              <a:lnSpc>
                <a:spcPct val="100000"/>
              </a:lnSpc>
              <a:spcBef>
                <a:spcPts val="0"/>
              </a:spcBef>
              <a:buFont typeface="Wingdings" panose="05000000000000000000" pitchFamily="2" charset="2"/>
              <a:buChar char="Ø"/>
            </a:pPr>
            <a:endParaRPr lang="en-US" dirty="0"/>
          </a:p>
          <a:p>
            <a:pPr marL="533400" indent="-304800" algn="just">
              <a:lnSpc>
                <a:spcPct val="100000"/>
              </a:lnSpc>
              <a:spcBef>
                <a:spcPts val="0"/>
              </a:spcBef>
              <a:buFont typeface="Wingdings" panose="05000000000000000000" pitchFamily="2" charset="2"/>
              <a:buChar char="Ø"/>
            </a:pPr>
            <a:r>
              <a:rPr lang="en-US" dirty="0"/>
              <a:t>OS handles the details of storing directory entities, files, and </a:t>
            </a:r>
            <a:r>
              <a:rPr lang="en-US" dirty="0" smtClean="0"/>
              <a:t>metadata</a:t>
            </a:r>
          </a:p>
          <a:p>
            <a:pPr marL="533400" indent="-304800" algn="just">
              <a:lnSpc>
                <a:spcPct val="100000"/>
              </a:lnSpc>
              <a:spcBef>
                <a:spcPts val="0"/>
              </a:spcBef>
              <a:buFont typeface="Wingdings" panose="05000000000000000000" pitchFamily="2" charset="2"/>
              <a:buChar char="Ø"/>
            </a:pPr>
            <a:endParaRPr lang="en-US" dirty="0"/>
          </a:p>
          <a:p>
            <a:pPr marL="533400" indent="-304800" algn="just">
              <a:lnSpc>
                <a:spcPct val="100000"/>
              </a:lnSpc>
              <a:spcBef>
                <a:spcPts val="0"/>
              </a:spcBef>
              <a:buFont typeface="Wingdings" panose="05000000000000000000" pitchFamily="2" charset="2"/>
              <a:buChar char="Ø"/>
            </a:pPr>
            <a:r>
              <a:rPr lang="en-US" dirty="0" smtClean="0"/>
              <a:t>Designed </a:t>
            </a:r>
            <a:r>
              <a:rPr lang="en-US" dirty="0"/>
              <a:t>to write data to allow for easy recovery in the event of power loss during a write, though any unwritten data will still be lost</a:t>
            </a:r>
            <a:r>
              <a:rPr lang="en-US" dirty="0" smtClean="0"/>
              <a:t>.</a:t>
            </a:r>
          </a:p>
          <a:p>
            <a:pPr marL="533400" indent="-304800" algn="just">
              <a:lnSpc>
                <a:spcPct val="100000"/>
              </a:lnSpc>
              <a:spcBef>
                <a:spcPts val="0"/>
              </a:spcBef>
              <a:buFont typeface="Wingdings" panose="05000000000000000000" pitchFamily="2" charset="2"/>
              <a:buChar char="Ø"/>
            </a:pPr>
            <a:endParaRPr lang="en-US" dirty="0"/>
          </a:p>
          <a:p>
            <a:pPr marL="533400" indent="-304800" algn="just">
              <a:lnSpc>
                <a:spcPct val="100000"/>
              </a:lnSpc>
              <a:spcBef>
                <a:spcPts val="0"/>
              </a:spcBef>
              <a:buFont typeface="Wingdings" panose="05000000000000000000" pitchFamily="2" charset="2"/>
              <a:buChar char="Ø"/>
            </a:pPr>
            <a:r>
              <a:rPr lang="en-US" dirty="0" smtClean="0"/>
              <a:t>Support </a:t>
            </a:r>
            <a:r>
              <a:rPr lang="en-US" dirty="0"/>
              <a:t>full read after write consistency; reading immediately after a write will return the written </a:t>
            </a:r>
            <a:r>
              <a:rPr lang="en-US" dirty="0" smtClean="0"/>
              <a:t>data</a:t>
            </a:r>
          </a:p>
          <a:p>
            <a:pPr marL="533400" indent="-304800" algn="just">
              <a:lnSpc>
                <a:spcPct val="100000"/>
              </a:lnSpc>
              <a:spcBef>
                <a:spcPts val="0"/>
              </a:spcBef>
              <a:buFont typeface="Wingdings" panose="05000000000000000000" pitchFamily="2" charset="2"/>
              <a:buChar char="Ø"/>
            </a:pPr>
            <a:endParaRPr lang="en-US" dirty="0"/>
          </a:p>
          <a:p>
            <a:pPr marL="533400" indent="-304800" algn="just">
              <a:lnSpc>
                <a:spcPct val="100000"/>
              </a:lnSpc>
              <a:spcBef>
                <a:spcPts val="0"/>
              </a:spcBef>
              <a:buFont typeface="Wingdings" panose="05000000000000000000" pitchFamily="2" charset="2"/>
              <a:buChar char="Ø"/>
            </a:pPr>
            <a:r>
              <a:rPr lang="en-US" dirty="0" smtClean="0"/>
              <a:t>Employs </a:t>
            </a:r>
            <a:r>
              <a:rPr lang="en-US" dirty="0"/>
              <a:t>various locking strategies to manage concurrent writing attempts to a file</a:t>
            </a:r>
          </a:p>
          <a:p>
            <a:pPr marL="533400" indent="-304800" algn="just">
              <a:lnSpc>
                <a:spcPct val="100000"/>
              </a:lnSpc>
              <a:spcBef>
                <a:spcPts val="0"/>
              </a:spcBef>
              <a:buNone/>
            </a:pPr>
            <a:endParaRPr lang="en-US" b="1" u="sng" dirty="0"/>
          </a:p>
        </p:txBody>
      </p:sp>
    </p:spTree>
    <p:extLst>
      <p:ext uri="{BB962C8B-B14F-4D97-AF65-F5344CB8AC3E}">
        <p14:creationId xmlns:p14="http://schemas.microsoft.com/office/powerpoint/2010/main" val="21508894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E29FE-E27A-DBBD-6C59-12C2EFEDF9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B6455C-8E76-124C-1799-CEA5EEB30078}"/>
              </a:ext>
            </a:extLst>
          </p:cNvPr>
          <p:cNvSpPr>
            <a:spLocks noGrp="1"/>
          </p:cNvSpPr>
          <p:nvPr>
            <p:ph type="title"/>
          </p:nvPr>
        </p:nvSpPr>
        <p:spPr/>
        <p:txBody>
          <a:bodyPr/>
          <a:lstStyle/>
          <a:p>
            <a:r>
              <a:rPr lang="en-US" dirty="0"/>
              <a:t>File Storage – Types - </a:t>
            </a:r>
            <a:r>
              <a:rPr lang="en-US" dirty="0" err="1"/>
              <a:t>Contd</a:t>
            </a:r>
            <a:endParaRPr lang="en-US" dirty="0"/>
          </a:p>
        </p:txBody>
      </p:sp>
      <p:sp>
        <p:nvSpPr>
          <p:cNvPr id="5" name="Text Placeholder 2">
            <a:extLst>
              <a:ext uri="{FF2B5EF4-FFF2-40B4-BE49-F238E27FC236}">
                <a16:creationId xmlns:a16="http://schemas.microsoft.com/office/drawing/2014/main" id="{EA63AB11-CB5D-E82A-9223-5679EAC62B56}"/>
              </a:ext>
            </a:extLst>
          </p:cNvPr>
          <p:cNvSpPr txBox="1">
            <a:spLocks/>
          </p:cNvSpPr>
          <p:nvPr/>
        </p:nvSpPr>
        <p:spPr>
          <a:xfrm>
            <a:off x="0" y="957878"/>
            <a:ext cx="11734800" cy="5900121"/>
          </a:xfrm>
          <a:prstGeom prst="rect">
            <a:avLst/>
          </a:prstGeom>
          <a:ln>
            <a:noFill/>
          </a:ln>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3400" indent="-352425" algn="just">
              <a:lnSpc>
                <a:spcPct val="110000"/>
              </a:lnSpc>
              <a:spcBef>
                <a:spcPts val="0"/>
              </a:spcBef>
              <a:buNone/>
            </a:pPr>
            <a:r>
              <a:rPr lang="en-US" b="1" u="sng" dirty="0"/>
              <a:t>Network-attached storage</a:t>
            </a:r>
          </a:p>
          <a:p>
            <a:pPr marL="533400" indent="-352425" algn="just">
              <a:lnSpc>
                <a:spcPct val="110000"/>
              </a:lnSpc>
              <a:spcBef>
                <a:spcPts val="0"/>
              </a:spcBef>
              <a:buFont typeface="Wingdings" panose="05000000000000000000" pitchFamily="2" charset="2"/>
              <a:buChar char="Ø"/>
            </a:pPr>
            <a:r>
              <a:rPr lang="en-US" dirty="0" smtClean="0"/>
              <a:t>Provide </a:t>
            </a:r>
            <a:r>
              <a:rPr lang="en-US" dirty="0"/>
              <a:t>a file storage system to clients over a network </a:t>
            </a:r>
            <a:endParaRPr lang="en-US" dirty="0" smtClean="0"/>
          </a:p>
          <a:p>
            <a:pPr marL="533400" indent="-352425" algn="just">
              <a:lnSpc>
                <a:spcPct val="110000"/>
              </a:lnSpc>
              <a:spcBef>
                <a:spcPts val="0"/>
              </a:spcBef>
              <a:buFont typeface="Wingdings" panose="05000000000000000000" pitchFamily="2" charset="2"/>
              <a:buChar char="Ø"/>
            </a:pPr>
            <a:endParaRPr lang="en-US" sz="1000" dirty="0" smtClean="0"/>
          </a:p>
          <a:p>
            <a:pPr marL="533400" indent="-352425" algn="just">
              <a:lnSpc>
                <a:spcPct val="110000"/>
              </a:lnSpc>
              <a:spcBef>
                <a:spcPts val="0"/>
              </a:spcBef>
              <a:buFont typeface="Wingdings" panose="05000000000000000000" pitchFamily="2" charset="2"/>
              <a:buChar char="Ø"/>
            </a:pPr>
            <a:r>
              <a:rPr lang="en-US" dirty="0" smtClean="0"/>
              <a:t>Prevalent </a:t>
            </a:r>
            <a:r>
              <a:rPr lang="en-US" dirty="0"/>
              <a:t>solution for servers; they quite often ship with built-in dedicated NAS interface </a:t>
            </a:r>
            <a:r>
              <a:rPr lang="en-US" dirty="0" smtClean="0"/>
              <a:t>hardware</a:t>
            </a:r>
          </a:p>
          <a:p>
            <a:pPr marL="533400" indent="-352425" algn="just">
              <a:lnSpc>
                <a:spcPct val="110000"/>
              </a:lnSpc>
              <a:spcBef>
                <a:spcPts val="0"/>
              </a:spcBef>
              <a:buFont typeface="Wingdings" panose="05000000000000000000" pitchFamily="2" charset="2"/>
              <a:buChar char="Ø"/>
            </a:pPr>
            <a:endParaRPr lang="en-US" sz="1000" dirty="0"/>
          </a:p>
          <a:p>
            <a:pPr marL="533400" indent="-352425" algn="just">
              <a:lnSpc>
                <a:spcPct val="110000"/>
              </a:lnSpc>
              <a:spcBef>
                <a:spcPts val="0"/>
              </a:spcBef>
              <a:buFont typeface="Wingdings" panose="05000000000000000000" pitchFamily="2" charset="2"/>
              <a:buChar char="Ø"/>
            </a:pPr>
            <a:r>
              <a:rPr lang="en-US" dirty="0" smtClean="0"/>
              <a:t>Has </a:t>
            </a:r>
            <a:r>
              <a:rPr lang="en-US" dirty="0"/>
              <a:t>performance penalties to accessing the filesystem over a </a:t>
            </a:r>
            <a:r>
              <a:rPr lang="en-US" dirty="0" smtClean="0"/>
              <a:t>network</a:t>
            </a:r>
          </a:p>
          <a:p>
            <a:pPr marL="533400" indent="-352425" algn="just">
              <a:lnSpc>
                <a:spcPct val="110000"/>
              </a:lnSpc>
              <a:spcBef>
                <a:spcPts val="0"/>
              </a:spcBef>
              <a:buFont typeface="Wingdings" panose="05000000000000000000" pitchFamily="2" charset="2"/>
              <a:buChar char="Ø"/>
            </a:pPr>
            <a:endParaRPr lang="en-US" sz="1000" dirty="0"/>
          </a:p>
          <a:p>
            <a:pPr marL="533400" indent="-352425" algn="just">
              <a:lnSpc>
                <a:spcPct val="110000"/>
              </a:lnSpc>
              <a:spcBef>
                <a:spcPts val="0"/>
              </a:spcBef>
              <a:buFont typeface="Wingdings" panose="05000000000000000000" pitchFamily="2" charset="2"/>
              <a:buChar char="Ø"/>
            </a:pPr>
            <a:r>
              <a:rPr lang="en-US" dirty="0" smtClean="0"/>
              <a:t>Significant </a:t>
            </a:r>
            <a:r>
              <a:rPr lang="en-US" dirty="0"/>
              <a:t>advantages includes redundancy and reliability, fine-grained control of resources and file sharing across multiple machines</a:t>
            </a:r>
          </a:p>
          <a:p>
            <a:pPr marL="533400" indent="-352425" algn="just">
              <a:lnSpc>
                <a:spcPct val="110000"/>
              </a:lnSpc>
              <a:spcBef>
                <a:spcPts val="0"/>
              </a:spcBef>
              <a:buNone/>
            </a:pPr>
            <a:r>
              <a:rPr lang="en-US" b="1" u="sng" dirty="0"/>
              <a:t>Cloud </a:t>
            </a:r>
            <a:r>
              <a:rPr lang="en-US" b="1" u="sng" dirty="0" err="1"/>
              <a:t>filesystem</a:t>
            </a:r>
            <a:r>
              <a:rPr lang="en-US" b="1" u="sng" dirty="0"/>
              <a:t> </a:t>
            </a:r>
            <a:r>
              <a:rPr lang="en-US" b="1" u="sng" dirty="0" smtClean="0"/>
              <a:t>services</a:t>
            </a:r>
          </a:p>
          <a:p>
            <a:pPr marL="533400" indent="-352425" algn="just">
              <a:lnSpc>
                <a:spcPct val="110000"/>
              </a:lnSpc>
              <a:spcBef>
                <a:spcPts val="0"/>
              </a:spcBef>
              <a:buNone/>
            </a:pPr>
            <a:endParaRPr lang="en-US" sz="1000" b="1" u="sng" dirty="0"/>
          </a:p>
          <a:p>
            <a:pPr marL="533400" indent="-352425" algn="just">
              <a:lnSpc>
                <a:spcPct val="110000"/>
              </a:lnSpc>
              <a:spcBef>
                <a:spcPts val="0"/>
              </a:spcBef>
              <a:buFont typeface="Wingdings" panose="05000000000000000000" pitchFamily="2" charset="2"/>
              <a:buChar char="Ø"/>
            </a:pPr>
            <a:r>
              <a:rPr lang="en-US" dirty="0" smtClean="0"/>
              <a:t>Provide </a:t>
            </a:r>
            <a:r>
              <a:rPr lang="en-US" dirty="0"/>
              <a:t>a fully managed filesystem for use with multiple cloud VMs and applications, potentially including clients outside the cloud </a:t>
            </a:r>
            <a:r>
              <a:rPr lang="en-US" dirty="0" smtClean="0"/>
              <a:t>environment</a:t>
            </a:r>
          </a:p>
          <a:p>
            <a:pPr marL="533400" indent="-352425" algn="just">
              <a:lnSpc>
                <a:spcPct val="110000"/>
              </a:lnSpc>
              <a:spcBef>
                <a:spcPts val="0"/>
              </a:spcBef>
              <a:buFont typeface="Wingdings" panose="05000000000000000000" pitchFamily="2" charset="2"/>
              <a:buChar char="Ø"/>
            </a:pPr>
            <a:endParaRPr lang="en-US" sz="1000" dirty="0"/>
          </a:p>
          <a:p>
            <a:pPr marL="533400" indent="-352425" algn="just">
              <a:lnSpc>
                <a:spcPct val="110000"/>
              </a:lnSpc>
              <a:spcBef>
                <a:spcPts val="0"/>
              </a:spcBef>
              <a:buFont typeface="Wingdings" panose="05000000000000000000" pitchFamily="2" charset="2"/>
              <a:buChar char="Ø"/>
            </a:pPr>
            <a:r>
              <a:rPr lang="en-US" dirty="0" smtClean="0"/>
              <a:t>Should </a:t>
            </a:r>
            <a:r>
              <a:rPr lang="en-US" dirty="0"/>
              <a:t>not be confused with standard storage attached to VMs—generally, block storage with a filesystem managed by the VM operating </a:t>
            </a:r>
            <a:r>
              <a:rPr lang="en-US" dirty="0" smtClean="0"/>
              <a:t>system</a:t>
            </a:r>
          </a:p>
          <a:p>
            <a:pPr marL="533400" indent="-352425" algn="just">
              <a:lnSpc>
                <a:spcPct val="110000"/>
              </a:lnSpc>
              <a:spcBef>
                <a:spcPts val="0"/>
              </a:spcBef>
              <a:buFont typeface="Wingdings" panose="05000000000000000000" pitchFamily="2" charset="2"/>
              <a:buChar char="Ø"/>
            </a:pPr>
            <a:endParaRPr lang="en-US" sz="1000" dirty="0"/>
          </a:p>
          <a:p>
            <a:pPr marL="533400" indent="-352425" algn="just">
              <a:lnSpc>
                <a:spcPct val="110000"/>
              </a:lnSpc>
              <a:spcBef>
                <a:spcPts val="0"/>
              </a:spcBef>
              <a:buFont typeface="Wingdings" panose="05000000000000000000" pitchFamily="2" charset="2"/>
              <a:buChar char="Ø"/>
            </a:pPr>
            <a:r>
              <a:rPr lang="en-US" dirty="0" smtClean="0"/>
              <a:t>Behave </a:t>
            </a:r>
            <a:r>
              <a:rPr lang="en-US" dirty="0"/>
              <a:t>much like NAS solutions, but the details of networking, managing disk clusters, failures, and configuration are fully handled by the cloud </a:t>
            </a:r>
            <a:r>
              <a:rPr lang="en-US" dirty="0" smtClean="0"/>
              <a:t>vendor</a:t>
            </a:r>
          </a:p>
          <a:p>
            <a:pPr marL="533400" indent="-352425" algn="just">
              <a:lnSpc>
                <a:spcPct val="110000"/>
              </a:lnSpc>
              <a:spcBef>
                <a:spcPts val="0"/>
              </a:spcBef>
              <a:buFont typeface="Wingdings" panose="05000000000000000000" pitchFamily="2" charset="2"/>
              <a:buChar char="Ø"/>
            </a:pPr>
            <a:endParaRPr lang="en-US" sz="1000" dirty="0"/>
          </a:p>
          <a:p>
            <a:pPr marL="533400" indent="-352425" algn="just">
              <a:lnSpc>
                <a:spcPct val="110000"/>
              </a:lnSpc>
              <a:spcBef>
                <a:spcPts val="0"/>
              </a:spcBef>
              <a:buFont typeface="Wingdings" panose="05000000000000000000" pitchFamily="2" charset="2"/>
              <a:buChar char="Ø"/>
            </a:pPr>
            <a:r>
              <a:rPr lang="en-US" dirty="0"/>
              <a:t>Amazon Elastic File System (EFS) is an extremely popular example of a cloud </a:t>
            </a:r>
            <a:r>
              <a:rPr lang="en-US" dirty="0" err="1"/>
              <a:t>filesystem</a:t>
            </a:r>
            <a:r>
              <a:rPr lang="en-US" dirty="0"/>
              <a:t> </a:t>
            </a:r>
            <a:r>
              <a:rPr lang="en-US" dirty="0" smtClean="0"/>
              <a:t>service</a:t>
            </a:r>
            <a:endParaRPr lang="en-US" b="1" u="sng" dirty="0"/>
          </a:p>
        </p:txBody>
      </p:sp>
    </p:spTree>
    <p:extLst>
      <p:ext uri="{BB962C8B-B14F-4D97-AF65-F5344CB8AC3E}">
        <p14:creationId xmlns:p14="http://schemas.microsoft.com/office/powerpoint/2010/main" val="9434718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06BC1-EA52-35E5-09DA-C63FF78D71A9}"/>
              </a:ext>
            </a:extLst>
          </p:cNvPr>
          <p:cNvSpPr>
            <a:spLocks noGrp="1"/>
          </p:cNvSpPr>
          <p:nvPr>
            <p:ph type="title"/>
          </p:nvPr>
        </p:nvSpPr>
        <p:spPr/>
        <p:txBody>
          <a:bodyPr/>
          <a:lstStyle/>
          <a:p>
            <a:r>
              <a:rPr lang="en-US" dirty="0"/>
              <a:t>Block Storage</a:t>
            </a:r>
          </a:p>
        </p:txBody>
      </p:sp>
      <p:sp>
        <p:nvSpPr>
          <p:cNvPr id="3" name="Text Placeholder 2">
            <a:extLst>
              <a:ext uri="{FF2B5EF4-FFF2-40B4-BE49-F238E27FC236}">
                <a16:creationId xmlns:a16="http://schemas.microsoft.com/office/drawing/2014/main" id="{3E66680B-A22D-72C3-7C61-3B9DDA68C4B0}"/>
              </a:ext>
            </a:extLst>
          </p:cNvPr>
          <p:cNvSpPr>
            <a:spLocks noGrp="1"/>
          </p:cNvSpPr>
          <p:nvPr>
            <p:ph type="body" sz="quarter" idx="13"/>
          </p:nvPr>
        </p:nvSpPr>
        <p:spPr>
          <a:xfrm>
            <a:off x="152400" y="942862"/>
            <a:ext cx="5181600" cy="5754569"/>
          </a:xfrm>
        </p:spPr>
        <p:style>
          <a:lnRef idx="2">
            <a:schemeClr val="accent2"/>
          </a:lnRef>
          <a:fillRef idx="1">
            <a:schemeClr val="lt1"/>
          </a:fillRef>
          <a:effectRef idx="0">
            <a:schemeClr val="accent2"/>
          </a:effectRef>
          <a:fontRef idx="minor">
            <a:schemeClr val="dk1"/>
          </a:fontRef>
        </p:style>
        <p:txBody>
          <a:bodyPr>
            <a:noAutofit/>
          </a:bodyPr>
          <a:lstStyle/>
          <a:p>
            <a:pPr marL="361950" indent="-271463" algn="just">
              <a:lnSpc>
                <a:spcPct val="100000"/>
              </a:lnSpc>
              <a:spcBef>
                <a:spcPts val="0"/>
              </a:spcBef>
              <a:buFont typeface="Wingdings" panose="05000000000000000000" pitchFamily="2" charset="2"/>
              <a:buChar char="Ø"/>
            </a:pPr>
            <a:r>
              <a:rPr lang="en-US" sz="1700" dirty="0"/>
              <a:t>Fundamentally type of raw </a:t>
            </a:r>
            <a:r>
              <a:rPr lang="en-US" sz="1700" dirty="0" smtClean="0"/>
              <a:t>storage </a:t>
            </a:r>
            <a:r>
              <a:rPr lang="en-US" sz="1700" dirty="0"/>
              <a:t>provided by SSDs and magnetic </a:t>
            </a:r>
            <a:r>
              <a:rPr lang="en-US" sz="1700" dirty="0" smtClean="0"/>
              <a:t>disks</a:t>
            </a:r>
          </a:p>
          <a:p>
            <a:pPr marL="361950" indent="-271463" algn="just">
              <a:lnSpc>
                <a:spcPct val="100000"/>
              </a:lnSpc>
              <a:spcBef>
                <a:spcPts val="0"/>
              </a:spcBef>
              <a:buFont typeface="Wingdings" panose="05000000000000000000" pitchFamily="2" charset="2"/>
              <a:buChar char="Ø"/>
            </a:pPr>
            <a:endParaRPr lang="en-US" sz="1700" dirty="0"/>
          </a:p>
          <a:p>
            <a:pPr marL="361950" indent="-271463" algn="just">
              <a:lnSpc>
                <a:spcPct val="100000"/>
              </a:lnSpc>
              <a:spcBef>
                <a:spcPts val="0"/>
              </a:spcBef>
              <a:buFont typeface="Wingdings" panose="05000000000000000000" pitchFamily="2" charset="2"/>
              <a:buChar char="Ø"/>
            </a:pPr>
            <a:r>
              <a:rPr lang="en-US" sz="1700" dirty="0"/>
              <a:t>In the cloud, virtualized block storage is the standard for </a:t>
            </a:r>
            <a:r>
              <a:rPr lang="en-US" sz="1700" dirty="0" smtClean="0"/>
              <a:t>VMs</a:t>
            </a:r>
          </a:p>
          <a:p>
            <a:pPr marL="361950" indent="-271463" algn="just">
              <a:lnSpc>
                <a:spcPct val="100000"/>
              </a:lnSpc>
              <a:spcBef>
                <a:spcPts val="0"/>
              </a:spcBef>
              <a:buFont typeface="Wingdings" panose="05000000000000000000" pitchFamily="2" charset="2"/>
              <a:buChar char="Ø"/>
            </a:pPr>
            <a:endParaRPr lang="en-US" sz="1700" dirty="0"/>
          </a:p>
          <a:p>
            <a:pPr marL="361950" indent="-271463" algn="just">
              <a:lnSpc>
                <a:spcPct val="100000"/>
              </a:lnSpc>
              <a:spcBef>
                <a:spcPts val="0"/>
              </a:spcBef>
              <a:buFont typeface="Wingdings" panose="05000000000000000000" pitchFamily="2" charset="2"/>
              <a:buChar char="Ø"/>
            </a:pPr>
            <a:r>
              <a:rPr lang="en-US" sz="1700" dirty="0" smtClean="0"/>
              <a:t>Allow </a:t>
            </a:r>
            <a:r>
              <a:rPr lang="en-US" sz="1700" dirty="0"/>
              <a:t>fine control of storage size, scalability, and data durability beyond that offered by raw disks</a:t>
            </a:r>
            <a:r>
              <a:rPr lang="en-US" sz="1700" dirty="0" smtClean="0"/>
              <a:t>.</a:t>
            </a:r>
          </a:p>
          <a:p>
            <a:pPr marL="361950" indent="-271463" algn="just">
              <a:lnSpc>
                <a:spcPct val="100000"/>
              </a:lnSpc>
              <a:spcBef>
                <a:spcPts val="0"/>
              </a:spcBef>
              <a:buFont typeface="Wingdings" panose="05000000000000000000" pitchFamily="2" charset="2"/>
              <a:buChar char="Ø"/>
            </a:pPr>
            <a:endParaRPr lang="en-US" sz="1700" dirty="0"/>
          </a:p>
          <a:p>
            <a:pPr marL="361950" indent="-271463" algn="just">
              <a:lnSpc>
                <a:spcPct val="100000"/>
              </a:lnSpc>
              <a:spcBef>
                <a:spcPts val="0"/>
              </a:spcBef>
              <a:buNone/>
            </a:pPr>
            <a:r>
              <a:rPr lang="en-US" sz="1700" b="1" u="sng" dirty="0"/>
              <a:t>Block storage applications</a:t>
            </a:r>
          </a:p>
          <a:p>
            <a:pPr marL="361950" indent="-271463" algn="just">
              <a:lnSpc>
                <a:spcPct val="100000"/>
              </a:lnSpc>
              <a:spcBef>
                <a:spcPts val="0"/>
              </a:spcBef>
              <a:buFont typeface="Wingdings" panose="05000000000000000000" pitchFamily="2" charset="2"/>
              <a:buChar char="Ø"/>
            </a:pPr>
            <a:endParaRPr lang="en-US" sz="1700" dirty="0" smtClean="0"/>
          </a:p>
          <a:p>
            <a:pPr marL="361950" indent="-271463" algn="just">
              <a:lnSpc>
                <a:spcPct val="100000"/>
              </a:lnSpc>
              <a:spcBef>
                <a:spcPts val="0"/>
              </a:spcBef>
              <a:buFont typeface="Wingdings" panose="05000000000000000000" pitchFamily="2" charset="2"/>
              <a:buChar char="Ø"/>
            </a:pPr>
            <a:r>
              <a:rPr lang="en-US" sz="1700" dirty="0" smtClean="0"/>
              <a:t>Transactional </a:t>
            </a:r>
            <a:r>
              <a:rPr lang="en-US" sz="1700" dirty="0"/>
              <a:t>database systems generally access disks at a block level to lay out data for optimal </a:t>
            </a:r>
            <a:r>
              <a:rPr lang="en-US" sz="1700" dirty="0" smtClean="0"/>
              <a:t>performance</a:t>
            </a:r>
          </a:p>
          <a:p>
            <a:pPr marL="361950" indent="-271463" algn="just">
              <a:lnSpc>
                <a:spcPct val="100000"/>
              </a:lnSpc>
              <a:spcBef>
                <a:spcPts val="0"/>
              </a:spcBef>
              <a:buFont typeface="Wingdings" panose="05000000000000000000" pitchFamily="2" charset="2"/>
              <a:buChar char="Ø"/>
            </a:pPr>
            <a:endParaRPr lang="en-US" sz="1700" dirty="0"/>
          </a:p>
          <a:p>
            <a:pPr marL="361950" indent="-271463" algn="just">
              <a:lnSpc>
                <a:spcPct val="100000"/>
              </a:lnSpc>
              <a:spcBef>
                <a:spcPts val="0"/>
              </a:spcBef>
              <a:buFont typeface="Wingdings" panose="05000000000000000000" pitchFamily="2" charset="2"/>
              <a:buChar char="Ø"/>
            </a:pPr>
            <a:r>
              <a:rPr lang="en-US" sz="1700" dirty="0"/>
              <a:t>Operating system boot disks on cloud VMs</a:t>
            </a:r>
            <a:endParaRPr lang="en-IN" sz="1700" dirty="0"/>
          </a:p>
          <a:p>
            <a:pPr marL="361950" indent="-271463" algn="just">
              <a:lnSpc>
                <a:spcPct val="100000"/>
              </a:lnSpc>
              <a:spcBef>
                <a:spcPts val="0"/>
              </a:spcBef>
              <a:buFont typeface="Wingdings" panose="05000000000000000000" pitchFamily="2" charset="2"/>
              <a:buChar char="Ø"/>
            </a:pPr>
            <a:endParaRPr lang="en-US" sz="1700" dirty="0"/>
          </a:p>
        </p:txBody>
      </p:sp>
      <p:sp>
        <p:nvSpPr>
          <p:cNvPr id="5" name="Text Placeholder 2">
            <a:extLst>
              <a:ext uri="{FF2B5EF4-FFF2-40B4-BE49-F238E27FC236}">
                <a16:creationId xmlns:a16="http://schemas.microsoft.com/office/drawing/2014/main" id="{0970658F-9EFE-6527-E7E9-9AC988F94C68}"/>
              </a:ext>
            </a:extLst>
          </p:cNvPr>
          <p:cNvSpPr txBox="1">
            <a:spLocks/>
          </p:cNvSpPr>
          <p:nvPr/>
        </p:nvSpPr>
        <p:spPr>
          <a:xfrm>
            <a:off x="5334000" y="951031"/>
            <a:ext cx="6858000" cy="5754569"/>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indent="-361950" algn="just">
              <a:lnSpc>
                <a:spcPct val="100000"/>
              </a:lnSpc>
              <a:spcBef>
                <a:spcPts val="0"/>
              </a:spcBef>
              <a:buFont typeface="Wingdings" panose="05000000000000000000" pitchFamily="2" charset="2"/>
              <a:buChar char="Ø"/>
            </a:pPr>
            <a:r>
              <a:rPr lang="en-US" sz="1700" b="1" u="sng" dirty="0"/>
              <a:t>Characteristics of a block</a:t>
            </a:r>
          </a:p>
          <a:p>
            <a:pPr marL="361950" indent="-361950" algn="just">
              <a:lnSpc>
                <a:spcPct val="100000"/>
              </a:lnSpc>
              <a:spcBef>
                <a:spcPts val="0"/>
              </a:spcBef>
              <a:buFont typeface="Wingdings" panose="05000000000000000000" pitchFamily="2" charset="2"/>
              <a:buChar char="Ø"/>
            </a:pPr>
            <a:endParaRPr lang="en-US" sz="1700" dirty="0" smtClean="0"/>
          </a:p>
          <a:p>
            <a:pPr marL="361950" indent="-361950" algn="just">
              <a:lnSpc>
                <a:spcPct val="100000"/>
              </a:lnSpc>
              <a:spcBef>
                <a:spcPts val="0"/>
              </a:spcBef>
              <a:buFont typeface="Wingdings" panose="05000000000000000000" pitchFamily="2" charset="2"/>
              <a:buChar char="Ø"/>
            </a:pPr>
            <a:r>
              <a:rPr lang="en-US" sz="1700" dirty="0" smtClean="0"/>
              <a:t>A </a:t>
            </a:r>
            <a:r>
              <a:rPr lang="en-US" sz="1700" dirty="0"/>
              <a:t>block is the smallest addressable unit of data supported by a </a:t>
            </a:r>
            <a:r>
              <a:rPr lang="en-US" sz="1700" dirty="0" smtClean="0"/>
              <a:t>disk</a:t>
            </a:r>
          </a:p>
          <a:p>
            <a:pPr marL="361950" indent="-361950" algn="just">
              <a:lnSpc>
                <a:spcPct val="100000"/>
              </a:lnSpc>
              <a:spcBef>
                <a:spcPts val="0"/>
              </a:spcBef>
              <a:buFont typeface="Wingdings" panose="05000000000000000000" pitchFamily="2" charset="2"/>
              <a:buChar char="Ø"/>
            </a:pPr>
            <a:endParaRPr lang="en-US" sz="1700" dirty="0"/>
          </a:p>
          <a:p>
            <a:pPr marL="361950" indent="-361950" algn="just">
              <a:lnSpc>
                <a:spcPct val="100000"/>
              </a:lnSpc>
              <a:spcBef>
                <a:spcPts val="0"/>
              </a:spcBef>
              <a:buFont typeface="Wingdings" panose="05000000000000000000" pitchFamily="2" charset="2"/>
              <a:buChar char="Ø"/>
            </a:pPr>
            <a:r>
              <a:rPr lang="en-US" sz="1700" dirty="0"/>
              <a:t>Often 512 bytes of usable data on older disks, but it has now grown to 4,096 bytes for most current </a:t>
            </a:r>
            <a:r>
              <a:rPr lang="en-US" sz="1700" dirty="0" smtClean="0"/>
              <a:t>disks</a:t>
            </a:r>
          </a:p>
          <a:p>
            <a:pPr marL="361950" indent="-361950" algn="just">
              <a:lnSpc>
                <a:spcPct val="100000"/>
              </a:lnSpc>
              <a:spcBef>
                <a:spcPts val="0"/>
              </a:spcBef>
              <a:buFont typeface="Wingdings" panose="05000000000000000000" pitchFamily="2" charset="2"/>
              <a:buChar char="Ø"/>
            </a:pPr>
            <a:endParaRPr lang="en-US" sz="1700" dirty="0"/>
          </a:p>
          <a:p>
            <a:pPr marL="361950" indent="-361950" algn="just">
              <a:lnSpc>
                <a:spcPct val="100000"/>
              </a:lnSpc>
              <a:spcBef>
                <a:spcPts val="0"/>
              </a:spcBef>
              <a:buFont typeface="Wingdings" panose="05000000000000000000" pitchFamily="2" charset="2"/>
              <a:buChar char="Ø"/>
            </a:pPr>
            <a:r>
              <a:rPr lang="en-US" sz="1700" dirty="0" smtClean="0"/>
              <a:t>Also </a:t>
            </a:r>
            <a:r>
              <a:rPr lang="en-US" sz="1700" dirty="0"/>
              <a:t>contain extra bits for error detection/correction and other </a:t>
            </a:r>
            <a:r>
              <a:rPr lang="en-US" sz="1700" dirty="0" smtClean="0"/>
              <a:t>metadata</a:t>
            </a:r>
          </a:p>
          <a:p>
            <a:pPr marL="361950" indent="-361950" algn="just">
              <a:lnSpc>
                <a:spcPct val="100000"/>
              </a:lnSpc>
              <a:spcBef>
                <a:spcPts val="0"/>
              </a:spcBef>
              <a:buFont typeface="Wingdings" panose="05000000000000000000" pitchFamily="2" charset="2"/>
              <a:buChar char="Ø"/>
            </a:pPr>
            <a:endParaRPr lang="en-US" sz="1700" dirty="0"/>
          </a:p>
          <a:p>
            <a:pPr marL="361950" indent="-361950" algn="just">
              <a:lnSpc>
                <a:spcPct val="100000"/>
              </a:lnSpc>
              <a:spcBef>
                <a:spcPts val="0"/>
              </a:spcBef>
              <a:buFont typeface="Wingdings" panose="05000000000000000000" pitchFamily="2" charset="2"/>
              <a:buChar char="Ø"/>
            </a:pPr>
            <a:r>
              <a:rPr lang="en-US" sz="1700" dirty="0"/>
              <a:t>Blocks on magnetic disks are geometrically arranged on a physical </a:t>
            </a:r>
            <a:r>
              <a:rPr lang="en-US" sz="1700" dirty="0" smtClean="0"/>
              <a:t>platter</a:t>
            </a:r>
          </a:p>
          <a:p>
            <a:pPr marL="361950" indent="-361950" algn="just">
              <a:lnSpc>
                <a:spcPct val="100000"/>
              </a:lnSpc>
              <a:spcBef>
                <a:spcPts val="0"/>
              </a:spcBef>
              <a:buFont typeface="Wingdings" panose="05000000000000000000" pitchFamily="2" charset="2"/>
              <a:buChar char="Ø"/>
            </a:pPr>
            <a:endParaRPr lang="en-US" sz="1700" dirty="0"/>
          </a:p>
          <a:p>
            <a:pPr marL="361950" indent="-361950" algn="just">
              <a:lnSpc>
                <a:spcPct val="100000"/>
              </a:lnSpc>
              <a:spcBef>
                <a:spcPts val="0"/>
              </a:spcBef>
              <a:buFont typeface="Wingdings" panose="05000000000000000000" pitchFamily="2" charset="2"/>
              <a:buChar char="Ø"/>
            </a:pPr>
            <a:r>
              <a:rPr lang="en-US" sz="1700" dirty="0"/>
              <a:t>Two blocks on the same track can be read without moving the head, while reading two blocks on separate tracks requires a </a:t>
            </a:r>
            <a:r>
              <a:rPr lang="en-US" sz="1700" dirty="0" smtClean="0"/>
              <a:t>seek</a:t>
            </a:r>
          </a:p>
          <a:p>
            <a:pPr marL="361950" indent="-361950" algn="just">
              <a:lnSpc>
                <a:spcPct val="100000"/>
              </a:lnSpc>
              <a:spcBef>
                <a:spcPts val="0"/>
              </a:spcBef>
              <a:buFont typeface="Wingdings" panose="05000000000000000000" pitchFamily="2" charset="2"/>
              <a:buChar char="Ø"/>
            </a:pPr>
            <a:endParaRPr lang="en-US" sz="1700" dirty="0"/>
          </a:p>
          <a:p>
            <a:pPr marL="361950" indent="-361950" algn="just">
              <a:lnSpc>
                <a:spcPct val="100000"/>
              </a:lnSpc>
              <a:spcBef>
                <a:spcPts val="0"/>
              </a:spcBef>
              <a:buFont typeface="Wingdings" panose="05000000000000000000" pitchFamily="2" charset="2"/>
              <a:buChar char="Ø"/>
            </a:pPr>
            <a:r>
              <a:rPr lang="en-US" sz="1700" dirty="0"/>
              <a:t>Seek time can occur between blocks on an SSD, but this is infinitesimal compared to the seek time for magnetic disk tracks.</a:t>
            </a:r>
          </a:p>
        </p:txBody>
      </p:sp>
    </p:spTree>
    <p:extLst>
      <p:ext uri="{BB962C8B-B14F-4D97-AF65-F5344CB8AC3E}">
        <p14:creationId xmlns:p14="http://schemas.microsoft.com/office/powerpoint/2010/main" val="1436641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B83DF-2F2C-AA29-10CC-5890335A4902}"/>
              </a:ext>
            </a:extLst>
          </p:cNvPr>
          <p:cNvSpPr>
            <a:spLocks noGrp="1"/>
          </p:cNvSpPr>
          <p:nvPr>
            <p:ph type="title"/>
          </p:nvPr>
        </p:nvSpPr>
        <p:spPr/>
        <p:txBody>
          <a:bodyPr/>
          <a:lstStyle/>
          <a:p>
            <a:r>
              <a:rPr lang="en-US" dirty="0"/>
              <a:t>Block Storage - Types</a:t>
            </a:r>
          </a:p>
        </p:txBody>
      </p:sp>
      <p:sp>
        <p:nvSpPr>
          <p:cNvPr id="3" name="Text Placeholder 2">
            <a:extLst>
              <a:ext uri="{FF2B5EF4-FFF2-40B4-BE49-F238E27FC236}">
                <a16:creationId xmlns:a16="http://schemas.microsoft.com/office/drawing/2014/main" id="{87FBB4C8-581E-D27B-F8DB-740639368073}"/>
              </a:ext>
            </a:extLst>
          </p:cNvPr>
          <p:cNvSpPr>
            <a:spLocks noGrp="1"/>
          </p:cNvSpPr>
          <p:nvPr>
            <p:ph type="body" sz="quarter" idx="13"/>
          </p:nvPr>
        </p:nvSpPr>
        <p:spPr>
          <a:xfrm>
            <a:off x="152401" y="982431"/>
            <a:ext cx="5943600" cy="5715000"/>
          </a:xfrm>
        </p:spPr>
        <p:style>
          <a:lnRef idx="2">
            <a:schemeClr val="accent2"/>
          </a:lnRef>
          <a:fillRef idx="1">
            <a:schemeClr val="lt1"/>
          </a:fillRef>
          <a:effectRef idx="0">
            <a:schemeClr val="accent2"/>
          </a:effectRef>
          <a:fontRef idx="minor">
            <a:schemeClr val="dk1"/>
          </a:fontRef>
        </p:style>
        <p:txBody>
          <a:bodyPr>
            <a:normAutofit/>
          </a:bodyPr>
          <a:lstStyle/>
          <a:p>
            <a:pPr marL="271463" indent="-271463" algn="just">
              <a:lnSpc>
                <a:spcPct val="150000"/>
              </a:lnSpc>
              <a:buNone/>
            </a:pPr>
            <a:r>
              <a:rPr lang="en-US" b="1" u="sng" dirty="0"/>
              <a:t>RAID </a:t>
            </a:r>
          </a:p>
          <a:p>
            <a:pPr marL="271463" indent="-271463" algn="just">
              <a:lnSpc>
                <a:spcPct val="150000"/>
              </a:lnSpc>
              <a:buFont typeface="Wingdings" panose="05000000000000000000" pitchFamily="2" charset="2"/>
              <a:buChar char="Ø"/>
            </a:pPr>
            <a:r>
              <a:rPr lang="en-US" dirty="0"/>
              <a:t>Redundant Array of Independent Disks</a:t>
            </a:r>
          </a:p>
          <a:p>
            <a:pPr marL="271463" indent="-271463" algn="just">
              <a:lnSpc>
                <a:spcPct val="150000"/>
              </a:lnSpc>
              <a:buFont typeface="Wingdings" panose="05000000000000000000" pitchFamily="2" charset="2"/>
              <a:buChar char="Ø"/>
            </a:pPr>
            <a:r>
              <a:rPr lang="en-US" dirty="0"/>
              <a:t>simultaneously controls multiple disks to</a:t>
            </a:r>
          </a:p>
          <a:p>
            <a:pPr marL="271463" lvl="1" indent="-271463" algn="just">
              <a:lnSpc>
                <a:spcPct val="150000"/>
              </a:lnSpc>
              <a:buFont typeface="Wingdings" panose="05000000000000000000" pitchFamily="2" charset="2"/>
              <a:buChar char="§"/>
            </a:pPr>
            <a:r>
              <a:rPr lang="en-US" dirty="0"/>
              <a:t>improve data durability</a:t>
            </a:r>
          </a:p>
          <a:p>
            <a:pPr marL="271463" lvl="1" indent="-271463" algn="just">
              <a:lnSpc>
                <a:spcPct val="150000"/>
              </a:lnSpc>
              <a:buFont typeface="Wingdings" panose="05000000000000000000" pitchFamily="2" charset="2"/>
              <a:buChar char="§"/>
            </a:pPr>
            <a:r>
              <a:rPr lang="en-US" dirty="0"/>
              <a:t>enhance performance</a:t>
            </a:r>
          </a:p>
          <a:p>
            <a:pPr marL="271463" lvl="1" indent="-271463" algn="just">
              <a:lnSpc>
                <a:spcPct val="150000"/>
              </a:lnSpc>
              <a:buFont typeface="Wingdings" panose="05000000000000000000" pitchFamily="2" charset="2"/>
              <a:buChar char="§"/>
            </a:pPr>
            <a:r>
              <a:rPr lang="en-US" dirty="0"/>
              <a:t>combine capacity from multiple drives</a:t>
            </a:r>
          </a:p>
          <a:p>
            <a:pPr marL="271463" indent="-271463" algn="just">
              <a:lnSpc>
                <a:spcPct val="100000"/>
              </a:lnSpc>
              <a:spcBef>
                <a:spcPts val="0"/>
              </a:spcBef>
              <a:buFont typeface="Wingdings" panose="05000000000000000000" pitchFamily="2" charset="2"/>
              <a:buChar char="Ø"/>
            </a:pPr>
            <a:endParaRPr lang="en-US" dirty="0" smtClean="0"/>
          </a:p>
          <a:p>
            <a:pPr marL="271463" indent="-271463" algn="just">
              <a:lnSpc>
                <a:spcPct val="100000"/>
              </a:lnSpc>
              <a:spcBef>
                <a:spcPts val="0"/>
              </a:spcBef>
              <a:buFont typeface="Wingdings" panose="05000000000000000000" pitchFamily="2" charset="2"/>
              <a:buChar char="Ø"/>
            </a:pPr>
            <a:r>
              <a:rPr lang="en-US" dirty="0" smtClean="0"/>
              <a:t>An </a:t>
            </a:r>
            <a:r>
              <a:rPr lang="en-US" dirty="0"/>
              <a:t>array can appear to the operating system as a single block device</a:t>
            </a:r>
          </a:p>
        </p:txBody>
      </p:sp>
      <p:sp>
        <p:nvSpPr>
          <p:cNvPr id="5" name="Text Placeholder 2">
            <a:extLst>
              <a:ext uri="{FF2B5EF4-FFF2-40B4-BE49-F238E27FC236}">
                <a16:creationId xmlns:a16="http://schemas.microsoft.com/office/drawing/2014/main" id="{19E5273F-2AB8-2714-0414-C79AC83B30FB}"/>
              </a:ext>
            </a:extLst>
          </p:cNvPr>
          <p:cNvSpPr txBox="1">
            <a:spLocks/>
          </p:cNvSpPr>
          <p:nvPr/>
        </p:nvSpPr>
        <p:spPr>
          <a:xfrm>
            <a:off x="6096000" y="990600"/>
            <a:ext cx="5403273" cy="571500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2913" indent="-352425" algn="just">
              <a:lnSpc>
                <a:spcPct val="100000"/>
              </a:lnSpc>
              <a:spcBef>
                <a:spcPts val="0"/>
              </a:spcBef>
              <a:buFont typeface="Arial" panose="020B0604020202020204" pitchFamily="34" charset="0"/>
              <a:buNone/>
            </a:pPr>
            <a:r>
              <a:rPr lang="en-US" b="1" u="sng" dirty="0" smtClean="0"/>
              <a:t>SAN</a:t>
            </a:r>
          </a:p>
          <a:p>
            <a:pPr marL="442913" indent="-352425" algn="just">
              <a:lnSpc>
                <a:spcPct val="100000"/>
              </a:lnSpc>
              <a:spcBef>
                <a:spcPts val="0"/>
              </a:spcBef>
              <a:buFont typeface="Arial" panose="020B0604020202020204" pitchFamily="34" charset="0"/>
              <a:buNone/>
            </a:pPr>
            <a:endParaRPr lang="en-US" b="1" u="sng" dirty="0"/>
          </a:p>
          <a:p>
            <a:pPr marL="442913" indent="-352425" algn="just">
              <a:lnSpc>
                <a:spcPct val="100000"/>
              </a:lnSpc>
              <a:spcBef>
                <a:spcPts val="0"/>
              </a:spcBef>
              <a:buFont typeface="Wingdings" panose="05000000000000000000" pitchFamily="2" charset="2"/>
              <a:buChar char="Ø"/>
            </a:pPr>
            <a:r>
              <a:rPr lang="en-US" dirty="0"/>
              <a:t>Storage area network</a:t>
            </a:r>
          </a:p>
          <a:p>
            <a:pPr marL="442913" indent="-352425" algn="just">
              <a:lnSpc>
                <a:spcPct val="100000"/>
              </a:lnSpc>
              <a:spcBef>
                <a:spcPts val="0"/>
              </a:spcBef>
              <a:buFont typeface="Wingdings" panose="05000000000000000000" pitchFamily="2" charset="2"/>
              <a:buChar char="Ø"/>
            </a:pPr>
            <a:endParaRPr lang="en-US" sz="1000" dirty="0" smtClean="0"/>
          </a:p>
          <a:p>
            <a:pPr marL="442913" indent="-352425" algn="just">
              <a:lnSpc>
                <a:spcPct val="100000"/>
              </a:lnSpc>
              <a:spcBef>
                <a:spcPts val="0"/>
              </a:spcBef>
              <a:buFont typeface="Wingdings" panose="05000000000000000000" pitchFamily="2" charset="2"/>
              <a:buChar char="Ø"/>
            </a:pPr>
            <a:r>
              <a:rPr lang="en-US" dirty="0" smtClean="0"/>
              <a:t>Provide </a:t>
            </a:r>
            <a:r>
              <a:rPr lang="en-US" dirty="0"/>
              <a:t>virtualized block storage devices over a network, typically from a storage </a:t>
            </a:r>
            <a:r>
              <a:rPr lang="en-US" dirty="0" smtClean="0"/>
              <a:t>pool</a:t>
            </a:r>
          </a:p>
          <a:p>
            <a:pPr marL="442913" indent="-352425" algn="just">
              <a:lnSpc>
                <a:spcPct val="100000"/>
              </a:lnSpc>
              <a:spcBef>
                <a:spcPts val="0"/>
              </a:spcBef>
              <a:buFont typeface="Wingdings" panose="05000000000000000000" pitchFamily="2" charset="2"/>
              <a:buChar char="Ø"/>
            </a:pPr>
            <a:endParaRPr lang="en-US" dirty="0"/>
          </a:p>
          <a:p>
            <a:pPr marL="442913" indent="-352425" algn="just">
              <a:lnSpc>
                <a:spcPct val="100000"/>
              </a:lnSpc>
              <a:spcBef>
                <a:spcPts val="0"/>
              </a:spcBef>
              <a:buFont typeface="Wingdings" panose="05000000000000000000" pitchFamily="2" charset="2"/>
              <a:buChar char="Ø"/>
            </a:pPr>
            <a:r>
              <a:rPr lang="en-US" dirty="0" smtClean="0"/>
              <a:t>Allow </a:t>
            </a:r>
            <a:r>
              <a:rPr lang="en-US" dirty="0"/>
              <a:t>fine-grained storage scaling and enhance performance, availability, and </a:t>
            </a:r>
            <a:r>
              <a:rPr lang="en-US" dirty="0" smtClean="0"/>
              <a:t>durability</a:t>
            </a:r>
          </a:p>
          <a:p>
            <a:pPr marL="442913" indent="-352425" algn="just">
              <a:lnSpc>
                <a:spcPct val="100000"/>
              </a:lnSpc>
              <a:spcBef>
                <a:spcPts val="0"/>
              </a:spcBef>
              <a:buFont typeface="Wingdings" panose="05000000000000000000" pitchFamily="2" charset="2"/>
              <a:buChar char="Ø"/>
            </a:pPr>
            <a:endParaRPr lang="en-US" dirty="0"/>
          </a:p>
          <a:p>
            <a:pPr marL="442913" indent="-352425" algn="just">
              <a:lnSpc>
                <a:spcPct val="100000"/>
              </a:lnSpc>
              <a:spcBef>
                <a:spcPts val="0"/>
              </a:spcBef>
              <a:buFont typeface="Wingdings" panose="05000000000000000000" pitchFamily="2" charset="2"/>
              <a:buChar char="Ø"/>
            </a:pPr>
            <a:r>
              <a:rPr lang="en-US" dirty="0" smtClean="0"/>
              <a:t>Common </a:t>
            </a:r>
            <a:r>
              <a:rPr lang="en-US" dirty="0"/>
              <a:t>with on-premises storage systems</a:t>
            </a:r>
          </a:p>
          <a:p>
            <a:pPr marL="442913" indent="-352425" algn="just">
              <a:lnSpc>
                <a:spcPct val="100000"/>
              </a:lnSpc>
              <a:spcBef>
                <a:spcPts val="0"/>
              </a:spcBef>
              <a:buFont typeface="Arial" panose="020B0604020202020204" pitchFamily="34" charset="0"/>
              <a:buNone/>
            </a:pPr>
            <a:endParaRPr lang="en-US" dirty="0"/>
          </a:p>
        </p:txBody>
      </p:sp>
      <p:pic>
        <p:nvPicPr>
          <p:cNvPr id="7" name="Picture 6">
            <a:extLst>
              <a:ext uri="{FF2B5EF4-FFF2-40B4-BE49-F238E27FC236}">
                <a16:creationId xmlns:a16="http://schemas.microsoft.com/office/drawing/2014/main" id="{EB0AA5D0-4617-4E6B-6170-11E797E9E6F7}"/>
              </a:ext>
            </a:extLst>
          </p:cNvPr>
          <p:cNvPicPr>
            <a:picLocks noChangeAspect="1"/>
          </p:cNvPicPr>
          <p:nvPr/>
        </p:nvPicPr>
        <p:blipFill>
          <a:blip r:embed="rId3"/>
          <a:stretch>
            <a:fillRect/>
          </a:stretch>
        </p:blipFill>
        <p:spPr>
          <a:xfrm>
            <a:off x="2230967" y="4783678"/>
            <a:ext cx="3268133" cy="1838325"/>
          </a:xfrm>
          <a:prstGeom prst="rect">
            <a:avLst/>
          </a:prstGeom>
        </p:spPr>
      </p:pic>
      <p:sp>
        <p:nvSpPr>
          <p:cNvPr id="8" name="AutoShape 2" descr="SAN architecture">
            <a:extLst>
              <a:ext uri="{FF2B5EF4-FFF2-40B4-BE49-F238E27FC236}">
                <a16:creationId xmlns:a16="http://schemas.microsoft.com/office/drawing/2014/main" id="{384E9829-1507-5799-A0A9-AD37B689E4A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a:extLst>
              <a:ext uri="{FF2B5EF4-FFF2-40B4-BE49-F238E27FC236}">
                <a16:creationId xmlns:a16="http://schemas.microsoft.com/office/drawing/2014/main" id="{460F3276-E52D-5CCA-0F2F-8B5FB77940E0}"/>
              </a:ext>
            </a:extLst>
          </p:cNvPr>
          <p:cNvPicPr>
            <a:picLocks noChangeAspect="1"/>
          </p:cNvPicPr>
          <p:nvPr/>
        </p:nvPicPr>
        <p:blipFill>
          <a:blip r:embed="rId4"/>
          <a:stretch>
            <a:fillRect/>
          </a:stretch>
        </p:blipFill>
        <p:spPr>
          <a:xfrm>
            <a:off x="7315200" y="4343400"/>
            <a:ext cx="3124200" cy="2278603"/>
          </a:xfrm>
          <a:prstGeom prst="rect">
            <a:avLst/>
          </a:prstGeom>
        </p:spPr>
      </p:pic>
      <p:sp>
        <p:nvSpPr>
          <p:cNvPr id="13" name="TextBox 12">
            <a:extLst>
              <a:ext uri="{FF2B5EF4-FFF2-40B4-BE49-F238E27FC236}">
                <a16:creationId xmlns:a16="http://schemas.microsoft.com/office/drawing/2014/main" id="{7131654E-6825-1061-7D5C-97B4E7AB75E8}"/>
              </a:ext>
            </a:extLst>
          </p:cNvPr>
          <p:cNvSpPr txBox="1"/>
          <p:nvPr/>
        </p:nvSpPr>
        <p:spPr>
          <a:xfrm>
            <a:off x="9961033" y="6199782"/>
            <a:ext cx="1519238"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5"/>
              </a:rPr>
              <a:t>Image Source</a:t>
            </a:r>
            <a:endParaRPr lang="en-US" sz="1200" dirty="0">
              <a:latin typeface="Helvetica" panose="020B0604020202020204" pitchFamily="34" charset="0"/>
              <a:cs typeface="Helvetica" panose="020B0604020202020204" pitchFamily="34" charset="0"/>
            </a:endParaRPr>
          </a:p>
        </p:txBody>
      </p:sp>
      <p:sp>
        <p:nvSpPr>
          <p:cNvPr id="14" name="TextBox 13">
            <a:extLst>
              <a:ext uri="{FF2B5EF4-FFF2-40B4-BE49-F238E27FC236}">
                <a16:creationId xmlns:a16="http://schemas.microsoft.com/office/drawing/2014/main" id="{7390E712-E3AA-07AF-597D-0A55C7C9631D}"/>
              </a:ext>
            </a:extLst>
          </p:cNvPr>
          <p:cNvSpPr txBox="1"/>
          <p:nvPr/>
        </p:nvSpPr>
        <p:spPr>
          <a:xfrm>
            <a:off x="1471348" y="6244219"/>
            <a:ext cx="1519238"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6"/>
              </a:rPr>
              <a:t>Image Source</a:t>
            </a:r>
            <a:endParaRPr lang="en-US" sz="1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2737078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86574-356B-4A3F-2AF3-4F6367503F7B}"/>
              </a:ext>
            </a:extLst>
          </p:cNvPr>
          <p:cNvSpPr>
            <a:spLocks noGrp="1"/>
          </p:cNvSpPr>
          <p:nvPr>
            <p:ph type="title"/>
          </p:nvPr>
        </p:nvSpPr>
        <p:spPr/>
        <p:txBody>
          <a:bodyPr/>
          <a:lstStyle/>
          <a:p>
            <a:r>
              <a:rPr lang="en-US" dirty="0"/>
              <a:t>Block Storage – Types - </a:t>
            </a:r>
            <a:r>
              <a:rPr lang="en-US" dirty="0" err="1"/>
              <a:t>Contd</a:t>
            </a:r>
            <a:endParaRPr lang="en-US" dirty="0"/>
          </a:p>
        </p:txBody>
      </p:sp>
      <p:sp>
        <p:nvSpPr>
          <p:cNvPr id="3" name="Text Placeholder 2">
            <a:extLst>
              <a:ext uri="{FF2B5EF4-FFF2-40B4-BE49-F238E27FC236}">
                <a16:creationId xmlns:a16="http://schemas.microsoft.com/office/drawing/2014/main" id="{CB785A7E-5107-CCFA-99FC-32953655C4D3}"/>
              </a:ext>
            </a:extLst>
          </p:cNvPr>
          <p:cNvSpPr>
            <a:spLocks noGrp="1"/>
          </p:cNvSpPr>
          <p:nvPr>
            <p:ph type="body" sz="quarter" idx="13"/>
          </p:nvPr>
        </p:nvSpPr>
        <p:spPr>
          <a:xfrm>
            <a:off x="0" y="965275"/>
            <a:ext cx="6096000" cy="5732156"/>
          </a:xfrm>
        </p:spPr>
        <p:style>
          <a:lnRef idx="2">
            <a:schemeClr val="accent2"/>
          </a:lnRef>
          <a:fillRef idx="1">
            <a:schemeClr val="lt1"/>
          </a:fillRef>
          <a:effectRef idx="0">
            <a:schemeClr val="accent2"/>
          </a:effectRef>
          <a:fontRef idx="minor">
            <a:schemeClr val="dk1"/>
          </a:fontRef>
        </p:style>
        <p:txBody>
          <a:bodyPr>
            <a:noAutofit/>
          </a:bodyPr>
          <a:lstStyle/>
          <a:p>
            <a:pPr marL="361950" indent="-271463" algn="just">
              <a:lnSpc>
                <a:spcPct val="100000"/>
              </a:lnSpc>
              <a:spcBef>
                <a:spcPts val="0"/>
              </a:spcBef>
              <a:buNone/>
            </a:pPr>
            <a:r>
              <a:rPr lang="en-US" sz="1500" b="1" u="sng" dirty="0">
                <a:solidFill>
                  <a:schemeClr val="tx1"/>
                </a:solidFill>
              </a:rPr>
              <a:t>Cloud </a:t>
            </a:r>
            <a:r>
              <a:rPr lang="en-US" sz="1500" b="1" u="sng" dirty="0" smtClean="0">
                <a:solidFill>
                  <a:schemeClr val="tx1"/>
                </a:solidFill>
              </a:rPr>
              <a:t>Virtualized Block Storage</a:t>
            </a:r>
            <a:endParaRPr lang="en-US" sz="1500" b="1" u="sng" dirty="0">
              <a:solidFill>
                <a:schemeClr val="tx1"/>
              </a:solidFill>
            </a:endParaRPr>
          </a:p>
          <a:p>
            <a:pPr marL="361950" indent="-271463" algn="just">
              <a:lnSpc>
                <a:spcPct val="100000"/>
              </a:lnSpc>
              <a:spcBef>
                <a:spcPts val="0"/>
              </a:spcBef>
              <a:buFont typeface="Wingdings" panose="05000000000000000000" pitchFamily="2" charset="2"/>
              <a:buChar char="Ø"/>
            </a:pPr>
            <a:endParaRPr lang="en-US" sz="1500" dirty="0" smtClean="0">
              <a:solidFill>
                <a:schemeClr val="tx1"/>
              </a:solidFill>
            </a:endParaRPr>
          </a:p>
          <a:p>
            <a:pPr marL="361950" indent="-271463" algn="just">
              <a:lnSpc>
                <a:spcPct val="100000"/>
              </a:lnSpc>
              <a:spcBef>
                <a:spcPts val="0"/>
              </a:spcBef>
              <a:buFont typeface="Wingdings" panose="05000000000000000000" pitchFamily="2" charset="2"/>
              <a:buChar char="Ø"/>
            </a:pPr>
            <a:r>
              <a:rPr lang="en-US" sz="1500" dirty="0" smtClean="0">
                <a:solidFill>
                  <a:schemeClr val="tx1"/>
                </a:solidFill>
              </a:rPr>
              <a:t>Similar </a:t>
            </a:r>
            <a:r>
              <a:rPr lang="en-US" sz="1500" dirty="0">
                <a:solidFill>
                  <a:schemeClr val="tx1"/>
                </a:solidFill>
              </a:rPr>
              <a:t>to SAN but free engineers from dealing with SAN clusters and networking </a:t>
            </a:r>
            <a:r>
              <a:rPr lang="en-US" sz="1500" dirty="0" smtClean="0">
                <a:solidFill>
                  <a:schemeClr val="tx1"/>
                </a:solidFill>
              </a:rPr>
              <a:t>details</a:t>
            </a:r>
          </a:p>
          <a:p>
            <a:pPr marL="361950" indent="-271463" algn="just">
              <a:lnSpc>
                <a:spcPct val="100000"/>
              </a:lnSpc>
              <a:spcBef>
                <a:spcPts val="0"/>
              </a:spcBef>
              <a:buFont typeface="Wingdings" panose="05000000000000000000" pitchFamily="2" charset="2"/>
              <a:buChar char="Ø"/>
            </a:pPr>
            <a:endParaRPr lang="en-US" sz="1500" dirty="0">
              <a:solidFill>
                <a:schemeClr val="tx1"/>
              </a:solidFill>
            </a:endParaRPr>
          </a:p>
          <a:p>
            <a:pPr marL="361950" indent="-271463" algn="just">
              <a:lnSpc>
                <a:spcPct val="100000"/>
              </a:lnSpc>
              <a:spcBef>
                <a:spcPts val="0"/>
              </a:spcBef>
              <a:buFont typeface="Wingdings" panose="05000000000000000000" pitchFamily="2" charset="2"/>
              <a:buChar char="Ø"/>
            </a:pPr>
            <a:r>
              <a:rPr lang="en-US" sz="1500" dirty="0">
                <a:solidFill>
                  <a:schemeClr val="tx1"/>
                </a:solidFill>
              </a:rPr>
              <a:t>Example, Amazon Elastic Block Store (EBS) - default storage for Amazon EC2 virtual machines</a:t>
            </a:r>
          </a:p>
          <a:p>
            <a:pPr marL="361950" indent="-271463" algn="just">
              <a:lnSpc>
                <a:spcPct val="100000"/>
              </a:lnSpc>
              <a:spcBef>
                <a:spcPts val="0"/>
              </a:spcBef>
              <a:buFont typeface="Wingdings" panose="05000000000000000000" pitchFamily="2" charset="2"/>
              <a:buChar char="Ø"/>
            </a:pPr>
            <a:endParaRPr lang="en-US" sz="1500" dirty="0" smtClean="0">
              <a:solidFill>
                <a:schemeClr val="tx1"/>
              </a:solidFill>
            </a:endParaRPr>
          </a:p>
          <a:p>
            <a:pPr marL="361950" indent="-271463" algn="just">
              <a:lnSpc>
                <a:spcPct val="100000"/>
              </a:lnSpc>
              <a:spcBef>
                <a:spcPts val="0"/>
              </a:spcBef>
              <a:buFont typeface="Wingdings" panose="05000000000000000000" pitchFamily="2" charset="2"/>
              <a:buChar char="Ø"/>
            </a:pPr>
            <a:r>
              <a:rPr lang="en-US" sz="1500" dirty="0" smtClean="0">
                <a:solidFill>
                  <a:schemeClr val="tx1"/>
                </a:solidFill>
              </a:rPr>
              <a:t>Store </a:t>
            </a:r>
            <a:r>
              <a:rPr lang="en-US" sz="1500" dirty="0">
                <a:solidFill>
                  <a:schemeClr val="tx1"/>
                </a:solidFill>
              </a:rPr>
              <a:t>data separate from the instance host server but in the same zone to support high performance and low latency </a:t>
            </a:r>
            <a:endParaRPr lang="en-US" sz="1500" dirty="0" smtClean="0">
              <a:solidFill>
                <a:schemeClr val="tx1"/>
              </a:solidFill>
            </a:endParaRPr>
          </a:p>
          <a:p>
            <a:pPr marL="361950" indent="-271463" algn="just">
              <a:lnSpc>
                <a:spcPct val="100000"/>
              </a:lnSpc>
              <a:spcBef>
                <a:spcPts val="0"/>
              </a:spcBef>
              <a:buFont typeface="Wingdings" panose="05000000000000000000" pitchFamily="2" charset="2"/>
              <a:buChar char="Ø"/>
            </a:pPr>
            <a:endParaRPr lang="en-US" sz="1500" dirty="0">
              <a:solidFill>
                <a:schemeClr val="tx1"/>
              </a:solidFill>
            </a:endParaRPr>
          </a:p>
          <a:p>
            <a:pPr marL="361950" indent="-271463" algn="just">
              <a:lnSpc>
                <a:spcPct val="100000"/>
              </a:lnSpc>
              <a:spcBef>
                <a:spcPts val="0"/>
              </a:spcBef>
              <a:buFont typeface="Wingdings" panose="05000000000000000000" pitchFamily="2" charset="2"/>
              <a:buChar char="Ø"/>
            </a:pPr>
            <a:r>
              <a:rPr lang="en-US" sz="1500" dirty="0" smtClean="0">
                <a:solidFill>
                  <a:schemeClr val="tx1"/>
                </a:solidFill>
              </a:rPr>
              <a:t>Allows </a:t>
            </a:r>
            <a:r>
              <a:rPr lang="en-US" sz="1500" dirty="0">
                <a:solidFill>
                  <a:schemeClr val="tx1"/>
                </a:solidFill>
              </a:rPr>
              <a:t>EBS volumes to persist when an EC2 instance shuts down, when a host server fails, or even when the instance is </a:t>
            </a:r>
            <a:r>
              <a:rPr lang="en-US" sz="1500" dirty="0" smtClean="0">
                <a:solidFill>
                  <a:schemeClr val="tx1"/>
                </a:solidFill>
              </a:rPr>
              <a:t>deleted</a:t>
            </a:r>
          </a:p>
          <a:p>
            <a:pPr marL="361950" indent="-271463" algn="just">
              <a:lnSpc>
                <a:spcPct val="100000"/>
              </a:lnSpc>
              <a:spcBef>
                <a:spcPts val="0"/>
              </a:spcBef>
              <a:buFont typeface="Wingdings" panose="05000000000000000000" pitchFamily="2" charset="2"/>
              <a:buChar char="Ø"/>
            </a:pPr>
            <a:endParaRPr lang="en-US" sz="1500" dirty="0">
              <a:solidFill>
                <a:schemeClr val="tx1"/>
              </a:solidFill>
            </a:endParaRPr>
          </a:p>
          <a:p>
            <a:pPr marL="361950" indent="-271463" algn="just">
              <a:lnSpc>
                <a:spcPct val="100000"/>
              </a:lnSpc>
              <a:spcBef>
                <a:spcPts val="0"/>
              </a:spcBef>
              <a:buFont typeface="Wingdings" panose="05000000000000000000" pitchFamily="2" charset="2"/>
              <a:buChar char="Ø"/>
            </a:pPr>
            <a:r>
              <a:rPr lang="en-US" sz="1500" dirty="0" smtClean="0">
                <a:solidFill>
                  <a:schemeClr val="tx1"/>
                </a:solidFill>
              </a:rPr>
              <a:t>Suitable </a:t>
            </a:r>
            <a:r>
              <a:rPr lang="en-US" sz="1500" dirty="0">
                <a:solidFill>
                  <a:schemeClr val="tx1"/>
                </a:solidFill>
              </a:rPr>
              <a:t>for applications such as databases, where data durability is a high </a:t>
            </a:r>
            <a:r>
              <a:rPr lang="en-US" sz="1500" dirty="0" smtClean="0">
                <a:solidFill>
                  <a:schemeClr val="tx1"/>
                </a:solidFill>
              </a:rPr>
              <a:t>priority</a:t>
            </a:r>
          </a:p>
          <a:p>
            <a:pPr marL="361950" indent="-271463" algn="just">
              <a:lnSpc>
                <a:spcPct val="100000"/>
              </a:lnSpc>
              <a:spcBef>
                <a:spcPts val="0"/>
              </a:spcBef>
              <a:buFont typeface="Wingdings" panose="05000000000000000000" pitchFamily="2" charset="2"/>
              <a:buChar char="Ø"/>
            </a:pPr>
            <a:endParaRPr lang="en-US" sz="1500" dirty="0">
              <a:solidFill>
                <a:schemeClr val="tx1"/>
              </a:solidFill>
            </a:endParaRPr>
          </a:p>
          <a:p>
            <a:pPr marL="361950" indent="-271463" algn="just">
              <a:lnSpc>
                <a:spcPct val="100000"/>
              </a:lnSpc>
              <a:spcBef>
                <a:spcPts val="0"/>
              </a:spcBef>
              <a:buFont typeface="Wingdings" panose="05000000000000000000" pitchFamily="2" charset="2"/>
              <a:buChar char="Ø"/>
            </a:pPr>
            <a:r>
              <a:rPr lang="en-US" sz="1500" dirty="0" smtClean="0">
                <a:solidFill>
                  <a:schemeClr val="tx1"/>
                </a:solidFill>
              </a:rPr>
              <a:t>Replicates </a:t>
            </a:r>
            <a:r>
              <a:rPr lang="en-US" sz="1500" dirty="0">
                <a:solidFill>
                  <a:schemeClr val="tx1"/>
                </a:solidFill>
              </a:rPr>
              <a:t>all data to at least two separate host machines, protecting data if a disk </a:t>
            </a:r>
            <a:r>
              <a:rPr lang="en-US" sz="1500" dirty="0" smtClean="0">
                <a:solidFill>
                  <a:schemeClr val="tx1"/>
                </a:solidFill>
              </a:rPr>
              <a:t>fails</a:t>
            </a:r>
            <a:endParaRPr lang="en-US" sz="1500" dirty="0">
              <a:solidFill>
                <a:schemeClr val="tx1"/>
              </a:solidFill>
            </a:endParaRPr>
          </a:p>
        </p:txBody>
      </p:sp>
      <p:sp>
        <p:nvSpPr>
          <p:cNvPr id="4" name="Text Placeholder 2">
            <a:extLst>
              <a:ext uri="{FF2B5EF4-FFF2-40B4-BE49-F238E27FC236}">
                <a16:creationId xmlns:a16="http://schemas.microsoft.com/office/drawing/2014/main" id="{2E3C7093-5275-1615-69CE-FBB95F6FFD3B}"/>
              </a:ext>
            </a:extLst>
          </p:cNvPr>
          <p:cNvSpPr txBox="1">
            <a:spLocks/>
          </p:cNvSpPr>
          <p:nvPr/>
        </p:nvSpPr>
        <p:spPr>
          <a:xfrm>
            <a:off x="6149788" y="965275"/>
            <a:ext cx="5943600" cy="5732156"/>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indent="-361950" algn="just">
              <a:lnSpc>
                <a:spcPct val="100000"/>
              </a:lnSpc>
              <a:spcBef>
                <a:spcPts val="0"/>
              </a:spcBef>
              <a:buFont typeface="Arial" panose="020B0604020202020204" pitchFamily="34" charset="0"/>
              <a:buNone/>
            </a:pPr>
            <a:r>
              <a:rPr lang="en-US" sz="1500" b="1" u="sng" dirty="0"/>
              <a:t>Local </a:t>
            </a:r>
            <a:r>
              <a:rPr lang="en-US" sz="1500" b="1" u="sng" dirty="0" smtClean="0"/>
              <a:t>Instance Volumes</a:t>
            </a:r>
            <a:endParaRPr lang="en-US" sz="1500" b="1" u="sng" dirty="0"/>
          </a:p>
          <a:p>
            <a:pPr marL="361950" indent="-361950" algn="just">
              <a:lnSpc>
                <a:spcPct val="100000"/>
              </a:lnSpc>
              <a:spcBef>
                <a:spcPts val="0"/>
              </a:spcBef>
              <a:buFont typeface="Wingdings" panose="05000000000000000000" pitchFamily="2" charset="2"/>
              <a:buChar char="Ø"/>
            </a:pPr>
            <a:endParaRPr lang="en-US" sz="1500" dirty="0" smtClean="0"/>
          </a:p>
          <a:p>
            <a:pPr marL="361950" indent="-361950" algn="just">
              <a:lnSpc>
                <a:spcPct val="100000"/>
              </a:lnSpc>
              <a:spcBef>
                <a:spcPts val="0"/>
              </a:spcBef>
              <a:buFont typeface="Wingdings" panose="05000000000000000000" pitchFamily="2" charset="2"/>
              <a:buChar char="Ø"/>
            </a:pPr>
            <a:r>
              <a:rPr lang="en-US" sz="1500" dirty="0" smtClean="0"/>
              <a:t>Cloud </a:t>
            </a:r>
            <a:r>
              <a:rPr lang="en-US" sz="1500" dirty="0"/>
              <a:t>providers also offer block storage volumes that are physically attached to the host server running a virtual </a:t>
            </a:r>
            <a:r>
              <a:rPr lang="en-US" sz="1500" dirty="0" smtClean="0"/>
              <a:t>machine</a:t>
            </a:r>
          </a:p>
          <a:p>
            <a:pPr marL="361950" indent="-361950" algn="just">
              <a:lnSpc>
                <a:spcPct val="100000"/>
              </a:lnSpc>
              <a:spcBef>
                <a:spcPts val="0"/>
              </a:spcBef>
              <a:buFont typeface="Wingdings" panose="05000000000000000000" pitchFamily="2" charset="2"/>
              <a:buChar char="Ø"/>
            </a:pPr>
            <a:endParaRPr lang="en-US" sz="1500" dirty="0"/>
          </a:p>
          <a:p>
            <a:pPr marL="361950" indent="-361950" algn="just">
              <a:lnSpc>
                <a:spcPct val="100000"/>
              </a:lnSpc>
              <a:spcBef>
                <a:spcPts val="0"/>
              </a:spcBef>
              <a:buFont typeface="Wingdings" panose="05000000000000000000" pitchFamily="2" charset="2"/>
              <a:buChar char="Ø"/>
            </a:pPr>
            <a:r>
              <a:rPr lang="en-US" sz="1500" dirty="0" smtClean="0"/>
              <a:t>Generally </a:t>
            </a:r>
            <a:r>
              <a:rPr lang="en-US" sz="1500" dirty="0"/>
              <a:t>very low cost (included with the price of the VM in the case of Amazon’s EC2 instance store) and provide low </a:t>
            </a:r>
            <a:r>
              <a:rPr lang="en-US" sz="1500" dirty="0" smtClean="0"/>
              <a:t>latency</a:t>
            </a:r>
          </a:p>
          <a:p>
            <a:pPr marL="361950" indent="-361950" algn="just">
              <a:lnSpc>
                <a:spcPct val="100000"/>
              </a:lnSpc>
              <a:spcBef>
                <a:spcPts val="0"/>
              </a:spcBef>
              <a:buFont typeface="Wingdings" panose="05000000000000000000" pitchFamily="2" charset="2"/>
              <a:buChar char="Ø"/>
            </a:pPr>
            <a:endParaRPr lang="en-US" sz="1500" dirty="0"/>
          </a:p>
          <a:p>
            <a:pPr marL="361950" indent="-361950" algn="just">
              <a:lnSpc>
                <a:spcPct val="100000"/>
              </a:lnSpc>
              <a:spcBef>
                <a:spcPts val="0"/>
              </a:spcBef>
              <a:buFont typeface="Wingdings" panose="05000000000000000000" pitchFamily="2" charset="2"/>
              <a:buChar char="Ø"/>
            </a:pPr>
            <a:r>
              <a:rPr lang="en-US" sz="1500" dirty="0" smtClean="0"/>
              <a:t>When </a:t>
            </a:r>
            <a:r>
              <a:rPr lang="en-US" sz="1500" dirty="0"/>
              <a:t>a VM shuts down or is deleted, the contents of the locally attached disk are lost, whether or not this event was caused by intentional user </a:t>
            </a:r>
            <a:r>
              <a:rPr lang="en-US" sz="1500" dirty="0" smtClean="0"/>
              <a:t>action</a:t>
            </a:r>
          </a:p>
          <a:p>
            <a:pPr marL="361950" indent="-361950" algn="just">
              <a:lnSpc>
                <a:spcPct val="100000"/>
              </a:lnSpc>
              <a:spcBef>
                <a:spcPts val="0"/>
              </a:spcBef>
              <a:buFont typeface="Wingdings" panose="05000000000000000000" pitchFamily="2" charset="2"/>
              <a:buChar char="Ø"/>
            </a:pPr>
            <a:endParaRPr lang="en-US" sz="1500" dirty="0"/>
          </a:p>
          <a:p>
            <a:pPr marL="361950" indent="-361950" algn="just">
              <a:lnSpc>
                <a:spcPct val="100000"/>
              </a:lnSpc>
              <a:spcBef>
                <a:spcPts val="0"/>
              </a:spcBef>
              <a:buFont typeface="Wingdings" panose="05000000000000000000" pitchFamily="2" charset="2"/>
              <a:buChar char="Ø"/>
            </a:pPr>
            <a:r>
              <a:rPr lang="en-US" sz="1500" dirty="0" smtClean="0"/>
              <a:t>Ensures </a:t>
            </a:r>
            <a:r>
              <a:rPr lang="en-US" sz="1500" dirty="0"/>
              <a:t>that a new virtual machine cannot read disk contents belonging to a different </a:t>
            </a:r>
            <a:r>
              <a:rPr lang="en-US" sz="1500" dirty="0" smtClean="0"/>
              <a:t>customer</a:t>
            </a:r>
            <a:endParaRPr lang="en-US" sz="1500" dirty="0"/>
          </a:p>
        </p:txBody>
      </p:sp>
    </p:spTree>
    <p:extLst>
      <p:ext uri="{BB962C8B-B14F-4D97-AF65-F5344CB8AC3E}">
        <p14:creationId xmlns:p14="http://schemas.microsoft.com/office/powerpoint/2010/main" val="28381264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97F09-ABF6-2148-2AAE-C961F24BA84E}"/>
              </a:ext>
            </a:extLst>
          </p:cNvPr>
          <p:cNvSpPr>
            <a:spLocks noGrp="1"/>
          </p:cNvSpPr>
          <p:nvPr>
            <p:ph type="title"/>
          </p:nvPr>
        </p:nvSpPr>
        <p:spPr/>
        <p:txBody>
          <a:bodyPr/>
          <a:lstStyle/>
          <a:p>
            <a:r>
              <a:rPr lang="en-US" dirty="0"/>
              <a:t>Object Storage</a:t>
            </a:r>
          </a:p>
        </p:txBody>
      </p:sp>
      <p:sp>
        <p:nvSpPr>
          <p:cNvPr id="5" name="AutoShape 2" descr="Amazon S3: The Secure and Affordable Cloud Storage Solution">
            <a:extLst>
              <a:ext uri="{FF2B5EF4-FFF2-40B4-BE49-F238E27FC236}">
                <a16:creationId xmlns:a16="http://schemas.microsoft.com/office/drawing/2014/main" id="{D5F0B46C-92B9-E2D3-A24E-222E4ACD7E59}"/>
              </a:ext>
            </a:extLst>
          </p:cNvPr>
          <p:cNvSpPr>
            <a:spLocks noGrp="1" noChangeAspect="1" noChangeArrowheads="1"/>
          </p:cNvSpPr>
          <p:nvPr>
            <p:ph type="body" sz="quarter" idx="13"/>
          </p:nvPr>
        </p:nvSpPr>
        <p:spPr bwMode="auto">
          <a:xfrm>
            <a:off x="3114675" y="1066800"/>
            <a:ext cx="8924925" cy="541019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p>
            <a:pPr marL="361950" indent="-361950" algn="just">
              <a:lnSpc>
                <a:spcPct val="110000"/>
              </a:lnSpc>
              <a:spcBef>
                <a:spcPts val="0"/>
              </a:spcBef>
              <a:buFont typeface="Wingdings" panose="05000000000000000000" pitchFamily="2" charset="2"/>
              <a:buChar char="Ø"/>
            </a:pPr>
            <a:r>
              <a:rPr lang="en-US" dirty="0" smtClean="0"/>
              <a:t>Contains </a:t>
            </a:r>
            <a:r>
              <a:rPr lang="en-US" dirty="0"/>
              <a:t>objects of all shapes and sizes - a specialized file-like construct —TXT, CSV, JSON, images, videos, or </a:t>
            </a:r>
            <a:r>
              <a:rPr lang="en-US" dirty="0" smtClean="0"/>
              <a:t>audio</a:t>
            </a:r>
          </a:p>
          <a:p>
            <a:pPr marL="361950" indent="-361950" algn="just">
              <a:lnSpc>
                <a:spcPct val="110000"/>
              </a:lnSpc>
              <a:spcBef>
                <a:spcPts val="0"/>
              </a:spcBef>
              <a:buFont typeface="Wingdings" panose="05000000000000000000" pitchFamily="2" charset="2"/>
              <a:buChar char="Ø"/>
            </a:pPr>
            <a:endParaRPr lang="en-US" dirty="0"/>
          </a:p>
          <a:p>
            <a:pPr marL="361950" indent="-361950" algn="just">
              <a:lnSpc>
                <a:spcPct val="110000"/>
              </a:lnSpc>
              <a:spcBef>
                <a:spcPts val="0"/>
              </a:spcBef>
              <a:buFont typeface="Wingdings" panose="05000000000000000000" pitchFamily="2" charset="2"/>
              <a:buChar char="Ø"/>
            </a:pPr>
            <a:r>
              <a:rPr lang="en-US" dirty="0" smtClean="0"/>
              <a:t>Have </a:t>
            </a:r>
            <a:r>
              <a:rPr lang="en-US" dirty="0"/>
              <a:t>grown in importance and popularity with the rise of big data and the </a:t>
            </a:r>
            <a:r>
              <a:rPr lang="en-US" dirty="0" smtClean="0"/>
              <a:t>cloud</a:t>
            </a:r>
          </a:p>
          <a:p>
            <a:pPr marL="361950" indent="-361950" algn="just">
              <a:lnSpc>
                <a:spcPct val="110000"/>
              </a:lnSpc>
              <a:spcBef>
                <a:spcPts val="0"/>
              </a:spcBef>
              <a:buFont typeface="Wingdings" panose="05000000000000000000" pitchFamily="2" charset="2"/>
              <a:buChar char="Ø"/>
            </a:pPr>
            <a:endParaRPr lang="en-US" dirty="0"/>
          </a:p>
          <a:p>
            <a:pPr marL="361950" indent="-361950" algn="just">
              <a:lnSpc>
                <a:spcPct val="110000"/>
              </a:lnSpc>
              <a:spcBef>
                <a:spcPts val="0"/>
              </a:spcBef>
              <a:buFont typeface="Wingdings" panose="05000000000000000000" pitchFamily="2" charset="2"/>
              <a:buChar char="Ø"/>
            </a:pPr>
            <a:r>
              <a:rPr lang="en-US" dirty="0"/>
              <a:t>Amazon S3, Azure Blob Storage, and Google Cloud Storage (GCS) are widely </a:t>
            </a:r>
            <a:r>
              <a:rPr lang="en-US" dirty="0" smtClean="0"/>
              <a:t>used</a:t>
            </a:r>
          </a:p>
          <a:p>
            <a:pPr marL="361950" indent="-361950" algn="just">
              <a:lnSpc>
                <a:spcPct val="110000"/>
              </a:lnSpc>
              <a:spcBef>
                <a:spcPts val="0"/>
              </a:spcBef>
              <a:buFont typeface="Wingdings" panose="05000000000000000000" pitchFamily="2" charset="2"/>
              <a:buChar char="Ø"/>
            </a:pPr>
            <a:endParaRPr lang="en-US" dirty="0"/>
          </a:p>
          <a:p>
            <a:pPr marL="361950" indent="-361950" algn="just">
              <a:lnSpc>
                <a:spcPct val="110000"/>
              </a:lnSpc>
              <a:spcBef>
                <a:spcPts val="0"/>
              </a:spcBef>
              <a:buFont typeface="Wingdings" panose="05000000000000000000" pitchFamily="2" charset="2"/>
              <a:buChar char="Ø"/>
            </a:pPr>
            <a:r>
              <a:rPr lang="en-US" dirty="0" smtClean="0"/>
              <a:t>Many </a:t>
            </a:r>
            <a:r>
              <a:rPr lang="en-US" dirty="0"/>
              <a:t>cloud data warehouses (and a growing number of databases) utilize object storage as their storage </a:t>
            </a:r>
            <a:r>
              <a:rPr lang="en-US" dirty="0" smtClean="0"/>
              <a:t>layer</a:t>
            </a:r>
          </a:p>
          <a:p>
            <a:pPr marL="361950" indent="-361950" algn="just">
              <a:lnSpc>
                <a:spcPct val="110000"/>
              </a:lnSpc>
              <a:spcBef>
                <a:spcPts val="0"/>
              </a:spcBef>
              <a:buFont typeface="Wingdings" panose="05000000000000000000" pitchFamily="2" charset="2"/>
              <a:buChar char="Ø"/>
            </a:pPr>
            <a:endParaRPr lang="en-US" dirty="0"/>
          </a:p>
          <a:p>
            <a:pPr marL="361950" indent="-361950" algn="just">
              <a:lnSpc>
                <a:spcPct val="110000"/>
              </a:lnSpc>
              <a:spcBef>
                <a:spcPts val="0"/>
              </a:spcBef>
              <a:buFont typeface="Wingdings" panose="05000000000000000000" pitchFamily="2" charset="2"/>
              <a:buChar char="Ø"/>
            </a:pPr>
            <a:r>
              <a:rPr lang="en-US" dirty="0" smtClean="0"/>
              <a:t>Cloud </a:t>
            </a:r>
            <a:r>
              <a:rPr lang="en-US" dirty="0"/>
              <a:t>data lakes generally sit on object </a:t>
            </a:r>
            <a:r>
              <a:rPr lang="en-US" dirty="0" smtClean="0"/>
              <a:t>stores</a:t>
            </a:r>
          </a:p>
          <a:p>
            <a:pPr marL="361950" indent="-361950" algn="just">
              <a:lnSpc>
                <a:spcPct val="110000"/>
              </a:lnSpc>
              <a:spcBef>
                <a:spcPts val="0"/>
              </a:spcBef>
              <a:buFont typeface="Wingdings" panose="05000000000000000000" pitchFamily="2" charset="2"/>
              <a:buChar char="Ø"/>
            </a:pPr>
            <a:endParaRPr lang="en-US" dirty="0"/>
          </a:p>
          <a:p>
            <a:pPr marL="361950" indent="-361950" algn="just">
              <a:lnSpc>
                <a:spcPct val="110000"/>
              </a:lnSpc>
              <a:spcBef>
                <a:spcPts val="0"/>
              </a:spcBef>
              <a:buNone/>
            </a:pPr>
            <a:r>
              <a:rPr lang="en-US" b="1" u="sng" dirty="0" err="1" smtClean="0"/>
              <a:t>Serverless</a:t>
            </a:r>
            <a:endParaRPr lang="en-US" b="1" u="sng" dirty="0"/>
          </a:p>
          <a:p>
            <a:pPr marL="361950" indent="-361950" algn="just">
              <a:lnSpc>
                <a:spcPct val="110000"/>
              </a:lnSpc>
              <a:spcBef>
                <a:spcPts val="0"/>
              </a:spcBef>
              <a:buFont typeface="Wingdings" panose="05000000000000000000" pitchFamily="2" charset="2"/>
              <a:buChar char="Ø"/>
            </a:pPr>
            <a:endParaRPr lang="en-US" dirty="0" smtClean="0"/>
          </a:p>
          <a:p>
            <a:pPr marL="361950" indent="-361950" algn="just">
              <a:lnSpc>
                <a:spcPct val="110000"/>
              </a:lnSpc>
              <a:spcBef>
                <a:spcPts val="0"/>
              </a:spcBef>
              <a:buFont typeface="Wingdings" panose="05000000000000000000" pitchFamily="2" charset="2"/>
              <a:buChar char="Ø"/>
            </a:pPr>
            <a:r>
              <a:rPr lang="en-US" dirty="0" smtClean="0"/>
              <a:t>Object </a:t>
            </a:r>
            <a:r>
              <a:rPr lang="en-US" dirty="0"/>
              <a:t>storage was arguably one of the first “serverless” </a:t>
            </a:r>
            <a:r>
              <a:rPr lang="en-US" dirty="0" smtClean="0"/>
              <a:t>services</a:t>
            </a:r>
          </a:p>
          <a:p>
            <a:pPr marL="361950" indent="-361950" algn="just">
              <a:lnSpc>
                <a:spcPct val="110000"/>
              </a:lnSpc>
              <a:spcBef>
                <a:spcPts val="0"/>
              </a:spcBef>
              <a:buFont typeface="Wingdings" panose="05000000000000000000" pitchFamily="2" charset="2"/>
              <a:buChar char="Ø"/>
            </a:pPr>
            <a:endParaRPr lang="en-US" dirty="0"/>
          </a:p>
          <a:p>
            <a:pPr marL="361950" indent="-361950" algn="just">
              <a:lnSpc>
                <a:spcPct val="110000"/>
              </a:lnSpc>
              <a:spcBef>
                <a:spcPts val="0"/>
              </a:spcBef>
              <a:buFont typeface="Wingdings" panose="05000000000000000000" pitchFamily="2" charset="2"/>
              <a:buChar char="Ø"/>
            </a:pPr>
            <a:r>
              <a:rPr lang="en-US" dirty="0" smtClean="0"/>
              <a:t>Engineers </a:t>
            </a:r>
            <a:r>
              <a:rPr lang="en-US" dirty="0"/>
              <a:t>don’t need to consider the characteristics of underlying server clusters or </a:t>
            </a:r>
            <a:r>
              <a:rPr lang="en-US" dirty="0" smtClean="0"/>
              <a:t>disks</a:t>
            </a:r>
            <a:endParaRPr lang="en-US" dirty="0"/>
          </a:p>
        </p:txBody>
      </p:sp>
      <p:pic>
        <p:nvPicPr>
          <p:cNvPr id="7" name="Picture 6">
            <a:extLst>
              <a:ext uri="{FF2B5EF4-FFF2-40B4-BE49-F238E27FC236}">
                <a16:creationId xmlns:a16="http://schemas.microsoft.com/office/drawing/2014/main" id="{D547B2E7-62E0-54C2-B408-9512587A3EC7}"/>
              </a:ext>
            </a:extLst>
          </p:cNvPr>
          <p:cNvPicPr>
            <a:picLocks noChangeAspect="1"/>
          </p:cNvPicPr>
          <p:nvPr/>
        </p:nvPicPr>
        <p:blipFill>
          <a:blip r:embed="rId2"/>
          <a:stretch>
            <a:fillRect/>
          </a:stretch>
        </p:blipFill>
        <p:spPr>
          <a:xfrm>
            <a:off x="228600" y="2438400"/>
            <a:ext cx="2886075" cy="2957256"/>
          </a:xfrm>
          <a:prstGeom prst="rect">
            <a:avLst/>
          </a:prstGeom>
        </p:spPr>
      </p:pic>
    </p:spTree>
    <p:extLst>
      <p:ext uri="{BB962C8B-B14F-4D97-AF65-F5344CB8AC3E}">
        <p14:creationId xmlns:p14="http://schemas.microsoft.com/office/powerpoint/2010/main" val="38549994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9B5B9-D481-78C6-6E6E-50ECEF5BB1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70BE3-1B25-20A6-3094-4960EE8C8E5F}"/>
              </a:ext>
            </a:extLst>
          </p:cNvPr>
          <p:cNvSpPr>
            <a:spLocks noGrp="1"/>
          </p:cNvSpPr>
          <p:nvPr>
            <p:ph type="title"/>
          </p:nvPr>
        </p:nvSpPr>
        <p:spPr/>
        <p:txBody>
          <a:bodyPr/>
          <a:lstStyle/>
          <a:p>
            <a:r>
              <a:rPr lang="en-US" dirty="0"/>
              <a:t>Object Storage</a:t>
            </a:r>
          </a:p>
        </p:txBody>
      </p:sp>
      <p:sp>
        <p:nvSpPr>
          <p:cNvPr id="5" name="AutoShape 2" descr="Amazon S3: The Secure and Affordable Cloud Storage Solution">
            <a:extLst>
              <a:ext uri="{FF2B5EF4-FFF2-40B4-BE49-F238E27FC236}">
                <a16:creationId xmlns:a16="http://schemas.microsoft.com/office/drawing/2014/main" id="{D0620C35-1A57-02DD-AD28-A0F613F63429}"/>
              </a:ext>
            </a:extLst>
          </p:cNvPr>
          <p:cNvSpPr>
            <a:spLocks noGrp="1" noChangeAspect="1" noChangeArrowheads="1"/>
          </p:cNvSpPr>
          <p:nvPr>
            <p:ph type="body" sz="quarter" idx="13"/>
          </p:nvPr>
        </p:nvSpPr>
        <p:spPr bwMode="auto">
          <a:xfrm>
            <a:off x="228600" y="1066801"/>
            <a:ext cx="9072843" cy="3124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92500" lnSpcReduction="10000"/>
          </a:bodyPr>
          <a:lstStyle/>
          <a:p>
            <a:pPr marL="442913" indent="-352425" algn="just">
              <a:lnSpc>
                <a:spcPct val="100000"/>
              </a:lnSpc>
              <a:buNone/>
            </a:pPr>
            <a:r>
              <a:rPr lang="en-US" dirty="0"/>
              <a:t>An object store is a key-value store for immutable data objects</a:t>
            </a:r>
            <a:r>
              <a:rPr lang="en-US" dirty="0" smtClean="0"/>
              <a:t>.</a:t>
            </a:r>
          </a:p>
          <a:p>
            <a:pPr marL="442913" indent="-352425" algn="just">
              <a:lnSpc>
                <a:spcPct val="100000"/>
              </a:lnSpc>
              <a:buNone/>
            </a:pPr>
            <a:endParaRPr lang="en-US" dirty="0"/>
          </a:p>
          <a:p>
            <a:pPr marL="442913" lvl="1" indent="-352425" algn="just">
              <a:lnSpc>
                <a:spcPct val="100000"/>
              </a:lnSpc>
              <a:buFont typeface="Wingdings" panose="05000000000000000000" pitchFamily="2" charset="2"/>
              <a:buChar char="Ø"/>
            </a:pPr>
            <a:r>
              <a:rPr lang="en-US" sz="1800" dirty="0" smtClean="0"/>
              <a:t>Don’t </a:t>
            </a:r>
            <a:r>
              <a:rPr lang="en-US" sz="1800" dirty="0"/>
              <a:t>support random writes or append operations; instead, they are written once as a stream of </a:t>
            </a:r>
            <a:r>
              <a:rPr lang="en-US" sz="1800" dirty="0" smtClean="0"/>
              <a:t>bytes</a:t>
            </a:r>
          </a:p>
          <a:p>
            <a:pPr marL="442913" lvl="1" indent="-352425" algn="just">
              <a:lnSpc>
                <a:spcPct val="100000"/>
              </a:lnSpc>
              <a:buFont typeface="Wingdings" panose="05000000000000000000" pitchFamily="2" charset="2"/>
              <a:buChar char="Ø"/>
            </a:pPr>
            <a:endParaRPr lang="en-US" sz="1800" dirty="0"/>
          </a:p>
          <a:p>
            <a:pPr marL="442913" lvl="1" indent="-352425" algn="just">
              <a:lnSpc>
                <a:spcPct val="100000"/>
              </a:lnSpc>
              <a:buFont typeface="Wingdings" panose="05000000000000000000" pitchFamily="2" charset="2"/>
              <a:buChar char="Ø"/>
            </a:pPr>
            <a:r>
              <a:rPr lang="en-US" sz="1800" dirty="0"/>
              <a:t>After this initial write, objects become </a:t>
            </a:r>
            <a:r>
              <a:rPr lang="en-US" sz="1800" dirty="0" smtClean="0"/>
              <a:t>immutable</a:t>
            </a:r>
          </a:p>
          <a:p>
            <a:pPr marL="442913" lvl="1" indent="-352425" algn="just">
              <a:lnSpc>
                <a:spcPct val="100000"/>
              </a:lnSpc>
              <a:buFont typeface="Wingdings" panose="05000000000000000000" pitchFamily="2" charset="2"/>
              <a:buChar char="Ø"/>
            </a:pPr>
            <a:endParaRPr lang="en-US" sz="1800" dirty="0"/>
          </a:p>
          <a:p>
            <a:pPr marL="442913" lvl="1" indent="-352425" algn="just">
              <a:lnSpc>
                <a:spcPct val="100000"/>
              </a:lnSpc>
              <a:buFont typeface="Wingdings" panose="05000000000000000000" pitchFamily="2" charset="2"/>
              <a:buChar char="Ø"/>
            </a:pPr>
            <a:r>
              <a:rPr lang="en-US" sz="1800" dirty="0"/>
              <a:t>To change data in an object or append data to it, must rewrite the full </a:t>
            </a:r>
            <a:r>
              <a:rPr lang="en-US" sz="1800" dirty="0" smtClean="0"/>
              <a:t>object</a:t>
            </a:r>
          </a:p>
          <a:p>
            <a:pPr marL="442913" lvl="1" indent="-352425" algn="just">
              <a:lnSpc>
                <a:spcPct val="100000"/>
              </a:lnSpc>
              <a:buFont typeface="Wingdings" panose="05000000000000000000" pitchFamily="2" charset="2"/>
              <a:buChar char="Ø"/>
            </a:pPr>
            <a:endParaRPr lang="en-US" sz="1800" dirty="0"/>
          </a:p>
          <a:p>
            <a:pPr marL="442913" lvl="1" indent="-352425" algn="just">
              <a:lnSpc>
                <a:spcPct val="100000"/>
              </a:lnSpc>
              <a:buFont typeface="Wingdings" panose="05000000000000000000" pitchFamily="2" charset="2"/>
              <a:buChar char="Ø"/>
            </a:pPr>
            <a:r>
              <a:rPr lang="en-US" sz="1800" dirty="0" smtClean="0"/>
              <a:t>Support </a:t>
            </a:r>
            <a:r>
              <a:rPr lang="en-US" sz="1800" dirty="0"/>
              <a:t>random reads through range requests</a:t>
            </a:r>
            <a:endParaRPr lang="en-IN" sz="1800" dirty="0"/>
          </a:p>
        </p:txBody>
      </p:sp>
      <p:pic>
        <p:nvPicPr>
          <p:cNvPr id="7" name="Picture 6">
            <a:extLst>
              <a:ext uri="{FF2B5EF4-FFF2-40B4-BE49-F238E27FC236}">
                <a16:creationId xmlns:a16="http://schemas.microsoft.com/office/drawing/2014/main" id="{922490EE-F543-2EFB-FB26-7D2020F687F6}"/>
              </a:ext>
            </a:extLst>
          </p:cNvPr>
          <p:cNvPicPr>
            <a:picLocks noChangeAspect="1"/>
          </p:cNvPicPr>
          <p:nvPr/>
        </p:nvPicPr>
        <p:blipFill>
          <a:blip r:embed="rId2"/>
          <a:stretch>
            <a:fillRect/>
          </a:stretch>
        </p:blipFill>
        <p:spPr>
          <a:xfrm>
            <a:off x="9301443" y="1676400"/>
            <a:ext cx="2886075" cy="2957256"/>
          </a:xfrm>
          <a:prstGeom prst="rect">
            <a:avLst/>
          </a:prstGeom>
        </p:spPr>
      </p:pic>
    </p:spTree>
    <p:extLst>
      <p:ext uri="{BB962C8B-B14F-4D97-AF65-F5344CB8AC3E}">
        <p14:creationId xmlns:p14="http://schemas.microsoft.com/office/powerpoint/2010/main" val="9475143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4F225-68B8-68D4-2222-41282F07A0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849D7-1CBC-2263-71C0-815107CDDDC2}"/>
              </a:ext>
            </a:extLst>
          </p:cNvPr>
          <p:cNvSpPr>
            <a:spLocks noGrp="1"/>
          </p:cNvSpPr>
          <p:nvPr>
            <p:ph type="title"/>
          </p:nvPr>
        </p:nvSpPr>
        <p:spPr/>
        <p:txBody>
          <a:bodyPr>
            <a:normAutofit fontScale="90000"/>
          </a:bodyPr>
          <a:lstStyle/>
          <a:p>
            <a:r>
              <a:rPr lang="en-US" dirty="0"/>
              <a:t>Cache and Memory-Based Storage Systems - </a:t>
            </a:r>
            <a:r>
              <a:rPr lang="en-US" dirty="0" err="1"/>
              <a:t>Contd</a:t>
            </a:r>
            <a:endParaRPr lang="en-US" dirty="0"/>
          </a:p>
        </p:txBody>
      </p:sp>
      <p:sp>
        <p:nvSpPr>
          <p:cNvPr id="3" name="Text Placeholder 2">
            <a:extLst>
              <a:ext uri="{FF2B5EF4-FFF2-40B4-BE49-F238E27FC236}">
                <a16:creationId xmlns:a16="http://schemas.microsoft.com/office/drawing/2014/main" id="{8B45C3EC-ECB9-24FA-E73B-952F7ECDE653}"/>
              </a:ext>
            </a:extLst>
          </p:cNvPr>
          <p:cNvSpPr>
            <a:spLocks noGrp="1"/>
          </p:cNvSpPr>
          <p:nvPr>
            <p:ph type="body" sz="quarter" idx="13"/>
          </p:nvPr>
        </p:nvSpPr>
        <p:spPr>
          <a:xfrm>
            <a:off x="7070457" y="956486"/>
            <a:ext cx="5029200" cy="5554431"/>
          </a:xfrm>
        </p:spPr>
        <p:txBody>
          <a:bodyPr>
            <a:normAutofit/>
          </a:bodyPr>
          <a:lstStyle/>
          <a:p>
            <a:pPr marL="442913" indent="-352425" algn="just">
              <a:lnSpc>
                <a:spcPct val="100000"/>
              </a:lnSpc>
              <a:buFont typeface="Wingdings" panose="05000000000000000000" pitchFamily="2" charset="2"/>
              <a:buChar char="Ø"/>
            </a:pPr>
            <a:r>
              <a:rPr lang="en-US" dirty="0"/>
              <a:t>RAM offers excellent latency and transfer speeds but extremely vulnerable to data loss </a:t>
            </a:r>
            <a:endParaRPr lang="en-US" dirty="0" smtClean="0"/>
          </a:p>
          <a:p>
            <a:pPr marL="442913" indent="-352425" algn="just">
              <a:lnSpc>
                <a:spcPct val="100000"/>
              </a:lnSpc>
              <a:buFont typeface="Wingdings" panose="05000000000000000000" pitchFamily="2" charset="2"/>
              <a:buChar char="Ø"/>
            </a:pPr>
            <a:endParaRPr lang="en-US" dirty="0"/>
          </a:p>
          <a:p>
            <a:pPr marL="442913" indent="-352425" algn="just">
              <a:lnSpc>
                <a:spcPct val="100000"/>
              </a:lnSpc>
              <a:buFont typeface="Wingdings" panose="05000000000000000000" pitchFamily="2" charset="2"/>
              <a:buChar char="Ø"/>
            </a:pPr>
            <a:r>
              <a:rPr lang="en-US" dirty="0"/>
              <a:t>RAM-based storage systems are generally focused on caching applications, presenting data for quick access and high </a:t>
            </a:r>
            <a:r>
              <a:rPr lang="en-US" dirty="0" smtClean="0"/>
              <a:t>bandwidth</a:t>
            </a:r>
          </a:p>
          <a:p>
            <a:pPr marL="442913" indent="-352425" algn="just">
              <a:lnSpc>
                <a:spcPct val="100000"/>
              </a:lnSpc>
              <a:buFont typeface="Wingdings" panose="05000000000000000000" pitchFamily="2" charset="2"/>
              <a:buChar char="Ø"/>
            </a:pPr>
            <a:endParaRPr lang="en-US" dirty="0"/>
          </a:p>
          <a:p>
            <a:pPr marL="900113" lvl="2" indent="-352425" algn="just">
              <a:lnSpc>
                <a:spcPct val="100000"/>
              </a:lnSpc>
              <a:buFont typeface="Wingdings" panose="05000000000000000000" pitchFamily="2" charset="2"/>
              <a:buChar char="§"/>
            </a:pPr>
            <a:r>
              <a:rPr lang="en-US" sz="1600" dirty="0"/>
              <a:t>Data should generally be written to a more durable medium for retention </a:t>
            </a:r>
            <a:r>
              <a:rPr lang="en-US" sz="1600" dirty="0" smtClean="0"/>
              <a:t>purposes</a:t>
            </a:r>
          </a:p>
          <a:p>
            <a:pPr marL="900113" lvl="2" indent="-352425" algn="just">
              <a:lnSpc>
                <a:spcPct val="100000"/>
              </a:lnSpc>
              <a:buFont typeface="Wingdings" panose="05000000000000000000" pitchFamily="2" charset="2"/>
              <a:buChar char="§"/>
            </a:pPr>
            <a:endParaRPr lang="en-US" sz="1600" dirty="0"/>
          </a:p>
          <a:p>
            <a:pPr marL="900113" lvl="2" indent="-352425" algn="just">
              <a:lnSpc>
                <a:spcPct val="100000"/>
              </a:lnSpc>
              <a:buFont typeface="Wingdings" panose="05000000000000000000" pitchFamily="2" charset="2"/>
              <a:buChar char="§"/>
            </a:pPr>
            <a:r>
              <a:rPr lang="en-US" sz="1600" dirty="0"/>
              <a:t>These ultra-fast cache systems are useful when data engineers need to serve data with ultra-fast retrieval latency</a:t>
            </a:r>
            <a:endParaRPr lang="en-US" dirty="0"/>
          </a:p>
        </p:txBody>
      </p:sp>
      <p:pic>
        <p:nvPicPr>
          <p:cNvPr id="6" name="Picture 5">
            <a:extLst>
              <a:ext uri="{FF2B5EF4-FFF2-40B4-BE49-F238E27FC236}">
                <a16:creationId xmlns:a16="http://schemas.microsoft.com/office/drawing/2014/main" id="{2B1F07BD-43B0-619A-63F3-74A95699C851}"/>
              </a:ext>
            </a:extLst>
          </p:cNvPr>
          <p:cNvPicPr>
            <a:picLocks noChangeAspect="1"/>
          </p:cNvPicPr>
          <p:nvPr/>
        </p:nvPicPr>
        <p:blipFill>
          <a:blip r:embed="rId2"/>
          <a:stretch>
            <a:fillRect/>
          </a:stretch>
        </p:blipFill>
        <p:spPr>
          <a:xfrm>
            <a:off x="856129" y="1295301"/>
            <a:ext cx="6029325" cy="48768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8" name="TextBox 7">
            <a:extLst>
              <a:ext uri="{FF2B5EF4-FFF2-40B4-BE49-F238E27FC236}">
                <a16:creationId xmlns:a16="http://schemas.microsoft.com/office/drawing/2014/main" id="{546A7BC7-7D55-2C0E-ECB7-CB05EFEB1AEA}"/>
              </a:ext>
            </a:extLst>
          </p:cNvPr>
          <p:cNvSpPr txBox="1"/>
          <p:nvPr/>
        </p:nvSpPr>
        <p:spPr>
          <a:xfrm>
            <a:off x="838200" y="6198139"/>
            <a:ext cx="1295400"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3"/>
              </a:rPr>
              <a:t>Image Source</a:t>
            </a:r>
            <a:endParaRPr lang="en-US" sz="1200" dirty="0">
              <a:latin typeface="Helvetica" panose="020B0604020202020204" pitchFamily="34" charset="0"/>
              <a:cs typeface="Helvetica" panose="020B0604020202020204" pitchFamily="34" charset="0"/>
            </a:endParaRPr>
          </a:p>
        </p:txBody>
      </p:sp>
      <p:sp>
        <p:nvSpPr>
          <p:cNvPr id="4" name="TextBox 3">
            <a:extLst>
              <a:ext uri="{FF2B5EF4-FFF2-40B4-BE49-F238E27FC236}">
                <a16:creationId xmlns:a16="http://schemas.microsoft.com/office/drawing/2014/main" id="{5863FBCE-26F5-287C-2DF5-5E57615856F9}"/>
              </a:ext>
            </a:extLst>
          </p:cNvPr>
          <p:cNvSpPr txBox="1"/>
          <p:nvPr/>
        </p:nvSpPr>
        <p:spPr>
          <a:xfrm rot="16200000">
            <a:off x="-2581002" y="3580349"/>
            <a:ext cx="5772499"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2400" dirty="0">
                <a:latin typeface="Helvetica" panose="020B0604020202020204" pitchFamily="34" charset="0"/>
                <a:cs typeface="Helvetica" panose="020B0604020202020204" pitchFamily="34" charset="0"/>
              </a:rPr>
              <a:t>RAM-based storage systems</a:t>
            </a:r>
          </a:p>
        </p:txBody>
      </p:sp>
    </p:spTree>
    <p:extLst>
      <p:ext uri="{BB962C8B-B14F-4D97-AF65-F5344CB8AC3E}">
        <p14:creationId xmlns:p14="http://schemas.microsoft.com/office/powerpoint/2010/main" val="3245340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BD32A-50E0-3A68-A4E0-B71C78BF0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159DA-B5DE-EB49-1149-C64A0D79E943}"/>
              </a:ext>
            </a:extLst>
          </p:cNvPr>
          <p:cNvSpPr>
            <a:spLocks noGrp="1"/>
          </p:cNvSpPr>
          <p:nvPr>
            <p:ph type="title"/>
          </p:nvPr>
        </p:nvSpPr>
        <p:spPr/>
        <p:txBody>
          <a:bodyPr>
            <a:normAutofit fontScale="90000"/>
          </a:bodyPr>
          <a:lstStyle/>
          <a:p>
            <a:r>
              <a:rPr lang="en-US" dirty="0"/>
              <a:t>Cache and Memory-Based Storage Systems - </a:t>
            </a:r>
            <a:r>
              <a:rPr lang="en-US" dirty="0" err="1"/>
              <a:t>Contd</a:t>
            </a:r>
            <a:endParaRPr lang="en-US" dirty="0"/>
          </a:p>
        </p:txBody>
      </p:sp>
      <p:sp>
        <p:nvSpPr>
          <p:cNvPr id="3" name="Text Placeholder 2">
            <a:extLst>
              <a:ext uri="{FF2B5EF4-FFF2-40B4-BE49-F238E27FC236}">
                <a16:creationId xmlns:a16="http://schemas.microsoft.com/office/drawing/2014/main" id="{697A4A05-CBFE-D286-A6E1-67FAEE7E4B8D}"/>
              </a:ext>
            </a:extLst>
          </p:cNvPr>
          <p:cNvSpPr>
            <a:spLocks noGrp="1"/>
          </p:cNvSpPr>
          <p:nvPr>
            <p:ph type="body" sz="quarter" idx="13"/>
          </p:nvPr>
        </p:nvSpPr>
        <p:spPr>
          <a:xfrm>
            <a:off x="7342775" y="924932"/>
            <a:ext cx="4468225" cy="5554431"/>
          </a:xfrm>
        </p:spPr>
        <p:txBody>
          <a:bodyPr>
            <a:normAutofit/>
          </a:bodyPr>
          <a:lstStyle/>
          <a:p>
            <a:pPr marL="361950" indent="-361950" algn="just">
              <a:lnSpc>
                <a:spcPct val="100000"/>
              </a:lnSpc>
              <a:spcBef>
                <a:spcPts val="0"/>
              </a:spcBef>
              <a:buFont typeface="Wingdings" panose="05000000000000000000" pitchFamily="2" charset="2"/>
              <a:buChar char="Ø"/>
            </a:pPr>
            <a:r>
              <a:rPr lang="en-US" dirty="0" smtClean="0"/>
              <a:t>A </a:t>
            </a:r>
            <a:r>
              <a:rPr lang="en-US" dirty="0"/>
              <a:t>key-value store designed for caching database query results, API call responses, and </a:t>
            </a:r>
            <a:r>
              <a:rPr lang="en-US" dirty="0" smtClean="0"/>
              <a:t>more</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Uses </a:t>
            </a:r>
            <a:r>
              <a:rPr lang="en-US" dirty="0"/>
              <a:t>simple data structures, supporting either string or integer </a:t>
            </a:r>
            <a:r>
              <a:rPr lang="en-US" dirty="0" smtClean="0"/>
              <a:t>types</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Deliver </a:t>
            </a:r>
            <a:r>
              <a:rPr lang="en-US" dirty="0"/>
              <a:t>results with very low latency while also taking the load off backend systems</a:t>
            </a:r>
          </a:p>
        </p:txBody>
      </p:sp>
      <p:sp>
        <p:nvSpPr>
          <p:cNvPr id="8" name="TextBox 7">
            <a:extLst>
              <a:ext uri="{FF2B5EF4-FFF2-40B4-BE49-F238E27FC236}">
                <a16:creationId xmlns:a16="http://schemas.microsoft.com/office/drawing/2014/main" id="{FCFBE4F8-4749-78C2-D4B3-7D8F179D994A}"/>
              </a:ext>
            </a:extLst>
          </p:cNvPr>
          <p:cNvSpPr txBox="1"/>
          <p:nvPr/>
        </p:nvSpPr>
        <p:spPr>
          <a:xfrm>
            <a:off x="546847" y="6134106"/>
            <a:ext cx="1295400"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2"/>
              </a:rPr>
              <a:t>Image Source</a:t>
            </a:r>
            <a:endParaRPr lang="en-US" sz="1200" dirty="0">
              <a:latin typeface="Helvetica" panose="020B0604020202020204" pitchFamily="34" charset="0"/>
              <a:cs typeface="Helvetica" panose="020B0604020202020204" pitchFamily="34" charset="0"/>
            </a:endParaRPr>
          </a:p>
        </p:txBody>
      </p:sp>
      <p:sp>
        <p:nvSpPr>
          <p:cNvPr id="4" name="TextBox 3">
            <a:extLst>
              <a:ext uri="{FF2B5EF4-FFF2-40B4-BE49-F238E27FC236}">
                <a16:creationId xmlns:a16="http://schemas.microsoft.com/office/drawing/2014/main" id="{E1C6AA74-15D6-98B5-DB7C-294D54E81950}"/>
              </a:ext>
            </a:extLst>
          </p:cNvPr>
          <p:cNvSpPr txBox="1"/>
          <p:nvPr/>
        </p:nvSpPr>
        <p:spPr>
          <a:xfrm rot="16200000">
            <a:off x="-2581002" y="3580349"/>
            <a:ext cx="5772499"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2400" dirty="0"/>
              <a:t>Memcached and lightweight object caching</a:t>
            </a:r>
          </a:p>
        </p:txBody>
      </p:sp>
      <p:pic>
        <p:nvPicPr>
          <p:cNvPr id="7" name="Picture 6">
            <a:extLst>
              <a:ext uri="{FF2B5EF4-FFF2-40B4-BE49-F238E27FC236}">
                <a16:creationId xmlns:a16="http://schemas.microsoft.com/office/drawing/2014/main" id="{B0E37324-725D-F0C6-C32B-E8384B838226}"/>
              </a:ext>
            </a:extLst>
          </p:cNvPr>
          <p:cNvPicPr>
            <a:picLocks noChangeAspect="1"/>
          </p:cNvPicPr>
          <p:nvPr/>
        </p:nvPicPr>
        <p:blipFill>
          <a:blip r:embed="rId3"/>
          <a:stretch>
            <a:fillRect/>
          </a:stretch>
        </p:blipFill>
        <p:spPr>
          <a:xfrm>
            <a:off x="697006" y="1600200"/>
            <a:ext cx="6457950" cy="332422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1463627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1ED26-22EC-2DA0-0D2A-6F3C91BFA0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A9368-C305-CE4A-2DC4-CBD57C6BB0D6}"/>
              </a:ext>
            </a:extLst>
          </p:cNvPr>
          <p:cNvSpPr>
            <a:spLocks noGrp="1"/>
          </p:cNvSpPr>
          <p:nvPr>
            <p:ph type="title"/>
          </p:nvPr>
        </p:nvSpPr>
        <p:spPr/>
        <p:txBody>
          <a:bodyPr>
            <a:normAutofit fontScale="90000"/>
          </a:bodyPr>
          <a:lstStyle/>
          <a:p>
            <a:r>
              <a:rPr lang="en-US" dirty="0"/>
              <a:t>Cache and Memory-Based Storage Systems - </a:t>
            </a:r>
            <a:r>
              <a:rPr lang="en-US" dirty="0" err="1"/>
              <a:t>Contd</a:t>
            </a:r>
            <a:endParaRPr lang="en-US" dirty="0"/>
          </a:p>
        </p:txBody>
      </p:sp>
      <p:sp>
        <p:nvSpPr>
          <p:cNvPr id="3" name="Text Placeholder 2">
            <a:extLst>
              <a:ext uri="{FF2B5EF4-FFF2-40B4-BE49-F238E27FC236}">
                <a16:creationId xmlns:a16="http://schemas.microsoft.com/office/drawing/2014/main" id="{1129F9D5-6360-1B7F-FCD6-1D871FC888C4}"/>
              </a:ext>
            </a:extLst>
          </p:cNvPr>
          <p:cNvSpPr>
            <a:spLocks noGrp="1"/>
          </p:cNvSpPr>
          <p:nvPr>
            <p:ph type="body" sz="quarter" idx="13"/>
          </p:nvPr>
        </p:nvSpPr>
        <p:spPr>
          <a:xfrm>
            <a:off x="7250538" y="1033965"/>
            <a:ext cx="4889460" cy="5554431"/>
          </a:xfrm>
        </p:spPr>
        <p:txBody>
          <a:bodyPr>
            <a:normAutofit/>
          </a:bodyPr>
          <a:lstStyle/>
          <a:p>
            <a:pPr marL="361950" indent="-361950" algn="just">
              <a:lnSpc>
                <a:spcPct val="100000"/>
              </a:lnSpc>
              <a:spcBef>
                <a:spcPts val="0"/>
              </a:spcBef>
              <a:buFont typeface="Wingdings" panose="05000000000000000000" pitchFamily="2" charset="2"/>
              <a:buChar char="Ø"/>
            </a:pPr>
            <a:r>
              <a:rPr lang="en-US" dirty="0" smtClean="0"/>
              <a:t>Memory </a:t>
            </a:r>
            <a:r>
              <a:rPr lang="en-US" dirty="0"/>
              <a:t>caching with optional </a:t>
            </a:r>
            <a:r>
              <a:rPr lang="en-US" dirty="0" smtClean="0"/>
              <a:t>persistence</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A </a:t>
            </a:r>
            <a:r>
              <a:rPr lang="en-US" dirty="0"/>
              <a:t>key-value store, but it supports somewhat more complex data types (such as lists or sets</a:t>
            </a:r>
            <a:r>
              <a:rPr lang="en-US" dirty="0" smtClean="0"/>
              <a:t>)</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With </a:t>
            </a:r>
            <a:r>
              <a:rPr lang="en-US" dirty="0"/>
              <a:t>a typical configuration, Redis writes data roughly every two </a:t>
            </a:r>
            <a:r>
              <a:rPr lang="en-US" dirty="0" smtClean="0"/>
              <a:t>seconds</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Redis is thus suitable for extremely high-performance applications but can tolerate a small amount of data loss</a:t>
            </a:r>
            <a:endParaRPr lang="en-IN" dirty="0"/>
          </a:p>
        </p:txBody>
      </p:sp>
      <p:sp>
        <p:nvSpPr>
          <p:cNvPr id="8" name="TextBox 7">
            <a:extLst>
              <a:ext uri="{FF2B5EF4-FFF2-40B4-BE49-F238E27FC236}">
                <a16:creationId xmlns:a16="http://schemas.microsoft.com/office/drawing/2014/main" id="{F34F4886-FB80-C85D-8E15-E1DF5414C525}"/>
              </a:ext>
            </a:extLst>
          </p:cNvPr>
          <p:cNvSpPr txBox="1"/>
          <p:nvPr/>
        </p:nvSpPr>
        <p:spPr>
          <a:xfrm>
            <a:off x="882009" y="5704467"/>
            <a:ext cx="1295400"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2"/>
              </a:rPr>
              <a:t>Image Source</a:t>
            </a:r>
            <a:endParaRPr lang="en-US" sz="1200" dirty="0">
              <a:latin typeface="Helvetica" panose="020B0604020202020204" pitchFamily="34" charset="0"/>
              <a:cs typeface="Helvetica" panose="020B0604020202020204" pitchFamily="34" charset="0"/>
            </a:endParaRPr>
          </a:p>
        </p:txBody>
      </p:sp>
      <p:sp>
        <p:nvSpPr>
          <p:cNvPr id="4" name="TextBox 3">
            <a:extLst>
              <a:ext uri="{FF2B5EF4-FFF2-40B4-BE49-F238E27FC236}">
                <a16:creationId xmlns:a16="http://schemas.microsoft.com/office/drawing/2014/main" id="{F885899A-9331-A9D2-1B9C-0F321001B716}"/>
              </a:ext>
            </a:extLst>
          </p:cNvPr>
          <p:cNvSpPr txBox="1"/>
          <p:nvPr/>
        </p:nvSpPr>
        <p:spPr>
          <a:xfrm rot="16200000">
            <a:off x="-2581002" y="3580349"/>
            <a:ext cx="5772499"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2400" dirty="0"/>
              <a:t>Redis Cache</a:t>
            </a:r>
          </a:p>
        </p:txBody>
      </p:sp>
      <p:pic>
        <p:nvPicPr>
          <p:cNvPr id="6" name="Picture 5">
            <a:extLst>
              <a:ext uri="{FF2B5EF4-FFF2-40B4-BE49-F238E27FC236}">
                <a16:creationId xmlns:a16="http://schemas.microsoft.com/office/drawing/2014/main" id="{3A668534-65E3-389C-2129-B538E8FBBCDA}"/>
              </a:ext>
            </a:extLst>
          </p:cNvPr>
          <p:cNvPicPr>
            <a:picLocks noChangeAspect="1"/>
          </p:cNvPicPr>
          <p:nvPr/>
        </p:nvPicPr>
        <p:blipFill>
          <a:blip r:embed="rId3"/>
          <a:stretch>
            <a:fillRect/>
          </a:stretch>
        </p:blipFill>
        <p:spPr>
          <a:xfrm>
            <a:off x="859597" y="1752600"/>
            <a:ext cx="6067425" cy="31242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2426755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8B45B-5E24-80E1-588D-3ED3C06CF8E7}"/>
              </a:ext>
            </a:extLst>
          </p:cNvPr>
          <p:cNvSpPr>
            <a:spLocks noGrp="1"/>
          </p:cNvSpPr>
          <p:nvPr>
            <p:ph type="title"/>
          </p:nvPr>
        </p:nvSpPr>
        <p:spPr/>
        <p:txBody>
          <a:bodyPr/>
          <a:lstStyle/>
          <a:p>
            <a:r>
              <a:rPr lang="en-US" dirty="0"/>
              <a:t>Hadoop Distributed File System</a:t>
            </a:r>
          </a:p>
        </p:txBody>
      </p:sp>
      <p:pic>
        <p:nvPicPr>
          <p:cNvPr id="6" name="Picture 5">
            <a:extLst>
              <a:ext uri="{FF2B5EF4-FFF2-40B4-BE49-F238E27FC236}">
                <a16:creationId xmlns:a16="http://schemas.microsoft.com/office/drawing/2014/main" id="{D0103533-EBAC-1258-6CFA-AFDA0CBB9D34}"/>
              </a:ext>
            </a:extLst>
          </p:cNvPr>
          <p:cNvPicPr>
            <a:picLocks noChangeAspect="1"/>
          </p:cNvPicPr>
          <p:nvPr/>
        </p:nvPicPr>
        <p:blipFill>
          <a:blip r:embed="rId2"/>
          <a:stretch>
            <a:fillRect/>
          </a:stretch>
        </p:blipFill>
        <p:spPr>
          <a:xfrm>
            <a:off x="685800" y="919860"/>
            <a:ext cx="11277600" cy="580894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TextBox 6">
            <a:extLst>
              <a:ext uri="{FF2B5EF4-FFF2-40B4-BE49-F238E27FC236}">
                <a16:creationId xmlns:a16="http://schemas.microsoft.com/office/drawing/2014/main" id="{FB4273AD-A978-D5FA-3539-D1863EC81B56}"/>
              </a:ext>
            </a:extLst>
          </p:cNvPr>
          <p:cNvSpPr txBox="1"/>
          <p:nvPr/>
        </p:nvSpPr>
        <p:spPr>
          <a:xfrm>
            <a:off x="10927976" y="6447326"/>
            <a:ext cx="1295400"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3"/>
              </a:rPr>
              <a:t>Image Source</a:t>
            </a:r>
            <a:endParaRPr lang="en-US" sz="1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3434510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F1A06-B615-9FC2-1AF5-6CAF513D97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55D1D-01AA-A11B-F659-9F16782CD475}"/>
              </a:ext>
            </a:extLst>
          </p:cNvPr>
          <p:cNvSpPr>
            <a:spLocks noGrp="1"/>
          </p:cNvSpPr>
          <p:nvPr>
            <p:ph type="title"/>
          </p:nvPr>
        </p:nvSpPr>
        <p:spPr/>
        <p:txBody>
          <a:bodyPr/>
          <a:lstStyle/>
          <a:p>
            <a:r>
              <a:rPr lang="en-US" dirty="0"/>
              <a:t>Hadoop Distributed File System - </a:t>
            </a:r>
            <a:r>
              <a:rPr lang="en-US" dirty="0" err="1"/>
              <a:t>Contd</a:t>
            </a:r>
            <a:endParaRPr lang="en-US" dirty="0"/>
          </a:p>
        </p:txBody>
      </p:sp>
      <p:sp>
        <p:nvSpPr>
          <p:cNvPr id="3" name="Text Placeholder 2">
            <a:extLst>
              <a:ext uri="{FF2B5EF4-FFF2-40B4-BE49-F238E27FC236}">
                <a16:creationId xmlns:a16="http://schemas.microsoft.com/office/drawing/2014/main" id="{C4ACE5B5-9B37-A362-D400-0132F1C5B741}"/>
              </a:ext>
            </a:extLst>
          </p:cNvPr>
          <p:cNvSpPr>
            <a:spLocks noGrp="1"/>
          </p:cNvSpPr>
          <p:nvPr>
            <p:ph type="body" sz="quarter" idx="13"/>
          </p:nvPr>
        </p:nvSpPr>
        <p:spPr>
          <a:xfrm>
            <a:off x="304800" y="1033965"/>
            <a:ext cx="11835198" cy="5554431"/>
          </a:xfrm>
        </p:spPr>
        <p:txBody>
          <a:bodyPr>
            <a:normAutofit/>
          </a:bodyPr>
          <a:lstStyle/>
          <a:p>
            <a:pPr marL="361950" indent="-361950" algn="just">
              <a:lnSpc>
                <a:spcPct val="100000"/>
              </a:lnSpc>
              <a:spcBef>
                <a:spcPts val="0"/>
              </a:spcBef>
              <a:buFont typeface="Wingdings" panose="05000000000000000000" pitchFamily="2" charset="2"/>
              <a:buChar char="Ø"/>
            </a:pPr>
            <a:r>
              <a:rPr lang="en-US" dirty="0" smtClean="0"/>
              <a:t>Based </a:t>
            </a:r>
            <a:r>
              <a:rPr lang="en-US" dirty="0"/>
              <a:t>on Google File System (GFS) and was initially engineered to process data with the MapReduce programming </a:t>
            </a:r>
            <a:r>
              <a:rPr lang="en-US" dirty="0" smtClean="0"/>
              <a:t>model</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Similar </a:t>
            </a:r>
            <a:r>
              <a:rPr lang="en-US" dirty="0"/>
              <a:t>to object storage but with a key difference: Hadoop combines compute and storage on the same nodes, where object stores typically have limited support for internal processing	</a:t>
            </a:r>
            <a:endParaRPr lang="en-US" dirty="0" smtClean="0"/>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None/>
            </a:pPr>
            <a:r>
              <a:rPr lang="en-US" b="1" u="sng" dirty="0" smtClean="0"/>
              <a:t>Management</a:t>
            </a:r>
          </a:p>
          <a:p>
            <a:pPr marL="361950" indent="-361950" algn="just">
              <a:lnSpc>
                <a:spcPct val="100000"/>
              </a:lnSpc>
              <a:spcBef>
                <a:spcPts val="0"/>
              </a:spcBef>
              <a:buNone/>
            </a:pPr>
            <a:endParaRPr lang="en-US" b="1" u="sng" dirty="0"/>
          </a:p>
          <a:p>
            <a:pPr marL="361950" indent="-361950" algn="just">
              <a:lnSpc>
                <a:spcPct val="100000"/>
              </a:lnSpc>
              <a:spcBef>
                <a:spcPts val="0"/>
              </a:spcBef>
              <a:buFont typeface="Wingdings" panose="05000000000000000000" pitchFamily="2" charset="2"/>
              <a:buChar char="Ø"/>
            </a:pPr>
            <a:r>
              <a:rPr lang="en-US" dirty="0" smtClean="0"/>
              <a:t>Breaks </a:t>
            </a:r>
            <a:r>
              <a:rPr lang="en-US" dirty="0"/>
              <a:t>large files into blocks, chunks of data less than a few hundred megabytes in </a:t>
            </a:r>
            <a:r>
              <a:rPr lang="en-US" dirty="0" smtClean="0"/>
              <a:t>size</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Managed </a:t>
            </a:r>
            <a:r>
              <a:rPr lang="en-US" dirty="0"/>
              <a:t>by the </a:t>
            </a:r>
            <a:r>
              <a:rPr lang="en-US" dirty="0" err="1"/>
              <a:t>NameNode</a:t>
            </a:r>
            <a:r>
              <a:rPr lang="en-US" dirty="0"/>
              <a:t>, which maintains directories, file metadata, and a detailed catalog describing the location of file blocks in the </a:t>
            </a:r>
            <a:r>
              <a:rPr lang="en-US" dirty="0" smtClean="0"/>
              <a:t>cluster</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Each </a:t>
            </a:r>
            <a:r>
              <a:rPr lang="en-US" dirty="0"/>
              <a:t>block of data is replicated to three nodes - increases both the durability and availability of data</a:t>
            </a:r>
          </a:p>
          <a:p>
            <a:pPr marL="361950" indent="-361950" algn="just">
              <a:lnSpc>
                <a:spcPct val="100000"/>
              </a:lnSpc>
              <a:spcBef>
                <a:spcPts val="0"/>
              </a:spcBef>
              <a:buNone/>
            </a:pPr>
            <a:endParaRPr lang="en-US" b="1" u="sng" dirty="0"/>
          </a:p>
        </p:txBody>
      </p:sp>
    </p:spTree>
    <p:extLst>
      <p:ext uri="{BB962C8B-B14F-4D97-AF65-F5344CB8AC3E}">
        <p14:creationId xmlns:p14="http://schemas.microsoft.com/office/powerpoint/2010/main" val="38233682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FB3EC-99B9-E207-EDD5-CA5052801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F6D639-1762-EC60-5914-60B62B3D0D37}"/>
              </a:ext>
            </a:extLst>
          </p:cNvPr>
          <p:cNvSpPr>
            <a:spLocks noGrp="1"/>
          </p:cNvSpPr>
          <p:nvPr>
            <p:ph type="title"/>
          </p:nvPr>
        </p:nvSpPr>
        <p:spPr/>
        <p:txBody>
          <a:bodyPr/>
          <a:lstStyle/>
          <a:p>
            <a:r>
              <a:rPr lang="en-US" dirty="0"/>
              <a:t>Hadoop Distributed File System - </a:t>
            </a:r>
            <a:r>
              <a:rPr lang="en-US" dirty="0" err="1"/>
              <a:t>Contd</a:t>
            </a:r>
            <a:endParaRPr lang="en-US" dirty="0"/>
          </a:p>
        </p:txBody>
      </p:sp>
      <p:sp>
        <p:nvSpPr>
          <p:cNvPr id="3" name="Text Placeholder 2">
            <a:extLst>
              <a:ext uri="{FF2B5EF4-FFF2-40B4-BE49-F238E27FC236}">
                <a16:creationId xmlns:a16="http://schemas.microsoft.com/office/drawing/2014/main" id="{86254ADA-3E27-26AF-9581-F3BDC05CAA69}"/>
              </a:ext>
            </a:extLst>
          </p:cNvPr>
          <p:cNvSpPr>
            <a:spLocks noGrp="1"/>
          </p:cNvSpPr>
          <p:nvPr>
            <p:ph type="body" sz="quarter" idx="13"/>
          </p:nvPr>
        </p:nvSpPr>
        <p:spPr>
          <a:xfrm>
            <a:off x="304800" y="1033965"/>
            <a:ext cx="11835198" cy="5554431"/>
          </a:xfrm>
        </p:spPr>
        <p:txBody>
          <a:bodyPr>
            <a:normAutofit/>
          </a:bodyPr>
          <a:lstStyle/>
          <a:p>
            <a:pPr marL="533400" indent="-400050" algn="just">
              <a:lnSpc>
                <a:spcPct val="150000"/>
              </a:lnSpc>
              <a:buNone/>
            </a:pPr>
            <a:r>
              <a:rPr lang="en-US" dirty="0"/>
              <a:t>Claims that Hadoop is dead! This is only partially true!</a:t>
            </a:r>
          </a:p>
          <a:p>
            <a:pPr marL="533400" indent="-400050" algn="just">
              <a:lnSpc>
                <a:spcPct val="150000"/>
              </a:lnSpc>
              <a:buFont typeface="Wingdings" panose="05000000000000000000" pitchFamily="2" charset="2"/>
              <a:buChar char="Ø"/>
            </a:pPr>
            <a:r>
              <a:rPr lang="en-US" dirty="0" smtClean="0"/>
              <a:t>No </a:t>
            </a:r>
            <a:r>
              <a:rPr lang="en-US" dirty="0"/>
              <a:t>longer a hot, bleeding-edge technology</a:t>
            </a:r>
          </a:p>
          <a:p>
            <a:pPr marL="533400" indent="-400050" algn="just">
              <a:lnSpc>
                <a:spcPct val="150000"/>
              </a:lnSpc>
              <a:buFont typeface="Wingdings" panose="05000000000000000000" pitchFamily="2" charset="2"/>
              <a:buChar char="Ø"/>
            </a:pPr>
            <a:r>
              <a:rPr lang="en-US" dirty="0"/>
              <a:t>Many Hadoop ecosystem tools such as Apache Pig are now on life support and primarily used to run legacy jobs</a:t>
            </a:r>
          </a:p>
          <a:p>
            <a:pPr marL="533400" indent="-400050" algn="just">
              <a:lnSpc>
                <a:spcPct val="150000"/>
              </a:lnSpc>
              <a:buFont typeface="Wingdings" panose="05000000000000000000" pitchFamily="2" charset="2"/>
              <a:buChar char="Ø"/>
            </a:pPr>
            <a:r>
              <a:rPr lang="en-US" dirty="0"/>
              <a:t>The pure MapReduce programming model has fallen by the wayside</a:t>
            </a:r>
          </a:p>
          <a:p>
            <a:pPr marL="533400" indent="-400050" algn="just">
              <a:lnSpc>
                <a:spcPct val="150000"/>
              </a:lnSpc>
            </a:pPr>
            <a:endParaRPr lang="en-US" dirty="0"/>
          </a:p>
          <a:p>
            <a:pPr marL="533400" indent="-400050" algn="just">
              <a:lnSpc>
                <a:spcPct val="150000"/>
              </a:lnSpc>
              <a:buNone/>
            </a:pPr>
            <a:r>
              <a:rPr lang="en-US" dirty="0"/>
              <a:t>But HDFS remains widely used in various applications and organizations</a:t>
            </a:r>
          </a:p>
          <a:p>
            <a:pPr marL="533400" indent="-400050" algn="just">
              <a:lnSpc>
                <a:spcPct val="150000"/>
              </a:lnSpc>
              <a:buFont typeface="Wingdings" panose="05000000000000000000" pitchFamily="2" charset="2"/>
              <a:buChar char="Ø"/>
            </a:pPr>
            <a:r>
              <a:rPr lang="en-US" dirty="0"/>
              <a:t>HDFS is a key ingredient of many current big data engines, such as Amazon EMR</a:t>
            </a:r>
          </a:p>
          <a:p>
            <a:pPr marL="533400" indent="-400050" algn="just">
              <a:lnSpc>
                <a:spcPct val="150000"/>
              </a:lnSpc>
              <a:buFont typeface="Wingdings" panose="05000000000000000000" pitchFamily="2" charset="2"/>
              <a:buChar char="Ø"/>
            </a:pPr>
            <a:r>
              <a:rPr lang="en-US" dirty="0"/>
              <a:t>In fact, Apache Spark is still commonly run on HDFS clusters</a:t>
            </a:r>
            <a:endParaRPr lang="en-IN" dirty="0"/>
          </a:p>
        </p:txBody>
      </p:sp>
    </p:spTree>
    <p:extLst>
      <p:ext uri="{BB962C8B-B14F-4D97-AF65-F5344CB8AC3E}">
        <p14:creationId xmlns:p14="http://schemas.microsoft.com/office/powerpoint/2010/main" val="21242320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3AF8A-AA24-2898-4A35-BBBED1ED3D30}"/>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Streaming Data Storage</a:t>
            </a:r>
          </a:p>
        </p:txBody>
      </p:sp>
      <p:sp>
        <p:nvSpPr>
          <p:cNvPr id="3" name="Text Placeholder 2">
            <a:extLst>
              <a:ext uri="{FF2B5EF4-FFF2-40B4-BE49-F238E27FC236}">
                <a16:creationId xmlns:a16="http://schemas.microsoft.com/office/drawing/2014/main" id="{0D0A241C-CC3A-E413-5839-E2A6F9A15F5E}"/>
              </a:ext>
            </a:extLst>
          </p:cNvPr>
          <p:cNvSpPr>
            <a:spLocks noGrp="1"/>
          </p:cNvSpPr>
          <p:nvPr>
            <p:ph type="body" sz="quarter" idx="13"/>
          </p:nvPr>
        </p:nvSpPr>
        <p:spPr>
          <a:xfrm>
            <a:off x="152400" y="2591141"/>
            <a:ext cx="11734800" cy="4106289"/>
          </a:xfrm>
        </p:spPr>
        <p:txBody>
          <a:bodyPr>
            <a:normAutofit fontScale="85000" lnSpcReduction="10000"/>
          </a:bodyPr>
          <a:lstStyle/>
          <a:p>
            <a:pPr marL="442913" algn="just">
              <a:lnSpc>
                <a:spcPct val="150000"/>
              </a:lnSpc>
              <a:buNone/>
            </a:pPr>
            <a:r>
              <a:rPr lang="en-US" dirty="0">
                <a:latin typeface="Helvetica" panose="020B0604020202020204" pitchFamily="34" charset="0"/>
                <a:cs typeface="Helvetica" panose="020B0604020202020204" pitchFamily="34" charset="0"/>
              </a:rPr>
              <a:t>Streaming data has different storage requirements than non-streaming data - </a:t>
            </a:r>
            <a:r>
              <a:rPr lang="en-US" dirty="0">
                <a:solidFill>
                  <a:srgbClr val="FF0000"/>
                </a:solidFill>
                <a:latin typeface="Helvetica" panose="020B0604020202020204" pitchFamily="34" charset="0"/>
                <a:cs typeface="Helvetica" panose="020B0604020202020204" pitchFamily="34" charset="0"/>
              </a:rPr>
              <a:t>retention, replay</a:t>
            </a:r>
            <a:r>
              <a:rPr lang="en-US" dirty="0">
                <a:latin typeface="Helvetica" panose="020B0604020202020204" pitchFamily="34" charset="0"/>
                <a:cs typeface="Helvetica" panose="020B0604020202020204" pitchFamily="34" charset="0"/>
              </a:rPr>
              <a:t>!</a:t>
            </a:r>
          </a:p>
          <a:p>
            <a:pPr marL="442913" algn="just">
              <a:lnSpc>
                <a:spcPct val="150000"/>
              </a:lnSpc>
              <a:buNone/>
            </a:pPr>
            <a:r>
              <a:rPr lang="en-US" b="1" u="sng" dirty="0">
                <a:latin typeface="Helvetica" panose="020B0604020202020204" pitchFamily="34" charset="0"/>
                <a:cs typeface="Helvetica" panose="020B0604020202020204" pitchFamily="34" charset="0"/>
              </a:rPr>
              <a:t>Retention</a:t>
            </a:r>
          </a:p>
          <a:p>
            <a:pPr marL="442913"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In the case of message queues, stored data is temporal and expected to disappear after a certain duration</a:t>
            </a:r>
          </a:p>
          <a:p>
            <a:pPr marL="442913"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Distributed, scalable streaming frameworks like Apache Kafka now allow extremely long-duration streaming data retention</a:t>
            </a:r>
          </a:p>
          <a:p>
            <a:pPr marL="442913"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Kafka competitors (including Amazon Kinesis, Apache Pulsar, and Google Cloud Pub/Sub) also support long data retention</a:t>
            </a:r>
          </a:p>
          <a:p>
            <a:pPr marL="442913" algn="just">
              <a:lnSpc>
                <a:spcPct val="150000"/>
              </a:lnSpc>
              <a:buNone/>
            </a:pPr>
            <a:r>
              <a:rPr lang="en-US" b="1" u="sng" dirty="0">
                <a:latin typeface="Helvetica" panose="020B0604020202020204" pitchFamily="34" charset="0"/>
                <a:cs typeface="Helvetica" panose="020B0604020202020204" pitchFamily="34" charset="0"/>
              </a:rPr>
              <a:t>Replay </a:t>
            </a:r>
          </a:p>
          <a:p>
            <a:pPr marL="442913" algn="just">
              <a:lnSpc>
                <a:spcPct val="150000"/>
              </a:lnSpc>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Allows </a:t>
            </a:r>
            <a:r>
              <a:rPr lang="en-US" dirty="0">
                <a:latin typeface="Helvetica" panose="020B0604020202020204" pitchFamily="34" charset="0"/>
                <a:cs typeface="Helvetica" panose="020B0604020202020204" pitchFamily="34" charset="0"/>
              </a:rPr>
              <a:t>a streaming system to return a range of historical stored data</a:t>
            </a:r>
          </a:p>
          <a:p>
            <a:pPr marL="442913" algn="just">
              <a:lnSpc>
                <a:spcPct val="150000"/>
              </a:lnSpc>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Standard </a:t>
            </a:r>
            <a:r>
              <a:rPr lang="en-US" dirty="0">
                <a:latin typeface="Helvetica" panose="020B0604020202020204" pitchFamily="34" charset="0"/>
                <a:cs typeface="Helvetica" panose="020B0604020202020204" pitchFamily="34" charset="0"/>
              </a:rPr>
              <a:t>data-retrieval mechanism for streaming storage systems</a:t>
            </a:r>
          </a:p>
          <a:p>
            <a:pPr marL="442913" algn="just">
              <a:lnSpc>
                <a:spcPct val="150000"/>
              </a:lnSpc>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Can </a:t>
            </a:r>
            <a:r>
              <a:rPr lang="en-US" dirty="0">
                <a:latin typeface="Helvetica" panose="020B0604020202020204" pitchFamily="34" charset="0"/>
                <a:cs typeface="Helvetica" panose="020B0604020202020204" pitchFamily="34" charset="0"/>
              </a:rPr>
              <a:t>be used to run batch queries over a time range or to reprocess data in a streaming pipeline</a:t>
            </a:r>
          </a:p>
        </p:txBody>
      </p:sp>
      <p:sp>
        <p:nvSpPr>
          <p:cNvPr id="5" name="Rectangle 4">
            <a:extLst>
              <a:ext uri="{FF2B5EF4-FFF2-40B4-BE49-F238E27FC236}">
                <a16:creationId xmlns:a16="http://schemas.microsoft.com/office/drawing/2014/main" id="{8993A6FC-A8C0-ABBE-3839-03A1C7B92BF5}"/>
              </a:ext>
            </a:extLst>
          </p:cNvPr>
          <p:cNvSpPr/>
          <p:nvPr/>
        </p:nvSpPr>
        <p:spPr>
          <a:xfrm>
            <a:off x="2286001" y="1099067"/>
            <a:ext cx="1667435" cy="609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Sender</a:t>
            </a:r>
          </a:p>
        </p:txBody>
      </p:sp>
      <p:sp>
        <p:nvSpPr>
          <p:cNvPr id="6" name="Rectangle 5">
            <a:extLst>
              <a:ext uri="{FF2B5EF4-FFF2-40B4-BE49-F238E27FC236}">
                <a16:creationId xmlns:a16="http://schemas.microsoft.com/office/drawing/2014/main" id="{9863DCDD-9F4C-8081-B3AC-6FB232EAD401}"/>
              </a:ext>
            </a:extLst>
          </p:cNvPr>
          <p:cNvSpPr/>
          <p:nvPr/>
        </p:nvSpPr>
        <p:spPr>
          <a:xfrm>
            <a:off x="6477000" y="1099067"/>
            <a:ext cx="1667435" cy="6096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Receiver</a:t>
            </a:r>
          </a:p>
        </p:txBody>
      </p:sp>
      <p:sp>
        <p:nvSpPr>
          <p:cNvPr id="7" name="Cylinder 6">
            <a:extLst>
              <a:ext uri="{FF2B5EF4-FFF2-40B4-BE49-F238E27FC236}">
                <a16:creationId xmlns:a16="http://schemas.microsoft.com/office/drawing/2014/main" id="{A151D15B-9DD1-113F-281A-A3B7829990ED}"/>
              </a:ext>
            </a:extLst>
          </p:cNvPr>
          <p:cNvSpPr/>
          <p:nvPr/>
        </p:nvSpPr>
        <p:spPr>
          <a:xfrm rot="5400000">
            <a:off x="5025558" y="578933"/>
            <a:ext cx="577675" cy="1649868"/>
          </a:xfrm>
          <a:prstGeom prst="ca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latin typeface="Helvetica" panose="020B0604020202020204" pitchFamily="34" charset="0"/>
              <a:cs typeface="Helvetica" panose="020B0604020202020204" pitchFamily="34" charset="0"/>
            </a:endParaRPr>
          </a:p>
        </p:txBody>
      </p:sp>
      <p:sp>
        <p:nvSpPr>
          <p:cNvPr id="8" name="TextBox 7">
            <a:extLst>
              <a:ext uri="{FF2B5EF4-FFF2-40B4-BE49-F238E27FC236}">
                <a16:creationId xmlns:a16="http://schemas.microsoft.com/office/drawing/2014/main" id="{B046BBC0-6C6B-49DE-B304-4D7FF8E0EF79}"/>
              </a:ext>
            </a:extLst>
          </p:cNvPr>
          <p:cNvSpPr txBox="1"/>
          <p:nvPr/>
        </p:nvSpPr>
        <p:spPr>
          <a:xfrm>
            <a:off x="4594413" y="1219201"/>
            <a:ext cx="1349188" cy="369332"/>
          </a:xfrm>
          <a:prstGeom prst="rect">
            <a:avLst/>
          </a:prstGeom>
          <a:ln>
            <a:noFill/>
          </a:ln>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dirty="0">
                <a:latin typeface="Helvetica" panose="020B0604020202020204" pitchFamily="34" charset="0"/>
                <a:cs typeface="Helvetica" panose="020B0604020202020204" pitchFamily="34" charset="0"/>
              </a:rPr>
              <a:t>Stream</a:t>
            </a:r>
          </a:p>
        </p:txBody>
      </p:sp>
      <p:sp>
        <p:nvSpPr>
          <p:cNvPr id="9" name="Cylinder 8">
            <a:extLst>
              <a:ext uri="{FF2B5EF4-FFF2-40B4-BE49-F238E27FC236}">
                <a16:creationId xmlns:a16="http://schemas.microsoft.com/office/drawing/2014/main" id="{AD5B0D91-6EC7-6A33-9215-A132C2F18295}"/>
              </a:ext>
            </a:extLst>
          </p:cNvPr>
          <p:cNvSpPr/>
          <p:nvPr/>
        </p:nvSpPr>
        <p:spPr>
          <a:xfrm>
            <a:off x="4489461" y="1692705"/>
            <a:ext cx="1649869" cy="609600"/>
          </a:xfrm>
          <a:prstGeom prst="can">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Streaming DB</a:t>
            </a:r>
          </a:p>
        </p:txBody>
      </p:sp>
      <p:cxnSp>
        <p:nvCxnSpPr>
          <p:cNvPr id="11" name="Straight Arrow Connector 10">
            <a:extLst>
              <a:ext uri="{FF2B5EF4-FFF2-40B4-BE49-F238E27FC236}">
                <a16:creationId xmlns:a16="http://schemas.microsoft.com/office/drawing/2014/main" id="{F91DA090-3D6E-F795-5F3F-B45801FE2F0B}"/>
              </a:ext>
            </a:extLst>
          </p:cNvPr>
          <p:cNvCxnSpPr>
            <a:cxnSpLocks/>
            <a:stCxn id="5" idx="3"/>
            <a:endCxn id="7" idx="3"/>
          </p:cNvCxnSpPr>
          <p:nvPr/>
        </p:nvCxnSpPr>
        <p:spPr>
          <a:xfrm>
            <a:off x="3953436" y="1403867"/>
            <a:ext cx="536026" cy="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a:extLst>
              <a:ext uri="{FF2B5EF4-FFF2-40B4-BE49-F238E27FC236}">
                <a16:creationId xmlns:a16="http://schemas.microsoft.com/office/drawing/2014/main" id="{C59EA54F-B671-773C-A753-00C6737D291D}"/>
              </a:ext>
            </a:extLst>
          </p:cNvPr>
          <p:cNvCxnSpPr>
            <a:cxnSpLocks/>
            <a:stCxn id="7" idx="1"/>
            <a:endCxn id="6" idx="1"/>
          </p:cNvCxnSpPr>
          <p:nvPr/>
        </p:nvCxnSpPr>
        <p:spPr>
          <a:xfrm flipV="1">
            <a:off x="6139330" y="1403867"/>
            <a:ext cx="337670" cy="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2810843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5AA8C-2159-85D6-DF88-803F1A53EF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71E0E7-DF57-D351-9E61-EB374FDD257C}"/>
              </a:ext>
            </a:extLst>
          </p:cNvPr>
          <p:cNvSpPr>
            <a:spLocks noGrp="1"/>
          </p:cNvSpPr>
          <p:nvPr>
            <p:ph type="title"/>
          </p:nvPr>
        </p:nvSpPr>
        <p:spPr>
          <a:xfrm>
            <a:off x="5105400" y="2459831"/>
            <a:ext cx="6871447" cy="2852737"/>
          </a:xfrm>
        </p:spPr>
        <p:txBody>
          <a:bodyPr anchor="b">
            <a:normAutofit fontScale="90000"/>
          </a:bodyPr>
          <a:lstStyle/>
          <a:p>
            <a:r>
              <a:rPr lang="en-US" dirty="0"/>
              <a:t>Data Storage Infrastructure</a:t>
            </a:r>
            <a:br>
              <a:rPr lang="en-US" dirty="0"/>
            </a:br>
            <a:r>
              <a:rPr lang="en-US" dirty="0" smtClean="0"/>
              <a:t>-Storage </a:t>
            </a:r>
            <a:r>
              <a:rPr lang="en-US" dirty="0"/>
              <a:t>Abstractions</a:t>
            </a:r>
          </a:p>
        </p:txBody>
      </p:sp>
      <p:pic>
        <p:nvPicPr>
          <p:cNvPr id="3" name="Picture 2">
            <a:extLst>
              <a:ext uri="{FF2B5EF4-FFF2-40B4-BE49-F238E27FC236}">
                <a16:creationId xmlns:a16="http://schemas.microsoft.com/office/drawing/2014/main" id="{BD670537-6B0A-CBCF-C948-5B6E3F90E105}"/>
              </a:ext>
            </a:extLst>
          </p:cNvPr>
          <p:cNvPicPr>
            <a:picLocks noChangeAspect="1"/>
          </p:cNvPicPr>
          <p:nvPr/>
        </p:nvPicPr>
        <p:blipFill>
          <a:blip r:embed="rId2"/>
          <a:stretch>
            <a:fillRect/>
          </a:stretch>
        </p:blipFill>
        <p:spPr>
          <a:xfrm>
            <a:off x="304800" y="609600"/>
            <a:ext cx="4572000" cy="5301492"/>
          </a:xfrm>
          <a:prstGeom prst="rect">
            <a:avLst/>
          </a:prstGeom>
        </p:spPr>
      </p:pic>
      <p:sp>
        <p:nvSpPr>
          <p:cNvPr id="4" name="Rectangle 3">
            <a:extLst>
              <a:ext uri="{FF2B5EF4-FFF2-40B4-BE49-F238E27FC236}">
                <a16:creationId xmlns:a16="http://schemas.microsoft.com/office/drawing/2014/main" id="{6ACC1785-9E2C-B2C0-FA40-42C4F0A3F97B}"/>
              </a:ext>
            </a:extLst>
          </p:cNvPr>
          <p:cNvSpPr/>
          <p:nvPr/>
        </p:nvSpPr>
        <p:spPr>
          <a:xfrm>
            <a:off x="114300" y="2133600"/>
            <a:ext cx="4953000" cy="1752600"/>
          </a:xfrm>
          <a:prstGeom prst="rect">
            <a:avLst/>
          </a:prstGeom>
          <a:solidFill>
            <a:schemeClr val="accent1">
              <a:alpha val="12000"/>
            </a:schemeClr>
          </a:solidFill>
          <a:ln w="66675" cmpd="dbl">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97176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A0257-A4F2-0AEF-D8F6-018BD4230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449250-B455-E6DB-799A-F8F99D0B71E2}"/>
              </a:ext>
            </a:extLst>
          </p:cNvPr>
          <p:cNvSpPr>
            <a:spLocks noGrp="1"/>
          </p:cNvSpPr>
          <p:nvPr>
            <p:ph type="title"/>
          </p:nvPr>
        </p:nvSpPr>
        <p:spPr/>
        <p:txBody>
          <a:bodyPr/>
          <a:lstStyle/>
          <a:p>
            <a:r>
              <a:rPr lang="en-US" dirty="0"/>
              <a:t>Abstractions</a:t>
            </a:r>
          </a:p>
        </p:txBody>
      </p:sp>
      <p:sp>
        <p:nvSpPr>
          <p:cNvPr id="7" name="Text Placeholder 2">
            <a:extLst>
              <a:ext uri="{FF2B5EF4-FFF2-40B4-BE49-F238E27FC236}">
                <a16:creationId xmlns:a16="http://schemas.microsoft.com/office/drawing/2014/main" id="{09CDE3CC-1E25-69C5-2E4F-1926A6B52141}"/>
              </a:ext>
            </a:extLst>
          </p:cNvPr>
          <p:cNvSpPr>
            <a:spLocks noGrp="1"/>
          </p:cNvSpPr>
          <p:nvPr>
            <p:ph type="body" sz="quarter" idx="13"/>
          </p:nvPr>
        </p:nvSpPr>
        <p:spPr>
          <a:xfrm>
            <a:off x="419100" y="1104900"/>
            <a:ext cx="11620500" cy="4648199"/>
          </a:xfrm>
        </p:spPr>
        <p:txBody>
          <a:bodyPr>
            <a:normAutofit fontScale="92500" lnSpcReduction="20000"/>
          </a:bodyPr>
          <a:lstStyle/>
          <a:p>
            <a:pPr marL="361950" indent="-361950">
              <a:lnSpc>
                <a:spcPct val="150000"/>
              </a:lnSpc>
              <a:buFont typeface="Wingdings" panose="05000000000000000000" pitchFamily="2" charset="2"/>
              <a:buChar char="Ø"/>
            </a:pPr>
            <a:r>
              <a:rPr lang="en-US" dirty="0"/>
              <a:t>Data engineering storage abstractions are data organization and query patterns that sit at the heart of the data engineering lifecycle </a:t>
            </a:r>
          </a:p>
          <a:p>
            <a:pPr marL="361950" indent="-361950">
              <a:lnSpc>
                <a:spcPct val="150000"/>
              </a:lnSpc>
              <a:buFont typeface="Wingdings" panose="05000000000000000000" pitchFamily="2" charset="2"/>
              <a:buChar char="Ø"/>
            </a:pPr>
            <a:r>
              <a:rPr lang="en-US" dirty="0" smtClean="0"/>
              <a:t>Are </a:t>
            </a:r>
            <a:r>
              <a:rPr lang="en-US" dirty="0"/>
              <a:t>built atop the data storage systems</a:t>
            </a:r>
          </a:p>
          <a:p>
            <a:pPr marL="361950" indent="-361950">
              <a:lnSpc>
                <a:spcPct val="150000"/>
              </a:lnSpc>
              <a:buFont typeface="Wingdings" panose="05000000000000000000" pitchFamily="2" charset="2"/>
              <a:buChar char="Ø"/>
            </a:pPr>
            <a:endParaRPr lang="en-US" dirty="0"/>
          </a:p>
          <a:p>
            <a:pPr marL="361950" indent="-361950">
              <a:lnSpc>
                <a:spcPct val="150000"/>
              </a:lnSpc>
              <a:buNone/>
            </a:pPr>
            <a:r>
              <a:rPr lang="en-US" dirty="0"/>
              <a:t>The main types of abstractions are those that support data science, analytics, and reporting use cases</a:t>
            </a:r>
          </a:p>
          <a:p>
            <a:pPr marL="361950" indent="-361950">
              <a:lnSpc>
                <a:spcPct val="150000"/>
              </a:lnSpc>
              <a:buFont typeface="Wingdings" panose="05000000000000000000" pitchFamily="2" charset="2"/>
              <a:buChar char="Ø"/>
            </a:pPr>
            <a:r>
              <a:rPr lang="en-US" dirty="0"/>
              <a:t>Data warehouse</a:t>
            </a:r>
          </a:p>
          <a:p>
            <a:pPr marL="361950" indent="-361950">
              <a:lnSpc>
                <a:spcPct val="150000"/>
              </a:lnSpc>
              <a:buFont typeface="Wingdings" panose="05000000000000000000" pitchFamily="2" charset="2"/>
              <a:buChar char="Ø"/>
            </a:pPr>
            <a:r>
              <a:rPr lang="en-US" dirty="0"/>
              <a:t>Data lake</a:t>
            </a:r>
          </a:p>
          <a:p>
            <a:pPr marL="361950" indent="-361950">
              <a:lnSpc>
                <a:spcPct val="150000"/>
              </a:lnSpc>
              <a:buFont typeface="Wingdings" panose="05000000000000000000" pitchFamily="2" charset="2"/>
              <a:buChar char="Ø"/>
            </a:pPr>
            <a:r>
              <a:rPr lang="en-US" dirty="0"/>
              <a:t>Data </a:t>
            </a:r>
            <a:r>
              <a:rPr lang="en-US" dirty="0" err="1"/>
              <a:t>lakehouse</a:t>
            </a:r>
            <a:endParaRPr lang="en-US" dirty="0"/>
          </a:p>
          <a:p>
            <a:pPr marL="361950" indent="-361950">
              <a:lnSpc>
                <a:spcPct val="150000"/>
              </a:lnSpc>
              <a:buFont typeface="Wingdings" panose="05000000000000000000" pitchFamily="2" charset="2"/>
              <a:buChar char="Ø"/>
            </a:pPr>
            <a:r>
              <a:rPr lang="en-US" dirty="0"/>
              <a:t>Data platforms</a:t>
            </a:r>
          </a:p>
          <a:p>
            <a:pPr marL="361950" indent="-361950">
              <a:lnSpc>
                <a:spcPct val="150000"/>
              </a:lnSpc>
              <a:buFont typeface="Wingdings" panose="05000000000000000000" pitchFamily="2" charset="2"/>
              <a:buChar char="Ø"/>
            </a:pPr>
            <a:r>
              <a:rPr lang="en-US" dirty="0"/>
              <a:t>Data catalogs</a:t>
            </a:r>
            <a:endParaRPr lang="en-IN" dirty="0"/>
          </a:p>
        </p:txBody>
      </p:sp>
    </p:spTree>
    <p:extLst>
      <p:ext uri="{BB962C8B-B14F-4D97-AF65-F5344CB8AC3E}">
        <p14:creationId xmlns:p14="http://schemas.microsoft.com/office/powerpoint/2010/main" val="13000897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381D2-4ECF-3C8A-3896-A2EDAF071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B568DA-6CFE-D60A-3177-22463959002E}"/>
              </a:ext>
            </a:extLst>
          </p:cNvPr>
          <p:cNvSpPr>
            <a:spLocks noGrp="1"/>
          </p:cNvSpPr>
          <p:nvPr>
            <p:ph type="title"/>
          </p:nvPr>
        </p:nvSpPr>
        <p:spPr>
          <a:xfrm>
            <a:off x="831850" y="1709738"/>
            <a:ext cx="10515600" cy="2852737"/>
          </a:xfrm>
        </p:spPr>
        <p:txBody>
          <a:bodyPr anchor="b">
            <a:normAutofit/>
          </a:bodyPr>
          <a:lstStyle/>
          <a:p>
            <a:r>
              <a:rPr lang="en-US" dirty="0"/>
              <a:t>Data Serving Infrastructure</a:t>
            </a:r>
          </a:p>
        </p:txBody>
      </p:sp>
    </p:spTree>
    <p:extLst>
      <p:ext uri="{BB962C8B-B14F-4D97-AF65-F5344CB8AC3E}">
        <p14:creationId xmlns:p14="http://schemas.microsoft.com/office/powerpoint/2010/main" val="8581288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80D3AAA-9948-11BA-FD1E-6A97FCF7C659}"/>
              </a:ext>
            </a:extLst>
          </p:cNvPr>
          <p:cNvSpPr/>
          <p:nvPr/>
        </p:nvSpPr>
        <p:spPr>
          <a:xfrm>
            <a:off x="8956114" y="1825574"/>
            <a:ext cx="2550086" cy="4231189"/>
          </a:xfrm>
          <a:prstGeom prst="rect">
            <a:avLst/>
          </a:prstGeom>
          <a:solidFill>
            <a:schemeClr val="accent1">
              <a:alpha val="0"/>
            </a:schemeClr>
          </a:solid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0893E8A-326A-2B6C-2DF7-6E02E62CD794}"/>
              </a:ext>
            </a:extLst>
          </p:cNvPr>
          <p:cNvSpPr>
            <a:spLocks noGrp="1"/>
          </p:cNvSpPr>
          <p:nvPr>
            <p:ph type="title"/>
          </p:nvPr>
        </p:nvSpPr>
        <p:spPr/>
        <p:txBody>
          <a:bodyPr/>
          <a:lstStyle/>
          <a:p>
            <a:r>
              <a:rPr lang="en-US" dirty="0"/>
              <a:t>Introduction</a:t>
            </a:r>
          </a:p>
        </p:txBody>
      </p:sp>
      <p:sp>
        <p:nvSpPr>
          <p:cNvPr id="5" name="Rectangle 4">
            <a:extLst>
              <a:ext uri="{FF2B5EF4-FFF2-40B4-BE49-F238E27FC236}">
                <a16:creationId xmlns:a16="http://schemas.microsoft.com/office/drawing/2014/main" id="{9366CA90-B912-C141-F270-196F6817DCBF}"/>
              </a:ext>
            </a:extLst>
          </p:cNvPr>
          <p:cNvSpPr/>
          <p:nvPr/>
        </p:nvSpPr>
        <p:spPr>
          <a:xfrm>
            <a:off x="3474945" y="3565669"/>
            <a:ext cx="4929466" cy="1729557"/>
          </a:xfrm>
          <a:prstGeom prst="rect">
            <a:avLst/>
          </a:prstGeom>
          <a:solidFill>
            <a:schemeClr val="lt1">
              <a:alpha val="0"/>
            </a:schemeClr>
          </a:solidFill>
          <a:ln w="69850" cmpd="thinThick">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b"/>
          <a:lstStyle/>
          <a:p>
            <a:pPr algn="ctr"/>
            <a:r>
              <a:rPr lang="en-US" dirty="0">
                <a:latin typeface="Helvetica" panose="020B0604020202020204" pitchFamily="34" charset="0"/>
                <a:cs typeface="Helvetica" panose="020B0604020202020204" pitchFamily="34" charset="0"/>
              </a:rPr>
              <a:t>Storage</a:t>
            </a:r>
          </a:p>
        </p:txBody>
      </p:sp>
      <p:sp>
        <p:nvSpPr>
          <p:cNvPr id="6" name="Rectangle 5">
            <a:extLst>
              <a:ext uri="{FF2B5EF4-FFF2-40B4-BE49-F238E27FC236}">
                <a16:creationId xmlns:a16="http://schemas.microsoft.com/office/drawing/2014/main" id="{43BF1386-052C-4DE0-55DC-934E91B628EA}"/>
              </a:ext>
            </a:extLst>
          </p:cNvPr>
          <p:cNvSpPr/>
          <p:nvPr/>
        </p:nvSpPr>
        <p:spPr>
          <a:xfrm>
            <a:off x="568887" y="3565669"/>
            <a:ext cx="2133600" cy="76436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Generation/Source</a:t>
            </a:r>
          </a:p>
        </p:txBody>
      </p:sp>
      <p:sp>
        <p:nvSpPr>
          <p:cNvPr id="7" name="Rectangle 6">
            <a:extLst>
              <a:ext uri="{FF2B5EF4-FFF2-40B4-BE49-F238E27FC236}">
                <a16:creationId xmlns:a16="http://schemas.microsoft.com/office/drawing/2014/main" id="{3576DC74-0B88-5DDA-6303-D929D82C8AD0}"/>
              </a:ext>
            </a:extLst>
          </p:cNvPr>
          <p:cNvSpPr/>
          <p:nvPr/>
        </p:nvSpPr>
        <p:spPr>
          <a:xfrm>
            <a:off x="3452535" y="3565669"/>
            <a:ext cx="1464047" cy="76436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Ingestion</a:t>
            </a:r>
          </a:p>
        </p:txBody>
      </p:sp>
      <p:sp>
        <p:nvSpPr>
          <p:cNvPr id="8" name="Rectangle 7">
            <a:extLst>
              <a:ext uri="{FF2B5EF4-FFF2-40B4-BE49-F238E27FC236}">
                <a16:creationId xmlns:a16="http://schemas.microsoft.com/office/drawing/2014/main" id="{CF5DF9D7-6693-4A0D-6E63-E5842CC270EC}"/>
              </a:ext>
            </a:extLst>
          </p:cNvPr>
          <p:cNvSpPr/>
          <p:nvPr/>
        </p:nvSpPr>
        <p:spPr>
          <a:xfrm>
            <a:off x="4938992" y="3565669"/>
            <a:ext cx="1804335" cy="7643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Transformation</a:t>
            </a:r>
          </a:p>
        </p:txBody>
      </p:sp>
      <p:sp>
        <p:nvSpPr>
          <p:cNvPr id="9" name="Rectangle 8">
            <a:extLst>
              <a:ext uri="{FF2B5EF4-FFF2-40B4-BE49-F238E27FC236}">
                <a16:creationId xmlns:a16="http://schemas.microsoft.com/office/drawing/2014/main" id="{EC79F9B2-E1B6-4E59-B490-626A166E7435}"/>
              </a:ext>
            </a:extLst>
          </p:cNvPr>
          <p:cNvSpPr/>
          <p:nvPr/>
        </p:nvSpPr>
        <p:spPr>
          <a:xfrm>
            <a:off x="6770221" y="3565669"/>
            <a:ext cx="1634191" cy="76436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Serving</a:t>
            </a:r>
          </a:p>
        </p:txBody>
      </p:sp>
      <p:sp>
        <p:nvSpPr>
          <p:cNvPr id="10" name="Rectangle 9">
            <a:extLst>
              <a:ext uri="{FF2B5EF4-FFF2-40B4-BE49-F238E27FC236}">
                <a16:creationId xmlns:a16="http://schemas.microsoft.com/office/drawing/2014/main" id="{D19C2EC2-03A6-255A-14BE-C6334466F8AC}"/>
              </a:ext>
            </a:extLst>
          </p:cNvPr>
          <p:cNvSpPr/>
          <p:nvPr/>
        </p:nvSpPr>
        <p:spPr>
          <a:xfrm>
            <a:off x="9741276" y="2131236"/>
            <a:ext cx="1634191" cy="764364"/>
          </a:xfrm>
          <a:prstGeom prst="rect">
            <a:avLst/>
          </a:prstGeom>
          <a:solidFill>
            <a:srgbClr val="E6D5F3"/>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Reverse ETL</a:t>
            </a:r>
          </a:p>
        </p:txBody>
      </p:sp>
      <p:sp>
        <p:nvSpPr>
          <p:cNvPr id="11" name="Rectangle 10">
            <a:extLst>
              <a:ext uri="{FF2B5EF4-FFF2-40B4-BE49-F238E27FC236}">
                <a16:creationId xmlns:a16="http://schemas.microsoft.com/office/drawing/2014/main" id="{D47CBEF9-4710-9445-25E6-514C20292B42}"/>
              </a:ext>
            </a:extLst>
          </p:cNvPr>
          <p:cNvSpPr/>
          <p:nvPr/>
        </p:nvSpPr>
        <p:spPr>
          <a:xfrm>
            <a:off x="9763685" y="3558987"/>
            <a:ext cx="1634191" cy="764364"/>
          </a:xfrm>
          <a:prstGeom prst="rect">
            <a:avLst/>
          </a:prstGeom>
          <a:solidFill>
            <a:srgbClr val="E6D5F3"/>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Data Analytics</a:t>
            </a:r>
          </a:p>
        </p:txBody>
      </p:sp>
      <p:sp>
        <p:nvSpPr>
          <p:cNvPr id="12" name="Rectangle 11">
            <a:extLst>
              <a:ext uri="{FF2B5EF4-FFF2-40B4-BE49-F238E27FC236}">
                <a16:creationId xmlns:a16="http://schemas.microsoft.com/office/drawing/2014/main" id="{50B4F2E1-9E91-4829-0558-E82797784A47}"/>
              </a:ext>
            </a:extLst>
          </p:cNvPr>
          <p:cNvSpPr/>
          <p:nvPr/>
        </p:nvSpPr>
        <p:spPr>
          <a:xfrm>
            <a:off x="9763686" y="4950636"/>
            <a:ext cx="1634191" cy="764364"/>
          </a:xfrm>
          <a:prstGeom prst="rect">
            <a:avLst/>
          </a:prstGeom>
          <a:solidFill>
            <a:srgbClr val="E6D5F3"/>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Data Science &amp; Machine Learning</a:t>
            </a:r>
          </a:p>
        </p:txBody>
      </p:sp>
      <p:cxnSp>
        <p:nvCxnSpPr>
          <p:cNvPr id="14" name="Straight Arrow Connector 13">
            <a:extLst>
              <a:ext uri="{FF2B5EF4-FFF2-40B4-BE49-F238E27FC236}">
                <a16:creationId xmlns:a16="http://schemas.microsoft.com/office/drawing/2014/main" id="{D58366CF-4BE6-BA25-CAFB-66D88CD140B6}"/>
              </a:ext>
            </a:extLst>
          </p:cNvPr>
          <p:cNvCxnSpPr>
            <a:cxnSpLocks/>
            <a:stCxn id="6" idx="3"/>
            <a:endCxn id="7" idx="1"/>
          </p:cNvCxnSpPr>
          <p:nvPr/>
        </p:nvCxnSpPr>
        <p:spPr>
          <a:xfrm>
            <a:off x="2702487" y="3947851"/>
            <a:ext cx="75004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Connector: Elbow 14">
            <a:extLst>
              <a:ext uri="{FF2B5EF4-FFF2-40B4-BE49-F238E27FC236}">
                <a16:creationId xmlns:a16="http://schemas.microsoft.com/office/drawing/2014/main" id="{4FBB75AB-5B3B-A52F-3DDF-8D3ECBAC1714}"/>
              </a:ext>
            </a:extLst>
          </p:cNvPr>
          <p:cNvCxnSpPr>
            <a:stCxn id="9" idx="3"/>
            <a:endCxn id="10" idx="1"/>
          </p:cNvCxnSpPr>
          <p:nvPr/>
        </p:nvCxnSpPr>
        <p:spPr>
          <a:xfrm flipV="1">
            <a:off x="8404412" y="2513418"/>
            <a:ext cx="1336864" cy="1434433"/>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Connector: Elbow 15">
            <a:extLst>
              <a:ext uri="{FF2B5EF4-FFF2-40B4-BE49-F238E27FC236}">
                <a16:creationId xmlns:a16="http://schemas.microsoft.com/office/drawing/2014/main" id="{25800DCA-72D2-4400-6CFC-DF1175AC0CFE}"/>
              </a:ext>
            </a:extLst>
          </p:cNvPr>
          <p:cNvCxnSpPr>
            <a:stCxn id="9" idx="3"/>
            <a:endCxn id="11" idx="1"/>
          </p:cNvCxnSpPr>
          <p:nvPr/>
        </p:nvCxnSpPr>
        <p:spPr>
          <a:xfrm flipV="1">
            <a:off x="8404412" y="3941169"/>
            <a:ext cx="1359273" cy="6682"/>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Connector: Elbow 17">
            <a:extLst>
              <a:ext uri="{FF2B5EF4-FFF2-40B4-BE49-F238E27FC236}">
                <a16:creationId xmlns:a16="http://schemas.microsoft.com/office/drawing/2014/main" id="{9C545969-1725-4C7A-C613-8E10F4B6DA14}"/>
              </a:ext>
            </a:extLst>
          </p:cNvPr>
          <p:cNvCxnSpPr>
            <a:stCxn id="9" idx="3"/>
            <a:endCxn id="12" idx="1"/>
          </p:cNvCxnSpPr>
          <p:nvPr/>
        </p:nvCxnSpPr>
        <p:spPr>
          <a:xfrm>
            <a:off x="8404412" y="3947851"/>
            <a:ext cx="1359274" cy="1384967"/>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2512263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E5224-E67C-0A45-EFAB-FF6C513544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59D258-1DAC-43B2-BFB0-80E874799DE8}"/>
              </a:ext>
            </a:extLst>
          </p:cNvPr>
          <p:cNvSpPr>
            <a:spLocks noGrp="1"/>
          </p:cNvSpPr>
          <p:nvPr>
            <p:ph type="title"/>
          </p:nvPr>
        </p:nvSpPr>
        <p:spPr>
          <a:xfrm>
            <a:off x="831850" y="1709738"/>
            <a:ext cx="10515600" cy="2852737"/>
          </a:xfrm>
        </p:spPr>
        <p:txBody>
          <a:bodyPr anchor="b">
            <a:normAutofit/>
          </a:bodyPr>
          <a:lstStyle/>
          <a:p>
            <a:r>
              <a:rPr lang="en-US" dirty="0"/>
              <a:t>Data Serving Infrastructure</a:t>
            </a:r>
            <a:br>
              <a:rPr lang="en-US" dirty="0"/>
            </a:br>
            <a:r>
              <a:rPr lang="en-US" dirty="0"/>
              <a:t>- Reverse ETL</a:t>
            </a:r>
          </a:p>
        </p:txBody>
      </p:sp>
    </p:spTree>
    <p:extLst>
      <p:ext uri="{BB962C8B-B14F-4D97-AF65-F5344CB8AC3E}">
        <p14:creationId xmlns:p14="http://schemas.microsoft.com/office/powerpoint/2010/main" val="42324749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C539B-3B7A-FAAE-0708-DB3777E41D7E}"/>
              </a:ext>
            </a:extLst>
          </p:cNvPr>
          <p:cNvSpPr>
            <a:spLocks noGrp="1"/>
          </p:cNvSpPr>
          <p:nvPr>
            <p:ph type="title"/>
          </p:nvPr>
        </p:nvSpPr>
        <p:spPr/>
        <p:txBody>
          <a:bodyPr/>
          <a:lstStyle/>
          <a:p>
            <a:r>
              <a:rPr lang="en-US" dirty="0"/>
              <a:t>What is it?</a:t>
            </a:r>
          </a:p>
        </p:txBody>
      </p:sp>
      <p:pic>
        <p:nvPicPr>
          <p:cNvPr id="5" name="Picture 4">
            <a:extLst>
              <a:ext uri="{FF2B5EF4-FFF2-40B4-BE49-F238E27FC236}">
                <a16:creationId xmlns:a16="http://schemas.microsoft.com/office/drawing/2014/main" id="{ECCE6A05-E5D4-47AE-8E6D-40DB933E971A}"/>
              </a:ext>
            </a:extLst>
          </p:cNvPr>
          <p:cNvPicPr>
            <a:picLocks noChangeAspect="1"/>
          </p:cNvPicPr>
          <p:nvPr/>
        </p:nvPicPr>
        <p:blipFill>
          <a:blip r:embed="rId2"/>
          <a:stretch>
            <a:fillRect/>
          </a:stretch>
        </p:blipFill>
        <p:spPr>
          <a:xfrm>
            <a:off x="5499100" y="1142999"/>
            <a:ext cx="6692900" cy="37338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TextBox 5">
            <a:extLst>
              <a:ext uri="{FF2B5EF4-FFF2-40B4-BE49-F238E27FC236}">
                <a16:creationId xmlns:a16="http://schemas.microsoft.com/office/drawing/2014/main" id="{3BE4144C-02F1-653B-CD12-7AA4630E2C5F}"/>
              </a:ext>
            </a:extLst>
          </p:cNvPr>
          <p:cNvSpPr txBox="1"/>
          <p:nvPr/>
        </p:nvSpPr>
        <p:spPr>
          <a:xfrm>
            <a:off x="0" y="1142999"/>
            <a:ext cx="5334000" cy="3693319"/>
          </a:xfrm>
          <a:prstGeom prst="rect">
            <a:avLst/>
          </a:prstGeom>
          <a:noFill/>
        </p:spPr>
        <p:txBody>
          <a:bodyPr wrap="square" rtlCol="0">
            <a:spAutoFit/>
          </a:bodyPr>
          <a:lstStyle/>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How many times, you feel that the latest business parameters and threshold if available as input will be helpful?</a:t>
            </a:r>
          </a:p>
          <a:p>
            <a:pPr marL="361950" indent="-361950" algn="just"/>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Process </a:t>
            </a:r>
            <a:r>
              <a:rPr lang="en-US" dirty="0">
                <a:latin typeface="Helvetica" panose="020B0604020202020204" pitchFamily="34" charset="0"/>
                <a:cs typeface="Helvetica" panose="020B0604020202020204" pitchFamily="34" charset="0"/>
              </a:rPr>
              <a:t>of sending data back to data </a:t>
            </a:r>
            <a:r>
              <a:rPr lang="en-US" dirty="0" smtClean="0">
                <a:latin typeface="Helvetica" panose="020B0604020202020204" pitchFamily="34" charset="0"/>
                <a:cs typeface="Helvetica" panose="020B0604020202020204" pitchFamily="34" charset="0"/>
              </a:rPr>
              <a:t>sources</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For example, might acquire data from an </a:t>
            </a:r>
            <a:r>
              <a:rPr lang="en-US" dirty="0" err="1">
                <a:latin typeface="Helvetica" panose="020B0604020202020204" pitchFamily="34" charset="0"/>
                <a:cs typeface="Helvetica" panose="020B0604020202020204" pitchFamily="34" charset="0"/>
              </a:rPr>
              <a:t>adtech</a:t>
            </a:r>
            <a:r>
              <a:rPr lang="en-US" dirty="0">
                <a:latin typeface="Helvetica" panose="020B0604020202020204" pitchFamily="34" charset="0"/>
                <a:cs typeface="Helvetica" panose="020B0604020202020204" pitchFamily="34" charset="0"/>
              </a:rPr>
              <a:t> platform, run a statistical process on this data to determine cost-per-click bids, and then feed this data back into the ad tech platform</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Can you give an example?</a:t>
            </a:r>
          </a:p>
        </p:txBody>
      </p:sp>
    </p:spTree>
    <p:extLst>
      <p:ext uri="{BB962C8B-B14F-4D97-AF65-F5344CB8AC3E}">
        <p14:creationId xmlns:p14="http://schemas.microsoft.com/office/powerpoint/2010/main" val="40100493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94768-4BE2-7A30-16C2-450532B42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83895A-02DB-CB56-A10B-B402CFAAE291}"/>
              </a:ext>
            </a:extLst>
          </p:cNvPr>
          <p:cNvSpPr>
            <a:spLocks noGrp="1"/>
          </p:cNvSpPr>
          <p:nvPr>
            <p:ph type="title"/>
          </p:nvPr>
        </p:nvSpPr>
        <p:spPr/>
        <p:txBody>
          <a:bodyPr/>
          <a:lstStyle/>
          <a:p>
            <a:r>
              <a:rPr lang="en-US" dirty="0"/>
              <a:t>Example</a:t>
            </a:r>
          </a:p>
        </p:txBody>
      </p:sp>
      <p:sp>
        <p:nvSpPr>
          <p:cNvPr id="6" name="TextBox 5">
            <a:extLst>
              <a:ext uri="{FF2B5EF4-FFF2-40B4-BE49-F238E27FC236}">
                <a16:creationId xmlns:a16="http://schemas.microsoft.com/office/drawing/2014/main" id="{46033740-DD77-916A-7738-29F8CF478F9F}"/>
              </a:ext>
            </a:extLst>
          </p:cNvPr>
          <p:cNvSpPr txBox="1"/>
          <p:nvPr/>
        </p:nvSpPr>
        <p:spPr>
          <a:xfrm>
            <a:off x="0" y="1142999"/>
            <a:ext cx="12192000" cy="3780522"/>
          </a:xfrm>
          <a:prstGeom prst="rect">
            <a:avLst/>
          </a:prstGeom>
          <a:noFill/>
        </p:spPr>
        <p:txBody>
          <a:bodyPr wrap="square" rtlCol="0">
            <a:spAutoFit/>
          </a:bodyPr>
          <a:lstStyle/>
          <a:p>
            <a:pPr marL="361950" indent="-361950" algn="just">
              <a:lnSpc>
                <a:spcPct val="150000"/>
              </a:lnSpc>
            </a:pPr>
            <a:r>
              <a:rPr lang="en-US" dirty="0">
                <a:latin typeface="Helvetica" panose="020B0604020202020204" pitchFamily="34" charset="0"/>
                <a:cs typeface="Helvetica" panose="020B0604020202020204" pitchFamily="34" charset="0"/>
              </a:rPr>
              <a:t>For example,</a:t>
            </a:r>
          </a:p>
          <a:p>
            <a:pPr marL="361950" indent="-361950"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A data engineer might pull customers and order data from a CRM and store it in a data warehouse</a:t>
            </a:r>
          </a:p>
          <a:p>
            <a:pPr marL="361950" indent="-361950"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This data is used to train a lead scoring model, whose results are returned to the data warehouse</a:t>
            </a:r>
          </a:p>
          <a:p>
            <a:pPr marL="361950" indent="-361950"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Company’s sales team wants access to these scored leads to try to generate more sales</a:t>
            </a:r>
          </a:p>
          <a:p>
            <a:pPr marL="361950" indent="-361950" algn="just">
              <a:lnSpc>
                <a:spcPct val="150000"/>
              </a:lnSpc>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Have a few options to get the results of this lead scoring model into the hands of the sales team</a:t>
            </a:r>
          </a:p>
          <a:p>
            <a:pPr marL="361950" indent="-361950"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Can put the results in a dashboard for them to view</a:t>
            </a:r>
          </a:p>
          <a:p>
            <a:pPr marL="361950" indent="-361950"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Or might email the results to them as an Excel file</a:t>
            </a:r>
          </a:p>
          <a:p>
            <a:pPr marL="361950" indent="-361950" algn="just">
              <a:lnSpc>
                <a:spcPct val="150000"/>
              </a:lnSpc>
            </a:pPr>
            <a:endParaRPr lang="en-IN"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4562307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B7FDD-6772-7C46-45AF-8AFF05593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58E190-54ED-5ECA-9389-59F6FE743C73}"/>
              </a:ext>
            </a:extLst>
          </p:cNvPr>
          <p:cNvSpPr>
            <a:spLocks noGrp="1"/>
          </p:cNvSpPr>
          <p:nvPr>
            <p:ph type="title"/>
          </p:nvPr>
        </p:nvSpPr>
        <p:spPr/>
        <p:txBody>
          <a:bodyPr/>
          <a:lstStyle/>
          <a:p>
            <a:r>
              <a:rPr lang="en-US" dirty="0"/>
              <a:t>Detailed</a:t>
            </a:r>
          </a:p>
        </p:txBody>
      </p:sp>
      <p:sp>
        <p:nvSpPr>
          <p:cNvPr id="6" name="TextBox 5">
            <a:extLst>
              <a:ext uri="{FF2B5EF4-FFF2-40B4-BE49-F238E27FC236}">
                <a16:creationId xmlns:a16="http://schemas.microsoft.com/office/drawing/2014/main" id="{F0CCDD72-1087-77E9-25AF-60F1A88CCB8E}"/>
              </a:ext>
            </a:extLst>
          </p:cNvPr>
          <p:cNvSpPr txBox="1"/>
          <p:nvPr/>
        </p:nvSpPr>
        <p:spPr>
          <a:xfrm>
            <a:off x="152400" y="1142999"/>
            <a:ext cx="11811000" cy="4801314"/>
          </a:xfrm>
          <a:prstGeom prst="rect">
            <a:avLst/>
          </a:prstGeom>
          <a:noFill/>
        </p:spPr>
        <p:txBody>
          <a:bodyPr wrap="square" rtlCol="0">
            <a:spAutoFit/>
          </a:bodyPr>
          <a:lstStyle/>
          <a:p>
            <a:pPr marL="361950" indent="-361950">
              <a:buFont typeface="Wingdings" panose="05000000000000000000" pitchFamily="2" charset="2"/>
              <a:buChar char="Ø"/>
            </a:pPr>
            <a:r>
              <a:rPr lang="en-US" dirty="0">
                <a:latin typeface="Helvetica" panose="020B0604020202020204" pitchFamily="34" charset="0"/>
                <a:cs typeface="Helvetica" panose="020B0604020202020204" pitchFamily="34" charset="0"/>
              </a:rPr>
              <a:t>The challenge with these approaches is that they are not connected to the CRM, where a salesperson does their </a:t>
            </a:r>
            <a:r>
              <a:rPr lang="en-US" dirty="0" smtClean="0">
                <a:latin typeface="Helvetica" panose="020B0604020202020204" pitchFamily="34" charset="0"/>
                <a:cs typeface="Helvetica" panose="020B0604020202020204" pitchFamily="34" charset="0"/>
              </a:rPr>
              <a:t>work</a:t>
            </a:r>
          </a:p>
          <a:p>
            <a:pPr marL="361950" indent="-361950">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buFont typeface="Wingdings" panose="05000000000000000000" pitchFamily="2" charset="2"/>
              <a:buChar char="Ø"/>
            </a:pPr>
            <a:r>
              <a:rPr lang="en-US" dirty="0">
                <a:latin typeface="Helvetica" panose="020B0604020202020204" pitchFamily="34" charset="0"/>
                <a:cs typeface="Helvetica" panose="020B0604020202020204" pitchFamily="34" charset="0"/>
              </a:rPr>
              <a:t>Why not just put the scored leads back into the CRM?</a:t>
            </a:r>
          </a:p>
          <a:p>
            <a:pPr marL="361950" indent="-361950">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buFont typeface="Wingdings" panose="05000000000000000000" pitchFamily="2" charset="2"/>
              <a:buChar char="Ø"/>
            </a:pPr>
            <a:r>
              <a:rPr lang="en-US" dirty="0">
                <a:latin typeface="Helvetica" panose="020B0604020202020204" pitchFamily="34" charset="0"/>
                <a:cs typeface="Helvetica" panose="020B0604020202020204" pitchFamily="34" charset="0"/>
              </a:rPr>
              <a:t>Using reverse ETL and loading the scored leads back into the CRM is the easiest and best approach for this data </a:t>
            </a:r>
            <a:r>
              <a:rPr lang="en-US" dirty="0" smtClean="0">
                <a:latin typeface="Helvetica" panose="020B0604020202020204" pitchFamily="34" charset="0"/>
                <a:cs typeface="Helvetica" panose="020B0604020202020204" pitchFamily="34" charset="0"/>
              </a:rPr>
              <a:t>product</a:t>
            </a:r>
          </a:p>
          <a:p>
            <a:pPr marL="361950" indent="-361950">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buFont typeface="Wingdings" panose="05000000000000000000" pitchFamily="2" charset="2"/>
              <a:buChar char="Ø"/>
            </a:pPr>
            <a:r>
              <a:rPr lang="en-US" dirty="0">
                <a:latin typeface="Helvetica" panose="020B0604020202020204" pitchFamily="34" charset="0"/>
                <a:cs typeface="Helvetica" panose="020B0604020202020204" pitchFamily="34" charset="0"/>
              </a:rPr>
              <a:t>Reverse ETL takes processed data from the output side of the data engineering lifecycle and feeds it back into source systems </a:t>
            </a:r>
          </a:p>
          <a:p>
            <a:pPr marL="361950" indent="-361950">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buFont typeface="Wingdings" panose="05000000000000000000" pitchFamily="2" charset="2"/>
              <a:buChar char="Ø"/>
            </a:pPr>
            <a:r>
              <a:rPr lang="en-US" dirty="0">
                <a:latin typeface="Helvetica" panose="020B0604020202020204" pitchFamily="34" charset="0"/>
                <a:cs typeface="Helvetica" panose="020B0604020202020204" pitchFamily="34" charset="0"/>
              </a:rPr>
              <a:t>Do you see any challenges</a:t>
            </a:r>
            <a:r>
              <a:rPr lang="en-US" dirty="0" smtClean="0">
                <a:latin typeface="Helvetica" panose="020B0604020202020204" pitchFamily="34" charset="0"/>
                <a:cs typeface="Helvetica" panose="020B0604020202020204" pitchFamily="34" charset="0"/>
              </a:rPr>
              <a:t>?</a:t>
            </a:r>
          </a:p>
          <a:p>
            <a:pPr marL="361950" indent="-361950">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buFont typeface="Wingdings" panose="05000000000000000000" pitchFamily="2" charset="2"/>
              <a:buChar char="Ø"/>
            </a:pPr>
            <a:r>
              <a:rPr lang="en-US" dirty="0">
                <a:latin typeface="Helvetica" panose="020B0604020202020204" pitchFamily="34" charset="0"/>
                <a:cs typeface="Helvetica" panose="020B0604020202020204" pitchFamily="34" charset="0"/>
              </a:rPr>
              <a:t>A practical challenge in implementing this: Data transformation and validation from the output to the source system</a:t>
            </a:r>
          </a:p>
          <a:p>
            <a:pPr marL="361950" indent="-361950">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buFont typeface="Wingdings" panose="05000000000000000000" pitchFamily="2" charset="2"/>
              <a:buChar char="Ø"/>
            </a:pPr>
            <a:r>
              <a:rPr lang="en-US" dirty="0">
                <a:latin typeface="Helvetica" panose="020B0604020202020204" pitchFamily="34" charset="0"/>
                <a:cs typeface="Helvetica" panose="020B0604020202020204" pitchFamily="34" charset="0"/>
              </a:rPr>
              <a:t>Some tools used: </a:t>
            </a:r>
            <a:r>
              <a:rPr lang="en-US" dirty="0"/>
              <a:t> </a:t>
            </a:r>
            <a:r>
              <a:rPr lang="en-US" dirty="0" err="1">
                <a:latin typeface="Helvetica" panose="020B0604020202020204" pitchFamily="34" charset="0"/>
                <a:cs typeface="Helvetica" panose="020B0604020202020204" pitchFamily="34" charset="0"/>
              </a:rPr>
              <a:t>Hightouch</a:t>
            </a:r>
            <a:r>
              <a:rPr lang="en-US" dirty="0">
                <a:latin typeface="Helvetica" panose="020B0604020202020204" pitchFamily="34" charset="0"/>
                <a:cs typeface="Helvetica" panose="020B0604020202020204" pitchFamily="34" charset="0"/>
              </a:rPr>
              <a:t>, Census, </a:t>
            </a:r>
            <a:r>
              <a:rPr lang="en-US" dirty="0" err="1">
                <a:latin typeface="Helvetica" panose="020B0604020202020204" pitchFamily="34" charset="0"/>
                <a:cs typeface="Helvetica" panose="020B0604020202020204" pitchFamily="34" charset="0"/>
              </a:rPr>
              <a:t>Fivetran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Airbyte</a:t>
            </a:r>
            <a:r>
              <a:rPr lang="en-US" dirty="0">
                <a:latin typeface="Helvetica" panose="020B0604020202020204" pitchFamily="34" charset="0"/>
                <a:cs typeface="Helvetica" panose="020B0604020202020204" pitchFamily="34" charset="0"/>
              </a:rPr>
              <a:t>, and </a:t>
            </a:r>
            <a:r>
              <a:rPr lang="en-US" dirty="0" err="1">
                <a:latin typeface="Helvetica" panose="020B0604020202020204" pitchFamily="34" charset="0"/>
                <a:cs typeface="Helvetica" panose="020B0604020202020204" pitchFamily="34" charset="0"/>
              </a:rPr>
              <a:t>RudderStack</a:t>
            </a:r>
            <a:endParaRPr lang="en-IN"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9460150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70E69-EBE4-3A0A-B9A5-417313CB15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CB74F2-6A63-CEBA-EFA0-F00B1665B558}"/>
              </a:ext>
            </a:extLst>
          </p:cNvPr>
          <p:cNvSpPr>
            <a:spLocks noGrp="1"/>
          </p:cNvSpPr>
          <p:nvPr>
            <p:ph type="title"/>
          </p:nvPr>
        </p:nvSpPr>
        <p:spPr>
          <a:xfrm>
            <a:off x="831850" y="1709738"/>
            <a:ext cx="10515600" cy="2852737"/>
          </a:xfrm>
        </p:spPr>
        <p:txBody>
          <a:bodyPr anchor="b">
            <a:normAutofit/>
          </a:bodyPr>
          <a:lstStyle/>
          <a:p>
            <a:r>
              <a:rPr lang="en-US" dirty="0"/>
              <a:t>Data Serving Infrastructure</a:t>
            </a:r>
            <a:br>
              <a:rPr lang="en-US" dirty="0"/>
            </a:br>
            <a:r>
              <a:rPr lang="en-US" dirty="0"/>
              <a:t>- Data Analytics</a:t>
            </a:r>
          </a:p>
        </p:txBody>
      </p:sp>
    </p:spTree>
    <p:extLst>
      <p:ext uri="{BB962C8B-B14F-4D97-AF65-F5344CB8AC3E}">
        <p14:creationId xmlns:p14="http://schemas.microsoft.com/office/powerpoint/2010/main" val="10736592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3E480-0E44-C2AC-5F8A-AAB7542F3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5C98C0-3546-FDB2-4FA3-19F8347BEC20}"/>
              </a:ext>
            </a:extLst>
          </p:cNvPr>
          <p:cNvSpPr>
            <a:spLocks noGrp="1"/>
          </p:cNvSpPr>
          <p:nvPr>
            <p:ph type="title"/>
          </p:nvPr>
        </p:nvSpPr>
        <p:spPr/>
        <p:txBody>
          <a:bodyPr/>
          <a:lstStyle/>
          <a:p>
            <a:r>
              <a:rPr lang="en-US" dirty="0"/>
              <a:t>Introduction</a:t>
            </a:r>
          </a:p>
        </p:txBody>
      </p:sp>
      <p:sp>
        <p:nvSpPr>
          <p:cNvPr id="7" name="AutoShape 2" descr="Power BI Dashboards vs. Reports">
            <a:extLst>
              <a:ext uri="{FF2B5EF4-FFF2-40B4-BE49-F238E27FC236}">
                <a16:creationId xmlns:a16="http://schemas.microsoft.com/office/drawing/2014/main" id="{165DEFEC-C6AD-ACF8-04F0-CB27C882811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15375060-4194-DCCF-360F-7A9A0C995B42}"/>
              </a:ext>
            </a:extLst>
          </p:cNvPr>
          <p:cNvPicPr>
            <a:picLocks noChangeAspect="1"/>
          </p:cNvPicPr>
          <p:nvPr/>
        </p:nvPicPr>
        <p:blipFill>
          <a:blip r:embed="rId2"/>
          <a:stretch>
            <a:fillRect/>
          </a:stretch>
        </p:blipFill>
        <p:spPr>
          <a:xfrm>
            <a:off x="119789" y="1086088"/>
            <a:ext cx="4757011" cy="276653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1" name="TextBox 10">
            <a:extLst>
              <a:ext uri="{FF2B5EF4-FFF2-40B4-BE49-F238E27FC236}">
                <a16:creationId xmlns:a16="http://schemas.microsoft.com/office/drawing/2014/main" id="{E7B92606-08BF-34B4-70F1-29753B8EA230}"/>
              </a:ext>
            </a:extLst>
          </p:cNvPr>
          <p:cNvSpPr txBox="1"/>
          <p:nvPr/>
        </p:nvSpPr>
        <p:spPr>
          <a:xfrm>
            <a:off x="670111" y="1254710"/>
            <a:ext cx="3656365" cy="369332"/>
          </a:xfrm>
          <a:prstGeom prst="rect">
            <a:avLst/>
          </a:prstGeom>
          <a:noFill/>
        </p:spPr>
        <p:txBody>
          <a:bodyPr wrap="square" rtlCol="0">
            <a:spAutoFit/>
          </a:bodyPr>
          <a:lstStyle/>
          <a:p>
            <a:pPr algn="ctr"/>
            <a:r>
              <a:rPr lang="en-US" dirty="0">
                <a:latin typeface="Helvetica" panose="020B0604020202020204" pitchFamily="34" charset="0"/>
                <a:cs typeface="Helvetica" panose="020B0604020202020204" pitchFamily="34" charset="0"/>
              </a:rPr>
              <a:t>SAMPLE</a:t>
            </a:r>
          </a:p>
        </p:txBody>
      </p:sp>
      <p:sp>
        <p:nvSpPr>
          <p:cNvPr id="12" name="TextBox 11">
            <a:extLst>
              <a:ext uri="{FF2B5EF4-FFF2-40B4-BE49-F238E27FC236}">
                <a16:creationId xmlns:a16="http://schemas.microsoft.com/office/drawing/2014/main" id="{83AC0803-1336-1243-28B9-AE5C968C0872}"/>
              </a:ext>
            </a:extLst>
          </p:cNvPr>
          <p:cNvSpPr txBox="1"/>
          <p:nvPr/>
        </p:nvSpPr>
        <p:spPr>
          <a:xfrm>
            <a:off x="4876800" y="996018"/>
            <a:ext cx="6781800" cy="3693319"/>
          </a:xfrm>
          <a:prstGeom prst="rect">
            <a:avLst/>
          </a:prstGeom>
          <a:noFill/>
        </p:spPr>
        <p:txBody>
          <a:bodyPr wrap="square" rtlCol="0">
            <a:spAutoFit/>
          </a:bodyPr>
          <a:lstStyle/>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Discovering, exploring, identifying, and making visible key insights and patterns within </a:t>
            </a:r>
            <a:r>
              <a:rPr lang="en-US" dirty="0" smtClean="0">
                <a:latin typeface="Helvetica" panose="020B0604020202020204" pitchFamily="34" charset="0"/>
                <a:cs typeface="Helvetica" panose="020B0604020202020204" pitchFamily="34" charset="0"/>
              </a:rPr>
              <a:t>data</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Carried out using statistical methods, reporting, BI tools, and </a:t>
            </a:r>
            <a:r>
              <a:rPr lang="en-US" dirty="0" smtClean="0">
                <a:latin typeface="Helvetica" panose="020B0604020202020204" pitchFamily="34" charset="0"/>
                <a:cs typeface="Helvetica" panose="020B0604020202020204" pitchFamily="34" charset="0"/>
              </a:rPr>
              <a:t>more</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Most </a:t>
            </a:r>
            <a:r>
              <a:rPr lang="en-US" dirty="0">
                <a:latin typeface="Helvetica" panose="020B0604020202020204" pitchFamily="34" charset="0"/>
                <a:cs typeface="Helvetica" panose="020B0604020202020204" pitchFamily="34" charset="0"/>
              </a:rPr>
              <a:t>traditional area of data </a:t>
            </a:r>
            <a:r>
              <a:rPr lang="en-US" dirty="0" smtClean="0">
                <a:latin typeface="Helvetica" panose="020B0604020202020204" pitchFamily="34" charset="0"/>
                <a:cs typeface="Helvetica" panose="020B0604020202020204" pitchFamily="34" charset="0"/>
              </a:rPr>
              <a:t>serving</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Prepare </a:t>
            </a:r>
            <a:r>
              <a:rPr lang="en-US" dirty="0">
                <a:latin typeface="Helvetica" panose="020B0604020202020204" pitchFamily="34" charset="0"/>
                <a:cs typeface="Helvetica" panose="020B0604020202020204" pitchFamily="34" charset="0"/>
              </a:rPr>
              <a:t>data for use in statistical analysis, reporting, and </a:t>
            </a:r>
            <a:r>
              <a:rPr lang="en-US" dirty="0" smtClean="0">
                <a:latin typeface="Helvetica" panose="020B0604020202020204" pitchFamily="34" charset="0"/>
                <a:cs typeface="Helvetica" panose="020B0604020202020204" pitchFamily="34" charset="0"/>
              </a:rPr>
              <a:t>dashboards</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Important </a:t>
            </a:r>
            <a:r>
              <a:rPr lang="en-US" dirty="0">
                <a:latin typeface="Helvetica" panose="020B0604020202020204" pitchFamily="34" charset="0"/>
                <a:cs typeface="Helvetica" panose="020B0604020202020204" pitchFamily="34" charset="0"/>
              </a:rPr>
              <a:t>as ever for stakeholders to have visibility into the business, organizational, and financial processes</a:t>
            </a:r>
          </a:p>
        </p:txBody>
      </p:sp>
      <p:pic>
        <p:nvPicPr>
          <p:cNvPr id="3" name="Picture 2"/>
          <p:cNvPicPr>
            <a:picLocks noChangeAspect="1"/>
          </p:cNvPicPr>
          <p:nvPr/>
        </p:nvPicPr>
        <p:blipFill>
          <a:blip r:embed="rId3"/>
          <a:stretch>
            <a:fillRect/>
          </a:stretch>
        </p:blipFill>
        <p:spPr>
          <a:xfrm>
            <a:off x="248381" y="4218188"/>
            <a:ext cx="3714019" cy="1954012"/>
          </a:xfrm>
          <a:prstGeom prst="rect">
            <a:avLst/>
          </a:prstGeom>
        </p:spPr>
      </p:pic>
    </p:spTree>
    <p:extLst>
      <p:ext uri="{BB962C8B-B14F-4D97-AF65-F5344CB8AC3E}">
        <p14:creationId xmlns:p14="http://schemas.microsoft.com/office/powerpoint/2010/main" val="33765593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A02C8-2738-77BF-66D8-CA7E5AF33F24}"/>
              </a:ext>
            </a:extLst>
          </p:cNvPr>
          <p:cNvSpPr>
            <a:spLocks noGrp="1"/>
          </p:cNvSpPr>
          <p:nvPr>
            <p:ph type="title"/>
          </p:nvPr>
        </p:nvSpPr>
        <p:spPr/>
        <p:txBody>
          <a:bodyPr/>
          <a:lstStyle/>
          <a:p>
            <a:r>
              <a:rPr lang="en-US" dirty="0"/>
              <a:t>Detailed</a:t>
            </a:r>
          </a:p>
        </p:txBody>
      </p:sp>
      <p:sp>
        <p:nvSpPr>
          <p:cNvPr id="3" name="Text Placeholder 2">
            <a:extLst>
              <a:ext uri="{FF2B5EF4-FFF2-40B4-BE49-F238E27FC236}">
                <a16:creationId xmlns:a16="http://schemas.microsoft.com/office/drawing/2014/main" id="{0E3A2454-FB40-EA6E-939C-BA19900A8DC9}"/>
              </a:ext>
            </a:extLst>
          </p:cNvPr>
          <p:cNvSpPr>
            <a:spLocks noGrp="1"/>
          </p:cNvSpPr>
          <p:nvPr>
            <p:ph type="body" sz="quarter" idx="13"/>
          </p:nvPr>
        </p:nvSpPr>
        <p:spPr>
          <a:xfrm>
            <a:off x="76200" y="809960"/>
            <a:ext cx="12039600" cy="5887471"/>
          </a:xfrm>
        </p:spPr>
        <p:txBody>
          <a:bodyPr>
            <a:normAutofit fontScale="92500" lnSpcReduction="10000"/>
          </a:bodyPr>
          <a:lstStyle/>
          <a:p>
            <a:pPr marL="361950" indent="-361950" algn="just">
              <a:lnSpc>
                <a:spcPct val="150000"/>
              </a:lnSpc>
              <a:buNone/>
            </a:pPr>
            <a:r>
              <a:rPr lang="en-US" b="1" u="sng" dirty="0"/>
              <a:t>Business Analytics</a:t>
            </a:r>
          </a:p>
          <a:p>
            <a:pPr marL="361950" indent="-361950" algn="just">
              <a:lnSpc>
                <a:spcPct val="150000"/>
              </a:lnSpc>
              <a:buFont typeface="Wingdings" panose="05000000000000000000" pitchFamily="2" charset="2"/>
              <a:buChar char="Ø"/>
            </a:pPr>
            <a:r>
              <a:rPr lang="en-US" dirty="0"/>
              <a:t>uses historical and current data to make strategic and actionable decisions</a:t>
            </a:r>
          </a:p>
          <a:p>
            <a:pPr marL="361950" indent="-361950" algn="just">
              <a:lnSpc>
                <a:spcPct val="150000"/>
              </a:lnSpc>
              <a:buFont typeface="Wingdings" panose="05000000000000000000" pitchFamily="2" charset="2"/>
              <a:buChar char="Ø"/>
            </a:pPr>
            <a:r>
              <a:rPr lang="en-US" dirty="0"/>
              <a:t>types of decisions tend to factor in longer-term trends and often involve a mix of statistical and trend analysis, alongside domain expertise and human judgment</a:t>
            </a:r>
          </a:p>
          <a:p>
            <a:pPr marL="361950" indent="-361950" algn="just">
              <a:lnSpc>
                <a:spcPct val="150000"/>
              </a:lnSpc>
              <a:buFont typeface="Wingdings" panose="05000000000000000000" pitchFamily="2" charset="2"/>
              <a:buChar char="Ø"/>
            </a:pPr>
            <a:r>
              <a:rPr lang="en-US" dirty="0"/>
              <a:t>typically falls into a few big areas—dashboards, reports, and ad hoc analysis</a:t>
            </a:r>
          </a:p>
          <a:p>
            <a:pPr marL="361950" indent="-361950" algn="just">
              <a:lnSpc>
                <a:spcPct val="150000"/>
              </a:lnSpc>
              <a:buNone/>
            </a:pPr>
            <a:r>
              <a:rPr lang="en-US" b="1" u="sng" dirty="0"/>
              <a:t>Operational Analytics</a:t>
            </a:r>
          </a:p>
          <a:p>
            <a:pPr marL="361950" indent="-361950" algn="just">
              <a:lnSpc>
                <a:spcPct val="150000"/>
              </a:lnSpc>
              <a:buFont typeface="Wingdings" panose="05000000000000000000" pitchFamily="2" charset="2"/>
              <a:buChar char="Ø"/>
            </a:pPr>
            <a:r>
              <a:rPr lang="en-US" dirty="0"/>
              <a:t>uses data to take immediate action:</a:t>
            </a:r>
          </a:p>
          <a:p>
            <a:pPr marL="361950" indent="-361950" algn="just">
              <a:lnSpc>
                <a:spcPct val="150000"/>
              </a:lnSpc>
              <a:buFont typeface="Wingdings" panose="05000000000000000000" pitchFamily="2" charset="2"/>
              <a:buChar char="Ø"/>
            </a:pPr>
            <a:r>
              <a:rPr lang="en-US" dirty="0"/>
              <a:t>Operational analytics versus business analytics = immediate action versus actionable insights</a:t>
            </a:r>
          </a:p>
          <a:p>
            <a:pPr marL="361950" indent="-361950" algn="just">
              <a:lnSpc>
                <a:spcPct val="150000"/>
              </a:lnSpc>
              <a:buFont typeface="Wingdings" panose="05000000000000000000" pitchFamily="2" charset="2"/>
              <a:buChar char="Ø"/>
            </a:pPr>
            <a:r>
              <a:rPr lang="en-US" dirty="0"/>
              <a:t>big difference between operational and business analytics is time</a:t>
            </a:r>
          </a:p>
          <a:p>
            <a:pPr marL="361950" indent="-361950" algn="just">
              <a:lnSpc>
                <a:spcPct val="150000"/>
              </a:lnSpc>
              <a:buFont typeface="Wingdings" panose="05000000000000000000" pitchFamily="2" charset="2"/>
              <a:buChar char="Ø"/>
            </a:pPr>
            <a:r>
              <a:rPr lang="en-US" dirty="0"/>
              <a:t>as real-time updates can be impactful in addressing a problem when it occurs</a:t>
            </a:r>
          </a:p>
          <a:p>
            <a:pPr marL="361950" indent="-361950" algn="just">
              <a:lnSpc>
                <a:spcPct val="150000"/>
              </a:lnSpc>
              <a:buNone/>
            </a:pPr>
            <a:r>
              <a:rPr lang="en-US" dirty="0"/>
              <a:t>The line between business and operational analytics has begun to blur!</a:t>
            </a:r>
          </a:p>
          <a:p>
            <a:pPr marL="361950" indent="-361950" algn="just">
              <a:lnSpc>
                <a:spcPct val="150000"/>
              </a:lnSpc>
              <a:buNone/>
            </a:pPr>
            <a:r>
              <a:rPr lang="en-US" b="1" u="sng" dirty="0"/>
              <a:t>Sample tools: </a:t>
            </a:r>
            <a:r>
              <a:rPr lang="en-US" dirty="0" err="1"/>
              <a:t>Tableu</a:t>
            </a:r>
            <a:r>
              <a:rPr lang="en-US" dirty="0"/>
              <a:t>, </a:t>
            </a:r>
            <a:r>
              <a:rPr lang="en-US" dirty="0" err="1"/>
              <a:t>PowerBI</a:t>
            </a:r>
            <a:r>
              <a:rPr lang="en-US" dirty="0"/>
              <a:t>, Qlik</a:t>
            </a:r>
          </a:p>
        </p:txBody>
      </p:sp>
    </p:spTree>
    <p:extLst>
      <p:ext uri="{BB962C8B-B14F-4D97-AF65-F5344CB8AC3E}">
        <p14:creationId xmlns:p14="http://schemas.microsoft.com/office/powerpoint/2010/main" val="40330498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C49B2-1CBE-910D-F308-266EBCAD1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AFF3D7-9A6C-5410-3C0A-E7095F1BF6A9}"/>
              </a:ext>
            </a:extLst>
          </p:cNvPr>
          <p:cNvSpPr>
            <a:spLocks noGrp="1"/>
          </p:cNvSpPr>
          <p:nvPr>
            <p:ph type="title"/>
          </p:nvPr>
        </p:nvSpPr>
        <p:spPr/>
        <p:txBody>
          <a:bodyPr/>
          <a:lstStyle/>
          <a:p>
            <a:r>
              <a:rPr lang="en-US" dirty="0"/>
              <a:t>Detailed</a:t>
            </a:r>
          </a:p>
        </p:txBody>
      </p:sp>
      <p:sp>
        <p:nvSpPr>
          <p:cNvPr id="3" name="Text Placeholder 2">
            <a:extLst>
              <a:ext uri="{FF2B5EF4-FFF2-40B4-BE49-F238E27FC236}">
                <a16:creationId xmlns:a16="http://schemas.microsoft.com/office/drawing/2014/main" id="{AA96DC8F-6113-1092-7D85-2EEEB9614EB5}"/>
              </a:ext>
            </a:extLst>
          </p:cNvPr>
          <p:cNvSpPr>
            <a:spLocks noGrp="1"/>
          </p:cNvSpPr>
          <p:nvPr>
            <p:ph type="body" sz="quarter" idx="13"/>
          </p:nvPr>
        </p:nvSpPr>
        <p:spPr>
          <a:xfrm>
            <a:off x="152400" y="1066800"/>
            <a:ext cx="12039600" cy="5630631"/>
          </a:xfrm>
        </p:spPr>
        <p:txBody>
          <a:bodyPr>
            <a:normAutofit/>
          </a:bodyPr>
          <a:lstStyle/>
          <a:p>
            <a:pPr marL="361950" indent="-361950"/>
            <a:endParaRPr lang="en-US" dirty="0"/>
          </a:p>
          <a:p>
            <a:pPr marL="361950" indent="-361950">
              <a:buNone/>
            </a:pPr>
            <a:r>
              <a:rPr lang="en-US" b="1" u="sng" dirty="0"/>
              <a:t>Embedded Analytics</a:t>
            </a:r>
          </a:p>
          <a:p>
            <a:pPr marL="361950" indent="-361950">
              <a:lnSpc>
                <a:spcPct val="150000"/>
              </a:lnSpc>
              <a:buFont typeface="Wingdings" panose="05000000000000000000" pitchFamily="2" charset="2"/>
              <a:buChar char="Ø"/>
            </a:pPr>
            <a:r>
              <a:rPr lang="en-US" dirty="0"/>
              <a:t>Whereas business and operational analytics are internally focused, a recent trend is external-facing or embedded analytics</a:t>
            </a:r>
          </a:p>
          <a:p>
            <a:pPr marL="361950" indent="-361950">
              <a:lnSpc>
                <a:spcPct val="150000"/>
              </a:lnSpc>
              <a:buFont typeface="Wingdings" panose="05000000000000000000" pitchFamily="2" charset="2"/>
              <a:buChar char="Ø"/>
            </a:pPr>
            <a:r>
              <a:rPr lang="en-US" dirty="0"/>
              <a:t>With so much data powering applications, companies increasingly provide analytics to end users</a:t>
            </a:r>
          </a:p>
          <a:p>
            <a:pPr marL="361950" indent="-361950">
              <a:lnSpc>
                <a:spcPct val="150000"/>
              </a:lnSpc>
              <a:buFont typeface="Wingdings" panose="05000000000000000000" pitchFamily="2" charset="2"/>
              <a:buChar char="Ø"/>
            </a:pPr>
            <a:r>
              <a:rPr lang="en-US" dirty="0"/>
              <a:t>Typically referred to as data applications, often with analytics dashboards embedded within the application itself</a:t>
            </a:r>
          </a:p>
          <a:p>
            <a:pPr marL="361950" indent="-361950">
              <a:lnSpc>
                <a:spcPct val="150000"/>
              </a:lnSpc>
              <a:buFont typeface="Wingdings" panose="05000000000000000000" pitchFamily="2" charset="2"/>
              <a:buChar char="Ø"/>
            </a:pPr>
            <a:r>
              <a:rPr lang="en-US" dirty="0"/>
              <a:t>The landscape of embedded analytics is snowballing, and expect that such data applications will become increasingly pervasive within the next few years.</a:t>
            </a:r>
          </a:p>
          <a:p>
            <a:pPr marL="361950" indent="-361950">
              <a:lnSpc>
                <a:spcPct val="150000"/>
              </a:lnSpc>
              <a:buFont typeface="Wingdings" panose="05000000000000000000" pitchFamily="2" charset="2"/>
              <a:buChar char="Ø"/>
            </a:pPr>
            <a:endParaRPr lang="en-US" dirty="0"/>
          </a:p>
          <a:p>
            <a:pPr marL="361950" indent="-361950">
              <a:lnSpc>
                <a:spcPct val="150000"/>
              </a:lnSpc>
              <a:buNone/>
            </a:pPr>
            <a:r>
              <a:rPr lang="en-US" b="1" u="sng" dirty="0"/>
              <a:t>Sample tools: </a:t>
            </a:r>
            <a:r>
              <a:rPr lang="en-US" dirty="0"/>
              <a:t>Looker, Qlik Embedded, Sisense</a:t>
            </a:r>
          </a:p>
          <a:p>
            <a:pPr marL="361950" indent="-361950">
              <a:lnSpc>
                <a:spcPct val="150000"/>
              </a:lnSpc>
              <a:buFont typeface="Wingdings" panose="05000000000000000000" pitchFamily="2" charset="2"/>
              <a:buChar char="Ø"/>
            </a:pPr>
            <a:endParaRPr lang="en-US" dirty="0"/>
          </a:p>
        </p:txBody>
      </p:sp>
    </p:spTree>
    <p:extLst>
      <p:ext uri="{BB962C8B-B14F-4D97-AF65-F5344CB8AC3E}">
        <p14:creationId xmlns:p14="http://schemas.microsoft.com/office/powerpoint/2010/main" val="38448194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84E57-7D1E-268D-533B-8BD4EB4B74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780C3-790F-3C2E-7217-E8EAAD6DC8FF}"/>
              </a:ext>
            </a:extLst>
          </p:cNvPr>
          <p:cNvSpPr>
            <a:spLocks noGrp="1"/>
          </p:cNvSpPr>
          <p:nvPr>
            <p:ph type="title"/>
          </p:nvPr>
        </p:nvSpPr>
        <p:spPr>
          <a:xfrm>
            <a:off x="0" y="1709738"/>
            <a:ext cx="12039600" cy="2852737"/>
          </a:xfrm>
        </p:spPr>
        <p:txBody>
          <a:bodyPr anchor="b">
            <a:normAutofit/>
          </a:bodyPr>
          <a:lstStyle/>
          <a:p>
            <a:r>
              <a:rPr lang="en-US" dirty="0"/>
              <a:t>Data Serving Infrastructure</a:t>
            </a:r>
            <a:br>
              <a:rPr lang="en-US" dirty="0"/>
            </a:br>
            <a:r>
              <a:rPr lang="en-US" dirty="0"/>
              <a:t>- Data Science &amp; Machine Learning</a:t>
            </a:r>
          </a:p>
        </p:txBody>
      </p:sp>
    </p:spTree>
    <p:extLst>
      <p:ext uri="{BB962C8B-B14F-4D97-AF65-F5344CB8AC3E}">
        <p14:creationId xmlns:p14="http://schemas.microsoft.com/office/powerpoint/2010/main" val="24670516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BDF31-9965-9DCF-CB02-34ED11CE75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F7621E-F126-8FEE-EE8B-084AE1F5F66A}"/>
              </a:ext>
            </a:extLst>
          </p:cNvPr>
          <p:cNvSpPr>
            <a:spLocks noGrp="1"/>
          </p:cNvSpPr>
          <p:nvPr>
            <p:ph type="title"/>
          </p:nvPr>
        </p:nvSpPr>
        <p:spPr/>
        <p:txBody>
          <a:bodyPr/>
          <a:lstStyle/>
          <a:p>
            <a:r>
              <a:rPr lang="en-US" dirty="0"/>
              <a:t>Introduction</a:t>
            </a:r>
          </a:p>
        </p:txBody>
      </p:sp>
      <p:sp>
        <p:nvSpPr>
          <p:cNvPr id="7" name="Text Placeholder 2">
            <a:extLst>
              <a:ext uri="{FF2B5EF4-FFF2-40B4-BE49-F238E27FC236}">
                <a16:creationId xmlns:a16="http://schemas.microsoft.com/office/drawing/2014/main" id="{E21610C1-AE62-DAA3-CD9C-93AC084D9670}"/>
              </a:ext>
            </a:extLst>
          </p:cNvPr>
          <p:cNvSpPr>
            <a:spLocks noGrp="1"/>
          </p:cNvSpPr>
          <p:nvPr>
            <p:ph type="body" sz="quarter" idx="13"/>
          </p:nvPr>
        </p:nvSpPr>
        <p:spPr>
          <a:xfrm>
            <a:off x="35859" y="880109"/>
            <a:ext cx="12160624" cy="5935431"/>
          </a:xfrm>
        </p:spPr>
        <p:txBody>
          <a:bodyPr>
            <a:normAutofit lnSpcReduction="10000"/>
          </a:bodyPr>
          <a:lstStyle/>
          <a:p>
            <a:pPr marL="361950" indent="-361950" algn="just">
              <a:lnSpc>
                <a:spcPct val="150000"/>
              </a:lnSpc>
              <a:buNone/>
            </a:pPr>
            <a:r>
              <a:rPr lang="en-US" dirty="0"/>
              <a:t>All data science and machine learning projects have a few key elements in common:</a:t>
            </a:r>
          </a:p>
          <a:p>
            <a:pPr marL="361950" indent="-361950" algn="just">
              <a:lnSpc>
                <a:spcPct val="150000"/>
              </a:lnSpc>
              <a:buFont typeface="Wingdings" panose="05000000000000000000" pitchFamily="2" charset="2"/>
              <a:buChar char="Ø"/>
            </a:pPr>
            <a:r>
              <a:rPr lang="en-US" dirty="0"/>
              <a:t>In the technical point of view, all projects involve data and computation at their foundation.</a:t>
            </a:r>
          </a:p>
          <a:p>
            <a:pPr marL="361950" indent="-361950" algn="just">
              <a:lnSpc>
                <a:spcPct val="150000"/>
              </a:lnSpc>
              <a:buFont typeface="Wingdings" panose="05000000000000000000" pitchFamily="2" charset="2"/>
              <a:buChar char="Ø"/>
            </a:pPr>
            <a:r>
              <a:rPr lang="en-US" dirty="0"/>
              <a:t>All projects will eventually need to address the question of integrating results into production systems which typically involves a great deal of software engineering.</a:t>
            </a:r>
          </a:p>
          <a:p>
            <a:pPr marL="361950" indent="-361950" algn="just">
              <a:lnSpc>
                <a:spcPct val="150000"/>
              </a:lnSpc>
              <a:buFont typeface="Wingdings" panose="05000000000000000000" pitchFamily="2" charset="2"/>
              <a:buChar char="Ø"/>
            </a:pPr>
            <a:r>
              <a:rPr lang="en-US" dirty="0"/>
              <a:t>Finally, in the human point of view, all projects involve experimentation and iteration, which many consider to be the central activity of data science.</a:t>
            </a:r>
          </a:p>
          <a:p>
            <a:pPr marL="361950" indent="-361950" algn="just">
              <a:lnSpc>
                <a:spcPct val="150000"/>
              </a:lnSpc>
              <a:buFont typeface="Wingdings" panose="05000000000000000000" pitchFamily="2" charset="2"/>
              <a:buChar char="Ø"/>
            </a:pPr>
            <a:r>
              <a:rPr lang="en-US" dirty="0"/>
              <a:t>Certainly possible for individuals companies or teams to come up with their own bespoke processes and practices to conduct data science projects, </a:t>
            </a:r>
          </a:p>
          <a:p>
            <a:pPr marL="361950" indent="-361950" algn="just">
              <a:lnSpc>
                <a:spcPct val="150000"/>
              </a:lnSpc>
              <a:buFont typeface="Wingdings" panose="05000000000000000000" pitchFamily="2" charset="2"/>
              <a:buChar char="Ø"/>
            </a:pPr>
            <a:r>
              <a:rPr lang="en-US" dirty="0"/>
              <a:t>A common infrastructure can help to increase the number of projects that can be </a:t>
            </a:r>
          </a:p>
          <a:p>
            <a:pPr marL="819150" lvl="2" indent="-361950" algn="just">
              <a:lnSpc>
                <a:spcPct val="150000"/>
              </a:lnSpc>
              <a:buFont typeface="Wingdings" panose="05000000000000000000" pitchFamily="2" charset="2"/>
              <a:buChar char="§"/>
            </a:pPr>
            <a:r>
              <a:rPr lang="en-US" dirty="0"/>
              <a:t>executed simultaneously (volume),</a:t>
            </a:r>
          </a:p>
          <a:p>
            <a:pPr marL="819150" lvl="2" indent="-361950" algn="just">
              <a:lnSpc>
                <a:spcPct val="150000"/>
              </a:lnSpc>
              <a:buFont typeface="Wingdings" panose="05000000000000000000" pitchFamily="2" charset="2"/>
              <a:buChar char="§"/>
            </a:pPr>
            <a:r>
              <a:rPr lang="en-US" dirty="0"/>
              <a:t>speed up the time-to-market (velocity), </a:t>
            </a:r>
          </a:p>
          <a:p>
            <a:pPr marL="819150" lvl="2" indent="-361950" algn="just">
              <a:lnSpc>
                <a:spcPct val="150000"/>
              </a:lnSpc>
              <a:buFont typeface="Wingdings" panose="05000000000000000000" pitchFamily="2" charset="2"/>
              <a:buChar char="§"/>
            </a:pPr>
            <a:r>
              <a:rPr lang="en-US" dirty="0"/>
              <a:t>ensure that the results are robust (validity), and</a:t>
            </a:r>
          </a:p>
          <a:p>
            <a:pPr marL="819150" lvl="2" indent="-361950" algn="just">
              <a:lnSpc>
                <a:spcPct val="150000"/>
              </a:lnSpc>
              <a:buFont typeface="Wingdings" panose="05000000000000000000" pitchFamily="2" charset="2"/>
              <a:buChar char="§"/>
            </a:pPr>
            <a:r>
              <a:rPr lang="en-US" dirty="0"/>
              <a:t>make it possible to support a larger variety of projects.</a:t>
            </a:r>
            <a:endParaRPr lang="en-IN" dirty="0"/>
          </a:p>
        </p:txBody>
      </p:sp>
    </p:spTree>
    <p:extLst>
      <p:ext uri="{BB962C8B-B14F-4D97-AF65-F5344CB8AC3E}">
        <p14:creationId xmlns:p14="http://schemas.microsoft.com/office/powerpoint/2010/main" val="18758781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DB7DE-B309-DB06-B863-284AD8DC3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D4FA2A-DB95-CAC7-7FBF-1DE31075D552}"/>
              </a:ext>
            </a:extLst>
          </p:cNvPr>
          <p:cNvSpPr>
            <a:spLocks noGrp="1"/>
          </p:cNvSpPr>
          <p:nvPr>
            <p:ph type="title"/>
          </p:nvPr>
        </p:nvSpPr>
        <p:spPr/>
        <p:txBody>
          <a:bodyPr/>
          <a:lstStyle/>
          <a:p>
            <a:r>
              <a:rPr lang="en-US" dirty="0"/>
              <a:t>The Stack</a:t>
            </a:r>
          </a:p>
        </p:txBody>
      </p:sp>
      <p:sp>
        <p:nvSpPr>
          <p:cNvPr id="3" name="Text Placeholder 2">
            <a:extLst>
              <a:ext uri="{FF2B5EF4-FFF2-40B4-BE49-F238E27FC236}">
                <a16:creationId xmlns:a16="http://schemas.microsoft.com/office/drawing/2014/main" id="{BD396AC6-3226-4D82-F96B-5C95E3271BA7}"/>
              </a:ext>
            </a:extLst>
          </p:cNvPr>
          <p:cNvSpPr>
            <a:spLocks noGrp="1"/>
          </p:cNvSpPr>
          <p:nvPr>
            <p:ph type="body" sz="quarter" idx="13"/>
          </p:nvPr>
        </p:nvSpPr>
        <p:spPr>
          <a:xfrm>
            <a:off x="5029200" y="947345"/>
            <a:ext cx="7086600" cy="5935663"/>
          </a:xfrm>
        </p:spPr>
        <p:txBody>
          <a:bodyPr>
            <a:normAutofit/>
          </a:bodyPr>
          <a:lstStyle/>
          <a:p>
            <a:pPr marL="361950" indent="-361950" algn="just">
              <a:lnSpc>
                <a:spcPct val="110000"/>
              </a:lnSpc>
              <a:buNone/>
            </a:pPr>
            <a:r>
              <a:rPr lang="en-US" dirty="0"/>
              <a:t>Because of culture of open source and relatively free technical information sharing between companies, </a:t>
            </a:r>
          </a:p>
          <a:p>
            <a:pPr marL="361950" indent="-361950" algn="just">
              <a:lnSpc>
                <a:spcPct val="110000"/>
              </a:lnSpc>
              <a:buFont typeface="Wingdings" panose="05000000000000000000" pitchFamily="2" charset="2"/>
              <a:buChar char="Ø"/>
            </a:pPr>
            <a:r>
              <a:rPr lang="en-US" dirty="0" smtClean="0"/>
              <a:t>Been </a:t>
            </a:r>
            <a:r>
              <a:rPr lang="en-US" dirty="0"/>
              <a:t>able to observe and collect common patterns in data science &amp; ML projects and infrastructure components</a:t>
            </a:r>
          </a:p>
          <a:p>
            <a:pPr marL="819150" lvl="2" indent="-361950" algn="just">
              <a:lnSpc>
                <a:spcPct val="110000"/>
              </a:lnSpc>
              <a:buFont typeface="Wingdings" panose="05000000000000000000" pitchFamily="2" charset="2"/>
              <a:buChar char="§"/>
            </a:pPr>
            <a:r>
              <a:rPr lang="en-US" sz="1600" dirty="0" smtClean="0"/>
              <a:t>Implementation </a:t>
            </a:r>
            <a:r>
              <a:rPr lang="en-US" sz="1600" dirty="0"/>
              <a:t>details vary, the major infrastructural layers are relatively uniform across a large number of projects</a:t>
            </a:r>
          </a:p>
          <a:p>
            <a:pPr marL="819150" lvl="2" indent="-361950" algn="just">
              <a:lnSpc>
                <a:spcPct val="110000"/>
              </a:lnSpc>
              <a:buFont typeface="Wingdings" panose="05000000000000000000" pitchFamily="2" charset="2"/>
              <a:buChar char="§"/>
            </a:pPr>
            <a:r>
              <a:rPr lang="en-US" sz="1600" dirty="0" smtClean="0"/>
              <a:t>Each </a:t>
            </a:r>
            <a:r>
              <a:rPr lang="en-US" sz="1600" dirty="0"/>
              <a:t>layer can be implemented in various ways, driven by the specific needs of their environment and use cases </a:t>
            </a:r>
          </a:p>
          <a:p>
            <a:pPr marL="361950" indent="-361950" algn="just">
              <a:lnSpc>
                <a:spcPct val="110000"/>
              </a:lnSpc>
              <a:buFont typeface="Wingdings" panose="05000000000000000000" pitchFamily="2" charset="2"/>
              <a:buChar char="Ø"/>
            </a:pPr>
            <a:r>
              <a:rPr lang="en-US" dirty="0" smtClean="0"/>
              <a:t>But </a:t>
            </a:r>
            <a:r>
              <a:rPr lang="en-US" dirty="0"/>
              <a:t>the big picture is remarkably consistent!</a:t>
            </a:r>
          </a:p>
          <a:p>
            <a:pPr marL="361950" indent="-361950" algn="just">
              <a:lnSpc>
                <a:spcPct val="110000"/>
              </a:lnSpc>
              <a:buFont typeface="Wingdings" panose="05000000000000000000" pitchFamily="2" charset="2"/>
              <a:buChar char="Ø"/>
            </a:pPr>
            <a:r>
              <a:rPr lang="en-US" dirty="0"/>
              <a:t>The most fundamental, generic components are at the bottom of the stack</a:t>
            </a:r>
          </a:p>
          <a:p>
            <a:pPr marL="361950" indent="-361950" algn="just">
              <a:lnSpc>
                <a:spcPct val="110000"/>
              </a:lnSpc>
              <a:buFont typeface="Wingdings" panose="05000000000000000000" pitchFamily="2" charset="2"/>
              <a:buChar char="Ø"/>
            </a:pPr>
            <a:r>
              <a:rPr lang="en-US" dirty="0"/>
              <a:t>The layers become more specific to data science &amp; ML towards the top of the stack</a:t>
            </a:r>
            <a:endParaRPr lang="en-IN" dirty="0"/>
          </a:p>
        </p:txBody>
      </p:sp>
      <p:pic>
        <p:nvPicPr>
          <p:cNvPr id="5" name="Picture 4">
            <a:extLst>
              <a:ext uri="{FF2B5EF4-FFF2-40B4-BE49-F238E27FC236}">
                <a16:creationId xmlns:a16="http://schemas.microsoft.com/office/drawing/2014/main" id="{E15A4937-EAB5-24F2-FC3D-43C07CC02868}"/>
              </a:ext>
            </a:extLst>
          </p:cNvPr>
          <p:cNvPicPr>
            <a:picLocks noChangeAspect="1"/>
          </p:cNvPicPr>
          <p:nvPr/>
        </p:nvPicPr>
        <p:blipFill>
          <a:blip r:embed="rId2"/>
          <a:stretch>
            <a:fillRect/>
          </a:stretch>
        </p:blipFill>
        <p:spPr>
          <a:xfrm>
            <a:off x="322076" y="2286000"/>
            <a:ext cx="4554724" cy="268696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7391625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A4F46-79CB-C803-41FB-4E4A76CD14E5}"/>
              </a:ext>
            </a:extLst>
          </p:cNvPr>
          <p:cNvSpPr>
            <a:spLocks noGrp="1"/>
          </p:cNvSpPr>
          <p:nvPr>
            <p:ph type="title"/>
          </p:nvPr>
        </p:nvSpPr>
        <p:spPr/>
        <p:txBody>
          <a:bodyPr/>
          <a:lstStyle/>
          <a:p>
            <a:r>
              <a:rPr lang="en-US" dirty="0"/>
              <a:t>Datawarehouse</a:t>
            </a:r>
          </a:p>
        </p:txBody>
      </p:sp>
      <p:sp>
        <p:nvSpPr>
          <p:cNvPr id="3" name="Text Placeholder 2">
            <a:extLst>
              <a:ext uri="{FF2B5EF4-FFF2-40B4-BE49-F238E27FC236}">
                <a16:creationId xmlns:a16="http://schemas.microsoft.com/office/drawing/2014/main" id="{8689A57C-727A-0DEB-3B64-D4074FB764E7}"/>
              </a:ext>
            </a:extLst>
          </p:cNvPr>
          <p:cNvSpPr>
            <a:spLocks noGrp="1"/>
          </p:cNvSpPr>
          <p:nvPr>
            <p:ph type="body" sz="quarter" idx="13"/>
          </p:nvPr>
        </p:nvSpPr>
        <p:spPr>
          <a:xfrm>
            <a:off x="228600" y="1143000"/>
            <a:ext cx="9067800" cy="4495800"/>
          </a:xfrm>
        </p:spPr>
        <p:txBody>
          <a:bodyPr>
            <a:normAutofit/>
          </a:bodyPr>
          <a:lstStyle/>
          <a:p>
            <a:pPr marL="361950" indent="-361950">
              <a:lnSpc>
                <a:spcPct val="150000"/>
              </a:lnSpc>
              <a:buFont typeface="Wingdings" panose="05000000000000000000" pitchFamily="2" charset="2"/>
              <a:buChar char="Ø"/>
            </a:pPr>
            <a:r>
              <a:rPr lang="en-US" dirty="0"/>
              <a:t>The bottom most layer and we discussed about this multiple times</a:t>
            </a:r>
          </a:p>
          <a:p>
            <a:pPr marL="361950" indent="-361950">
              <a:lnSpc>
                <a:spcPct val="150000"/>
              </a:lnSpc>
              <a:buFont typeface="Wingdings" panose="05000000000000000000" pitchFamily="2" charset="2"/>
              <a:buChar char="Ø"/>
            </a:pPr>
            <a:r>
              <a:rPr lang="en-US" dirty="0"/>
              <a:t>Place where data is stored</a:t>
            </a:r>
          </a:p>
          <a:p>
            <a:pPr marL="361950" indent="-361950">
              <a:lnSpc>
                <a:spcPct val="150000"/>
              </a:lnSpc>
              <a:buFont typeface="Wingdings" panose="05000000000000000000" pitchFamily="2" charset="2"/>
              <a:buChar char="Ø"/>
            </a:pPr>
            <a:r>
              <a:rPr lang="en-US" dirty="0"/>
              <a:t>Doesn’t do anything by itself but how data is stored is critical</a:t>
            </a:r>
          </a:p>
          <a:p>
            <a:pPr marL="361950" indent="-361950">
              <a:lnSpc>
                <a:spcPct val="150000"/>
              </a:lnSpc>
              <a:buFont typeface="Wingdings" panose="05000000000000000000" pitchFamily="2" charset="2"/>
              <a:buChar char="Ø"/>
            </a:pPr>
            <a:r>
              <a:rPr lang="en-US" dirty="0"/>
              <a:t>A key challenge is to lay out the data in a way that makes it easily </a:t>
            </a:r>
          </a:p>
          <a:p>
            <a:pPr marL="361950" indent="-361950">
              <a:lnSpc>
                <a:spcPct val="150000"/>
              </a:lnSpc>
              <a:buFont typeface="Wingdings" panose="05000000000000000000" pitchFamily="2" charset="2"/>
              <a:buChar char="Ø"/>
            </a:pPr>
            <a:r>
              <a:rPr lang="en-US" dirty="0" smtClean="0"/>
              <a:t>Discoverable </a:t>
            </a:r>
            <a:r>
              <a:rPr lang="en-US" dirty="0"/>
              <a:t>and efficiently accessible by data science applications </a:t>
            </a:r>
            <a:r>
              <a:rPr lang="en-US" dirty="0" smtClean="0"/>
              <a:t>while maintaining </a:t>
            </a:r>
            <a:r>
              <a:rPr lang="en-US" dirty="0"/>
              <a:t>a high degree of durability (</a:t>
            </a:r>
            <a:r>
              <a:rPr lang="en-US" sz="1800" dirty="0"/>
              <a:t>naturally the data warehouse must not lose data. )</a:t>
            </a:r>
          </a:p>
          <a:p>
            <a:pPr marL="361950" indent="-361950">
              <a:lnSpc>
                <a:spcPct val="150000"/>
              </a:lnSpc>
              <a:buFont typeface="Wingdings" panose="05000000000000000000" pitchFamily="2" charset="2"/>
              <a:buChar char="Ø"/>
            </a:pPr>
            <a:endParaRPr lang="en-US" dirty="0"/>
          </a:p>
        </p:txBody>
      </p:sp>
      <p:pic>
        <p:nvPicPr>
          <p:cNvPr id="5" name="Picture 4">
            <a:extLst>
              <a:ext uri="{FF2B5EF4-FFF2-40B4-BE49-F238E27FC236}">
                <a16:creationId xmlns:a16="http://schemas.microsoft.com/office/drawing/2014/main" id="{F2961539-E7DC-D5D2-294C-FCB0E97C9D4B}"/>
              </a:ext>
            </a:extLst>
          </p:cNvPr>
          <p:cNvPicPr>
            <a:picLocks noChangeAspect="1"/>
          </p:cNvPicPr>
          <p:nvPr/>
        </p:nvPicPr>
        <p:blipFill>
          <a:blip r:embed="rId2"/>
          <a:stretch>
            <a:fillRect/>
          </a:stretch>
        </p:blipFill>
        <p:spPr>
          <a:xfrm>
            <a:off x="9296400" y="2133600"/>
            <a:ext cx="2314575" cy="180022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5263912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44C3B-EE36-AF37-A9A2-E45E59709A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11D292-C723-1438-A76B-304F1BAFDABC}"/>
              </a:ext>
            </a:extLst>
          </p:cNvPr>
          <p:cNvSpPr>
            <a:spLocks noGrp="1"/>
          </p:cNvSpPr>
          <p:nvPr>
            <p:ph type="title"/>
          </p:nvPr>
        </p:nvSpPr>
        <p:spPr/>
        <p:txBody>
          <a:bodyPr/>
          <a:lstStyle/>
          <a:p>
            <a:r>
              <a:rPr lang="en-US" dirty="0"/>
              <a:t>Compute Resources</a:t>
            </a:r>
          </a:p>
        </p:txBody>
      </p:sp>
      <p:sp>
        <p:nvSpPr>
          <p:cNvPr id="3" name="Text Placeholder 2">
            <a:extLst>
              <a:ext uri="{FF2B5EF4-FFF2-40B4-BE49-F238E27FC236}">
                <a16:creationId xmlns:a16="http://schemas.microsoft.com/office/drawing/2014/main" id="{3585ED8E-9732-7448-C796-565E0D56C793}"/>
              </a:ext>
            </a:extLst>
          </p:cNvPr>
          <p:cNvSpPr>
            <a:spLocks noGrp="1"/>
          </p:cNvSpPr>
          <p:nvPr>
            <p:ph type="body" sz="quarter" idx="13"/>
          </p:nvPr>
        </p:nvSpPr>
        <p:spPr>
          <a:xfrm>
            <a:off x="228600" y="1143000"/>
            <a:ext cx="8763000" cy="4495800"/>
          </a:xfrm>
        </p:spPr>
        <p:txBody>
          <a:bodyPr>
            <a:normAutofit/>
          </a:bodyPr>
          <a:lstStyle/>
          <a:p>
            <a:pPr marL="361950" indent="-361950" algn="just">
              <a:lnSpc>
                <a:spcPct val="100000"/>
              </a:lnSpc>
              <a:buFont typeface="Wingdings" panose="05000000000000000000" pitchFamily="2" charset="2"/>
              <a:buChar char="Ø"/>
            </a:pPr>
            <a:r>
              <a:rPr lang="en-US" dirty="0"/>
              <a:t>Need to have a way to do something with data, in other words, take some data, apply an algorithm and get </a:t>
            </a:r>
            <a:r>
              <a:rPr lang="en-US" dirty="0" smtClean="0"/>
              <a:t>results</a:t>
            </a:r>
          </a:p>
          <a:p>
            <a:pPr marL="361950" indent="-361950" algn="just">
              <a:lnSpc>
                <a:spcPct val="100000"/>
              </a:lnSpc>
              <a:buFont typeface="Wingdings" panose="05000000000000000000" pitchFamily="2" charset="2"/>
              <a:buChar char="Ø"/>
            </a:pPr>
            <a:endParaRPr lang="en-US" dirty="0"/>
          </a:p>
          <a:p>
            <a:pPr marL="361950" indent="-361950" algn="just">
              <a:lnSpc>
                <a:spcPct val="100000"/>
              </a:lnSpc>
              <a:buFont typeface="Wingdings" panose="05000000000000000000" pitchFamily="2" charset="2"/>
              <a:buChar char="Ø"/>
            </a:pPr>
            <a:r>
              <a:rPr lang="en-US" dirty="0"/>
              <a:t>A challenge is that algorithms come in many shapes and sizes and need to run     many of them, often in parallel, very </a:t>
            </a:r>
            <a:r>
              <a:rPr lang="en-US" dirty="0" smtClean="0"/>
              <a:t>frequently</a:t>
            </a:r>
          </a:p>
          <a:p>
            <a:pPr marL="361950" indent="-361950" algn="just">
              <a:lnSpc>
                <a:spcPct val="100000"/>
              </a:lnSpc>
              <a:buFont typeface="Wingdings" panose="05000000000000000000" pitchFamily="2" charset="2"/>
              <a:buChar char="Ø"/>
            </a:pPr>
            <a:endParaRPr lang="en-US" dirty="0"/>
          </a:p>
          <a:p>
            <a:pPr marL="361950" indent="-361950" algn="just">
              <a:lnSpc>
                <a:spcPct val="100000"/>
              </a:lnSpc>
              <a:buFont typeface="Wingdings" panose="05000000000000000000" pitchFamily="2" charset="2"/>
              <a:buChar char="Ø"/>
            </a:pPr>
            <a:r>
              <a:rPr lang="en-US" dirty="0"/>
              <a:t>Need a system that can provide computing resources on </a:t>
            </a:r>
            <a:r>
              <a:rPr lang="en-US" dirty="0" smtClean="0"/>
              <a:t>demand</a:t>
            </a:r>
          </a:p>
          <a:p>
            <a:pPr marL="361950" indent="-361950" algn="just">
              <a:lnSpc>
                <a:spcPct val="100000"/>
              </a:lnSpc>
              <a:buFont typeface="Wingdings" panose="05000000000000000000" pitchFamily="2" charset="2"/>
              <a:buChar char="Ø"/>
            </a:pPr>
            <a:endParaRPr lang="en-US" dirty="0"/>
          </a:p>
          <a:p>
            <a:pPr marL="361950" indent="-361950" algn="just">
              <a:lnSpc>
                <a:spcPct val="100000"/>
              </a:lnSpc>
              <a:buFont typeface="Wingdings" panose="05000000000000000000" pitchFamily="2" charset="2"/>
              <a:buChar char="Ø"/>
            </a:pPr>
            <a:r>
              <a:rPr lang="en-US" dirty="0"/>
              <a:t>The compute layer doesn’t dictate what is </a:t>
            </a:r>
            <a:r>
              <a:rPr lang="en-US" dirty="0" smtClean="0"/>
              <a:t>computed</a:t>
            </a:r>
          </a:p>
          <a:p>
            <a:pPr marL="361950" indent="-361950" algn="just">
              <a:lnSpc>
                <a:spcPct val="100000"/>
              </a:lnSpc>
              <a:buFont typeface="Wingdings" panose="05000000000000000000" pitchFamily="2" charset="2"/>
              <a:buChar char="Ø"/>
            </a:pPr>
            <a:endParaRPr lang="en-US" dirty="0"/>
          </a:p>
          <a:p>
            <a:pPr marL="361950" lvl="1" indent="-361950" algn="just">
              <a:lnSpc>
                <a:spcPct val="100000"/>
              </a:lnSpc>
              <a:buFont typeface="Wingdings" panose="05000000000000000000" pitchFamily="2" charset="2"/>
              <a:buChar char="Ø"/>
            </a:pPr>
            <a:r>
              <a:rPr lang="en-US" sz="1800" dirty="0" smtClean="0"/>
              <a:t>Blindly </a:t>
            </a:r>
            <a:r>
              <a:rPr lang="en-US" sz="1800" dirty="0"/>
              <a:t>accepts an algorithm from the outside world and executes it, consuming </a:t>
            </a:r>
            <a:r>
              <a:rPr lang="en-US" sz="1800" dirty="0" smtClean="0"/>
              <a:t>and </a:t>
            </a:r>
            <a:r>
              <a:rPr lang="en-US" sz="1800" dirty="0"/>
              <a:t>producing data</a:t>
            </a:r>
            <a:endParaRPr lang="en-IN" sz="1800" dirty="0"/>
          </a:p>
        </p:txBody>
      </p:sp>
      <p:pic>
        <p:nvPicPr>
          <p:cNvPr id="4" name="Picture 3">
            <a:extLst>
              <a:ext uri="{FF2B5EF4-FFF2-40B4-BE49-F238E27FC236}">
                <a16:creationId xmlns:a16="http://schemas.microsoft.com/office/drawing/2014/main" id="{89E82C96-9ED3-FBFB-DE04-34E6397B599B}"/>
              </a:ext>
            </a:extLst>
          </p:cNvPr>
          <p:cNvPicPr>
            <a:picLocks noChangeAspect="1"/>
          </p:cNvPicPr>
          <p:nvPr/>
        </p:nvPicPr>
        <p:blipFill>
          <a:blip r:embed="rId2"/>
          <a:stretch>
            <a:fillRect/>
          </a:stretch>
        </p:blipFill>
        <p:spPr>
          <a:xfrm>
            <a:off x="9296400" y="1752600"/>
            <a:ext cx="2724150" cy="246697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3390974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4E6A1-A0DE-9DEA-3F28-1CE987685C23}"/>
              </a:ext>
            </a:extLst>
          </p:cNvPr>
          <p:cNvSpPr>
            <a:spLocks noGrp="1"/>
          </p:cNvSpPr>
          <p:nvPr>
            <p:ph type="title"/>
          </p:nvPr>
        </p:nvSpPr>
        <p:spPr/>
        <p:txBody>
          <a:bodyPr/>
          <a:lstStyle/>
          <a:p>
            <a:r>
              <a:rPr lang="en-US" dirty="0"/>
              <a:t>Job Scheduler</a:t>
            </a:r>
          </a:p>
        </p:txBody>
      </p:sp>
      <p:sp>
        <p:nvSpPr>
          <p:cNvPr id="3" name="Text Placeholder 2">
            <a:extLst>
              <a:ext uri="{FF2B5EF4-FFF2-40B4-BE49-F238E27FC236}">
                <a16:creationId xmlns:a16="http://schemas.microsoft.com/office/drawing/2014/main" id="{5F67DED8-27A1-B3CF-5398-C47A85FDB4F5}"/>
              </a:ext>
            </a:extLst>
          </p:cNvPr>
          <p:cNvSpPr>
            <a:spLocks noGrp="1"/>
          </p:cNvSpPr>
          <p:nvPr>
            <p:ph type="body" sz="quarter" idx="13"/>
          </p:nvPr>
        </p:nvSpPr>
        <p:spPr>
          <a:xfrm>
            <a:off x="0" y="4803828"/>
            <a:ext cx="12192001" cy="2054172"/>
          </a:xfrm>
        </p:spPr>
        <p:txBody>
          <a:bodyPr>
            <a:normAutofit/>
          </a:bodyPr>
          <a:lstStyle/>
          <a:p>
            <a:pPr marL="361950" indent="-361950" algn="just">
              <a:buFont typeface="Wingdings" panose="05000000000000000000" pitchFamily="2" charset="2"/>
              <a:buChar char="Ø"/>
            </a:pPr>
            <a:r>
              <a:rPr lang="en-US" dirty="0"/>
              <a:t>Training a machine learning model or other data science application is rarely a one-time operation</a:t>
            </a:r>
          </a:p>
          <a:p>
            <a:pPr marL="819150" lvl="2" indent="-361950" algn="just">
              <a:buFont typeface="Wingdings" panose="05000000000000000000" pitchFamily="2" charset="2"/>
              <a:buChar char="§"/>
            </a:pPr>
            <a:r>
              <a:rPr lang="en-US" dirty="0"/>
              <a:t>More often it is a repeating process</a:t>
            </a:r>
          </a:p>
          <a:p>
            <a:pPr marL="819150" lvl="2" indent="-361950" algn="just">
              <a:buFont typeface="Wingdings" panose="05000000000000000000" pitchFamily="2" charset="2"/>
              <a:buChar char="§"/>
            </a:pPr>
            <a:r>
              <a:rPr lang="en-US" dirty="0"/>
              <a:t>Need to feed fresh data in the algorithm at a regular cadence</a:t>
            </a:r>
          </a:p>
          <a:p>
            <a:pPr marL="361950" indent="-361950" algn="just">
              <a:buFont typeface="Wingdings" panose="05000000000000000000" pitchFamily="2" charset="2"/>
              <a:buChar char="Ø"/>
            </a:pPr>
            <a:r>
              <a:rPr lang="en-US" dirty="0"/>
              <a:t>Job of the scheduling layer to keep all the data flowing and all the machines humming uninterruptedly</a:t>
            </a:r>
          </a:p>
          <a:p>
            <a:pPr marL="361950" indent="-361950" algn="just">
              <a:buFont typeface="Wingdings" panose="05000000000000000000" pitchFamily="2" charset="2"/>
              <a:buChar char="Ø"/>
            </a:pPr>
            <a:r>
              <a:rPr lang="en-US" dirty="0"/>
              <a:t>A key challenge is to keep the scheduling system itself up all the time and make sure it can manage almost any number of concurrent machines and data pipelines</a:t>
            </a:r>
          </a:p>
        </p:txBody>
      </p:sp>
      <p:pic>
        <p:nvPicPr>
          <p:cNvPr id="6" name="Picture 5">
            <a:extLst>
              <a:ext uri="{FF2B5EF4-FFF2-40B4-BE49-F238E27FC236}">
                <a16:creationId xmlns:a16="http://schemas.microsoft.com/office/drawing/2014/main" id="{CFB8C6B2-1A24-A908-AE92-8D764ED65679}"/>
              </a:ext>
            </a:extLst>
          </p:cNvPr>
          <p:cNvPicPr>
            <a:picLocks noChangeAspect="1"/>
          </p:cNvPicPr>
          <p:nvPr/>
        </p:nvPicPr>
        <p:blipFill>
          <a:blip r:embed="rId2"/>
          <a:stretch>
            <a:fillRect/>
          </a:stretch>
        </p:blipFill>
        <p:spPr>
          <a:xfrm>
            <a:off x="272115" y="924933"/>
            <a:ext cx="5191126" cy="371832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8" name="Picture 7">
            <a:extLst>
              <a:ext uri="{FF2B5EF4-FFF2-40B4-BE49-F238E27FC236}">
                <a16:creationId xmlns:a16="http://schemas.microsoft.com/office/drawing/2014/main" id="{9198AA60-35CD-ABBF-EB0A-437AD6ED12D7}"/>
              </a:ext>
            </a:extLst>
          </p:cNvPr>
          <p:cNvPicPr>
            <a:picLocks noChangeAspect="1"/>
          </p:cNvPicPr>
          <p:nvPr/>
        </p:nvPicPr>
        <p:blipFill>
          <a:blip r:embed="rId3"/>
          <a:stretch>
            <a:fillRect/>
          </a:stretch>
        </p:blipFill>
        <p:spPr>
          <a:xfrm>
            <a:off x="8864600" y="613269"/>
            <a:ext cx="3327400" cy="409960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9" name="Speech Bubble: Oval 8">
            <a:extLst>
              <a:ext uri="{FF2B5EF4-FFF2-40B4-BE49-F238E27FC236}">
                <a16:creationId xmlns:a16="http://schemas.microsoft.com/office/drawing/2014/main" id="{28DCE849-9686-1317-A071-E7CB820DD8FD}"/>
              </a:ext>
            </a:extLst>
          </p:cNvPr>
          <p:cNvSpPr/>
          <p:nvPr/>
        </p:nvSpPr>
        <p:spPr>
          <a:xfrm>
            <a:off x="6178597" y="1031496"/>
            <a:ext cx="2057400" cy="1752600"/>
          </a:xfrm>
          <a:prstGeom prst="wedgeEllipseCallou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Have you seen these screens?</a:t>
            </a:r>
          </a:p>
        </p:txBody>
      </p:sp>
      <p:sp>
        <p:nvSpPr>
          <p:cNvPr id="10" name="TextBox 9">
            <a:extLst>
              <a:ext uri="{FF2B5EF4-FFF2-40B4-BE49-F238E27FC236}">
                <a16:creationId xmlns:a16="http://schemas.microsoft.com/office/drawing/2014/main" id="{24CEDE57-9834-09E1-1B5C-3D69DFBDF687}"/>
              </a:ext>
            </a:extLst>
          </p:cNvPr>
          <p:cNvSpPr txBox="1"/>
          <p:nvPr/>
        </p:nvSpPr>
        <p:spPr>
          <a:xfrm>
            <a:off x="10820400" y="4191000"/>
            <a:ext cx="1371600" cy="276999"/>
          </a:xfrm>
          <a:prstGeom prst="rect">
            <a:avLst/>
          </a:prstGeom>
          <a:noFill/>
        </p:spPr>
        <p:txBody>
          <a:bodyPr wrap="square" rtlCol="0">
            <a:spAutoFit/>
          </a:bodyPr>
          <a:lstStyle/>
          <a:p>
            <a:r>
              <a:rPr lang="en-US" sz="1200" dirty="0">
                <a:latin typeface="Helvetica" panose="020B0604020202020204" pitchFamily="34" charset="0"/>
                <a:cs typeface="Helvetica" panose="020B0604020202020204" pitchFamily="34" charset="0"/>
                <a:hlinkClick r:id="rId4"/>
              </a:rPr>
              <a:t>Image Source</a:t>
            </a:r>
            <a:endParaRPr lang="en-US" sz="1200" dirty="0">
              <a:latin typeface="Helvetica" panose="020B0604020202020204" pitchFamily="34" charset="0"/>
              <a:cs typeface="Helvetica" panose="020B0604020202020204" pitchFamily="34" charset="0"/>
            </a:endParaRPr>
          </a:p>
        </p:txBody>
      </p:sp>
      <p:pic>
        <p:nvPicPr>
          <p:cNvPr id="11" name="Picture 10">
            <a:extLst>
              <a:ext uri="{FF2B5EF4-FFF2-40B4-BE49-F238E27FC236}">
                <a16:creationId xmlns:a16="http://schemas.microsoft.com/office/drawing/2014/main" id="{7A4BA6C0-6013-7EDD-3087-764E47B3E1C6}"/>
              </a:ext>
            </a:extLst>
          </p:cNvPr>
          <p:cNvPicPr>
            <a:picLocks noChangeAspect="1"/>
          </p:cNvPicPr>
          <p:nvPr/>
        </p:nvPicPr>
        <p:blipFill>
          <a:blip r:embed="rId5"/>
          <a:stretch>
            <a:fillRect/>
          </a:stretch>
        </p:blipFill>
        <p:spPr>
          <a:xfrm>
            <a:off x="5463241" y="2936712"/>
            <a:ext cx="3362325" cy="17145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7454245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4ECC-3301-F487-19DE-A17984D83169}"/>
              </a:ext>
            </a:extLst>
          </p:cNvPr>
          <p:cNvSpPr>
            <a:spLocks noGrp="1"/>
          </p:cNvSpPr>
          <p:nvPr>
            <p:ph type="title"/>
          </p:nvPr>
        </p:nvSpPr>
        <p:spPr/>
        <p:txBody>
          <a:bodyPr/>
          <a:lstStyle/>
          <a:p>
            <a:r>
              <a:rPr lang="en-US" dirty="0"/>
              <a:t>Architecture</a:t>
            </a:r>
          </a:p>
        </p:txBody>
      </p:sp>
      <p:sp>
        <p:nvSpPr>
          <p:cNvPr id="3" name="Text Placeholder 2">
            <a:extLst>
              <a:ext uri="{FF2B5EF4-FFF2-40B4-BE49-F238E27FC236}">
                <a16:creationId xmlns:a16="http://schemas.microsoft.com/office/drawing/2014/main" id="{B72DA9A1-4A0B-5B9C-DAFD-440984CC5F15}"/>
              </a:ext>
            </a:extLst>
          </p:cNvPr>
          <p:cNvSpPr>
            <a:spLocks noGrp="1"/>
          </p:cNvSpPr>
          <p:nvPr>
            <p:ph type="body" sz="quarter" idx="13"/>
          </p:nvPr>
        </p:nvSpPr>
        <p:spPr>
          <a:xfrm>
            <a:off x="228601" y="1219200"/>
            <a:ext cx="7086600" cy="4800600"/>
          </a:xfrm>
        </p:spPr>
        <p:txBody>
          <a:bodyPr>
            <a:normAutofit/>
          </a:bodyPr>
          <a:lstStyle/>
          <a:p>
            <a:pPr marL="361950" indent="-361950" algn="just">
              <a:lnSpc>
                <a:spcPct val="100000"/>
              </a:lnSpc>
              <a:buFont typeface="Wingdings" panose="05000000000000000000" pitchFamily="2" charset="2"/>
              <a:buChar char="Ø"/>
            </a:pPr>
            <a:r>
              <a:rPr lang="en-US" dirty="0"/>
              <a:t>Data warehouse, compute resources, and job scheduler, are generic in nature: can be used to execute any </a:t>
            </a:r>
            <a:r>
              <a:rPr lang="en-US" dirty="0" smtClean="0"/>
              <a:t>workloads</a:t>
            </a:r>
          </a:p>
          <a:p>
            <a:pPr marL="361950" indent="-361950" algn="just">
              <a:lnSpc>
                <a:spcPct val="100000"/>
              </a:lnSpc>
              <a:buFont typeface="Wingdings" panose="05000000000000000000" pitchFamily="2" charset="2"/>
              <a:buChar char="Ø"/>
            </a:pPr>
            <a:endParaRPr lang="en-US" dirty="0"/>
          </a:p>
          <a:p>
            <a:pPr marL="361950" indent="-361950" algn="just">
              <a:lnSpc>
                <a:spcPct val="100000"/>
              </a:lnSpc>
              <a:buFont typeface="Wingdings" panose="05000000000000000000" pitchFamily="2" charset="2"/>
              <a:buChar char="Ø"/>
            </a:pPr>
            <a:r>
              <a:rPr lang="en-US" dirty="0"/>
              <a:t>At the architecture layer defines what application is and how it is going to work</a:t>
            </a:r>
          </a:p>
          <a:p>
            <a:pPr marL="819150" lvl="2" indent="-361950" algn="just">
              <a:lnSpc>
                <a:spcPct val="100000"/>
              </a:lnSpc>
              <a:buFont typeface="Wingdings" panose="05000000000000000000" pitchFamily="2" charset="2"/>
              <a:buChar char="§"/>
            </a:pPr>
            <a:r>
              <a:rPr lang="en-US" sz="1600" dirty="0" smtClean="0"/>
              <a:t>includes </a:t>
            </a:r>
            <a:r>
              <a:rPr lang="en-US" sz="1600" dirty="0"/>
              <a:t>defining an algorithm or several algorithms and how the scheduling layer is supposed to connect the algorithms and the data pipelines together</a:t>
            </a:r>
          </a:p>
          <a:p>
            <a:pPr marL="361950" lvl="1" indent="-361950" algn="just">
              <a:lnSpc>
                <a:spcPct val="100000"/>
              </a:lnSpc>
              <a:buFont typeface="Wingdings" panose="05000000000000000000" pitchFamily="2" charset="2"/>
              <a:buChar char="Ø"/>
            </a:pPr>
            <a:endParaRPr lang="en-US" sz="1800" dirty="0"/>
          </a:p>
          <a:p>
            <a:pPr marL="361950" indent="-361950" algn="just">
              <a:lnSpc>
                <a:spcPct val="100000"/>
              </a:lnSpc>
              <a:buFont typeface="Wingdings" panose="05000000000000000000" pitchFamily="2" charset="2"/>
              <a:buChar char="Ø"/>
            </a:pPr>
            <a:r>
              <a:rPr lang="en-US" dirty="0"/>
              <a:t>A key challenge is that of software engineering in </a:t>
            </a:r>
            <a:r>
              <a:rPr lang="en-US" dirty="0" smtClean="0"/>
              <a:t>general</a:t>
            </a:r>
          </a:p>
          <a:p>
            <a:pPr marL="361950" indent="-361950" algn="just">
              <a:lnSpc>
                <a:spcPct val="100000"/>
              </a:lnSpc>
              <a:buFont typeface="Wingdings" panose="05000000000000000000" pitchFamily="2" charset="2"/>
              <a:buChar char="Ø"/>
            </a:pPr>
            <a:endParaRPr lang="en-US" dirty="0"/>
          </a:p>
          <a:p>
            <a:pPr marL="361950" lvl="1" indent="-361950" algn="just">
              <a:lnSpc>
                <a:spcPct val="100000"/>
              </a:lnSpc>
              <a:buFont typeface="Wingdings" panose="05000000000000000000" pitchFamily="2" charset="2"/>
              <a:buChar char="Ø"/>
            </a:pPr>
            <a:r>
              <a:rPr lang="en-US" sz="1800" dirty="0"/>
              <a:t>How to </a:t>
            </a:r>
            <a:r>
              <a:rPr lang="en-US" sz="1800" b="1" u="sng" dirty="0"/>
              <a:t>map a real-world problem </a:t>
            </a:r>
            <a:r>
              <a:rPr lang="en-US" sz="1800" dirty="0"/>
              <a:t>into an effective and robust software architecture. </a:t>
            </a:r>
            <a:endParaRPr lang="en-IN" sz="1800" dirty="0"/>
          </a:p>
        </p:txBody>
      </p:sp>
      <p:pic>
        <p:nvPicPr>
          <p:cNvPr id="5" name="Picture 4">
            <a:extLst>
              <a:ext uri="{FF2B5EF4-FFF2-40B4-BE49-F238E27FC236}">
                <a16:creationId xmlns:a16="http://schemas.microsoft.com/office/drawing/2014/main" id="{164AE3BA-31F2-BB35-82C9-F0FDB605B893}"/>
              </a:ext>
            </a:extLst>
          </p:cNvPr>
          <p:cNvPicPr>
            <a:picLocks noChangeAspect="1"/>
          </p:cNvPicPr>
          <p:nvPr/>
        </p:nvPicPr>
        <p:blipFill>
          <a:blip r:embed="rId2"/>
          <a:stretch>
            <a:fillRect/>
          </a:stretch>
        </p:blipFill>
        <p:spPr>
          <a:xfrm>
            <a:off x="7693212" y="1752600"/>
            <a:ext cx="4494306" cy="393440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960820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82437-7B86-1629-CB6D-19F65750EA3A}"/>
              </a:ext>
            </a:extLst>
          </p:cNvPr>
          <p:cNvSpPr>
            <a:spLocks noGrp="1"/>
          </p:cNvSpPr>
          <p:nvPr>
            <p:ph type="title"/>
          </p:nvPr>
        </p:nvSpPr>
        <p:spPr/>
        <p:txBody>
          <a:bodyPr/>
          <a:lstStyle/>
          <a:p>
            <a:r>
              <a:rPr lang="en-IN" dirty="0"/>
              <a:t>Versioning</a:t>
            </a:r>
            <a:endParaRPr lang="en-US" dirty="0"/>
          </a:p>
        </p:txBody>
      </p:sp>
      <p:sp>
        <p:nvSpPr>
          <p:cNvPr id="3" name="Text Placeholder 2">
            <a:extLst>
              <a:ext uri="{FF2B5EF4-FFF2-40B4-BE49-F238E27FC236}">
                <a16:creationId xmlns:a16="http://schemas.microsoft.com/office/drawing/2014/main" id="{20F0AC88-03B4-8031-296F-3B4E5B8C0AD1}"/>
              </a:ext>
            </a:extLst>
          </p:cNvPr>
          <p:cNvSpPr>
            <a:spLocks noGrp="1"/>
          </p:cNvSpPr>
          <p:nvPr>
            <p:ph type="body" sz="quarter" idx="13"/>
          </p:nvPr>
        </p:nvSpPr>
        <p:spPr>
          <a:xfrm>
            <a:off x="0" y="1001134"/>
            <a:ext cx="8305800" cy="5247266"/>
          </a:xfrm>
        </p:spPr>
        <p:txBody>
          <a:bodyPr>
            <a:noAutofit/>
          </a:bodyPr>
          <a:lstStyle/>
          <a:p>
            <a:pPr marL="361950" lvl="1" indent="-361950" algn="just">
              <a:lnSpc>
                <a:spcPct val="100000"/>
              </a:lnSpc>
              <a:spcBef>
                <a:spcPts val="0"/>
              </a:spcBef>
              <a:buFont typeface="Wingdings" panose="05000000000000000000" pitchFamily="2" charset="2"/>
              <a:buChar char="Ø"/>
            </a:pPr>
            <a:r>
              <a:rPr lang="en-US" sz="1800" dirty="0" smtClean="0"/>
              <a:t>“Experimentation </a:t>
            </a:r>
            <a:r>
              <a:rPr lang="en-US" sz="1800" dirty="0"/>
              <a:t>and </a:t>
            </a:r>
            <a:r>
              <a:rPr lang="en-US" sz="1800" dirty="0" smtClean="0"/>
              <a:t>Iteration</a:t>
            </a:r>
            <a:r>
              <a:rPr lang="en-US" sz="1800" dirty="0"/>
              <a:t>” as one of the common themes in data science </a:t>
            </a:r>
            <a:r>
              <a:rPr lang="en-US" sz="1800" dirty="0" smtClean="0"/>
              <a:t>projects</a:t>
            </a:r>
          </a:p>
          <a:p>
            <a:pPr marL="361950" lvl="1" indent="-361950" algn="just">
              <a:lnSpc>
                <a:spcPct val="100000"/>
              </a:lnSpc>
              <a:spcBef>
                <a:spcPts val="0"/>
              </a:spcBef>
              <a:buFont typeface="Wingdings" panose="05000000000000000000" pitchFamily="2" charset="2"/>
              <a:buChar char="Ø"/>
            </a:pPr>
            <a:endParaRPr lang="en-US" sz="1800" dirty="0"/>
          </a:p>
          <a:p>
            <a:pPr marL="361950" lvl="1" indent="-361950" algn="just">
              <a:lnSpc>
                <a:spcPct val="100000"/>
              </a:lnSpc>
              <a:spcBef>
                <a:spcPts val="0"/>
              </a:spcBef>
              <a:buFont typeface="Wingdings" panose="05000000000000000000" pitchFamily="2" charset="2"/>
              <a:buChar char="Ø"/>
            </a:pPr>
            <a:r>
              <a:rPr lang="en-US" sz="1800" dirty="0"/>
              <a:t>A concrete ramification of this is that architectures we define are always subject to change, makes sense to organize the work </a:t>
            </a:r>
            <a:r>
              <a:rPr lang="en-US" sz="1800" dirty="0" smtClean="0"/>
              <a:t>accordingly</a:t>
            </a:r>
          </a:p>
          <a:p>
            <a:pPr marL="361950" lvl="1" indent="-361950" algn="just">
              <a:lnSpc>
                <a:spcPct val="100000"/>
              </a:lnSpc>
              <a:spcBef>
                <a:spcPts val="0"/>
              </a:spcBef>
              <a:buFont typeface="Wingdings" panose="05000000000000000000" pitchFamily="2" charset="2"/>
              <a:buChar char="Ø"/>
            </a:pPr>
            <a:endParaRPr lang="en-US" sz="1800" dirty="0"/>
          </a:p>
          <a:p>
            <a:pPr marL="361950" lvl="1" indent="-361950" algn="just">
              <a:lnSpc>
                <a:spcPct val="100000"/>
              </a:lnSpc>
              <a:spcBef>
                <a:spcPts val="0"/>
              </a:spcBef>
              <a:buFont typeface="Wingdings" panose="05000000000000000000" pitchFamily="2" charset="2"/>
              <a:buChar char="Ø"/>
            </a:pPr>
            <a:r>
              <a:rPr lang="en-US" sz="1800" dirty="0"/>
              <a:t>To complicate matters further, in the case of data science and/or ML the question of which version of the application is better is often </a:t>
            </a:r>
            <a:r>
              <a:rPr lang="en-US" sz="1800" dirty="0" smtClean="0"/>
              <a:t>non-trivial</a:t>
            </a:r>
          </a:p>
          <a:p>
            <a:pPr marL="361950" lvl="1" indent="-361950" algn="just">
              <a:lnSpc>
                <a:spcPct val="100000"/>
              </a:lnSpc>
              <a:spcBef>
                <a:spcPts val="0"/>
              </a:spcBef>
              <a:buFont typeface="Wingdings" panose="05000000000000000000" pitchFamily="2" charset="2"/>
              <a:buChar char="Ø"/>
            </a:pPr>
            <a:endParaRPr lang="en-US" sz="1800" dirty="0"/>
          </a:p>
          <a:p>
            <a:pPr marL="361950" lvl="2" indent="-361950" algn="just">
              <a:lnSpc>
                <a:spcPct val="100000"/>
              </a:lnSpc>
              <a:spcBef>
                <a:spcPts val="0"/>
              </a:spcBef>
              <a:buFont typeface="Wingdings" panose="05000000000000000000" pitchFamily="2" charset="2"/>
              <a:buChar char="Ø"/>
            </a:pPr>
            <a:r>
              <a:rPr lang="en-US" sz="1800" dirty="0"/>
              <a:t>To judge the versions properly, you may need to run multiple versions side by side</a:t>
            </a:r>
            <a:r>
              <a:rPr lang="en-US" sz="1800" dirty="0" smtClean="0"/>
              <a:t>.</a:t>
            </a:r>
          </a:p>
          <a:p>
            <a:pPr marL="361950" lvl="2" indent="-361950" algn="just">
              <a:lnSpc>
                <a:spcPct val="100000"/>
              </a:lnSpc>
              <a:spcBef>
                <a:spcPts val="0"/>
              </a:spcBef>
              <a:buFont typeface="Wingdings" panose="05000000000000000000" pitchFamily="2" charset="2"/>
              <a:buChar char="Ø"/>
            </a:pPr>
            <a:endParaRPr lang="en-US" sz="1800" dirty="0"/>
          </a:p>
          <a:p>
            <a:pPr marL="361950" lvl="1" indent="-361950" algn="just">
              <a:lnSpc>
                <a:spcPct val="100000"/>
              </a:lnSpc>
              <a:spcBef>
                <a:spcPts val="0"/>
              </a:spcBef>
              <a:buFont typeface="Wingdings" panose="05000000000000000000" pitchFamily="2" charset="2"/>
              <a:buChar char="Ø"/>
            </a:pPr>
            <a:r>
              <a:rPr lang="en-US" sz="1800" dirty="0"/>
              <a:t>A key challenge is that can evaluate results reliably only if the applications are well isolated, that is, they must not interfere with each </a:t>
            </a:r>
            <a:r>
              <a:rPr lang="en-US" sz="1800" dirty="0" smtClean="0"/>
              <a:t>other</a:t>
            </a:r>
          </a:p>
          <a:p>
            <a:pPr marL="361950" lvl="1" indent="-361950" algn="just">
              <a:lnSpc>
                <a:spcPct val="100000"/>
              </a:lnSpc>
              <a:spcBef>
                <a:spcPts val="0"/>
              </a:spcBef>
              <a:buFont typeface="Wingdings" panose="05000000000000000000" pitchFamily="2" charset="2"/>
              <a:buChar char="Ø"/>
            </a:pPr>
            <a:endParaRPr lang="en-US" sz="1800" dirty="0"/>
          </a:p>
          <a:p>
            <a:pPr marL="361950" lvl="2" indent="-361950" algn="just">
              <a:lnSpc>
                <a:spcPct val="100000"/>
              </a:lnSpc>
              <a:spcBef>
                <a:spcPts val="0"/>
              </a:spcBef>
              <a:buFont typeface="Wingdings" panose="05000000000000000000" pitchFamily="2" charset="2"/>
              <a:buChar char="Ø"/>
            </a:pPr>
            <a:r>
              <a:rPr lang="en-US" sz="1800" dirty="0"/>
              <a:t>Must isolate the algorithms themselves, the input and output data, and the scheduled pipelines</a:t>
            </a:r>
          </a:p>
          <a:p>
            <a:pPr marL="361950" indent="-361950" algn="just">
              <a:lnSpc>
                <a:spcPct val="100000"/>
              </a:lnSpc>
              <a:spcBef>
                <a:spcPts val="0"/>
              </a:spcBef>
              <a:buFont typeface="Wingdings" panose="05000000000000000000" pitchFamily="2" charset="2"/>
              <a:buChar char="Ø"/>
            </a:pPr>
            <a:endParaRPr lang="en-US" dirty="0"/>
          </a:p>
        </p:txBody>
      </p:sp>
      <p:pic>
        <p:nvPicPr>
          <p:cNvPr id="5" name="Picture 4">
            <a:extLst>
              <a:ext uri="{FF2B5EF4-FFF2-40B4-BE49-F238E27FC236}">
                <a16:creationId xmlns:a16="http://schemas.microsoft.com/office/drawing/2014/main" id="{254C84A7-6B67-7BC0-0411-6ED4C6E96558}"/>
              </a:ext>
            </a:extLst>
          </p:cNvPr>
          <p:cNvPicPr>
            <a:picLocks noChangeAspect="1"/>
          </p:cNvPicPr>
          <p:nvPr/>
        </p:nvPicPr>
        <p:blipFill>
          <a:blip r:embed="rId2"/>
          <a:stretch>
            <a:fillRect/>
          </a:stretch>
        </p:blipFill>
        <p:spPr>
          <a:xfrm>
            <a:off x="8288337" y="2505579"/>
            <a:ext cx="3743325" cy="223837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7907778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556E2-5922-4A2A-D156-99B42052A07A}"/>
              </a:ext>
            </a:extLst>
          </p:cNvPr>
          <p:cNvSpPr>
            <a:spLocks noGrp="1"/>
          </p:cNvSpPr>
          <p:nvPr>
            <p:ph type="title"/>
          </p:nvPr>
        </p:nvSpPr>
        <p:spPr/>
        <p:txBody>
          <a:bodyPr/>
          <a:lstStyle/>
          <a:p>
            <a:r>
              <a:rPr lang="en-IN" dirty="0"/>
              <a:t>Model Operations</a:t>
            </a:r>
            <a:endParaRPr lang="en-US" dirty="0"/>
          </a:p>
        </p:txBody>
      </p:sp>
      <p:sp>
        <p:nvSpPr>
          <p:cNvPr id="3" name="Text Placeholder 2">
            <a:extLst>
              <a:ext uri="{FF2B5EF4-FFF2-40B4-BE49-F238E27FC236}">
                <a16:creationId xmlns:a16="http://schemas.microsoft.com/office/drawing/2014/main" id="{D000A675-39E5-216E-0D0A-4968F65B1192}"/>
              </a:ext>
            </a:extLst>
          </p:cNvPr>
          <p:cNvSpPr>
            <a:spLocks noGrp="1"/>
          </p:cNvSpPr>
          <p:nvPr>
            <p:ph type="body" sz="quarter" idx="13"/>
          </p:nvPr>
        </p:nvSpPr>
        <p:spPr>
          <a:xfrm>
            <a:off x="26894" y="947345"/>
            <a:ext cx="8659906" cy="5750086"/>
          </a:xfrm>
        </p:spPr>
        <p:txBody>
          <a:bodyPr>
            <a:normAutofit/>
          </a:bodyPr>
          <a:lstStyle/>
          <a:p>
            <a:pPr marL="361950" indent="-361950">
              <a:lnSpc>
                <a:spcPct val="100000"/>
              </a:lnSpc>
              <a:buFont typeface="Wingdings" panose="05000000000000000000" pitchFamily="2" charset="2"/>
              <a:buChar char="Ø"/>
            </a:pPr>
            <a:r>
              <a:rPr lang="en-US" dirty="0"/>
              <a:t>Imagine four versions of an application running, each with their own version of code and </a:t>
            </a:r>
            <a:r>
              <a:rPr lang="en-US" dirty="0" smtClean="0"/>
              <a:t>data</a:t>
            </a:r>
          </a:p>
          <a:p>
            <a:pPr marL="361950" indent="-361950">
              <a:lnSpc>
                <a:spcPct val="100000"/>
              </a:lnSpc>
              <a:buFont typeface="Wingdings" panose="05000000000000000000" pitchFamily="2" charset="2"/>
              <a:buChar char="Ø"/>
            </a:pPr>
            <a:endParaRPr lang="en-US" dirty="0"/>
          </a:p>
          <a:p>
            <a:pPr marL="361950" indent="-361950">
              <a:lnSpc>
                <a:spcPct val="100000"/>
              </a:lnSpc>
              <a:buFont typeface="Wingdings" panose="05000000000000000000" pitchFamily="2" charset="2"/>
              <a:buChar char="Ø"/>
            </a:pPr>
            <a:r>
              <a:rPr lang="en-US" dirty="0"/>
              <a:t>Each version may be built by a separate data scientist, all of whom are all iterating on their versions independently</a:t>
            </a:r>
            <a:r>
              <a:rPr lang="en-US" dirty="0" smtClean="0"/>
              <a:t>.</a:t>
            </a:r>
          </a:p>
          <a:p>
            <a:pPr marL="361950" indent="-361950">
              <a:lnSpc>
                <a:spcPct val="100000"/>
              </a:lnSpc>
              <a:buFont typeface="Wingdings" panose="05000000000000000000" pitchFamily="2" charset="2"/>
              <a:buChar char="Ø"/>
            </a:pPr>
            <a:endParaRPr lang="en-US" dirty="0"/>
          </a:p>
          <a:p>
            <a:pPr marL="361950" indent="-361950">
              <a:lnSpc>
                <a:spcPct val="100000"/>
              </a:lnSpc>
              <a:buFont typeface="Wingdings" panose="05000000000000000000" pitchFamily="2" charset="2"/>
              <a:buChar char="Ø"/>
            </a:pPr>
            <a:r>
              <a:rPr lang="en-US" dirty="0"/>
              <a:t>The result, unless organized properly, can be a logistical nightmare!</a:t>
            </a:r>
          </a:p>
          <a:p>
            <a:pPr marL="361950" indent="-361950">
              <a:lnSpc>
                <a:spcPct val="100000"/>
              </a:lnSpc>
              <a:buFont typeface="Wingdings" panose="05000000000000000000" pitchFamily="2" charset="2"/>
              <a:buChar char="Ø"/>
            </a:pPr>
            <a:endParaRPr lang="en-US" dirty="0"/>
          </a:p>
          <a:p>
            <a:pPr marL="361950" indent="-361950">
              <a:lnSpc>
                <a:spcPct val="100000"/>
              </a:lnSpc>
              <a:buFont typeface="Wingdings" panose="05000000000000000000" pitchFamily="2" charset="2"/>
              <a:buChar char="Ø"/>
            </a:pPr>
            <a:r>
              <a:rPr lang="en-US" dirty="0"/>
              <a:t>Role of the model operations layer to help </a:t>
            </a:r>
          </a:p>
          <a:p>
            <a:pPr marL="819150" lvl="2" indent="-361950">
              <a:lnSpc>
                <a:spcPct val="100000"/>
              </a:lnSpc>
              <a:buFont typeface="Wingdings" panose="05000000000000000000" pitchFamily="2" charset="2"/>
              <a:buChar char="§"/>
            </a:pPr>
            <a:r>
              <a:rPr lang="en-US" sz="1600" dirty="0" smtClean="0"/>
              <a:t>To </a:t>
            </a:r>
            <a:r>
              <a:rPr lang="en-US" sz="1600" dirty="0"/>
              <a:t>deploy, monitor, and assure validity of all models at all times, without hindering the </a:t>
            </a:r>
            <a:r>
              <a:rPr lang="en-US" sz="1600" dirty="0" smtClean="0"/>
              <a:t>speed </a:t>
            </a:r>
            <a:r>
              <a:rPr lang="en-US" sz="1600" dirty="0"/>
              <a:t>of </a:t>
            </a:r>
            <a:r>
              <a:rPr lang="en-US" sz="1600" dirty="0" smtClean="0"/>
              <a:t>experimentation</a:t>
            </a:r>
          </a:p>
          <a:p>
            <a:pPr marL="819150" lvl="2" indent="-361950">
              <a:lnSpc>
                <a:spcPct val="100000"/>
              </a:lnSpc>
              <a:buFont typeface="Wingdings" panose="05000000000000000000" pitchFamily="2" charset="2"/>
              <a:buChar char="§"/>
            </a:pPr>
            <a:endParaRPr lang="en-US" sz="1600" dirty="0"/>
          </a:p>
          <a:p>
            <a:pPr marL="819150" lvl="2" indent="-361950">
              <a:lnSpc>
                <a:spcPct val="100000"/>
              </a:lnSpc>
              <a:buFont typeface="Wingdings" panose="05000000000000000000" pitchFamily="2" charset="2"/>
              <a:buChar char="§"/>
            </a:pPr>
            <a:r>
              <a:rPr lang="en-US" sz="1600" dirty="0"/>
              <a:t>To make this possible, the infrastructure needs to track metadata about all executions and models, from prototype to production</a:t>
            </a:r>
          </a:p>
          <a:p>
            <a:pPr marL="361950" indent="-361950">
              <a:lnSpc>
                <a:spcPct val="100000"/>
              </a:lnSpc>
            </a:pPr>
            <a:endParaRPr lang="en-US" dirty="0"/>
          </a:p>
        </p:txBody>
      </p:sp>
      <p:pic>
        <p:nvPicPr>
          <p:cNvPr id="5" name="Picture 4">
            <a:extLst>
              <a:ext uri="{FF2B5EF4-FFF2-40B4-BE49-F238E27FC236}">
                <a16:creationId xmlns:a16="http://schemas.microsoft.com/office/drawing/2014/main" id="{873E461A-169B-31ED-2E68-314168530070}"/>
              </a:ext>
            </a:extLst>
          </p:cNvPr>
          <p:cNvPicPr>
            <a:picLocks noChangeAspect="1"/>
          </p:cNvPicPr>
          <p:nvPr/>
        </p:nvPicPr>
        <p:blipFill>
          <a:blip r:embed="rId2"/>
          <a:stretch>
            <a:fillRect/>
          </a:stretch>
        </p:blipFill>
        <p:spPr>
          <a:xfrm>
            <a:off x="8202612" y="1838325"/>
            <a:ext cx="3914775" cy="318135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6381784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D2FAC-124C-8DA2-E1C8-617698A6AF25}"/>
              </a:ext>
            </a:extLst>
          </p:cNvPr>
          <p:cNvSpPr>
            <a:spLocks noGrp="1"/>
          </p:cNvSpPr>
          <p:nvPr>
            <p:ph type="title"/>
          </p:nvPr>
        </p:nvSpPr>
        <p:spPr/>
        <p:txBody>
          <a:bodyPr/>
          <a:lstStyle/>
          <a:p>
            <a:r>
              <a:rPr lang="en-US" dirty="0"/>
              <a:t>Feature Engineering</a:t>
            </a:r>
          </a:p>
        </p:txBody>
      </p:sp>
      <p:sp>
        <p:nvSpPr>
          <p:cNvPr id="3" name="Text Placeholder 2">
            <a:extLst>
              <a:ext uri="{FF2B5EF4-FFF2-40B4-BE49-F238E27FC236}">
                <a16:creationId xmlns:a16="http://schemas.microsoft.com/office/drawing/2014/main" id="{6E990527-8515-239A-9218-231DD7F031B3}"/>
              </a:ext>
            </a:extLst>
          </p:cNvPr>
          <p:cNvSpPr>
            <a:spLocks noGrp="1"/>
          </p:cNvSpPr>
          <p:nvPr>
            <p:ph type="body" sz="quarter" idx="13"/>
          </p:nvPr>
        </p:nvSpPr>
        <p:spPr>
          <a:xfrm>
            <a:off x="152400" y="1160929"/>
            <a:ext cx="10160000" cy="2268071"/>
          </a:xfrm>
        </p:spPr>
        <p:txBody>
          <a:bodyPr/>
          <a:lstStyle/>
          <a:p>
            <a:pPr marL="361950" indent="-361950">
              <a:lnSpc>
                <a:spcPct val="100000"/>
              </a:lnSpc>
              <a:spcBef>
                <a:spcPts val="0"/>
              </a:spcBef>
              <a:buFont typeface="Wingdings" panose="05000000000000000000" pitchFamily="2" charset="2"/>
              <a:buChar char="Ø"/>
            </a:pPr>
            <a:r>
              <a:rPr lang="en-US" dirty="0"/>
              <a:t>Typically, the raw input data is not fed directly into the model but it goes through a sequence of data </a:t>
            </a:r>
            <a:r>
              <a:rPr lang="en-US" dirty="0" smtClean="0"/>
              <a:t>transformations</a:t>
            </a:r>
          </a:p>
          <a:p>
            <a:pPr marL="361950" indent="-361950">
              <a:lnSpc>
                <a:spcPct val="100000"/>
              </a:lnSpc>
              <a:spcBef>
                <a:spcPts val="0"/>
              </a:spcBef>
              <a:buFont typeface="Wingdings" panose="05000000000000000000" pitchFamily="2" charset="2"/>
              <a:buChar char="Ø"/>
            </a:pPr>
            <a:endParaRPr lang="en-US" dirty="0"/>
          </a:p>
          <a:p>
            <a:pPr marL="361950" indent="-361950">
              <a:lnSpc>
                <a:spcPct val="100000"/>
              </a:lnSpc>
              <a:spcBef>
                <a:spcPts val="0"/>
              </a:spcBef>
              <a:buFont typeface="Wingdings" panose="05000000000000000000" pitchFamily="2" charset="2"/>
              <a:buChar char="Ø"/>
            </a:pPr>
            <a:r>
              <a:rPr lang="en-US" dirty="0"/>
              <a:t>Designing this sequence is a major part of the data scientist’s work when they are developing a new model or trying to improve performance of an existing </a:t>
            </a:r>
            <a:r>
              <a:rPr lang="en-US" dirty="0" smtClean="0"/>
              <a:t>model</a:t>
            </a:r>
          </a:p>
          <a:p>
            <a:pPr marL="361950" indent="-361950">
              <a:lnSpc>
                <a:spcPct val="100000"/>
              </a:lnSpc>
              <a:spcBef>
                <a:spcPts val="0"/>
              </a:spcBef>
              <a:buFont typeface="Wingdings" panose="05000000000000000000" pitchFamily="2" charset="2"/>
              <a:buChar char="Ø"/>
            </a:pPr>
            <a:endParaRPr lang="en-US" dirty="0"/>
          </a:p>
          <a:p>
            <a:pPr marL="361950" indent="-361950">
              <a:lnSpc>
                <a:spcPct val="100000"/>
              </a:lnSpc>
              <a:spcBef>
                <a:spcPts val="0"/>
              </a:spcBef>
              <a:buFont typeface="Wingdings" panose="05000000000000000000" pitchFamily="2" charset="2"/>
              <a:buChar char="Ø"/>
            </a:pPr>
            <a:r>
              <a:rPr lang="en-US" dirty="0"/>
              <a:t>A key challenge is to make this process as efficient as possible</a:t>
            </a:r>
          </a:p>
          <a:p>
            <a:pPr marL="361950" indent="-361950">
              <a:lnSpc>
                <a:spcPct val="100000"/>
              </a:lnSpc>
              <a:spcBef>
                <a:spcPts val="0"/>
              </a:spcBef>
              <a:buNone/>
            </a:pPr>
            <a:endParaRPr lang="en-US" dirty="0"/>
          </a:p>
        </p:txBody>
      </p:sp>
      <p:pic>
        <p:nvPicPr>
          <p:cNvPr id="5" name="Picture 4">
            <a:extLst>
              <a:ext uri="{FF2B5EF4-FFF2-40B4-BE49-F238E27FC236}">
                <a16:creationId xmlns:a16="http://schemas.microsoft.com/office/drawing/2014/main" id="{82A8F530-BD35-D20A-689E-1396337D8B7C}"/>
              </a:ext>
            </a:extLst>
          </p:cNvPr>
          <p:cNvPicPr>
            <a:picLocks noChangeAspect="1"/>
          </p:cNvPicPr>
          <p:nvPr/>
        </p:nvPicPr>
        <p:blipFill>
          <a:blip r:embed="rId2"/>
          <a:stretch>
            <a:fillRect/>
          </a:stretch>
        </p:blipFill>
        <p:spPr>
          <a:xfrm>
            <a:off x="6858000" y="3657600"/>
            <a:ext cx="3884747" cy="257159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8274242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00EE1-B462-50BA-6D9B-A415B892CB0D}"/>
              </a:ext>
            </a:extLst>
          </p:cNvPr>
          <p:cNvSpPr>
            <a:spLocks noGrp="1"/>
          </p:cNvSpPr>
          <p:nvPr>
            <p:ph type="title"/>
          </p:nvPr>
        </p:nvSpPr>
        <p:spPr/>
        <p:txBody>
          <a:bodyPr>
            <a:normAutofit/>
          </a:bodyPr>
          <a:lstStyle/>
          <a:p>
            <a:r>
              <a:rPr lang="en-US" dirty="0"/>
              <a:t>Model Development</a:t>
            </a:r>
          </a:p>
        </p:txBody>
      </p:sp>
      <p:sp>
        <p:nvSpPr>
          <p:cNvPr id="3" name="Text Placeholder 2">
            <a:extLst>
              <a:ext uri="{FF2B5EF4-FFF2-40B4-BE49-F238E27FC236}">
                <a16:creationId xmlns:a16="http://schemas.microsoft.com/office/drawing/2014/main" id="{1E7F8E3E-6307-5666-88F9-3F488E3B2C90}"/>
              </a:ext>
            </a:extLst>
          </p:cNvPr>
          <p:cNvSpPr>
            <a:spLocks noGrp="1"/>
          </p:cNvSpPr>
          <p:nvPr>
            <p:ph type="body" sz="quarter" idx="13"/>
          </p:nvPr>
        </p:nvSpPr>
        <p:spPr>
          <a:xfrm>
            <a:off x="152400" y="1143000"/>
            <a:ext cx="11811000" cy="4419600"/>
          </a:xfrm>
        </p:spPr>
        <p:txBody>
          <a:bodyPr>
            <a:normAutofit/>
          </a:bodyPr>
          <a:lstStyle/>
          <a:p>
            <a:pPr marL="457200" indent="-457200" algn="just">
              <a:lnSpc>
                <a:spcPct val="100000"/>
              </a:lnSpc>
              <a:buNone/>
            </a:pPr>
            <a:r>
              <a:rPr lang="en-US" dirty="0"/>
              <a:t>At the very top of the stack there’s the layer of model development</a:t>
            </a:r>
          </a:p>
          <a:p>
            <a:pPr marL="457200" indent="-457200" algn="just">
              <a:lnSpc>
                <a:spcPct val="100000"/>
              </a:lnSpc>
              <a:buFont typeface="Wingdings" panose="05000000000000000000" pitchFamily="2" charset="2"/>
              <a:buChar char="Ø"/>
            </a:pPr>
            <a:r>
              <a:rPr lang="en-US" dirty="0" smtClean="0"/>
              <a:t>Finding </a:t>
            </a:r>
            <a:r>
              <a:rPr lang="en-US" dirty="0"/>
              <a:t>and describing a mathematical model that transforms features into desired </a:t>
            </a:r>
            <a:r>
              <a:rPr lang="en-US" dirty="0" smtClean="0"/>
              <a:t>outputs</a:t>
            </a:r>
          </a:p>
          <a:p>
            <a:pPr marL="457200" indent="-457200" algn="just">
              <a:lnSpc>
                <a:spcPct val="100000"/>
              </a:lnSpc>
              <a:buFont typeface="Wingdings" panose="05000000000000000000" pitchFamily="2" charset="2"/>
              <a:buChar char="Ø"/>
            </a:pPr>
            <a:r>
              <a:rPr lang="en-US" dirty="0" smtClean="0"/>
              <a:t>A </a:t>
            </a:r>
            <a:r>
              <a:rPr lang="en-US" dirty="0"/>
              <a:t>key challenge, and the key expertise of a data scientist, is to understand what modeling approach is most appropriate for the task at hand and how to implement it typically using off-the-shelf libraries.</a:t>
            </a:r>
          </a:p>
          <a:p>
            <a:pPr marL="457200" indent="-457200" algn="just">
              <a:lnSpc>
                <a:spcPct val="100000"/>
              </a:lnSpc>
              <a:buFont typeface="Wingdings" panose="05000000000000000000" pitchFamily="2" charset="2"/>
              <a:buChar char="Ø"/>
            </a:pPr>
            <a:r>
              <a:rPr lang="en-US" dirty="0"/>
              <a:t>Occupies only a tiny part of the end-to-end machinery that makes an effective data science  and/or ML </a:t>
            </a:r>
            <a:r>
              <a:rPr lang="en-US" dirty="0" smtClean="0"/>
              <a:t>application</a:t>
            </a:r>
          </a:p>
          <a:p>
            <a:pPr marL="457200" indent="-457200" algn="just">
              <a:lnSpc>
                <a:spcPct val="100000"/>
              </a:lnSpc>
              <a:buFont typeface="Wingdings" panose="05000000000000000000" pitchFamily="2" charset="2"/>
              <a:buChar char="Ø"/>
            </a:pPr>
            <a:r>
              <a:rPr lang="en-US" sz="1800" dirty="0" smtClean="0"/>
              <a:t>Shouldn’t </a:t>
            </a:r>
            <a:r>
              <a:rPr lang="en-US" sz="1800" dirty="0"/>
              <a:t>underestimate the effort that it takes to embed intelligence in the </a:t>
            </a:r>
            <a:r>
              <a:rPr lang="en-US" sz="1800" dirty="0" smtClean="0"/>
              <a:t>surrounding environment</a:t>
            </a:r>
            <a:r>
              <a:rPr lang="en-US" sz="1800" dirty="0"/>
              <a:t>, which is what this stack is all about!</a:t>
            </a:r>
            <a:endParaRPr lang="en-IN" sz="1800" dirty="0"/>
          </a:p>
          <a:p>
            <a:pPr marL="457200" indent="-457200" algn="just">
              <a:lnSpc>
                <a:spcPct val="100000"/>
              </a:lnSpc>
            </a:pPr>
            <a:endParaRPr lang="en-US" dirty="0"/>
          </a:p>
        </p:txBody>
      </p:sp>
      <p:pic>
        <p:nvPicPr>
          <p:cNvPr id="5" name="Picture 4">
            <a:extLst>
              <a:ext uri="{FF2B5EF4-FFF2-40B4-BE49-F238E27FC236}">
                <a16:creationId xmlns:a16="http://schemas.microsoft.com/office/drawing/2014/main" id="{AD3D0073-8DA9-09D7-55FF-12B7919911D9}"/>
              </a:ext>
            </a:extLst>
          </p:cNvPr>
          <p:cNvPicPr>
            <a:picLocks noChangeAspect="1"/>
          </p:cNvPicPr>
          <p:nvPr/>
        </p:nvPicPr>
        <p:blipFill>
          <a:blip r:embed="rId2"/>
          <a:stretch>
            <a:fillRect/>
          </a:stretch>
        </p:blipFill>
        <p:spPr>
          <a:xfrm>
            <a:off x="8941240" y="4509034"/>
            <a:ext cx="2437519" cy="210713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9045687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8B8AE-C479-3F73-2A34-891B7EC64FDF}"/>
              </a:ext>
            </a:extLst>
          </p:cNvPr>
          <p:cNvSpPr>
            <a:spLocks noGrp="1"/>
          </p:cNvSpPr>
          <p:nvPr>
            <p:ph type="title"/>
          </p:nvPr>
        </p:nvSpPr>
        <p:spPr/>
        <p:txBody>
          <a:bodyPr/>
          <a:lstStyle/>
          <a:p>
            <a:r>
              <a:rPr lang="en-US" dirty="0"/>
              <a:t>Stack Again</a:t>
            </a:r>
          </a:p>
        </p:txBody>
      </p:sp>
      <p:pic>
        <p:nvPicPr>
          <p:cNvPr id="6" name="Picture 5">
            <a:extLst>
              <a:ext uri="{FF2B5EF4-FFF2-40B4-BE49-F238E27FC236}">
                <a16:creationId xmlns:a16="http://schemas.microsoft.com/office/drawing/2014/main" id="{1D0BA451-F8F6-F132-0B07-A522EA898726}"/>
              </a:ext>
            </a:extLst>
          </p:cNvPr>
          <p:cNvPicPr>
            <a:picLocks noChangeAspect="1"/>
          </p:cNvPicPr>
          <p:nvPr/>
        </p:nvPicPr>
        <p:blipFill>
          <a:blip r:embed="rId2"/>
          <a:stretch>
            <a:fillRect/>
          </a:stretch>
        </p:blipFill>
        <p:spPr>
          <a:xfrm rot="19672170">
            <a:off x="-8965" y="2133600"/>
            <a:ext cx="5334000" cy="334327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TextBox 6">
            <a:extLst>
              <a:ext uri="{FF2B5EF4-FFF2-40B4-BE49-F238E27FC236}">
                <a16:creationId xmlns:a16="http://schemas.microsoft.com/office/drawing/2014/main" id="{1CF52E5A-7AC8-E98A-62B2-24AC479B0341}"/>
              </a:ext>
            </a:extLst>
          </p:cNvPr>
          <p:cNvSpPr txBox="1"/>
          <p:nvPr/>
        </p:nvSpPr>
        <p:spPr>
          <a:xfrm>
            <a:off x="4704791" y="911486"/>
            <a:ext cx="7487209" cy="5909310"/>
          </a:xfrm>
          <a:prstGeom prst="rect">
            <a:avLst/>
          </a:prstGeom>
          <a:noFill/>
        </p:spPr>
        <p:txBody>
          <a:bodyPr wrap="square" rtlCol="0">
            <a:spAutoFit/>
          </a:bodyPr>
          <a:lstStyle/>
          <a:p>
            <a:pPr marL="742950" lvl="1"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Every data science project regardless of the problem domain needs to deal with data and compute</a:t>
            </a:r>
          </a:p>
          <a:p>
            <a:pPr marL="1200150" lvl="2" indent="-285750" algn="just">
              <a:buFont typeface="Arial" panose="020B0604020202020204" pitchFamily="34" charset="0"/>
              <a:buChar char="•"/>
            </a:pPr>
            <a:r>
              <a:rPr lang="en-US" dirty="0" smtClean="0">
                <a:latin typeface="Helvetica" panose="020B0604020202020204" pitchFamily="34" charset="0"/>
                <a:cs typeface="Helvetica" panose="020B0604020202020204" pitchFamily="34" charset="0"/>
              </a:rPr>
              <a:t>So </a:t>
            </a:r>
            <a:r>
              <a:rPr lang="en-US" dirty="0">
                <a:latin typeface="Helvetica" panose="020B0604020202020204" pitchFamily="34" charset="0"/>
                <a:cs typeface="Helvetica" panose="020B0604020202020204" pitchFamily="34" charset="0"/>
              </a:rPr>
              <a:t>these layers form the foundational infrastructure</a:t>
            </a:r>
          </a:p>
          <a:p>
            <a:pPr marL="1200150" lvl="2" indent="-285750" algn="just">
              <a:buFont typeface="Arial" panose="020B0604020202020204" pitchFamily="34" charset="0"/>
              <a:buChar char="•"/>
            </a:pPr>
            <a:r>
              <a:rPr lang="en-US" dirty="0" smtClean="0">
                <a:latin typeface="Helvetica" panose="020B0604020202020204" pitchFamily="34" charset="0"/>
                <a:cs typeface="Helvetica" panose="020B0604020202020204" pitchFamily="34" charset="0"/>
              </a:rPr>
              <a:t>Layers </a:t>
            </a:r>
            <a:r>
              <a:rPr lang="en-US" dirty="0">
                <a:latin typeface="Helvetica" panose="020B0604020202020204" pitchFamily="34" charset="0"/>
                <a:cs typeface="Helvetica" panose="020B0604020202020204" pitchFamily="34" charset="0"/>
              </a:rPr>
              <a:t>are agnostic of what exactly gets executed</a:t>
            </a:r>
          </a:p>
          <a:p>
            <a:pPr algn="just">
              <a:buFont typeface="Courier New" panose="02070309020205020404" pitchFamily="49" charset="0"/>
              <a:buChar char="o"/>
            </a:pPr>
            <a:endParaRPr lang="en-US" dirty="0">
              <a:latin typeface="Helvetica" panose="020B0604020202020204" pitchFamily="34" charset="0"/>
              <a:cs typeface="Helvetica" panose="020B0604020202020204" pitchFamily="34" charset="0"/>
            </a:endParaRPr>
          </a:p>
          <a:p>
            <a:pPr marL="742950" lvl="1"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The middle layers </a:t>
            </a:r>
          </a:p>
          <a:p>
            <a:pPr marL="1200150" lvl="2" indent="-285750" algn="just">
              <a:buFont typeface="Wingdings" panose="05000000000000000000" pitchFamily="2" charset="2"/>
              <a:buChar char="§"/>
            </a:pPr>
            <a:r>
              <a:rPr lang="en-US" dirty="0" smtClean="0">
                <a:latin typeface="Helvetica" panose="020B0604020202020204" pitchFamily="34" charset="0"/>
                <a:cs typeface="Helvetica" panose="020B0604020202020204" pitchFamily="34" charset="0"/>
              </a:rPr>
              <a:t>Define </a:t>
            </a:r>
            <a:r>
              <a:rPr lang="en-US" dirty="0">
                <a:latin typeface="Helvetica" panose="020B0604020202020204" pitchFamily="34" charset="0"/>
                <a:cs typeface="Helvetica" panose="020B0604020202020204" pitchFamily="34" charset="0"/>
              </a:rPr>
              <a:t>the software architecture of an individual data science or ML  application</a:t>
            </a:r>
          </a:p>
          <a:p>
            <a:pPr marL="1200150" lvl="2" indent="-285750" algn="just">
              <a:buFont typeface="Wingdings" panose="05000000000000000000" pitchFamily="2" charset="2"/>
              <a:buChar char="§"/>
            </a:pPr>
            <a:r>
              <a:rPr lang="en-US" dirty="0">
                <a:latin typeface="Helvetica" panose="020B0604020202020204" pitchFamily="34" charset="0"/>
                <a:cs typeface="Helvetica" panose="020B0604020202020204" pitchFamily="34" charset="0"/>
              </a:rPr>
              <a:t>What gets executed and how: the algorithms, data pipelines, deployment strategies, and how results should be distribute</a:t>
            </a:r>
          </a:p>
          <a:p>
            <a:pPr marL="1200150" lvl="2" indent="-285750" algn="just">
              <a:buFont typeface="Wingdings" panose="05000000000000000000" pitchFamily="2" charset="2"/>
              <a:buChar char="§"/>
            </a:pPr>
            <a:r>
              <a:rPr lang="en-US" dirty="0">
                <a:latin typeface="Helvetica" panose="020B0604020202020204" pitchFamily="34" charset="0"/>
                <a:cs typeface="Helvetica" panose="020B0604020202020204" pitchFamily="34" charset="0"/>
              </a:rPr>
              <a:t>Much about the work is about integrating existing software components together.</a:t>
            </a:r>
          </a:p>
          <a:p>
            <a:pPr algn="just">
              <a:buFont typeface="Courier New" panose="02070309020205020404" pitchFamily="49" charset="0"/>
              <a:buChar char="o"/>
            </a:pPr>
            <a:endParaRPr lang="en-US" dirty="0">
              <a:latin typeface="Helvetica" panose="020B0604020202020204" pitchFamily="34" charset="0"/>
              <a:cs typeface="Helvetica" panose="020B0604020202020204" pitchFamily="34" charset="0"/>
            </a:endParaRPr>
          </a:p>
          <a:p>
            <a:pPr marL="742950" lvl="1"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The top of the stack </a:t>
            </a:r>
          </a:p>
          <a:p>
            <a:pPr marL="1200150" lvl="2" indent="-285750" algn="just">
              <a:buFont typeface="Wingdings" panose="05000000000000000000" pitchFamily="2" charset="2"/>
              <a:buChar char="§"/>
            </a:pPr>
            <a:r>
              <a:rPr lang="en-US" dirty="0" smtClean="0">
                <a:latin typeface="Helvetica" panose="020B0604020202020204" pitchFamily="34" charset="0"/>
                <a:cs typeface="Helvetica" panose="020B0604020202020204" pitchFamily="34" charset="0"/>
              </a:rPr>
              <a:t>Realm </a:t>
            </a:r>
            <a:r>
              <a:rPr lang="en-US" dirty="0">
                <a:latin typeface="Helvetica" panose="020B0604020202020204" pitchFamily="34" charset="0"/>
                <a:cs typeface="Helvetica" panose="020B0604020202020204" pitchFamily="34" charset="0"/>
              </a:rPr>
              <a:t>of data science and or ML: </a:t>
            </a:r>
          </a:p>
          <a:p>
            <a:pPr marL="1200150" lvl="2" indent="-285750" algn="just">
              <a:buFont typeface="Wingdings" panose="05000000000000000000" pitchFamily="2" charset="2"/>
              <a:buChar char="§"/>
            </a:pPr>
            <a:r>
              <a:rPr lang="en-US" dirty="0">
                <a:latin typeface="Helvetica" panose="020B0604020202020204" pitchFamily="34" charset="0"/>
                <a:cs typeface="Helvetica" panose="020B0604020202020204" pitchFamily="34" charset="0"/>
              </a:rPr>
              <a:t>Defining a mathematical model and how to transform raw input to something that the model can process</a:t>
            </a:r>
          </a:p>
          <a:p>
            <a:pPr marL="1200150" lvl="2" indent="-285750" algn="just">
              <a:buFont typeface="Wingdings" panose="05000000000000000000" pitchFamily="2" charset="2"/>
              <a:buChar char="§"/>
            </a:pPr>
            <a:r>
              <a:rPr lang="en-US" dirty="0" smtClean="0">
                <a:latin typeface="Helvetica" panose="020B0604020202020204" pitchFamily="34" charset="0"/>
                <a:cs typeface="Helvetica" panose="020B0604020202020204" pitchFamily="34" charset="0"/>
              </a:rPr>
              <a:t>Can </a:t>
            </a:r>
            <a:r>
              <a:rPr lang="en-US" dirty="0">
                <a:latin typeface="Helvetica" panose="020B0604020202020204" pitchFamily="34" charset="0"/>
                <a:cs typeface="Helvetica" panose="020B0604020202020204" pitchFamily="34" charset="0"/>
              </a:rPr>
              <a:t>evolve quickly as the data scientist experiments with different approaches</a:t>
            </a:r>
            <a:endParaRPr lang="en-IN" dirty="0">
              <a:latin typeface="Helvetica" panose="020B0604020202020204" pitchFamily="34" charset="0"/>
              <a:cs typeface="Helvetica" panose="020B0604020202020204" pitchFamily="34" charset="0"/>
            </a:endParaRPr>
          </a:p>
          <a:p>
            <a:pPr algn="just"/>
            <a:endParaRPr lang="en-US"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2056489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924F8-5C41-2720-F1B7-EE96A3F5665F}"/>
              </a:ext>
            </a:extLst>
          </p:cNvPr>
          <p:cNvSpPr>
            <a:spLocks noGrp="1"/>
          </p:cNvSpPr>
          <p:nvPr>
            <p:ph type="title"/>
          </p:nvPr>
        </p:nvSpPr>
        <p:spPr>
          <a:xfrm>
            <a:off x="0" y="297585"/>
            <a:ext cx="10744200" cy="764364"/>
          </a:xfrm>
        </p:spPr>
        <p:txBody>
          <a:bodyPr>
            <a:normAutofit fontScale="90000"/>
          </a:bodyPr>
          <a:lstStyle/>
          <a:p>
            <a:r>
              <a:rPr lang="en-US" dirty="0"/>
              <a:t>Data Scientists/ ML Engineers  Freedom and Responsibility</a:t>
            </a:r>
            <a:br>
              <a:rPr lang="en-US" dirty="0"/>
            </a:br>
            <a:endParaRPr lang="en-US" dirty="0"/>
          </a:p>
        </p:txBody>
      </p:sp>
      <p:pic>
        <p:nvPicPr>
          <p:cNvPr id="6" name="Picture 5">
            <a:extLst>
              <a:ext uri="{FF2B5EF4-FFF2-40B4-BE49-F238E27FC236}">
                <a16:creationId xmlns:a16="http://schemas.microsoft.com/office/drawing/2014/main" id="{36FB5AF2-B8BA-A782-F500-617E4918262F}"/>
              </a:ext>
            </a:extLst>
          </p:cNvPr>
          <p:cNvPicPr>
            <a:picLocks noChangeAspect="1"/>
          </p:cNvPicPr>
          <p:nvPr/>
        </p:nvPicPr>
        <p:blipFill>
          <a:blip r:embed="rId2"/>
          <a:stretch>
            <a:fillRect/>
          </a:stretch>
        </p:blipFill>
        <p:spPr>
          <a:xfrm>
            <a:off x="838200" y="1447800"/>
            <a:ext cx="10744200" cy="4730433"/>
          </a:xfrm>
          <a:prstGeom prst="rect">
            <a:avLst/>
          </a:prstGeom>
        </p:spPr>
      </p:pic>
    </p:spTree>
    <p:extLst>
      <p:ext uri="{BB962C8B-B14F-4D97-AF65-F5344CB8AC3E}">
        <p14:creationId xmlns:p14="http://schemas.microsoft.com/office/powerpoint/2010/main" val="35928874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F8154-7638-175A-D41B-35CEED51C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CCFF6-EEFB-54B2-E397-D32E87850122}"/>
              </a:ext>
            </a:extLst>
          </p:cNvPr>
          <p:cNvSpPr>
            <a:spLocks noGrp="1"/>
          </p:cNvSpPr>
          <p:nvPr>
            <p:ph type="title"/>
          </p:nvPr>
        </p:nvSpPr>
        <p:spPr>
          <a:xfrm>
            <a:off x="0" y="1709738"/>
            <a:ext cx="12039600" cy="2852737"/>
          </a:xfrm>
        </p:spPr>
        <p:txBody>
          <a:bodyPr anchor="b">
            <a:normAutofit/>
          </a:bodyPr>
          <a:lstStyle/>
          <a:p>
            <a:r>
              <a:rPr lang="en-US" dirty="0"/>
              <a:t>Data Serving Infrastructure</a:t>
            </a:r>
            <a:br>
              <a:rPr lang="en-US" dirty="0"/>
            </a:br>
            <a:r>
              <a:rPr lang="en-US" dirty="0"/>
              <a:t>- Ways to serve data</a:t>
            </a:r>
          </a:p>
        </p:txBody>
      </p:sp>
    </p:spTree>
    <p:extLst>
      <p:ext uri="{BB962C8B-B14F-4D97-AF65-F5344CB8AC3E}">
        <p14:creationId xmlns:p14="http://schemas.microsoft.com/office/powerpoint/2010/main" val="40022790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7EEE-41EE-33C3-EC8F-7117B49C5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575A0D-5286-371A-29C2-C63692E72882}"/>
              </a:ext>
            </a:extLst>
          </p:cNvPr>
          <p:cNvSpPr>
            <a:spLocks noGrp="1"/>
          </p:cNvSpPr>
          <p:nvPr>
            <p:ph type="title"/>
          </p:nvPr>
        </p:nvSpPr>
        <p:spPr/>
        <p:txBody>
          <a:bodyPr/>
          <a:lstStyle/>
          <a:p>
            <a:r>
              <a:rPr lang="en-US" dirty="0"/>
              <a:t>Introduction</a:t>
            </a:r>
          </a:p>
        </p:txBody>
      </p:sp>
      <p:graphicFrame>
        <p:nvGraphicFramePr>
          <p:cNvPr id="7" name="Diagram 6">
            <a:extLst>
              <a:ext uri="{FF2B5EF4-FFF2-40B4-BE49-F238E27FC236}">
                <a16:creationId xmlns:a16="http://schemas.microsoft.com/office/drawing/2014/main" id="{778ACE73-DAF2-9E5D-CD86-1E1FB8201737}"/>
              </a:ext>
            </a:extLst>
          </p:cNvPr>
          <p:cNvGraphicFramePr/>
          <p:nvPr>
            <p:extLst>
              <p:ext uri="{D42A27DB-BD31-4B8C-83A1-F6EECF244321}">
                <p14:modId xmlns:p14="http://schemas.microsoft.com/office/powerpoint/2010/main" val="3078025752"/>
              </p:ext>
            </p:extLst>
          </p:nvPr>
        </p:nvGraphicFramePr>
        <p:xfrm>
          <a:off x="0" y="719666"/>
          <a:ext cx="11963399" cy="5681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95299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ED858-2B02-97CB-BBE1-52E575774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8E5C8-81F2-BD4A-63F9-41D60C98A114}"/>
              </a:ext>
            </a:extLst>
          </p:cNvPr>
          <p:cNvSpPr>
            <a:spLocks noGrp="1"/>
          </p:cNvSpPr>
          <p:nvPr>
            <p:ph type="title"/>
          </p:nvPr>
        </p:nvSpPr>
        <p:spPr/>
        <p:txBody>
          <a:bodyPr>
            <a:normAutofit/>
          </a:bodyPr>
          <a:lstStyle/>
          <a:p>
            <a:r>
              <a:rPr lang="en-IN" dirty="0"/>
              <a:t>File Exchange</a:t>
            </a:r>
            <a:endParaRPr lang="en-US" dirty="0"/>
          </a:p>
        </p:txBody>
      </p:sp>
      <p:sp>
        <p:nvSpPr>
          <p:cNvPr id="3" name="Text Placeholder 2">
            <a:extLst>
              <a:ext uri="{FF2B5EF4-FFF2-40B4-BE49-F238E27FC236}">
                <a16:creationId xmlns:a16="http://schemas.microsoft.com/office/drawing/2014/main" id="{9F00826B-0A5A-A710-61A6-289E0A45FE72}"/>
              </a:ext>
            </a:extLst>
          </p:cNvPr>
          <p:cNvSpPr>
            <a:spLocks noGrp="1"/>
          </p:cNvSpPr>
          <p:nvPr>
            <p:ph type="body" sz="quarter" idx="13"/>
          </p:nvPr>
        </p:nvSpPr>
        <p:spPr>
          <a:xfrm>
            <a:off x="304800" y="1001134"/>
            <a:ext cx="11582400" cy="5696297"/>
          </a:xfrm>
        </p:spPr>
        <p:txBody>
          <a:bodyPr>
            <a:normAutofit lnSpcReduction="10000"/>
          </a:bodyPr>
          <a:lstStyle/>
          <a:p>
            <a:pPr>
              <a:lnSpc>
                <a:spcPct val="150000"/>
              </a:lnSpc>
              <a:buFont typeface="Wingdings" panose="05000000000000000000" pitchFamily="2" charset="2"/>
              <a:buChar char="Ø"/>
            </a:pPr>
            <a:r>
              <a:rPr lang="en-US" dirty="0"/>
              <a:t>Is ubiquitous in data serving. We process data and generate files to pass to data consumers</a:t>
            </a:r>
          </a:p>
          <a:p>
            <a:pPr marL="0" lvl="1" indent="0" defTabSz="361950">
              <a:lnSpc>
                <a:spcPct val="100000"/>
              </a:lnSpc>
              <a:spcBef>
                <a:spcPts val="0"/>
              </a:spcBef>
              <a:buFont typeface="Wingdings" panose="05000000000000000000" pitchFamily="2" charset="2"/>
              <a:buChar char="§"/>
            </a:pPr>
            <a:r>
              <a:rPr lang="en-US" sz="1800" dirty="0" smtClean="0"/>
              <a:t> 	A </a:t>
            </a:r>
            <a:r>
              <a:rPr lang="en-US" sz="1800" dirty="0"/>
              <a:t>data scientist might load a text file (unstructured data) of customer messages to analyze the </a:t>
            </a:r>
            <a:r>
              <a:rPr lang="en-US" sz="1800" dirty="0" smtClean="0"/>
              <a:t>	sentiments 	of </a:t>
            </a:r>
            <a:r>
              <a:rPr lang="en-US" sz="1800" dirty="0"/>
              <a:t>customer complaints</a:t>
            </a:r>
          </a:p>
          <a:p>
            <a:pPr lvl="1">
              <a:lnSpc>
                <a:spcPct val="150000"/>
              </a:lnSpc>
              <a:buFont typeface="Wingdings" panose="05000000000000000000" pitchFamily="2" charset="2"/>
              <a:buChar char="§"/>
            </a:pPr>
            <a:r>
              <a:rPr lang="en-US" sz="1800" dirty="0"/>
              <a:t>A business unit might receive invoice data from a partner company as a collection of CSVs (structured data)</a:t>
            </a:r>
          </a:p>
          <a:p>
            <a:pPr lvl="1">
              <a:lnSpc>
                <a:spcPct val="150000"/>
              </a:lnSpc>
              <a:buFont typeface="Wingdings" panose="05000000000000000000" pitchFamily="2" charset="2"/>
              <a:buChar char="§"/>
            </a:pPr>
            <a:r>
              <a:rPr lang="en-US" sz="1800" dirty="0"/>
              <a:t>An analyst must perform some statistical analysis on these files</a:t>
            </a:r>
          </a:p>
          <a:p>
            <a:pPr>
              <a:lnSpc>
                <a:spcPct val="150000"/>
              </a:lnSpc>
            </a:pPr>
            <a:endParaRPr lang="en-US" dirty="0"/>
          </a:p>
          <a:p>
            <a:pPr>
              <a:lnSpc>
                <a:spcPct val="150000"/>
              </a:lnSpc>
              <a:buFont typeface="Wingdings" panose="05000000000000000000" pitchFamily="2" charset="2"/>
              <a:buChar char="Ø"/>
            </a:pPr>
            <a:r>
              <a:rPr lang="en-US" dirty="0"/>
              <a:t>The way files are served depends on several factors, such as these:</a:t>
            </a:r>
          </a:p>
          <a:p>
            <a:pPr lvl="1">
              <a:lnSpc>
                <a:spcPct val="150000"/>
              </a:lnSpc>
              <a:buFont typeface="Wingdings" panose="05000000000000000000" pitchFamily="2" charset="2"/>
              <a:buChar char="§"/>
            </a:pPr>
            <a:r>
              <a:rPr lang="en-US" sz="1800" dirty="0"/>
              <a:t>Use case — business analytics, operational analytics, embedded analytics</a:t>
            </a:r>
          </a:p>
          <a:p>
            <a:pPr lvl="1">
              <a:lnSpc>
                <a:spcPct val="150000"/>
              </a:lnSpc>
              <a:buFont typeface="Wingdings" panose="05000000000000000000" pitchFamily="2" charset="2"/>
              <a:buChar char="§"/>
            </a:pPr>
            <a:r>
              <a:rPr lang="en-US" sz="1800" dirty="0"/>
              <a:t>The data consumer’s data-handling processes</a:t>
            </a:r>
          </a:p>
          <a:p>
            <a:pPr lvl="1">
              <a:lnSpc>
                <a:spcPct val="150000"/>
              </a:lnSpc>
              <a:buFont typeface="Wingdings" panose="05000000000000000000" pitchFamily="2" charset="2"/>
              <a:buChar char="§"/>
            </a:pPr>
            <a:r>
              <a:rPr lang="en-US" sz="1800" dirty="0"/>
              <a:t>The size and number of individual files in storage</a:t>
            </a:r>
          </a:p>
          <a:p>
            <a:pPr lvl="1">
              <a:lnSpc>
                <a:spcPct val="150000"/>
              </a:lnSpc>
              <a:buFont typeface="Wingdings" panose="05000000000000000000" pitchFamily="2" charset="2"/>
              <a:buChar char="§"/>
            </a:pPr>
            <a:r>
              <a:rPr lang="en-US" sz="1800" dirty="0"/>
              <a:t>Who is accessing this file</a:t>
            </a:r>
          </a:p>
          <a:p>
            <a:pPr lvl="1">
              <a:lnSpc>
                <a:spcPct val="150000"/>
              </a:lnSpc>
              <a:buFont typeface="Wingdings" panose="05000000000000000000" pitchFamily="2" charset="2"/>
              <a:buChar char="§"/>
            </a:pPr>
            <a:r>
              <a:rPr lang="en-US" sz="1800" dirty="0"/>
              <a:t>Data type — structured, semi-structured, or unstructured</a:t>
            </a:r>
            <a:endParaRPr lang="en-IN" sz="1800" dirty="0"/>
          </a:p>
          <a:p>
            <a:pPr marL="0" indent="0">
              <a:lnSpc>
                <a:spcPct val="150000"/>
              </a:lnSpc>
              <a:buNone/>
            </a:pPr>
            <a:endParaRPr lang="en-US" dirty="0"/>
          </a:p>
        </p:txBody>
      </p:sp>
    </p:spTree>
    <p:extLst>
      <p:ext uri="{BB962C8B-B14F-4D97-AF65-F5344CB8AC3E}">
        <p14:creationId xmlns:p14="http://schemas.microsoft.com/office/powerpoint/2010/main" val="31756697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3E6A7-F439-A49D-266A-C02A2E61FD98}"/>
              </a:ext>
            </a:extLst>
          </p:cNvPr>
          <p:cNvSpPr>
            <a:spLocks noGrp="1"/>
          </p:cNvSpPr>
          <p:nvPr>
            <p:ph type="title"/>
          </p:nvPr>
        </p:nvSpPr>
        <p:spPr/>
        <p:txBody>
          <a:bodyPr>
            <a:normAutofit/>
          </a:bodyPr>
          <a:lstStyle/>
          <a:p>
            <a:r>
              <a:rPr lang="en-IN" dirty="0"/>
              <a:t>Databases</a:t>
            </a:r>
            <a:endParaRPr lang="en-US" dirty="0"/>
          </a:p>
        </p:txBody>
      </p:sp>
      <p:sp>
        <p:nvSpPr>
          <p:cNvPr id="7" name="Text Placeholder 2">
            <a:extLst>
              <a:ext uri="{FF2B5EF4-FFF2-40B4-BE49-F238E27FC236}">
                <a16:creationId xmlns:a16="http://schemas.microsoft.com/office/drawing/2014/main" id="{AEC7918C-99C6-13C1-E84F-E1E0DDD22EDB}"/>
              </a:ext>
            </a:extLst>
          </p:cNvPr>
          <p:cNvSpPr txBox="1">
            <a:spLocks/>
          </p:cNvSpPr>
          <p:nvPr/>
        </p:nvSpPr>
        <p:spPr>
          <a:xfrm>
            <a:off x="-35860" y="933898"/>
            <a:ext cx="12227860" cy="58479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Ø"/>
            </a:pPr>
            <a:r>
              <a:rPr lang="en-US" dirty="0"/>
              <a:t>Critical layer in serving data for analytics and ML - serving data from OLAP databases (</a:t>
            </a:r>
            <a:r>
              <a:rPr lang="en-US" dirty="0" err="1"/>
              <a:t>e.g.,data</a:t>
            </a:r>
            <a:r>
              <a:rPr lang="en-US" dirty="0"/>
              <a:t> </a:t>
            </a:r>
          </a:p>
          <a:p>
            <a:pPr marL="0" indent="0" algn="just">
              <a:buFont typeface="Arial" panose="020B0604020202020204" pitchFamily="34" charset="0"/>
              <a:buNone/>
            </a:pPr>
            <a:r>
              <a:rPr lang="en-US" dirty="0"/>
              <a:t>    warehouses and data lakes)</a:t>
            </a:r>
          </a:p>
          <a:p>
            <a:pPr lvl="1" algn="just">
              <a:buFont typeface="Wingdings" panose="05000000000000000000" pitchFamily="2" charset="2"/>
              <a:buChar char="§"/>
            </a:pPr>
            <a:r>
              <a:rPr lang="en-US" sz="1800" dirty="0"/>
              <a:t>Serving data involves querying a database and then consuming those results for a use case</a:t>
            </a:r>
          </a:p>
          <a:p>
            <a:pPr lvl="1" algn="just">
              <a:buFont typeface="Wingdings" panose="05000000000000000000" pitchFamily="2" charset="2"/>
              <a:buChar char="§"/>
            </a:pPr>
            <a:r>
              <a:rPr lang="en-US" sz="1800" dirty="0"/>
              <a:t>An analyst or data scientist might query a database by using a SQL editor and export those results to a CSV file for consumption by a downstream application, or analyze the results in a notebook </a:t>
            </a:r>
          </a:p>
          <a:p>
            <a:pPr algn="just"/>
            <a:endParaRPr lang="en-US" dirty="0"/>
          </a:p>
          <a:p>
            <a:pPr algn="just">
              <a:buFont typeface="Wingdings" panose="05000000000000000000" pitchFamily="2" charset="2"/>
              <a:buChar char="Ø"/>
            </a:pPr>
            <a:r>
              <a:rPr lang="en-US" dirty="0"/>
              <a:t>Carries a variety of benefits</a:t>
            </a:r>
          </a:p>
          <a:p>
            <a:pPr lvl="1" algn="just">
              <a:buFont typeface="Wingdings" panose="05000000000000000000" pitchFamily="2" charset="2"/>
              <a:buChar char="§"/>
            </a:pPr>
            <a:r>
              <a:rPr lang="en-US" sz="1800" dirty="0"/>
              <a:t>A database imposes order and structure on the </a:t>
            </a:r>
            <a:r>
              <a:rPr lang="en-US" sz="1800" b="1" u="sng" dirty="0"/>
              <a:t>data through schema</a:t>
            </a:r>
          </a:p>
          <a:p>
            <a:pPr lvl="1" algn="just">
              <a:buFont typeface="Wingdings" panose="05000000000000000000" pitchFamily="2" charset="2"/>
              <a:buChar char="§"/>
            </a:pPr>
            <a:r>
              <a:rPr lang="en-US" sz="1800" dirty="0"/>
              <a:t>Databases can offer </a:t>
            </a:r>
            <a:r>
              <a:rPr lang="en-US" sz="1800" b="1" u="sng" dirty="0"/>
              <a:t>fine-grained permission controls </a:t>
            </a:r>
            <a:r>
              <a:rPr lang="en-US" sz="1800" dirty="0"/>
              <a:t>at the table, column, and row level, allowing database administrators to craft complex access policies for various roles</a:t>
            </a:r>
          </a:p>
          <a:p>
            <a:pPr lvl="1" algn="just">
              <a:buFont typeface="Wingdings" panose="05000000000000000000" pitchFamily="2" charset="2"/>
              <a:buChar char="§"/>
            </a:pPr>
            <a:r>
              <a:rPr lang="en-US" sz="1800" dirty="0"/>
              <a:t>Databases can offer </a:t>
            </a:r>
            <a:r>
              <a:rPr lang="en-US" sz="1800" b="1" u="sng" dirty="0"/>
              <a:t>high serving performance</a:t>
            </a:r>
            <a:r>
              <a:rPr lang="en-US" sz="1800" dirty="0"/>
              <a:t> for large, computationally intensive queries and high query  concurrency</a:t>
            </a:r>
          </a:p>
          <a:p>
            <a:pPr algn="just"/>
            <a:endParaRPr lang="en-US" dirty="0"/>
          </a:p>
          <a:p>
            <a:pPr algn="just">
              <a:buFont typeface="Wingdings" panose="05000000000000000000" pitchFamily="2" charset="2"/>
              <a:buChar char="Ø"/>
            </a:pPr>
            <a:r>
              <a:rPr lang="en-US" dirty="0"/>
              <a:t>A data scientist might connect to a database, extract data, and perform feature engineering and </a:t>
            </a:r>
          </a:p>
          <a:p>
            <a:pPr marL="0" indent="0" algn="just">
              <a:buFont typeface="Arial" panose="020B0604020202020204" pitchFamily="34" charset="0"/>
              <a:buNone/>
            </a:pPr>
            <a:r>
              <a:rPr lang="en-US" dirty="0"/>
              <a:t>    selection</a:t>
            </a:r>
          </a:p>
          <a:p>
            <a:pPr lvl="1" algn="just">
              <a:buFont typeface="Wingdings" panose="05000000000000000000" pitchFamily="2" charset="2"/>
              <a:buChar char="§"/>
            </a:pPr>
            <a:r>
              <a:rPr lang="en-US" sz="1800" dirty="0"/>
              <a:t>Converted dataset is then fed into an ML model</a:t>
            </a:r>
          </a:p>
          <a:p>
            <a:pPr lvl="1" algn="just">
              <a:buFont typeface="Wingdings" panose="05000000000000000000" pitchFamily="2" charset="2"/>
              <a:buChar char="§"/>
            </a:pPr>
            <a:r>
              <a:rPr lang="en-US" sz="1800" dirty="0"/>
              <a:t>offline model is trained and produces predictive results</a:t>
            </a:r>
          </a:p>
          <a:p>
            <a:pPr lvl="1" algn="just">
              <a:buFont typeface="Wingdings" panose="05000000000000000000" pitchFamily="2" charset="2"/>
              <a:buChar char="§"/>
            </a:pPr>
            <a:r>
              <a:rPr lang="en-US" sz="1800" dirty="0"/>
              <a:t>Data engineers are quite often tasked with managing the database-serving layer.</a:t>
            </a:r>
            <a:endParaRPr lang="en-IN" sz="1800" dirty="0"/>
          </a:p>
        </p:txBody>
      </p:sp>
    </p:spTree>
    <p:extLst>
      <p:ext uri="{BB962C8B-B14F-4D97-AF65-F5344CB8AC3E}">
        <p14:creationId xmlns:p14="http://schemas.microsoft.com/office/powerpoint/2010/main" val="40153884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1A121-BF6B-5FB5-511C-461CEC02CDEA}"/>
              </a:ext>
            </a:extLst>
          </p:cNvPr>
          <p:cNvSpPr>
            <a:spLocks noGrp="1"/>
          </p:cNvSpPr>
          <p:nvPr>
            <p:ph type="title"/>
          </p:nvPr>
        </p:nvSpPr>
        <p:spPr/>
        <p:txBody>
          <a:bodyPr>
            <a:normAutofit/>
          </a:bodyPr>
          <a:lstStyle/>
          <a:p>
            <a:r>
              <a:rPr lang="en-IN" dirty="0"/>
              <a:t>Streaming Systems</a:t>
            </a:r>
            <a:endParaRPr lang="en-US" dirty="0"/>
          </a:p>
        </p:txBody>
      </p:sp>
      <p:sp>
        <p:nvSpPr>
          <p:cNvPr id="5" name="Text Placeholder 2">
            <a:extLst>
              <a:ext uri="{FF2B5EF4-FFF2-40B4-BE49-F238E27FC236}">
                <a16:creationId xmlns:a16="http://schemas.microsoft.com/office/drawing/2014/main" id="{9DE9B82A-0890-7223-23DA-7905E562D4CF}"/>
              </a:ext>
            </a:extLst>
          </p:cNvPr>
          <p:cNvSpPr>
            <a:spLocks noGrp="1"/>
          </p:cNvSpPr>
          <p:nvPr>
            <p:ph type="body" sz="quarter" idx="13"/>
          </p:nvPr>
        </p:nvSpPr>
        <p:spPr>
          <a:xfrm>
            <a:off x="419100" y="1295400"/>
            <a:ext cx="10160000" cy="4648199"/>
          </a:xfrm>
        </p:spPr>
        <p:txBody>
          <a:bodyPr>
            <a:normAutofit/>
          </a:bodyPr>
          <a:lstStyle/>
          <a:p>
            <a:pPr>
              <a:lnSpc>
                <a:spcPct val="100000"/>
              </a:lnSpc>
              <a:buFont typeface="Wingdings" panose="05000000000000000000" pitchFamily="2" charset="2"/>
              <a:buChar char="Ø"/>
            </a:pPr>
            <a:r>
              <a:rPr lang="en-US" dirty="0"/>
              <a:t>Increasingly important in the realm of serving</a:t>
            </a:r>
          </a:p>
          <a:p>
            <a:pPr lvl="1">
              <a:lnSpc>
                <a:spcPct val="100000"/>
              </a:lnSpc>
              <a:buFont typeface="Wingdings" panose="05000000000000000000" pitchFamily="2" charset="2"/>
              <a:buChar char="§"/>
            </a:pPr>
            <a:r>
              <a:rPr lang="en-US" sz="1800" dirty="0" smtClean="0"/>
              <a:t>Type </a:t>
            </a:r>
            <a:r>
              <a:rPr lang="en-US" sz="1800" dirty="0"/>
              <a:t>of serving may involve emitted metrics, which are different from traditional queries</a:t>
            </a:r>
          </a:p>
          <a:p>
            <a:pPr>
              <a:lnSpc>
                <a:spcPct val="100000"/>
              </a:lnSpc>
            </a:pPr>
            <a:endParaRPr lang="en-US" dirty="0"/>
          </a:p>
          <a:p>
            <a:pPr>
              <a:lnSpc>
                <a:spcPct val="100000"/>
              </a:lnSpc>
              <a:buFont typeface="Wingdings" panose="05000000000000000000" pitchFamily="2" charset="2"/>
              <a:buChar char="Ø"/>
            </a:pPr>
            <a:r>
              <a:rPr lang="en-US" b="1" u="sng" dirty="0"/>
              <a:t>Operational analytics databases playing a growing role in this area</a:t>
            </a:r>
          </a:p>
          <a:p>
            <a:pPr lvl="1">
              <a:lnSpc>
                <a:spcPct val="100000"/>
              </a:lnSpc>
              <a:buFont typeface="Wingdings" panose="05000000000000000000" pitchFamily="2" charset="2"/>
              <a:buChar char="§"/>
            </a:pPr>
            <a:r>
              <a:rPr lang="en-US" sz="1800" dirty="0" smtClean="0"/>
              <a:t>Allow </a:t>
            </a:r>
            <a:r>
              <a:rPr lang="en-US" sz="1800" dirty="0"/>
              <a:t>queries to run across a large range of historical data, encompassing up-to-the-second current </a:t>
            </a:r>
            <a:r>
              <a:rPr lang="en-US" sz="1800" dirty="0" smtClean="0"/>
              <a:t>data</a:t>
            </a:r>
          </a:p>
          <a:p>
            <a:pPr lvl="1">
              <a:lnSpc>
                <a:spcPct val="100000"/>
              </a:lnSpc>
              <a:buFont typeface="Wingdings" panose="05000000000000000000" pitchFamily="2" charset="2"/>
              <a:buChar char="§"/>
            </a:pPr>
            <a:endParaRPr lang="en-US" sz="1800" dirty="0"/>
          </a:p>
          <a:p>
            <a:pPr lvl="1">
              <a:lnSpc>
                <a:spcPct val="100000"/>
              </a:lnSpc>
              <a:buFont typeface="Wingdings" panose="05000000000000000000" pitchFamily="2" charset="2"/>
              <a:buChar char="§"/>
            </a:pPr>
            <a:r>
              <a:rPr lang="en-US" sz="1800" dirty="0" smtClean="0"/>
              <a:t>Combine </a:t>
            </a:r>
            <a:r>
              <a:rPr lang="en-US" sz="1800" dirty="0"/>
              <a:t>aspects of OLAP databases with stream-processing </a:t>
            </a:r>
            <a:r>
              <a:rPr lang="en-US" sz="1800" dirty="0" smtClean="0"/>
              <a:t>systems</a:t>
            </a:r>
          </a:p>
          <a:p>
            <a:pPr lvl="1">
              <a:lnSpc>
                <a:spcPct val="100000"/>
              </a:lnSpc>
              <a:buFont typeface="Wingdings" panose="05000000000000000000" pitchFamily="2" charset="2"/>
              <a:buChar char="§"/>
            </a:pPr>
            <a:endParaRPr lang="en-US" sz="1800" dirty="0"/>
          </a:p>
          <a:p>
            <a:pPr lvl="1">
              <a:lnSpc>
                <a:spcPct val="100000"/>
              </a:lnSpc>
              <a:buFont typeface="Wingdings" panose="05000000000000000000" pitchFamily="2" charset="2"/>
              <a:buChar char="§"/>
            </a:pPr>
            <a:r>
              <a:rPr lang="en-US" sz="1800" dirty="0" smtClean="0"/>
              <a:t>Increasingly </a:t>
            </a:r>
            <a:r>
              <a:rPr lang="en-US" sz="1800" dirty="0"/>
              <a:t>work with streaming systems to serve data for analytics and ML, so get familiar with this paradigm</a:t>
            </a:r>
            <a:endParaRPr lang="en-IN" sz="1800" dirty="0"/>
          </a:p>
        </p:txBody>
      </p:sp>
    </p:spTree>
    <p:extLst>
      <p:ext uri="{BB962C8B-B14F-4D97-AF65-F5344CB8AC3E}">
        <p14:creationId xmlns:p14="http://schemas.microsoft.com/office/powerpoint/2010/main" val="29123024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1E7ED-9653-2CE3-E43A-2CB15E5A3FB7}"/>
              </a:ext>
            </a:extLst>
          </p:cNvPr>
          <p:cNvSpPr>
            <a:spLocks noGrp="1"/>
          </p:cNvSpPr>
          <p:nvPr>
            <p:ph type="title"/>
          </p:nvPr>
        </p:nvSpPr>
        <p:spPr/>
        <p:txBody>
          <a:bodyPr>
            <a:normAutofit/>
          </a:bodyPr>
          <a:lstStyle/>
          <a:p>
            <a:r>
              <a:rPr lang="en-IN" dirty="0"/>
              <a:t>Query Federation</a:t>
            </a:r>
            <a:endParaRPr lang="en-US" dirty="0"/>
          </a:p>
        </p:txBody>
      </p:sp>
      <p:sp>
        <p:nvSpPr>
          <p:cNvPr id="5" name="Text Placeholder 2">
            <a:extLst>
              <a:ext uri="{FF2B5EF4-FFF2-40B4-BE49-F238E27FC236}">
                <a16:creationId xmlns:a16="http://schemas.microsoft.com/office/drawing/2014/main" id="{9492A685-EFF3-1924-1C22-54478CA6AF9E}"/>
              </a:ext>
            </a:extLst>
          </p:cNvPr>
          <p:cNvSpPr>
            <a:spLocks noGrp="1"/>
          </p:cNvSpPr>
          <p:nvPr>
            <p:ph type="body" sz="quarter" idx="13"/>
          </p:nvPr>
        </p:nvSpPr>
        <p:spPr>
          <a:xfrm>
            <a:off x="228600" y="1104900"/>
            <a:ext cx="11734800" cy="5448300"/>
          </a:xfrm>
        </p:spPr>
        <p:txBody>
          <a:bodyPr>
            <a:normAutofit fontScale="92500" lnSpcReduction="20000"/>
          </a:bodyPr>
          <a:lstStyle/>
          <a:p>
            <a:pPr algn="just">
              <a:buFont typeface="Wingdings" panose="05000000000000000000" pitchFamily="2" charset="2"/>
              <a:buChar char="Ø"/>
            </a:pPr>
            <a:r>
              <a:rPr lang="en-US" dirty="0"/>
              <a:t>Query federation pulls data from multiple sources, such as data lakes, RDBMSs, and data </a:t>
            </a:r>
          </a:p>
          <a:p>
            <a:pPr marL="0" indent="0" algn="just">
              <a:buNone/>
            </a:pPr>
            <a:r>
              <a:rPr lang="en-US" dirty="0"/>
              <a:t>    </a:t>
            </a:r>
            <a:r>
              <a:rPr lang="en-US" dirty="0" smtClean="0"/>
              <a:t>warehouses</a:t>
            </a:r>
            <a:endParaRPr lang="en-US" dirty="0"/>
          </a:p>
          <a:p>
            <a:pPr lvl="1" algn="just">
              <a:buFont typeface="Wingdings" panose="05000000000000000000" pitchFamily="2" charset="2"/>
              <a:buChar char="§"/>
            </a:pPr>
            <a:r>
              <a:rPr lang="en-US" dirty="0" smtClean="0"/>
              <a:t>Becoming </a:t>
            </a:r>
            <a:r>
              <a:rPr lang="en-US" dirty="0"/>
              <a:t>more popular as distributed query virtualization engines gain recognition as ways to serve queries </a:t>
            </a:r>
          </a:p>
          <a:p>
            <a:pPr lvl="1" algn="just">
              <a:buFont typeface="Wingdings" panose="05000000000000000000" pitchFamily="2" charset="2"/>
              <a:buChar char="§"/>
            </a:pPr>
            <a:r>
              <a:rPr lang="en-US" dirty="0" smtClean="0"/>
              <a:t>Without </a:t>
            </a:r>
            <a:r>
              <a:rPr lang="en-US" dirty="0"/>
              <a:t>going through the trouble of centralizing data in an OLAP system</a:t>
            </a:r>
          </a:p>
          <a:p>
            <a:pPr lvl="1" algn="just">
              <a:buFont typeface="Wingdings" panose="05000000000000000000" pitchFamily="2" charset="2"/>
              <a:buChar char="§"/>
            </a:pPr>
            <a:r>
              <a:rPr lang="en-US" dirty="0" err="1"/>
              <a:t>Trino</a:t>
            </a:r>
            <a:r>
              <a:rPr lang="en-US" dirty="0"/>
              <a:t> and Presto and managed services such as Starburst</a:t>
            </a:r>
          </a:p>
          <a:p>
            <a:pPr lvl="1" algn="just">
              <a:buFont typeface="Courier New" panose="02070309020205020404" pitchFamily="49" charset="0"/>
              <a:buChar char="o"/>
            </a:pPr>
            <a:endParaRPr lang="en-US" dirty="0"/>
          </a:p>
          <a:p>
            <a:pPr algn="just">
              <a:buFont typeface="Wingdings" panose="05000000000000000000" pitchFamily="2" charset="2"/>
              <a:buChar char="Ø"/>
            </a:pPr>
            <a:r>
              <a:rPr lang="en-US" dirty="0"/>
              <a:t>End user might be querying several systems—OLTP, OLAP, APIs, filesystems, etc. </a:t>
            </a:r>
          </a:p>
          <a:p>
            <a:pPr lvl="1" algn="just">
              <a:buFont typeface="Wingdings" panose="05000000000000000000" pitchFamily="2" charset="2"/>
              <a:buChar char="§"/>
            </a:pPr>
            <a:r>
              <a:rPr lang="en-US" b="1" u="sng" dirty="0"/>
              <a:t>Instead of serving data from a single system, now serving data from multiple systems, each with its usage patterns, quirks, and </a:t>
            </a:r>
            <a:r>
              <a:rPr lang="en-US" b="1" u="sng" dirty="0" smtClean="0"/>
              <a:t>nuances</a:t>
            </a:r>
          </a:p>
          <a:p>
            <a:pPr lvl="1" algn="just">
              <a:buFont typeface="Wingdings" panose="05000000000000000000" pitchFamily="2" charset="2"/>
              <a:buChar char="§"/>
            </a:pPr>
            <a:endParaRPr lang="en-US" b="1" u="sng" dirty="0"/>
          </a:p>
          <a:p>
            <a:pPr lvl="1" algn="just">
              <a:buFont typeface="Wingdings" panose="05000000000000000000" pitchFamily="2" charset="2"/>
              <a:buChar char="§"/>
            </a:pPr>
            <a:r>
              <a:rPr lang="en-US" dirty="0"/>
              <a:t>If federated queries touch live production source systems, need to ensure that the federated query won’t consume excessive resources in the source</a:t>
            </a:r>
          </a:p>
          <a:p>
            <a:pPr algn="just"/>
            <a:endParaRPr lang="en-US" dirty="0"/>
          </a:p>
          <a:p>
            <a:pPr algn="just">
              <a:buFont typeface="Wingdings" panose="05000000000000000000" pitchFamily="2" charset="2"/>
              <a:buChar char="Ø"/>
            </a:pPr>
            <a:r>
              <a:rPr lang="en-US" dirty="0"/>
              <a:t>Federation allows ad hoc queries for performing exploratory analysis, blending data from various </a:t>
            </a:r>
          </a:p>
          <a:p>
            <a:pPr marL="0" indent="0" algn="just">
              <a:buNone/>
            </a:pPr>
            <a:r>
              <a:rPr lang="en-US" dirty="0"/>
              <a:t>    systems without the complexity of setting up data pipelines or ETL</a:t>
            </a:r>
          </a:p>
          <a:p>
            <a:pPr lvl="1" algn="just">
              <a:buFont typeface="Wingdings" panose="05000000000000000000" pitchFamily="2" charset="2"/>
              <a:buChar char="§"/>
            </a:pPr>
            <a:r>
              <a:rPr lang="en-US" dirty="0"/>
              <a:t>Federated queries also provide read-only access to source systems, which is great when you don’t want to serve files, database access, or data </a:t>
            </a:r>
            <a:r>
              <a:rPr lang="en-US" dirty="0" smtClean="0"/>
              <a:t>dump</a:t>
            </a:r>
          </a:p>
          <a:p>
            <a:pPr lvl="1" algn="just">
              <a:buFont typeface="Wingdings" panose="05000000000000000000" pitchFamily="2" charset="2"/>
              <a:buChar char="§"/>
            </a:pPr>
            <a:endParaRPr lang="en-US" dirty="0"/>
          </a:p>
          <a:p>
            <a:pPr lvl="1" algn="just">
              <a:buFont typeface="Wingdings" panose="05000000000000000000" pitchFamily="2" charset="2"/>
              <a:buChar char="§"/>
            </a:pPr>
            <a:r>
              <a:rPr lang="en-US" dirty="0"/>
              <a:t>The end user reads only the version of the data they’re supposed to access and nothing </a:t>
            </a:r>
            <a:r>
              <a:rPr lang="en-US" dirty="0" smtClean="0"/>
              <a:t>more</a:t>
            </a:r>
          </a:p>
          <a:p>
            <a:pPr lvl="1" algn="just">
              <a:buFont typeface="Wingdings" panose="05000000000000000000" pitchFamily="2" charset="2"/>
              <a:buChar char="§"/>
            </a:pPr>
            <a:endParaRPr lang="en-US" dirty="0"/>
          </a:p>
          <a:p>
            <a:pPr lvl="1" algn="just">
              <a:buFont typeface="Wingdings" panose="05000000000000000000" pitchFamily="2" charset="2"/>
              <a:buChar char="§"/>
            </a:pPr>
            <a:r>
              <a:rPr lang="en-US" dirty="0"/>
              <a:t>Query federation is a great option to explore for situations where access and compliance are critical</a:t>
            </a:r>
            <a:endParaRPr lang="en-IN" dirty="0"/>
          </a:p>
        </p:txBody>
      </p:sp>
    </p:spTree>
    <p:extLst>
      <p:ext uri="{BB962C8B-B14F-4D97-AF65-F5344CB8AC3E}">
        <p14:creationId xmlns:p14="http://schemas.microsoft.com/office/powerpoint/2010/main" val="389791713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15ABD-272B-ED24-36A0-3A28BEAD43E3}"/>
              </a:ext>
            </a:extLst>
          </p:cNvPr>
          <p:cNvSpPr>
            <a:spLocks noGrp="1"/>
          </p:cNvSpPr>
          <p:nvPr>
            <p:ph type="title"/>
          </p:nvPr>
        </p:nvSpPr>
        <p:spPr/>
        <p:txBody>
          <a:bodyPr/>
          <a:lstStyle/>
          <a:p>
            <a:r>
              <a:rPr lang="en-US" dirty="0" err="1"/>
              <a:t>Jupyter</a:t>
            </a:r>
            <a:r>
              <a:rPr lang="en-US" dirty="0"/>
              <a:t> Notebook</a:t>
            </a:r>
          </a:p>
        </p:txBody>
      </p:sp>
      <p:pic>
        <p:nvPicPr>
          <p:cNvPr id="5" name="Picture 4">
            <a:extLst>
              <a:ext uri="{FF2B5EF4-FFF2-40B4-BE49-F238E27FC236}">
                <a16:creationId xmlns:a16="http://schemas.microsoft.com/office/drawing/2014/main" id="{EA05F211-85C1-5BD1-52DC-983B9B484C99}"/>
              </a:ext>
            </a:extLst>
          </p:cNvPr>
          <p:cNvPicPr>
            <a:picLocks noChangeAspect="1"/>
          </p:cNvPicPr>
          <p:nvPr/>
        </p:nvPicPr>
        <p:blipFill>
          <a:blip r:embed="rId2"/>
          <a:stretch>
            <a:fillRect/>
          </a:stretch>
        </p:blipFill>
        <p:spPr>
          <a:xfrm rot="19591631">
            <a:off x="218704" y="2301973"/>
            <a:ext cx="4171950" cy="287655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Text Placeholder 2">
            <a:extLst>
              <a:ext uri="{FF2B5EF4-FFF2-40B4-BE49-F238E27FC236}">
                <a16:creationId xmlns:a16="http://schemas.microsoft.com/office/drawing/2014/main" id="{1A26FD44-E5E2-C124-066E-FB764C00561C}"/>
              </a:ext>
            </a:extLst>
          </p:cNvPr>
          <p:cNvSpPr>
            <a:spLocks noGrp="1"/>
          </p:cNvSpPr>
          <p:nvPr>
            <p:ph type="body" sz="quarter" idx="13"/>
          </p:nvPr>
        </p:nvSpPr>
        <p:spPr>
          <a:xfrm>
            <a:off x="4419601" y="924933"/>
            <a:ext cx="7772400" cy="5630631"/>
          </a:xfrm>
        </p:spPr>
        <p:txBody>
          <a:bodyPr>
            <a:noAutofit/>
          </a:bodyPr>
          <a:lstStyle/>
          <a:p>
            <a:pPr algn="just">
              <a:buFont typeface="Wingdings" panose="05000000000000000000" pitchFamily="2" charset="2"/>
              <a:buChar char="Ø"/>
            </a:pPr>
            <a:r>
              <a:rPr lang="en-US" dirty="0"/>
              <a:t>Data scientists often use notebooks in their day-to-day work for exploring data, engineering features, or training a model</a:t>
            </a:r>
          </a:p>
          <a:p>
            <a:pPr algn="just"/>
            <a:endParaRPr lang="en-US" sz="1000" dirty="0"/>
          </a:p>
          <a:p>
            <a:pPr algn="just">
              <a:buFont typeface="Wingdings" panose="05000000000000000000" pitchFamily="2" charset="2"/>
              <a:buChar char="Ø"/>
            </a:pPr>
            <a:r>
              <a:rPr lang="en-US" dirty="0"/>
              <a:t>Jupyter Notebook, along with its next-generation iteration, </a:t>
            </a:r>
          </a:p>
          <a:p>
            <a:pPr marL="0" indent="0" algn="just">
              <a:buNone/>
            </a:pPr>
            <a:r>
              <a:rPr lang="en-US" dirty="0"/>
              <a:t>    </a:t>
            </a:r>
            <a:r>
              <a:rPr lang="en-US" dirty="0" err="1"/>
              <a:t>JupyterLab</a:t>
            </a:r>
            <a:endParaRPr lang="en-US" dirty="0"/>
          </a:p>
          <a:p>
            <a:pPr lvl="1" algn="just">
              <a:buFont typeface="Wingdings" panose="05000000000000000000" pitchFamily="2" charset="2"/>
              <a:buChar char="§"/>
            </a:pPr>
            <a:r>
              <a:rPr lang="en-US" sz="1800" dirty="0"/>
              <a:t>open source and can be hosted locally on a laptop, on a server, or through various cloud-managed services</a:t>
            </a:r>
          </a:p>
          <a:p>
            <a:pPr lvl="1" algn="just">
              <a:buFont typeface="Wingdings" panose="05000000000000000000" pitchFamily="2" charset="2"/>
              <a:buChar char="§"/>
            </a:pPr>
            <a:r>
              <a:rPr lang="en-US" sz="1800" dirty="0"/>
              <a:t>Jupyter stands for Julia, Python, and R </a:t>
            </a:r>
          </a:p>
          <a:p>
            <a:pPr algn="just"/>
            <a:endParaRPr lang="en-US" dirty="0"/>
          </a:p>
          <a:p>
            <a:pPr algn="just">
              <a:buFont typeface="Wingdings" panose="05000000000000000000" pitchFamily="2" charset="2"/>
              <a:buChar char="Ø"/>
            </a:pPr>
            <a:r>
              <a:rPr lang="en-US" dirty="0"/>
              <a:t>Data scientists will </a:t>
            </a:r>
            <a:r>
              <a:rPr lang="en-US" b="1" u="sng" dirty="0"/>
              <a:t>programmatically connect</a:t>
            </a:r>
            <a:r>
              <a:rPr lang="en-US" dirty="0"/>
              <a:t> to a data </a:t>
            </a:r>
          </a:p>
          <a:p>
            <a:pPr marL="0" indent="0" algn="just">
              <a:buNone/>
            </a:pPr>
            <a:r>
              <a:rPr lang="en-US" dirty="0"/>
              <a:t>    source, such as an API, a database, a data warehouse, or a  </a:t>
            </a:r>
            <a:r>
              <a:rPr lang="en-US" dirty="0" smtClean="0"/>
              <a:t>data </a:t>
            </a:r>
            <a:r>
              <a:rPr lang="en-US" dirty="0"/>
              <a:t>lake </a:t>
            </a:r>
          </a:p>
          <a:p>
            <a:pPr algn="just"/>
            <a:endParaRPr lang="en-US" sz="1000" dirty="0"/>
          </a:p>
          <a:p>
            <a:pPr algn="just">
              <a:buFont typeface="Wingdings" panose="05000000000000000000" pitchFamily="2" charset="2"/>
              <a:buChar char="Ø"/>
            </a:pPr>
            <a:r>
              <a:rPr lang="en-US" b="1" u="sng" dirty="0"/>
              <a:t>In a notebook, all connections are created using </a:t>
            </a:r>
          </a:p>
          <a:p>
            <a:pPr lvl="1" algn="just">
              <a:buFont typeface="Wingdings" panose="05000000000000000000" pitchFamily="2" charset="2"/>
              <a:buChar char="§"/>
            </a:pPr>
            <a:r>
              <a:rPr lang="en-US" sz="1800" dirty="0"/>
              <a:t>the appropriate built-in or imported libraries to load a file from a </a:t>
            </a:r>
            <a:r>
              <a:rPr lang="en-US" sz="1800" dirty="0" err="1"/>
              <a:t>filepath</a:t>
            </a:r>
            <a:endParaRPr lang="en-US" sz="1800" dirty="0"/>
          </a:p>
          <a:p>
            <a:pPr lvl="1" algn="just">
              <a:buFont typeface="Wingdings" panose="05000000000000000000" pitchFamily="2" charset="2"/>
              <a:buChar char="§"/>
            </a:pPr>
            <a:r>
              <a:rPr lang="en-US" sz="1800" dirty="0"/>
              <a:t>connect to an API endpoint</a:t>
            </a:r>
          </a:p>
          <a:p>
            <a:pPr lvl="1" algn="just">
              <a:buFont typeface="Wingdings" panose="05000000000000000000" pitchFamily="2" charset="2"/>
              <a:buChar char="§"/>
            </a:pPr>
            <a:r>
              <a:rPr lang="en-US" sz="1800" dirty="0"/>
              <a:t>or make an ODBC connection to a database</a:t>
            </a:r>
          </a:p>
        </p:txBody>
      </p:sp>
    </p:spTree>
    <p:extLst>
      <p:ext uri="{BB962C8B-B14F-4D97-AF65-F5344CB8AC3E}">
        <p14:creationId xmlns:p14="http://schemas.microsoft.com/office/powerpoint/2010/main" val="21617108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8A263-75A0-16F5-366C-5C138F224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E5C375-6BB0-8FE2-9ECF-6F0A5B51DC72}"/>
              </a:ext>
            </a:extLst>
          </p:cNvPr>
          <p:cNvSpPr>
            <a:spLocks noGrp="1"/>
          </p:cNvSpPr>
          <p:nvPr>
            <p:ph type="title"/>
          </p:nvPr>
        </p:nvSpPr>
        <p:spPr>
          <a:xfrm>
            <a:off x="0" y="1709738"/>
            <a:ext cx="12039600" cy="2852737"/>
          </a:xfrm>
        </p:spPr>
        <p:txBody>
          <a:bodyPr anchor="b">
            <a:normAutofit/>
          </a:bodyPr>
          <a:lstStyle/>
          <a:p>
            <a:r>
              <a:rPr lang="en-US" dirty="0"/>
              <a:t>Automation in </a:t>
            </a:r>
            <a:br>
              <a:rPr lang="en-US" dirty="0"/>
            </a:br>
            <a:r>
              <a:rPr lang="en-US" dirty="0"/>
              <a:t>Data Infrastructure Management</a:t>
            </a:r>
          </a:p>
        </p:txBody>
      </p:sp>
    </p:spTree>
    <p:extLst>
      <p:ext uri="{BB962C8B-B14F-4D97-AF65-F5344CB8AC3E}">
        <p14:creationId xmlns:p14="http://schemas.microsoft.com/office/powerpoint/2010/main" val="24995406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A870B-1404-43B2-1E14-909E1560B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B60D69-4FD3-8251-A13B-9AC241D773AD}"/>
              </a:ext>
            </a:extLst>
          </p:cNvPr>
          <p:cNvSpPr>
            <a:spLocks noGrp="1"/>
          </p:cNvSpPr>
          <p:nvPr>
            <p:ph type="title"/>
          </p:nvPr>
        </p:nvSpPr>
        <p:spPr/>
        <p:txBody>
          <a:bodyPr/>
          <a:lstStyle/>
          <a:p>
            <a:r>
              <a:rPr lang="en-US" dirty="0"/>
              <a:t>Summary of Data Infrastructure Components</a:t>
            </a:r>
          </a:p>
        </p:txBody>
      </p:sp>
      <p:sp>
        <p:nvSpPr>
          <p:cNvPr id="5" name="Rectangle 1">
            <a:extLst>
              <a:ext uri="{FF2B5EF4-FFF2-40B4-BE49-F238E27FC236}">
                <a16:creationId xmlns:a16="http://schemas.microsoft.com/office/drawing/2014/main" id="{AF7A785C-9B84-B8E0-C629-31159ACC8506}"/>
              </a:ext>
            </a:extLst>
          </p:cNvPr>
          <p:cNvSpPr>
            <a:spLocks noGrp="1" noChangeArrowheads="1"/>
          </p:cNvSpPr>
          <p:nvPr>
            <p:ph type="body" sz="quarter" idx="13"/>
          </p:nvPr>
        </p:nvSpPr>
        <p:spPr bwMode="auto">
          <a:xfrm>
            <a:off x="1066800" y="2133600"/>
            <a:ext cx="7848600"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61950" marR="0" lvl="0" indent="-3619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Storage systems (data lakes, warehouses, </a:t>
            </a:r>
            <a:r>
              <a:rPr kumimoji="0" lang="en-US" altLang="en-US"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lakehouses</a:t>
            </a:r>
            <a:r>
              <a:rPr kumimoji="0" lang="en-US" altLang="en-US"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a:t>
            </a:r>
          </a:p>
          <a:p>
            <a:pPr marL="361950" marR="0" lvl="0" indent="-3619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Databases (RDBMS, NoSQL, time-series)</a:t>
            </a:r>
          </a:p>
          <a:p>
            <a:pPr marL="361950" marR="0" lvl="0" indent="-3619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Compute (ETL/ELT engines, clusters, serverless)</a:t>
            </a:r>
          </a:p>
          <a:p>
            <a:pPr marL="361950" marR="0" lvl="0" indent="-3619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Orchestration engines</a:t>
            </a:r>
          </a:p>
          <a:p>
            <a:pPr marL="361950" marR="0" lvl="0" indent="-3619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Integration components (APIs, messaging)</a:t>
            </a:r>
          </a:p>
        </p:txBody>
      </p:sp>
    </p:spTree>
    <p:extLst>
      <p:ext uri="{BB962C8B-B14F-4D97-AF65-F5344CB8AC3E}">
        <p14:creationId xmlns:p14="http://schemas.microsoft.com/office/powerpoint/2010/main" val="4952618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E1B0F-04B3-4857-DB32-1E600BA750C0}"/>
              </a:ext>
            </a:extLst>
          </p:cNvPr>
          <p:cNvSpPr>
            <a:spLocks noGrp="1"/>
          </p:cNvSpPr>
          <p:nvPr>
            <p:ph type="title"/>
          </p:nvPr>
        </p:nvSpPr>
        <p:spPr/>
        <p:txBody>
          <a:bodyPr/>
          <a:lstStyle/>
          <a:p>
            <a:r>
              <a:rPr lang="en-US" dirty="0"/>
              <a:t>Key Areas for Automation</a:t>
            </a:r>
          </a:p>
        </p:txBody>
      </p:sp>
      <p:sp>
        <p:nvSpPr>
          <p:cNvPr id="3" name="Text Placeholder 2">
            <a:extLst>
              <a:ext uri="{FF2B5EF4-FFF2-40B4-BE49-F238E27FC236}">
                <a16:creationId xmlns:a16="http://schemas.microsoft.com/office/drawing/2014/main" id="{622A1DC1-E015-EAC5-C836-2C99C5F48DE7}"/>
              </a:ext>
            </a:extLst>
          </p:cNvPr>
          <p:cNvSpPr>
            <a:spLocks noGrp="1"/>
          </p:cNvSpPr>
          <p:nvPr>
            <p:ph type="body" sz="quarter" idx="13"/>
          </p:nvPr>
        </p:nvSpPr>
        <p:spPr>
          <a:xfrm>
            <a:off x="237565" y="1818619"/>
            <a:ext cx="11752729" cy="4878812"/>
          </a:xfrm>
        </p:spPr>
        <p:style>
          <a:lnRef idx="2">
            <a:schemeClr val="accent5"/>
          </a:lnRef>
          <a:fillRef idx="1">
            <a:schemeClr val="lt1"/>
          </a:fillRef>
          <a:effectRef idx="0">
            <a:schemeClr val="accent5"/>
          </a:effectRef>
          <a:fontRef idx="minor">
            <a:schemeClr val="dk1"/>
          </a:fontRef>
        </p:style>
        <p:txBody>
          <a:bodyPr>
            <a:normAutofit/>
          </a:bodyPr>
          <a:lstStyle/>
          <a:p>
            <a:pPr marL="361950" indent="-361950">
              <a:lnSpc>
                <a:spcPct val="150000"/>
              </a:lnSpc>
              <a:buFont typeface="Wingdings" panose="05000000000000000000" pitchFamily="2" charset="2"/>
              <a:buChar char="Ø"/>
            </a:pPr>
            <a:r>
              <a:rPr lang="en-US" dirty="0"/>
              <a:t>Provisioning of infrastructure through automation scripts</a:t>
            </a:r>
          </a:p>
          <a:p>
            <a:pPr marL="361950" indent="-361950">
              <a:lnSpc>
                <a:spcPct val="150000"/>
              </a:lnSpc>
              <a:buFont typeface="Wingdings" panose="05000000000000000000" pitchFamily="2" charset="2"/>
              <a:buChar char="Ø"/>
            </a:pPr>
            <a:r>
              <a:rPr lang="en-US" dirty="0"/>
              <a:t>Have you ever requested for virtual machines? How quickly you normally get them?</a:t>
            </a:r>
          </a:p>
          <a:p>
            <a:pPr marL="361950" indent="-361950">
              <a:lnSpc>
                <a:spcPct val="150000"/>
              </a:lnSpc>
              <a:buFont typeface="Wingdings" panose="05000000000000000000" pitchFamily="2" charset="2"/>
              <a:buChar char="Ø"/>
            </a:pPr>
            <a:r>
              <a:rPr lang="en-US" dirty="0"/>
              <a:t>If you say quite fast, how is it achieved?</a:t>
            </a:r>
          </a:p>
          <a:p>
            <a:pPr marL="361950" indent="-361950">
              <a:lnSpc>
                <a:spcPct val="150000"/>
              </a:lnSpc>
              <a:buNone/>
            </a:pPr>
            <a:endParaRPr lang="en-US" dirty="0"/>
          </a:p>
          <a:p>
            <a:pPr marL="361950" indent="-361950">
              <a:lnSpc>
                <a:spcPct val="150000"/>
              </a:lnSpc>
              <a:buNone/>
            </a:pPr>
            <a:r>
              <a:rPr lang="en-US" b="1" u="sng" dirty="0"/>
              <a:t>Tools</a:t>
            </a:r>
            <a:endParaRPr lang="en-US" dirty="0"/>
          </a:p>
          <a:p>
            <a:pPr marL="361950" indent="-361950">
              <a:lnSpc>
                <a:spcPct val="150000"/>
              </a:lnSpc>
              <a:buFont typeface="Wingdings" panose="05000000000000000000" pitchFamily="2" charset="2"/>
              <a:buChar char="Ø"/>
            </a:pPr>
            <a:r>
              <a:rPr lang="en-US" dirty="0" err="1"/>
              <a:t>IaC</a:t>
            </a:r>
            <a:r>
              <a:rPr lang="en-US" dirty="0"/>
              <a:t>(Infrastructure as Code): Terraform, </a:t>
            </a:r>
            <a:r>
              <a:rPr lang="en-US" dirty="0" err="1"/>
              <a:t>Pulumi</a:t>
            </a:r>
            <a:r>
              <a:rPr lang="en-US" dirty="0"/>
              <a:t>, AWS CDK, Azure Bicep</a:t>
            </a:r>
          </a:p>
          <a:p>
            <a:pPr marL="361950" indent="-361950">
              <a:lnSpc>
                <a:spcPct val="150000"/>
              </a:lnSpc>
              <a:buFont typeface="Wingdings" panose="05000000000000000000" pitchFamily="2" charset="2"/>
              <a:buChar char="Ø"/>
            </a:pPr>
            <a:r>
              <a:rPr lang="en-US" dirty="0" err="1"/>
              <a:t>GitOps</a:t>
            </a:r>
            <a:r>
              <a:rPr lang="en-US" dirty="0"/>
              <a:t>: </a:t>
            </a:r>
            <a:r>
              <a:rPr lang="en-US" dirty="0" err="1"/>
              <a:t>ArgoCD</a:t>
            </a:r>
            <a:r>
              <a:rPr lang="en-US" dirty="0"/>
              <a:t>, Flux</a:t>
            </a:r>
          </a:p>
          <a:p>
            <a:pPr marL="361950" indent="-361950">
              <a:lnSpc>
                <a:spcPct val="150000"/>
              </a:lnSpc>
              <a:buFont typeface="Wingdings" panose="05000000000000000000" pitchFamily="2" charset="2"/>
              <a:buChar char="Ø"/>
            </a:pPr>
            <a:r>
              <a:rPr lang="en-US" dirty="0"/>
              <a:t>Cloud-native deployment templates – Cloud formation(You will see how your lab environment gets setup quickly in your webinar)</a:t>
            </a:r>
          </a:p>
        </p:txBody>
      </p:sp>
      <p:sp>
        <p:nvSpPr>
          <p:cNvPr id="5" name="Flowchart: Process 4">
            <a:extLst>
              <a:ext uri="{FF2B5EF4-FFF2-40B4-BE49-F238E27FC236}">
                <a16:creationId xmlns:a16="http://schemas.microsoft.com/office/drawing/2014/main" id="{D32A3758-25F2-F0FD-1397-AB0E81035ABD}"/>
              </a:ext>
            </a:extLst>
          </p:cNvPr>
          <p:cNvSpPr/>
          <p:nvPr/>
        </p:nvSpPr>
        <p:spPr>
          <a:xfrm>
            <a:off x="201706" y="1054255"/>
            <a:ext cx="6477000" cy="764364"/>
          </a:xfrm>
          <a:prstGeom prst="flowChartProcess">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r>
              <a:rPr lang="en-US" dirty="0">
                <a:latin typeface="Helvetica" panose="020B0604020202020204" pitchFamily="34" charset="0"/>
                <a:cs typeface="Helvetica" panose="020B0604020202020204" pitchFamily="34" charset="0"/>
              </a:rPr>
              <a:t>Infrastructure Provisioning</a:t>
            </a:r>
          </a:p>
        </p:txBody>
      </p:sp>
    </p:spTree>
    <p:extLst>
      <p:ext uri="{BB962C8B-B14F-4D97-AF65-F5344CB8AC3E}">
        <p14:creationId xmlns:p14="http://schemas.microsoft.com/office/powerpoint/2010/main" val="232941335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7434C-5D19-FEB0-00DF-D97DB5C070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BE8E1-F74E-9AFE-CAC2-97254059E299}"/>
              </a:ext>
            </a:extLst>
          </p:cNvPr>
          <p:cNvSpPr>
            <a:spLocks noGrp="1"/>
          </p:cNvSpPr>
          <p:nvPr>
            <p:ph type="title"/>
          </p:nvPr>
        </p:nvSpPr>
        <p:spPr/>
        <p:txBody>
          <a:bodyPr/>
          <a:lstStyle/>
          <a:p>
            <a:r>
              <a:rPr lang="en-US" dirty="0"/>
              <a:t>Key Areas for Automation</a:t>
            </a:r>
          </a:p>
        </p:txBody>
      </p:sp>
      <p:sp>
        <p:nvSpPr>
          <p:cNvPr id="3" name="Text Placeholder 2">
            <a:extLst>
              <a:ext uri="{FF2B5EF4-FFF2-40B4-BE49-F238E27FC236}">
                <a16:creationId xmlns:a16="http://schemas.microsoft.com/office/drawing/2014/main" id="{00C08112-79AB-6B4C-4EED-18F238A2CA38}"/>
              </a:ext>
            </a:extLst>
          </p:cNvPr>
          <p:cNvSpPr>
            <a:spLocks noGrp="1"/>
          </p:cNvSpPr>
          <p:nvPr>
            <p:ph type="body" sz="quarter" idx="13"/>
          </p:nvPr>
        </p:nvSpPr>
        <p:spPr>
          <a:xfrm>
            <a:off x="237565" y="1818619"/>
            <a:ext cx="11752729" cy="4878812"/>
          </a:xfrm>
        </p:spPr>
        <p:style>
          <a:lnRef idx="2">
            <a:schemeClr val="accent5"/>
          </a:lnRef>
          <a:fillRef idx="1">
            <a:schemeClr val="lt1"/>
          </a:fillRef>
          <a:effectRef idx="0">
            <a:schemeClr val="accent5"/>
          </a:effectRef>
          <a:fontRef idx="minor">
            <a:schemeClr val="dk1"/>
          </a:fontRef>
        </p:style>
        <p:txBody>
          <a:bodyPr>
            <a:normAutofit/>
          </a:bodyPr>
          <a:lstStyle/>
          <a:p>
            <a:pPr marL="361950" indent="-361950">
              <a:lnSpc>
                <a:spcPct val="150000"/>
              </a:lnSpc>
              <a:buFont typeface="Wingdings" panose="05000000000000000000" pitchFamily="2" charset="2"/>
              <a:buChar char="Ø"/>
            </a:pPr>
            <a:r>
              <a:rPr lang="en-US" dirty="0"/>
              <a:t>Key for data pipelines</a:t>
            </a:r>
          </a:p>
          <a:p>
            <a:pPr marL="361950" indent="-361950">
              <a:lnSpc>
                <a:spcPct val="150000"/>
              </a:lnSpc>
              <a:buFont typeface="Wingdings" panose="05000000000000000000" pitchFamily="2" charset="2"/>
              <a:buChar char="Ø"/>
            </a:pPr>
            <a:r>
              <a:rPr lang="en-US" dirty="0"/>
              <a:t>Includes ETL/ELT workflows, streaming jobs, trigger based transfers, scheduled data pipeline execution</a:t>
            </a:r>
          </a:p>
          <a:p>
            <a:pPr marL="361950" indent="-361950">
              <a:lnSpc>
                <a:spcPct val="150000"/>
              </a:lnSpc>
              <a:buFont typeface="Wingdings" panose="05000000000000000000" pitchFamily="2" charset="2"/>
              <a:buChar char="Ø"/>
            </a:pPr>
            <a:r>
              <a:rPr lang="en-US" dirty="0"/>
              <a:t>Automatically rerun failed tasks with backoff strategy</a:t>
            </a:r>
          </a:p>
          <a:p>
            <a:pPr marL="361950" indent="-361950">
              <a:lnSpc>
                <a:spcPct val="150000"/>
              </a:lnSpc>
              <a:buFont typeface="Wingdings" panose="05000000000000000000" pitchFamily="2" charset="2"/>
              <a:buChar char="Ø"/>
            </a:pPr>
            <a:r>
              <a:rPr lang="en-US" dirty="0"/>
              <a:t>Schema-change detection triggers auto-update of downstream models (e.g., </a:t>
            </a:r>
            <a:r>
              <a:rPr lang="en-US" dirty="0" err="1"/>
              <a:t>dbt</a:t>
            </a:r>
            <a:r>
              <a:rPr lang="en-US" dirty="0"/>
              <a:t> tests + deployments)</a:t>
            </a:r>
          </a:p>
          <a:p>
            <a:pPr marL="361950" indent="-361950">
              <a:lnSpc>
                <a:spcPct val="150000"/>
              </a:lnSpc>
              <a:buNone/>
            </a:pPr>
            <a:r>
              <a:rPr lang="en-US" b="1" u="sng" dirty="0"/>
              <a:t>Tools</a:t>
            </a:r>
          </a:p>
          <a:p>
            <a:pPr marL="361950" indent="-361950">
              <a:lnSpc>
                <a:spcPct val="150000"/>
              </a:lnSpc>
              <a:buFont typeface="Wingdings" panose="05000000000000000000" pitchFamily="2" charset="2"/>
              <a:buChar char="Ø"/>
            </a:pPr>
            <a:r>
              <a:rPr lang="en-US" dirty="0"/>
              <a:t>Orchestrators: Airflow, </a:t>
            </a:r>
            <a:r>
              <a:rPr lang="en-US" dirty="0" err="1"/>
              <a:t>Dagster</a:t>
            </a:r>
            <a:r>
              <a:rPr lang="en-US" dirty="0"/>
              <a:t>, Prefect</a:t>
            </a:r>
          </a:p>
          <a:p>
            <a:pPr marL="361950" indent="-361950">
              <a:lnSpc>
                <a:spcPct val="150000"/>
              </a:lnSpc>
              <a:buFont typeface="Wingdings" panose="05000000000000000000" pitchFamily="2" charset="2"/>
              <a:buChar char="Ø"/>
            </a:pPr>
            <a:r>
              <a:rPr lang="en-US" dirty="0"/>
              <a:t>Event-driven pipelines: </a:t>
            </a:r>
            <a:r>
              <a:rPr lang="en-US" dirty="0" err="1"/>
              <a:t>EventBridge</a:t>
            </a:r>
            <a:r>
              <a:rPr lang="en-US" dirty="0"/>
              <a:t>, Azure Event Grid, Kafka Streams</a:t>
            </a:r>
          </a:p>
          <a:p>
            <a:pPr marL="361950" indent="-361950">
              <a:lnSpc>
                <a:spcPct val="150000"/>
              </a:lnSpc>
              <a:buFont typeface="Wingdings" panose="05000000000000000000" pitchFamily="2" charset="2"/>
              <a:buChar char="Ø"/>
            </a:pPr>
            <a:r>
              <a:rPr lang="en-US" dirty="0"/>
              <a:t>Self-healing workflows (retry, fallback, alternative route)</a:t>
            </a:r>
          </a:p>
        </p:txBody>
      </p:sp>
      <p:sp>
        <p:nvSpPr>
          <p:cNvPr id="5" name="Flowchart: Process 4">
            <a:extLst>
              <a:ext uri="{FF2B5EF4-FFF2-40B4-BE49-F238E27FC236}">
                <a16:creationId xmlns:a16="http://schemas.microsoft.com/office/drawing/2014/main" id="{C432144F-A624-08D5-7BE0-ECDC7FA7D3CD}"/>
              </a:ext>
            </a:extLst>
          </p:cNvPr>
          <p:cNvSpPr/>
          <p:nvPr/>
        </p:nvSpPr>
        <p:spPr>
          <a:xfrm>
            <a:off x="201706" y="1054255"/>
            <a:ext cx="6477000" cy="764364"/>
          </a:xfrm>
          <a:prstGeom prst="flowChartProcess">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r>
              <a:rPr lang="en-US" dirty="0">
                <a:latin typeface="Helvetica" panose="020B0604020202020204" pitchFamily="34" charset="0"/>
                <a:cs typeface="Helvetica" panose="020B0604020202020204" pitchFamily="34" charset="0"/>
              </a:rPr>
              <a:t>Pipeline Automation</a:t>
            </a:r>
          </a:p>
        </p:txBody>
      </p:sp>
    </p:spTree>
    <p:extLst>
      <p:ext uri="{BB962C8B-B14F-4D97-AF65-F5344CB8AC3E}">
        <p14:creationId xmlns:p14="http://schemas.microsoft.com/office/powerpoint/2010/main" val="7678114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74460-EE69-63EF-3B8C-E04F6DE71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4782A-5F55-1115-FDBB-39581BDAE9EF}"/>
              </a:ext>
            </a:extLst>
          </p:cNvPr>
          <p:cNvSpPr>
            <a:spLocks noGrp="1"/>
          </p:cNvSpPr>
          <p:nvPr>
            <p:ph type="title"/>
          </p:nvPr>
        </p:nvSpPr>
        <p:spPr>
          <a:xfrm>
            <a:off x="0" y="1709738"/>
            <a:ext cx="12039600" cy="2852737"/>
          </a:xfrm>
        </p:spPr>
        <p:txBody>
          <a:bodyPr anchor="b">
            <a:normAutofit/>
          </a:bodyPr>
          <a:lstStyle/>
          <a:p>
            <a:r>
              <a:rPr lang="en-US" dirty="0"/>
              <a:t>DevOps &amp; </a:t>
            </a:r>
            <a:r>
              <a:rPr lang="en-US" dirty="0" err="1"/>
              <a:t>DataOps</a:t>
            </a:r>
            <a:r>
              <a:rPr lang="en-US" dirty="0"/>
              <a:t> Foundation</a:t>
            </a:r>
          </a:p>
        </p:txBody>
      </p:sp>
    </p:spTree>
    <p:extLst>
      <p:ext uri="{BB962C8B-B14F-4D97-AF65-F5344CB8AC3E}">
        <p14:creationId xmlns:p14="http://schemas.microsoft.com/office/powerpoint/2010/main" val="97029852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BF179-02F8-3E88-F687-D6FF044C53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0E33C-81EA-74D3-3BBC-746702E53036}"/>
              </a:ext>
            </a:extLst>
          </p:cNvPr>
          <p:cNvSpPr>
            <a:spLocks noGrp="1"/>
          </p:cNvSpPr>
          <p:nvPr>
            <p:ph type="title"/>
          </p:nvPr>
        </p:nvSpPr>
        <p:spPr/>
        <p:txBody>
          <a:bodyPr/>
          <a:lstStyle/>
          <a:p>
            <a:r>
              <a:rPr lang="en-US" dirty="0" err="1"/>
              <a:t>Devops</a:t>
            </a:r>
            <a:endParaRPr lang="en-US" dirty="0"/>
          </a:p>
        </p:txBody>
      </p:sp>
      <p:pic>
        <p:nvPicPr>
          <p:cNvPr id="7" name="Picture 2" descr="CI/CD Pipeline: Demystifying The Complexities">
            <a:extLst>
              <a:ext uri="{FF2B5EF4-FFF2-40B4-BE49-F238E27FC236}">
                <a16:creationId xmlns:a16="http://schemas.microsoft.com/office/drawing/2014/main" id="{2EF7C765-000E-D94E-D593-E4AC09259A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024" y="1295400"/>
            <a:ext cx="9753600" cy="493395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B03A9EA-B668-2B26-65D3-A800F5C06468}"/>
              </a:ext>
            </a:extLst>
          </p:cNvPr>
          <p:cNvSpPr txBox="1"/>
          <p:nvPr/>
        </p:nvSpPr>
        <p:spPr>
          <a:xfrm>
            <a:off x="9753600" y="1981200"/>
            <a:ext cx="2063376" cy="646331"/>
          </a:xfrm>
          <a:prstGeom prst="rect">
            <a:avLst/>
          </a:prstGeom>
          <a:noFill/>
        </p:spPr>
        <p:txBody>
          <a:bodyPr wrap="square" rtlCol="0">
            <a:spAutoFit/>
          </a:bodyPr>
          <a:lstStyle/>
          <a:p>
            <a:r>
              <a:rPr lang="en-US" dirty="0"/>
              <a:t>Here we work on code</a:t>
            </a:r>
          </a:p>
        </p:txBody>
      </p:sp>
    </p:spTree>
    <p:extLst>
      <p:ext uri="{BB962C8B-B14F-4D97-AF65-F5344CB8AC3E}">
        <p14:creationId xmlns:p14="http://schemas.microsoft.com/office/powerpoint/2010/main" val="6470744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753A7-A564-A06E-F6F4-FF615D4F2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C72E45-A232-E59D-B311-2087FAAD7D84}"/>
              </a:ext>
            </a:extLst>
          </p:cNvPr>
          <p:cNvSpPr>
            <a:spLocks noGrp="1"/>
          </p:cNvSpPr>
          <p:nvPr>
            <p:ph type="title"/>
          </p:nvPr>
        </p:nvSpPr>
        <p:spPr/>
        <p:txBody>
          <a:bodyPr/>
          <a:lstStyle/>
          <a:p>
            <a:r>
              <a:rPr lang="en-US" dirty="0" err="1"/>
              <a:t>Devops</a:t>
            </a:r>
            <a:r>
              <a:rPr lang="en-US" dirty="0"/>
              <a:t> for data</a:t>
            </a:r>
          </a:p>
        </p:txBody>
      </p:sp>
      <p:pic>
        <p:nvPicPr>
          <p:cNvPr id="4" name="Picture 3">
            <a:extLst>
              <a:ext uri="{FF2B5EF4-FFF2-40B4-BE49-F238E27FC236}">
                <a16:creationId xmlns:a16="http://schemas.microsoft.com/office/drawing/2014/main" id="{FDB76772-EE73-F77F-4601-8D3FB9BA0D4E}"/>
              </a:ext>
            </a:extLst>
          </p:cNvPr>
          <p:cNvPicPr>
            <a:picLocks noChangeAspect="1"/>
          </p:cNvPicPr>
          <p:nvPr/>
        </p:nvPicPr>
        <p:blipFill>
          <a:blip r:embed="rId2"/>
          <a:stretch>
            <a:fillRect/>
          </a:stretch>
        </p:blipFill>
        <p:spPr>
          <a:xfrm>
            <a:off x="533401" y="1204913"/>
            <a:ext cx="8458200" cy="347403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5" name="TextBox 4">
            <a:extLst>
              <a:ext uri="{FF2B5EF4-FFF2-40B4-BE49-F238E27FC236}">
                <a16:creationId xmlns:a16="http://schemas.microsoft.com/office/drawing/2014/main" id="{13385EBB-CDCA-67E3-A509-3F1061BE2F09}"/>
              </a:ext>
            </a:extLst>
          </p:cNvPr>
          <p:cNvSpPr txBox="1"/>
          <p:nvPr/>
        </p:nvSpPr>
        <p:spPr>
          <a:xfrm>
            <a:off x="152400" y="4678949"/>
            <a:ext cx="11887200" cy="2031325"/>
          </a:xfrm>
          <a:prstGeom prst="rect">
            <a:avLst/>
          </a:prstGeom>
          <a:noFill/>
        </p:spPr>
        <p:txBody>
          <a:bodyPr wrap="square" rtlCol="0">
            <a:spAutoFit/>
          </a:bodyPr>
          <a:lstStyle/>
          <a:p>
            <a:r>
              <a:rPr lang="en-US" dirty="0">
                <a:latin typeface="Helvetica" panose="020B0604020202020204" pitchFamily="34" charset="0"/>
                <a:cs typeface="Helvetica" panose="020B0604020202020204" pitchFamily="34" charset="0"/>
              </a:rPr>
              <a:t>Here we work on </a:t>
            </a:r>
          </a:p>
          <a:p>
            <a:pPr marL="285750" indent="-285750">
              <a:buFont typeface="Wingdings" panose="05000000000000000000" pitchFamily="2" charset="2"/>
              <a:buChar char="Ø"/>
            </a:pPr>
            <a:r>
              <a:rPr lang="en-US" dirty="0">
                <a:latin typeface="Helvetica" panose="020B0604020202020204" pitchFamily="34" charset="0"/>
                <a:cs typeface="Helvetica" panose="020B0604020202020204" pitchFamily="34" charset="0"/>
              </a:rPr>
              <a:t>data pipeline development – which is dev</a:t>
            </a:r>
          </a:p>
          <a:p>
            <a:pPr marL="285750" indent="-285750">
              <a:buFont typeface="Wingdings" panose="05000000000000000000" pitchFamily="2" charset="2"/>
              <a:buChar char="Ø"/>
            </a:pPr>
            <a:r>
              <a:rPr lang="en-US" dirty="0">
                <a:latin typeface="Helvetica" panose="020B0604020202020204" pitchFamily="34" charset="0"/>
                <a:cs typeface="Helvetica" panose="020B0604020202020204" pitchFamily="34" charset="0"/>
              </a:rPr>
              <a:t>Monitoring, troubleshooting, enhancing – which is ops</a:t>
            </a:r>
          </a:p>
          <a:p>
            <a:pPr marL="285750" indent="-285750">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Ø"/>
            </a:pPr>
            <a:r>
              <a:rPr lang="en-US" dirty="0" err="1">
                <a:latin typeface="Helvetica" panose="020B0604020202020204" pitchFamily="34" charset="0"/>
                <a:cs typeface="Helvetica" panose="020B0604020202020204" pitchFamily="34" charset="0"/>
              </a:rPr>
              <a:t>DataOps</a:t>
            </a:r>
            <a:r>
              <a:rPr lang="en-US" dirty="0">
                <a:latin typeface="Helvetica" panose="020B0604020202020204" pitchFamily="34" charset="0"/>
                <a:cs typeface="Helvetica" panose="020B0604020202020204" pitchFamily="34" charset="0"/>
              </a:rPr>
              <a:t> employs agile processes for data governance and analytics development and DevOps processes for code optimization, product builds, and delivery. In addition to building new code, streamlining and improving the data warehouse are crucial.</a:t>
            </a:r>
          </a:p>
        </p:txBody>
      </p:sp>
      <p:sp>
        <p:nvSpPr>
          <p:cNvPr id="6" name="TextBox 5">
            <a:extLst>
              <a:ext uri="{FF2B5EF4-FFF2-40B4-BE49-F238E27FC236}">
                <a16:creationId xmlns:a16="http://schemas.microsoft.com/office/drawing/2014/main" id="{0B660022-D92C-B956-8E77-B0B6C2052763}"/>
              </a:ext>
            </a:extLst>
          </p:cNvPr>
          <p:cNvSpPr txBox="1"/>
          <p:nvPr/>
        </p:nvSpPr>
        <p:spPr>
          <a:xfrm>
            <a:off x="7428753" y="3886200"/>
            <a:ext cx="1219200" cy="276999"/>
          </a:xfrm>
          <a:prstGeom prst="rect">
            <a:avLst/>
          </a:prstGeom>
          <a:noFill/>
        </p:spPr>
        <p:txBody>
          <a:bodyPr wrap="square" rtlCol="0">
            <a:spAutoFit/>
          </a:bodyPr>
          <a:lstStyle/>
          <a:p>
            <a:r>
              <a:rPr lang="en-US" sz="1200" dirty="0">
                <a:latin typeface="Helvetica" panose="020B0604020202020204" pitchFamily="34" charset="0"/>
                <a:cs typeface="Helvetica" panose="020B0604020202020204" pitchFamily="34" charset="0"/>
                <a:hlinkClick r:id="rId3"/>
              </a:rPr>
              <a:t>Image Source</a:t>
            </a:r>
            <a:endParaRPr lang="en-US" sz="1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601956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AD9CF-60E5-5C92-7105-D42D98C0C9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C0DA2-B411-791D-42B9-1A19A40DF5AC}"/>
              </a:ext>
            </a:extLst>
          </p:cNvPr>
          <p:cNvSpPr>
            <a:spLocks noGrp="1"/>
          </p:cNvSpPr>
          <p:nvPr>
            <p:ph type="title"/>
          </p:nvPr>
        </p:nvSpPr>
        <p:spPr>
          <a:xfrm>
            <a:off x="0" y="1709738"/>
            <a:ext cx="12039600" cy="2852737"/>
          </a:xfrm>
        </p:spPr>
        <p:txBody>
          <a:bodyPr anchor="b">
            <a:normAutofit/>
          </a:bodyPr>
          <a:lstStyle/>
          <a:p>
            <a:r>
              <a:rPr lang="en-US" dirty="0"/>
              <a:t>Cloud Foundation</a:t>
            </a:r>
          </a:p>
        </p:txBody>
      </p:sp>
    </p:spTree>
    <p:extLst>
      <p:ext uri="{BB962C8B-B14F-4D97-AF65-F5344CB8AC3E}">
        <p14:creationId xmlns:p14="http://schemas.microsoft.com/office/powerpoint/2010/main" val="174750878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2ADE2-9129-AC23-3B2B-6D77D23974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D6BC8-7FD0-179F-0B5E-2AAB72CA208E}"/>
              </a:ext>
            </a:extLst>
          </p:cNvPr>
          <p:cNvSpPr>
            <a:spLocks noGrp="1"/>
          </p:cNvSpPr>
          <p:nvPr>
            <p:ph type="title"/>
          </p:nvPr>
        </p:nvSpPr>
        <p:spPr/>
        <p:txBody>
          <a:bodyPr/>
          <a:lstStyle/>
          <a:p>
            <a:r>
              <a:rPr lang="en-US" dirty="0"/>
              <a:t>Typical On-Prem Infrastructure Components</a:t>
            </a:r>
          </a:p>
        </p:txBody>
      </p:sp>
      <p:pic>
        <p:nvPicPr>
          <p:cNvPr id="4" name="Picture 3">
            <a:extLst>
              <a:ext uri="{FF2B5EF4-FFF2-40B4-BE49-F238E27FC236}">
                <a16:creationId xmlns:a16="http://schemas.microsoft.com/office/drawing/2014/main" id="{B5543AFB-D70B-EB41-8C3F-3D7C2EA5562E}"/>
              </a:ext>
            </a:extLst>
          </p:cNvPr>
          <p:cNvPicPr>
            <a:picLocks noChangeAspect="1"/>
          </p:cNvPicPr>
          <p:nvPr/>
        </p:nvPicPr>
        <p:blipFill>
          <a:blip r:embed="rId2"/>
          <a:stretch>
            <a:fillRect/>
          </a:stretch>
        </p:blipFill>
        <p:spPr>
          <a:xfrm>
            <a:off x="1630596" y="902521"/>
            <a:ext cx="7737008" cy="577249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5" name="TextBox 4">
            <a:extLst>
              <a:ext uri="{FF2B5EF4-FFF2-40B4-BE49-F238E27FC236}">
                <a16:creationId xmlns:a16="http://schemas.microsoft.com/office/drawing/2014/main" id="{AB3579A1-98D5-BA15-C91F-A6E7DFAAB44A}"/>
              </a:ext>
            </a:extLst>
          </p:cNvPr>
          <p:cNvSpPr txBox="1"/>
          <p:nvPr/>
        </p:nvSpPr>
        <p:spPr>
          <a:xfrm>
            <a:off x="10820400" y="6265007"/>
            <a:ext cx="1219200" cy="378636"/>
          </a:xfrm>
          <a:prstGeom prst="rect">
            <a:avLst/>
          </a:prstGeom>
          <a:noFill/>
        </p:spPr>
        <p:txBody>
          <a:bodyPr wrap="square" rtlCol="0">
            <a:spAutoFit/>
          </a:bodyPr>
          <a:lstStyle/>
          <a:p>
            <a:pPr algn="ctr"/>
            <a:r>
              <a:rPr lang="en-US" dirty="0">
                <a:hlinkClick r:id="rId3"/>
              </a:rPr>
              <a:t>Source</a:t>
            </a:r>
            <a:endParaRPr lang="en-US" dirty="0"/>
          </a:p>
        </p:txBody>
      </p:sp>
    </p:spTree>
    <p:extLst>
      <p:ext uri="{BB962C8B-B14F-4D97-AF65-F5344CB8AC3E}">
        <p14:creationId xmlns:p14="http://schemas.microsoft.com/office/powerpoint/2010/main" val="24618693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8" name="Picture 12" descr="Implement a Serverless Dynamic DNS Server (DynDNS Compatible) using AWS API Gateway, Lambda and DynamoDB">
            <a:extLst>
              <a:ext uri="{FF2B5EF4-FFF2-40B4-BE49-F238E27FC236}">
                <a16:creationId xmlns:a16="http://schemas.microsoft.com/office/drawing/2014/main" id="{9CDAD217-2981-F313-11C5-F7D30726D1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4365" y="4114800"/>
            <a:ext cx="7077635" cy="27432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BC900CF-6E54-FF4D-57E5-795F4F4CF076}"/>
              </a:ext>
            </a:extLst>
          </p:cNvPr>
          <p:cNvSpPr>
            <a:spLocks noGrp="1"/>
          </p:cNvSpPr>
          <p:nvPr>
            <p:ph type="title"/>
          </p:nvPr>
        </p:nvSpPr>
        <p:spPr/>
        <p:txBody>
          <a:bodyPr/>
          <a:lstStyle/>
          <a:p>
            <a:r>
              <a:rPr lang="en-US" dirty="0"/>
              <a:t>Cloud Infra</a:t>
            </a:r>
          </a:p>
        </p:txBody>
      </p:sp>
      <p:sp>
        <p:nvSpPr>
          <p:cNvPr id="11" name="TextBox 10">
            <a:extLst>
              <a:ext uri="{FF2B5EF4-FFF2-40B4-BE49-F238E27FC236}">
                <a16:creationId xmlns:a16="http://schemas.microsoft.com/office/drawing/2014/main" id="{B5871625-0A5A-8DCF-469C-AC27D11059C2}"/>
              </a:ext>
            </a:extLst>
          </p:cNvPr>
          <p:cNvSpPr txBox="1"/>
          <p:nvPr/>
        </p:nvSpPr>
        <p:spPr>
          <a:xfrm>
            <a:off x="7087382" y="1752600"/>
            <a:ext cx="4648200" cy="1200329"/>
          </a:xfrm>
          <a:prstGeom prst="rect">
            <a:avLst/>
          </a:prstGeom>
          <a:noFill/>
        </p:spPr>
        <p:txBody>
          <a:bodyPr wrap="square" rtlCol="0">
            <a:spAutoFit/>
          </a:bodyPr>
          <a:lstStyle/>
          <a:p>
            <a:pPr algn="just"/>
            <a:r>
              <a:rPr lang="en-US" dirty="0" smtClean="0">
                <a:latin typeface="Helvetica" panose="020B0604020202030204"/>
                <a:cs typeface="Helvetica" panose="020B0604020202030204"/>
              </a:rPr>
              <a:t>The </a:t>
            </a:r>
            <a:r>
              <a:rPr lang="en-US" dirty="0">
                <a:latin typeface="Helvetica" panose="020B0604020202030204"/>
                <a:cs typeface="Helvetica" panose="020B0604020202030204"/>
              </a:rPr>
              <a:t>delivery of computing services—including storage, databases, software, and servers—over the internet on a pay-as-you-go basis</a:t>
            </a:r>
          </a:p>
        </p:txBody>
      </p:sp>
      <p:pic>
        <p:nvPicPr>
          <p:cNvPr id="4" name="Picture 3">
            <a:extLst>
              <a:ext uri="{FF2B5EF4-FFF2-40B4-BE49-F238E27FC236}">
                <a16:creationId xmlns:a16="http://schemas.microsoft.com/office/drawing/2014/main" id="{2578075D-F0A4-9115-0545-05C1E19B85E7}"/>
              </a:ext>
            </a:extLst>
          </p:cNvPr>
          <p:cNvPicPr>
            <a:picLocks noChangeAspect="1"/>
          </p:cNvPicPr>
          <p:nvPr/>
        </p:nvPicPr>
        <p:blipFill>
          <a:blip r:embed="rId3"/>
          <a:stretch>
            <a:fillRect/>
          </a:stretch>
        </p:blipFill>
        <p:spPr>
          <a:xfrm>
            <a:off x="429524" y="997126"/>
            <a:ext cx="5666476" cy="308133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5" name="TextBox 4">
            <a:extLst>
              <a:ext uri="{FF2B5EF4-FFF2-40B4-BE49-F238E27FC236}">
                <a16:creationId xmlns:a16="http://schemas.microsoft.com/office/drawing/2014/main" id="{D23D28D9-9384-9511-054F-67A201CD84E6}"/>
              </a:ext>
            </a:extLst>
          </p:cNvPr>
          <p:cNvSpPr txBox="1"/>
          <p:nvPr/>
        </p:nvSpPr>
        <p:spPr>
          <a:xfrm>
            <a:off x="429523" y="4566416"/>
            <a:ext cx="4684841" cy="1200329"/>
          </a:xfrm>
          <a:prstGeom prst="rect">
            <a:avLst/>
          </a:prstGeom>
          <a:noFill/>
        </p:spPr>
        <p:txBody>
          <a:bodyPr wrap="square" rtlCol="0">
            <a:spAutoFit/>
          </a:bodyPr>
          <a:lstStyle/>
          <a:p>
            <a:pPr algn="just"/>
            <a:r>
              <a:rPr lang="en-US" dirty="0">
                <a:latin typeface="Helvetica" panose="020B0604020202030204"/>
                <a:cs typeface="Helvetica" panose="020B0604020202030204"/>
              </a:rPr>
              <a:t>Databases and its related services like, pipeline builders, streaming platforms, API gateways, data stores are readily available as a service</a:t>
            </a:r>
          </a:p>
        </p:txBody>
      </p:sp>
    </p:spTree>
    <p:extLst>
      <p:ext uri="{BB962C8B-B14F-4D97-AF65-F5344CB8AC3E}">
        <p14:creationId xmlns:p14="http://schemas.microsoft.com/office/powerpoint/2010/main" val="2056028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AC2BA-D0FD-2E23-F496-649FDF6E7D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0F98C-36C9-4EDA-2F9E-B6C7B7AF4C04}"/>
              </a:ext>
            </a:extLst>
          </p:cNvPr>
          <p:cNvSpPr>
            <a:spLocks noGrp="1"/>
          </p:cNvSpPr>
          <p:nvPr>
            <p:ph type="title"/>
          </p:nvPr>
        </p:nvSpPr>
        <p:spPr>
          <a:xfrm>
            <a:off x="831850" y="1709738"/>
            <a:ext cx="10515600" cy="2852737"/>
          </a:xfrm>
        </p:spPr>
        <p:txBody>
          <a:bodyPr anchor="b">
            <a:normAutofit/>
          </a:bodyPr>
          <a:lstStyle/>
          <a:p>
            <a:r>
              <a:rPr lang="en-US" dirty="0"/>
              <a:t>Security Foundation</a:t>
            </a:r>
          </a:p>
        </p:txBody>
      </p:sp>
    </p:spTree>
    <p:extLst>
      <p:ext uri="{BB962C8B-B14F-4D97-AF65-F5344CB8AC3E}">
        <p14:creationId xmlns:p14="http://schemas.microsoft.com/office/powerpoint/2010/main" val="19014773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90CC0-DF67-20DA-0DF5-8EA2BFDACD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66FAB-5411-CDF5-A93F-1FFA62AFAA01}"/>
              </a:ext>
            </a:extLst>
          </p:cNvPr>
          <p:cNvSpPr>
            <a:spLocks noGrp="1"/>
          </p:cNvSpPr>
          <p:nvPr>
            <p:ph type="title"/>
          </p:nvPr>
        </p:nvSpPr>
        <p:spPr/>
        <p:txBody>
          <a:bodyPr/>
          <a:lstStyle/>
          <a:p>
            <a:r>
              <a:rPr lang="en-US" dirty="0"/>
              <a:t>Data Security - Basics</a:t>
            </a:r>
          </a:p>
        </p:txBody>
      </p:sp>
      <p:sp>
        <p:nvSpPr>
          <p:cNvPr id="6" name="Rectangle 5">
            <a:extLst>
              <a:ext uri="{FF2B5EF4-FFF2-40B4-BE49-F238E27FC236}">
                <a16:creationId xmlns:a16="http://schemas.microsoft.com/office/drawing/2014/main" id="{1E0A0653-5522-4176-63C6-E1F88B159C51}"/>
              </a:ext>
            </a:extLst>
          </p:cNvPr>
          <p:cNvSpPr/>
          <p:nvPr/>
        </p:nvSpPr>
        <p:spPr>
          <a:xfrm>
            <a:off x="1039906" y="924933"/>
            <a:ext cx="9321800" cy="914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latin typeface="Helvetica" panose="020B0604020202030204"/>
                <a:cs typeface="Helvetica" panose="020B0604020202030204"/>
              </a:rPr>
              <a:t>What should we worry about?</a:t>
            </a:r>
          </a:p>
        </p:txBody>
      </p:sp>
      <p:pic>
        <p:nvPicPr>
          <p:cNvPr id="6146" name="Picture 2" descr="Encrypt Icon #6188 - Free Icons Library">
            <a:extLst>
              <a:ext uri="{FF2B5EF4-FFF2-40B4-BE49-F238E27FC236}">
                <a16:creationId xmlns:a16="http://schemas.microsoft.com/office/drawing/2014/main" id="{73F6C68E-C45B-63CC-A08B-0F4DFBC9AC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942" y="2000977"/>
            <a:ext cx="1948295" cy="194829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Data Transfer Icon Stock Illustrations ...">
            <a:extLst>
              <a:ext uri="{FF2B5EF4-FFF2-40B4-BE49-F238E27FC236}">
                <a16:creationId xmlns:a16="http://schemas.microsoft.com/office/drawing/2014/main" id="{B193836A-5962-B26A-4E7A-B05C8AAD9E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6526" y="1905639"/>
            <a:ext cx="1948295" cy="194829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4+ Thousand Data Usage Icon Royalty ...">
            <a:extLst>
              <a:ext uri="{FF2B5EF4-FFF2-40B4-BE49-F238E27FC236}">
                <a16:creationId xmlns:a16="http://schemas.microsoft.com/office/drawing/2014/main" id="{60A1B4AB-7C2D-32E6-D7FF-C2AEBF5986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3347" y="1936748"/>
            <a:ext cx="1948295" cy="194829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95839EA-A451-A119-6B55-590FB596BAB9}"/>
              </a:ext>
            </a:extLst>
          </p:cNvPr>
          <p:cNvSpPr txBox="1"/>
          <p:nvPr/>
        </p:nvSpPr>
        <p:spPr>
          <a:xfrm>
            <a:off x="543070" y="3889525"/>
            <a:ext cx="1948295"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Data At Rest</a:t>
            </a:r>
          </a:p>
        </p:txBody>
      </p:sp>
      <p:sp>
        <p:nvSpPr>
          <p:cNvPr id="8" name="TextBox 7">
            <a:extLst>
              <a:ext uri="{FF2B5EF4-FFF2-40B4-BE49-F238E27FC236}">
                <a16:creationId xmlns:a16="http://schemas.microsoft.com/office/drawing/2014/main" id="{B0C029D8-A3FA-0202-655C-355173DDCB51}"/>
              </a:ext>
            </a:extLst>
          </p:cNvPr>
          <p:cNvSpPr txBox="1"/>
          <p:nvPr/>
        </p:nvSpPr>
        <p:spPr>
          <a:xfrm>
            <a:off x="5226526" y="3885043"/>
            <a:ext cx="1948295"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Data At Transit</a:t>
            </a:r>
          </a:p>
        </p:txBody>
      </p:sp>
      <p:sp>
        <p:nvSpPr>
          <p:cNvPr id="9" name="TextBox 8">
            <a:extLst>
              <a:ext uri="{FF2B5EF4-FFF2-40B4-BE49-F238E27FC236}">
                <a16:creationId xmlns:a16="http://schemas.microsoft.com/office/drawing/2014/main" id="{072BFF5C-524C-E492-AF8D-1A0EE2589460}"/>
              </a:ext>
            </a:extLst>
          </p:cNvPr>
          <p:cNvSpPr txBox="1"/>
          <p:nvPr/>
        </p:nvSpPr>
        <p:spPr>
          <a:xfrm>
            <a:off x="9341326" y="3853934"/>
            <a:ext cx="1948295"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Data In Use</a:t>
            </a:r>
          </a:p>
        </p:txBody>
      </p:sp>
      <p:sp>
        <p:nvSpPr>
          <p:cNvPr id="10" name="Rectangle 9">
            <a:extLst>
              <a:ext uri="{FF2B5EF4-FFF2-40B4-BE49-F238E27FC236}">
                <a16:creationId xmlns:a16="http://schemas.microsoft.com/office/drawing/2014/main" id="{BFEDF8C4-F03D-E3F3-3005-9BDB3DBAD6A5}"/>
              </a:ext>
            </a:extLst>
          </p:cNvPr>
          <p:cNvSpPr/>
          <p:nvPr/>
        </p:nvSpPr>
        <p:spPr>
          <a:xfrm>
            <a:off x="256071" y="4223266"/>
            <a:ext cx="2791929" cy="2474165"/>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pPr marL="180975" indent="-180975" algn="just">
              <a:buFont typeface="Arial" panose="020B0604020202020204" pitchFamily="34" charset="0"/>
              <a:buChar char="•"/>
            </a:pPr>
            <a:r>
              <a:rPr lang="en-US" dirty="0"/>
              <a:t>Data that is stored in a </a:t>
            </a:r>
            <a:r>
              <a:rPr lang="en-US" dirty="0" smtClean="0"/>
              <a:t>medium</a:t>
            </a:r>
          </a:p>
          <a:p>
            <a:pPr marL="180975" indent="-180975" algn="just">
              <a:buFont typeface="Arial" panose="020B0604020202020204" pitchFamily="34" charset="0"/>
              <a:buChar char="•"/>
            </a:pPr>
            <a:endParaRPr lang="en-US" dirty="0"/>
          </a:p>
          <a:p>
            <a:pPr marL="180975" indent="-180975" algn="just">
              <a:buFont typeface="Arial" panose="020B0604020202020204" pitchFamily="34" charset="0"/>
              <a:buChar char="•"/>
            </a:pPr>
            <a:r>
              <a:rPr lang="en-US" dirty="0"/>
              <a:t>Encryption of entire medium</a:t>
            </a:r>
          </a:p>
        </p:txBody>
      </p:sp>
      <p:sp>
        <p:nvSpPr>
          <p:cNvPr id="11" name="Rectangle 10">
            <a:extLst>
              <a:ext uri="{FF2B5EF4-FFF2-40B4-BE49-F238E27FC236}">
                <a16:creationId xmlns:a16="http://schemas.microsoft.com/office/drawing/2014/main" id="{9BF71332-DA0F-AC23-AB77-50533F9C177F}"/>
              </a:ext>
            </a:extLst>
          </p:cNvPr>
          <p:cNvSpPr/>
          <p:nvPr/>
        </p:nvSpPr>
        <p:spPr>
          <a:xfrm>
            <a:off x="4751871" y="4231435"/>
            <a:ext cx="2791929" cy="2474165"/>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pPr marL="271463" indent="-271463" algn="just">
              <a:buFont typeface="Arial" panose="020B0604020202020204" pitchFamily="34" charset="0"/>
              <a:buChar char="•"/>
            </a:pPr>
            <a:r>
              <a:rPr lang="en-US" dirty="0"/>
              <a:t>Data that is actively moving from one system/application to another </a:t>
            </a:r>
            <a:r>
              <a:rPr lang="en-US" dirty="0" smtClean="0"/>
              <a:t>system/application</a:t>
            </a:r>
          </a:p>
          <a:p>
            <a:pPr marL="271463" indent="-271463" algn="just">
              <a:buFont typeface="Arial" panose="020B0604020202020204" pitchFamily="34" charset="0"/>
              <a:buChar char="•"/>
            </a:pPr>
            <a:endParaRPr lang="en-US" dirty="0"/>
          </a:p>
          <a:p>
            <a:pPr marL="271463" indent="-271463" algn="just">
              <a:buFont typeface="Arial" panose="020B0604020202020204" pitchFamily="34" charset="0"/>
              <a:buChar char="•"/>
            </a:pPr>
            <a:r>
              <a:rPr lang="en-US" dirty="0"/>
              <a:t>Message Encryption</a:t>
            </a:r>
          </a:p>
        </p:txBody>
      </p:sp>
      <p:sp>
        <p:nvSpPr>
          <p:cNvPr id="12" name="Rectangle 11">
            <a:extLst>
              <a:ext uri="{FF2B5EF4-FFF2-40B4-BE49-F238E27FC236}">
                <a16:creationId xmlns:a16="http://schemas.microsoft.com/office/drawing/2014/main" id="{82D851F8-12F7-03B4-FC07-150BB7C05AC5}"/>
              </a:ext>
            </a:extLst>
          </p:cNvPr>
          <p:cNvSpPr/>
          <p:nvPr/>
        </p:nvSpPr>
        <p:spPr>
          <a:xfrm>
            <a:off x="8866671" y="4204541"/>
            <a:ext cx="2791929" cy="2474165"/>
          </a:xfrm>
          <a:prstGeom prst="rect">
            <a:avLst/>
          </a:prstGeom>
        </p:spPr>
        <p:style>
          <a:lnRef idx="2">
            <a:schemeClr val="accent5"/>
          </a:lnRef>
          <a:fillRef idx="1">
            <a:schemeClr val="lt1"/>
          </a:fillRef>
          <a:effectRef idx="0">
            <a:schemeClr val="accent5"/>
          </a:effectRef>
          <a:fontRef idx="minor">
            <a:schemeClr val="dk1"/>
          </a:fontRef>
        </p:style>
        <p:txBody>
          <a:bodyPr rtlCol="0" anchor="t"/>
          <a:lstStyle/>
          <a:p>
            <a:pPr marL="285750" indent="-285750" algn="just">
              <a:buFont typeface="Arial" panose="020B0604020202020204" pitchFamily="34" charset="0"/>
              <a:buChar char="•"/>
            </a:pPr>
            <a:r>
              <a:rPr lang="en-US" dirty="0"/>
              <a:t>Data that is being used by someone</a:t>
            </a:r>
          </a:p>
          <a:p>
            <a:pPr marL="285750" indent="-285750" algn="just">
              <a:buFont typeface="Arial" panose="020B0604020202020204" pitchFamily="34" charset="0"/>
              <a:buChar char="•"/>
            </a:pPr>
            <a:r>
              <a:rPr lang="en-US" dirty="0" smtClean="0"/>
              <a:t>Role Based </a:t>
            </a:r>
            <a:r>
              <a:rPr lang="en-US" dirty="0"/>
              <a:t>Access Control</a:t>
            </a:r>
          </a:p>
        </p:txBody>
      </p:sp>
    </p:spTree>
    <p:extLst>
      <p:ext uri="{BB962C8B-B14F-4D97-AF65-F5344CB8AC3E}">
        <p14:creationId xmlns:p14="http://schemas.microsoft.com/office/powerpoint/2010/main" val="78098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3A734-EEC8-6DF5-7CF7-2154B866A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9E170-8880-7048-AB41-7A834249859A}"/>
              </a:ext>
            </a:extLst>
          </p:cNvPr>
          <p:cNvSpPr>
            <a:spLocks noGrp="1"/>
          </p:cNvSpPr>
          <p:nvPr>
            <p:ph type="title"/>
          </p:nvPr>
        </p:nvSpPr>
        <p:spPr>
          <a:xfrm>
            <a:off x="831850" y="1709738"/>
            <a:ext cx="10515600" cy="2852737"/>
          </a:xfrm>
        </p:spPr>
        <p:txBody>
          <a:bodyPr anchor="b">
            <a:normAutofit/>
          </a:bodyPr>
          <a:lstStyle/>
          <a:p>
            <a:r>
              <a:rPr lang="en-US" dirty="0"/>
              <a:t>Continuous Training (CT) and Continuous Deployment (CD) pipelines</a:t>
            </a:r>
          </a:p>
        </p:txBody>
      </p:sp>
    </p:spTree>
    <p:extLst>
      <p:ext uri="{BB962C8B-B14F-4D97-AF65-F5344CB8AC3E}">
        <p14:creationId xmlns:p14="http://schemas.microsoft.com/office/powerpoint/2010/main" val="289159247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B43B1-FD87-94E8-528C-D494BCE3A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AF754-99E8-9C8A-69B8-DE88E2BBDE63}"/>
              </a:ext>
            </a:extLst>
          </p:cNvPr>
          <p:cNvSpPr>
            <a:spLocks noGrp="1"/>
          </p:cNvSpPr>
          <p:nvPr>
            <p:ph type="title"/>
          </p:nvPr>
        </p:nvSpPr>
        <p:spPr/>
        <p:txBody>
          <a:bodyPr/>
          <a:lstStyle/>
          <a:p>
            <a:r>
              <a:rPr lang="en-US" dirty="0"/>
              <a:t>Introduction</a:t>
            </a:r>
          </a:p>
        </p:txBody>
      </p:sp>
      <p:pic>
        <p:nvPicPr>
          <p:cNvPr id="8" name="Picture 7">
            <a:extLst>
              <a:ext uri="{FF2B5EF4-FFF2-40B4-BE49-F238E27FC236}">
                <a16:creationId xmlns:a16="http://schemas.microsoft.com/office/drawing/2014/main" id="{4379955A-AB93-354C-A45E-F7772AE4595D}"/>
              </a:ext>
            </a:extLst>
          </p:cNvPr>
          <p:cNvPicPr>
            <a:picLocks noChangeAspect="1"/>
          </p:cNvPicPr>
          <p:nvPr/>
        </p:nvPicPr>
        <p:blipFill>
          <a:blip r:embed="rId2"/>
          <a:stretch>
            <a:fillRect/>
          </a:stretch>
        </p:blipFill>
        <p:spPr>
          <a:xfrm>
            <a:off x="1447800" y="1128261"/>
            <a:ext cx="7696200" cy="5551241"/>
          </a:xfrm>
          <a:prstGeom prst="rect">
            <a:avLst/>
          </a:prstGeom>
          <a:ln>
            <a:noFill/>
          </a:ln>
          <a:effectLst>
            <a:outerShdw blurRad="190500" algn="tl" rotWithShape="0">
              <a:srgbClr val="000000">
                <a:alpha val="70000"/>
              </a:srgbClr>
            </a:outerShdw>
          </a:effectLst>
        </p:spPr>
      </p:pic>
      <p:sp>
        <p:nvSpPr>
          <p:cNvPr id="9" name="TextBox 8">
            <a:extLst>
              <a:ext uri="{FF2B5EF4-FFF2-40B4-BE49-F238E27FC236}">
                <a16:creationId xmlns:a16="http://schemas.microsoft.com/office/drawing/2014/main" id="{FC30217E-8926-F8BD-9041-70624D772C37}"/>
              </a:ext>
            </a:extLst>
          </p:cNvPr>
          <p:cNvSpPr txBox="1"/>
          <p:nvPr/>
        </p:nvSpPr>
        <p:spPr>
          <a:xfrm>
            <a:off x="9448800" y="5867400"/>
            <a:ext cx="2362200" cy="276999"/>
          </a:xfrm>
          <a:prstGeom prst="rect">
            <a:avLst/>
          </a:prstGeom>
          <a:noFill/>
        </p:spPr>
        <p:txBody>
          <a:bodyPr wrap="square" rtlCol="0">
            <a:spAutoFit/>
          </a:bodyPr>
          <a:lstStyle/>
          <a:p>
            <a:r>
              <a:rPr lang="en-US" sz="1200" dirty="0">
                <a:latin typeface="Helvetica" panose="020B0604020202020204" pitchFamily="34" charset="0"/>
                <a:cs typeface="Helvetica" panose="020B0604020202020204" pitchFamily="34" charset="0"/>
                <a:hlinkClick r:id="rId3"/>
              </a:rPr>
              <a:t>Image Source</a:t>
            </a:r>
            <a:endParaRPr lang="en-US" sz="1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1060683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5CE12-E586-073E-5961-EF3E8F9EFB21}"/>
              </a:ext>
            </a:extLst>
          </p:cNvPr>
          <p:cNvSpPr>
            <a:spLocks noGrp="1"/>
          </p:cNvSpPr>
          <p:nvPr>
            <p:ph type="title"/>
          </p:nvPr>
        </p:nvSpPr>
        <p:spPr/>
        <p:txBody>
          <a:bodyPr/>
          <a:lstStyle/>
          <a:p>
            <a:r>
              <a:rPr lang="en-US" dirty="0"/>
              <a:t>Key Phases</a:t>
            </a:r>
          </a:p>
        </p:txBody>
      </p:sp>
      <p:sp>
        <p:nvSpPr>
          <p:cNvPr id="3" name="Text Placeholder 2">
            <a:extLst>
              <a:ext uri="{FF2B5EF4-FFF2-40B4-BE49-F238E27FC236}">
                <a16:creationId xmlns:a16="http://schemas.microsoft.com/office/drawing/2014/main" id="{ACD9C06C-98C3-4E6E-80A1-C89DE66DA95E}"/>
              </a:ext>
            </a:extLst>
          </p:cNvPr>
          <p:cNvSpPr>
            <a:spLocks noGrp="1"/>
          </p:cNvSpPr>
          <p:nvPr>
            <p:ph type="body" sz="quarter" idx="13"/>
          </p:nvPr>
        </p:nvSpPr>
        <p:spPr>
          <a:xfrm>
            <a:off x="114300" y="1120588"/>
            <a:ext cx="11963400" cy="5554431"/>
          </a:xfrm>
        </p:spPr>
        <p:txBody>
          <a:bodyPr>
            <a:normAutofit/>
          </a:bodyPr>
          <a:lstStyle/>
          <a:p>
            <a:pPr marL="0" indent="0" algn="just">
              <a:lnSpc>
                <a:spcPct val="110000"/>
              </a:lnSpc>
              <a:spcBef>
                <a:spcPts val="0"/>
              </a:spcBef>
              <a:buNone/>
            </a:pPr>
            <a:r>
              <a:rPr lang="en-US" b="1" u="sng" dirty="0"/>
              <a:t>The experimental phase</a:t>
            </a:r>
            <a:r>
              <a:rPr lang="en-US" u="sng" dirty="0"/>
              <a:t> </a:t>
            </a:r>
            <a:r>
              <a:rPr lang="en-US" dirty="0"/>
              <a:t>- The ML Engineer wants to test a new idea (let's say a new feature transformation). He modifies the code base to implement the new transformation, trains a model, and validates that the new transformation indeed yields higher performance. The resulting outcome at this point is just a piece of code that needs to be included in the master repo</a:t>
            </a:r>
            <a:r>
              <a:rPr lang="en-US" dirty="0" smtClean="0"/>
              <a:t>.</a:t>
            </a:r>
          </a:p>
          <a:p>
            <a:pPr marL="0" indent="0" algn="just">
              <a:lnSpc>
                <a:spcPct val="110000"/>
              </a:lnSpc>
              <a:spcBef>
                <a:spcPts val="0"/>
              </a:spcBef>
              <a:buNone/>
            </a:pPr>
            <a:endParaRPr lang="en-US" dirty="0"/>
          </a:p>
          <a:p>
            <a:pPr marL="0" indent="0" algn="just" fontAlgn="base">
              <a:lnSpc>
                <a:spcPct val="110000"/>
              </a:lnSpc>
              <a:spcBef>
                <a:spcPts val="0"/>
              </a:spcBef>
              <a:buNone/>
            </a:pPr>
            <a:r>
              <a:rPr lang="en-US" b="1" u="sng" dirty="0"/>
              <a:t>Continuous integration</a:t>
            </a:r>
            <a:r>
              <a:rPr lang="en-US" u="sng" dirty="0"/>
              <a:t> </a:t>
            </a:r>
            <a:r>
              <a:rPr lang="en-US" dirty="0"/>
              <a:t>- The engineer then creates a Pull request (PR) that automatically triggers unit testing (like a typical CI process) but also triggers the instantiation of the automated training pipeline to retrain the model, potentially test it through integration tests or test cases and push it to a model registry. There is a manual process for another engineer to validate the PR and performance reading of the new model. </a:t>
            </a:r>
            <a:endParaRPr lang="en-US" dirty="0" smtClean="0"/>
          </a:p>
          <a:p>
            <a:pPr marL="0" indent="0" algn="just" fontAlgn="base">
              <a:lnSpc>
                <a:spcPct val="110000"/>
              </a:lnSpc>
              <a:spcBef>
                <a:spcPts val="0"/>
              </a:spcBef>
              <a:buNone/>
            </a:pPr>
            <a:endParaRPr lang="en-US" dirty="0"/>
          </a:p>
          <a:p>
            <a:pPr marL="0" indent="0" algn="just" fontAlgn="base">
              <a:lnSpc>
                <a:spcPct val="110000"/>
              </a:lnSpc>
              <a:spcBef>
                <a:spcPts val="0"/>
              </a:spcBef>
              <a:buNone/>
            </a:pPr>
            <a:r>
              <a:rPr lang="en-US" b="1" u="sng" dirty="0"/>
              <a:t>Continuous deployment</a:t>
            </a:r>
            <a:r>
              <a:rPr lang="en-US" u="sng" dirty="0"/>
              <a:t> </a:t>
            </a:r>
            <a:r>
              <a:rPr lang="en-US" dirty="0"/>
              <a:t>- Activating a deployment triggers a canary deployment to make sure the model fits in a serving pipeline and runs an A/B test experiment to test it against the production model. After satisfactory results, we can propose the new model as a replacement for the production one. </a:t>
            </a:r>
            <a:endParaRPr lang="en-US" dirty="0" smtClean="0"/>
          </a:p>
          <a:p>
            <a:pPr marL="0" indent="0" algn="just" fontAlgn="base">
              <a:lnSpc>
                <a:spcPct val="110000"/>
              </a:lnSpc>
              <a:spcBef>
                <a:spcPts val="0"/>
              </a:spcBef>
              <a:buNone/>
            </a:pPr>
            <a:endParaRPr lang="en-US" dirty="0"/>
          </a:p>
          <a:p>
            <a:pPr marL="0" indent="0" algn="just" fontAlgn="base">
              <a:lnSpc>
                <a:spcPct val="110000"/>
              </a:lnSpc>
              <a:spcBef>
                <a:spcPts val="0"/>
              </a:spcBef>
              <a:buNone/>
            </a:pPr>
            <a:r>
              <a:rPr lang="en-US" b="1" u="sng" dirty="0"/>
              <a:t>Continuous training</a:t>
            </a:r>
            <a:r>
              <a:rPr lang="en-US" u="sng" dirty="0"/>
              <a:t> </a:t>
            </a:r>
            <a:r>
              <a:rPr lang="en-US" dirty="0"/>
              <a:t>- as soon as the model enters the model registry, it deteriorates, and you might want to activate recurring training right away. For example, each day, the model can be further fine-tuned with the new training data of the day, deployed, and the serving pipeline rerouted to the updated model</a:t>
            </a:r>
            <a:r>
              <a:rPr lang="en-US" dirty="0" smtClean="0"/>
              <a:t>.</a:t>
            </a:r>
            <a:endParaRPr lang="en-US" dirty="0"/>
          </a:p>
        </p:txBody>
      </p:sp>
    </p:spTree>
    <p:extLst>
      <p:ext uri="{BB962C8B-B14F-4D97-AF65-F5344CB8AC3E}">
        <p14:creationId xmlns:p14="http://schemas.microsoft.com/office/powerpoint/2010/main" val="402411615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40EF2-24A9-7DA1-5191-5F57CB892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D84F5D-264C-DB34-BCFC-B6BA0279B0FB}"/>
              </a:ext>
            </a:extLst>
          </p:cNvPr>
          <p:cNvSpPr>
            <a:spLocks noGrp="1"/>
          </p:cNvSpPr>
          <p:nvPr>
            <p:ph type="title"/>
          </p:nvPr>
        </p:nvSpPr>
        <p:spPr>
          <a:xfrm>
            <a:off x="589056" y="1828800"/>
            <a:ext cx="11576050" cy="2852737"/>
          </a:xfrm>
        </p:spPr>
        <p:txBody>
          <a:bodyPr anchor="b">
            <a:normAutofit/>
          </a:bodyPr>
          <a:lstStyle/>
          <a:p>
            <a:r>
              <a:rPr lang="en-US" dirty="0" err="1"/>
              <a:t>DataOps</a:t>
            </a:r>
            <a:r>
              <a:rPr lang="en-US" dirty="0"/>
              <a:t> and Observability</a:t>
            </a:r>
          </a:p>
        </p:txBody>
      </p:sp>
    </p:spTree>
    <p:extLst>
      <p:ext uri="{BB962C8B-B14F-4D97-AF65-F5344CB8AC3E}">
        <p14:creationId xmlns:p14="http://schemas.microsoft.com/office/powerpoint/2010/main" val="5368693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362F3-E520-339A-E7B8-B2D09F14E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0D4D1-A74D-583C-E5CC-FA21DD1C6CCA}"/>
              </a:ext>
            </a:extLst>
          </p:cNvPr>
          <p:cNvSpPr>
            <a:spLocks noGrp="1"/>
          </p:cNvSpPr>
          <p:nvPr>
            <p:ph type="title"/>
          </p:nvPr>
        </p:nvSpPr>
        <p:spPr/>
        <p:txBody>
          <a:bodyPr/>
          <a:lstStyle/>
          <a:p>
            <a:r>
              <a:rPr lang="en-US" dirty="0"/>
              <a:t>Key Phases</a:t>
            </a:r>
          </a:p>
        </p:txBody>
      </p:sp>
      <p:sp>
        <p:nvSpPr>
          <p:cNvPr id="6" name="Text Placeholder 2">
            <a:extLst>
              <a:ext uri="{FF2B5EF4-FFF2-40B4-BE49-F238E27FC236}">
                <a16:creationId xmlns:a16="http://schemas.microsoft.com/office/drawing/2014/main" id="{B26AEE41-CDFD-BA90-17CF-342B6FF74570}"/>
              </a:ext>
            </a:extLst>
          </p:cNvPr>
          <p:cNvSpPr txBox="1">
            <a:spLocks/>
          </p:cNvSpPr>
          <p:nvPr/>
        </p:nvSpPr>
        <p:spPr>
          <a:xfrm>
            <a:off x="228600" y="1104900"/>
            <a:ext cx="11734800" cy="54483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Font typeface="Wingdings" panose="05000000000000000000" pitchFamily="2" charset="2"/>
              <a:buChar char="Ø"/>
            </a:pPr>
            <a:r>
              <a:rPr lang="en-US" dirty="0"/>
              <a:t>Observability is no longer just for software engineering!</a:t>
            </a:r>
          </a:p>
          <a:p>
            <a:pPr lvl="1" algn="just">
              <a:lnSpc>
                <a:spcPct val="150000"/>
              </a:lnSpc>
              <a:buFont typeface="Wingdings" panose="05000000000000000000" pitchFamily="2" charset="2"/>
              <a:buChar char="§"/>
            </a:pPr>
            <a:r>
              <a:rPr lang="en-US" sz="1800" dirty="0"/>
              <a:t>With the rise of data downtime and the increasing complexity of the data stack,</a:t>
            </a:r>
          </a:p>
          <a:p>
            <a:pPr lvl="1" algn="just">
              <a:lnSpc>
                <a:spcPct val="150000"/>
              </a:lnSpc>
              <a:buFont typeface="Wingdings" panose="05000000000000000000" pitchFamily="2" charset="2"/>
              <a:buChar char="§"/>
            </a:pPr>
            <a:r>
              <a:rPr lang="en-US" sz="1800" dirty="0"/>
              <a:t>observability has emerged as a critical concern for data teams, too.</a:t>
            </a:r>
          </a:p>
          <a:p>
            <a:pPr algn="just">
              <a:lnSpc>
                <a:spcPct val="150000"/>
              </a:lnSpc>
              <a:buFont typeface="Wingdings" panose="05000000000000000000" pitchFamily="2" charset="2"/>
              <a:buChar char="Ø"/>
            </a:pPr>
            <a:r>
              <a:rPr lang="en-US" dirty="0"/>
              <a:t>Developer Operations (DevOps) teams have become an integral component of most engineering organizations</a:t>
            </a:r>
          </a:p>
          <a:p>
            <a:pPr lvl="1" algn="just">
              <a:lnSpc>
                <a:spcPct val="150000"/>
              </a:lnSpc>
              <a:buFont typeface="Wingdings" panose="05000000000000000000" pitchFamily="2" charset="2"/>
              <a:buChar char="§"/>
            </a:pPr>
            <a:r>
              <a:rPr lang="en-US" sz="1800" u="sng" dirty="0"/>
              <a:t>remove silos between software developers and IT</a:t>
            </a:r>
            <a:r>
              <a:rPr lang="en-US" sz="1800" dirty="0"/>
              <a:t>, facilitating the seamless and reliable release of software to production</a:t>
            </a:r>
          </a:p>
          <a:p>
            <a:pPr algn="just">
              <a:lnSpc>
                <a:spcPct val="150000"/>
              </a:lnSpc>
              <a:buFont typeface="Wingdings" panose="05000000000000000000" pitchFamily="2" charset="2"/>
              <a:buChar char="Ø"/>
            </a:pPr>
            <a:r>
              <a:rPr lang="en-US" dirty="0"/>
              <a:t>As organizations grow and the underlying tech stacks powering them become more complicated</a:t>
            </a:r>
          </a:p>
          <a:p>
            <a:pPr lvl="1" algn="just">
              <a:lnSpc>
                <a:spcPct val="150000"/>
              </a:lnSpc>
              <a:buFont typeface="Wingdings" panose="05000000000000000000" pitchFamily="2" charset="2"/>
              <a:buChar char="§"/>
            </a:pPr>
            <a:r>
              <a:rPr lang="en-US" sz="1800" dirty="0"/>
              <a:t>it’s important for DevOps teams to maintain a constant pulse on the health of their systems</a:t>
            </a:r>
          </a:p>
          <a:p>
            <a:pPr algn="just">
              <a:lnSpc>
                <a:spcPct val="150000"/>
              </a:lnSpc>
              <a:buFont typeface="Wingdings" panose="05000000000000000000" pitchFamily="2" charset="2"/>
              <a:buChar char="Ø"/>
            </a:pPr>
            <a:r>
              <a:rPr lang="en-US" dirty="0"/>
              <a:t>Observability, a more recent addition to the engineering lexicon, speaks to this need, and refers to the monitoring, tracking, and triaging of incidents to prevent downtime.</a:t>
            </a:r>
          </a:p>
          <a:p>
            <a:pPr algn="just">
              <a:lnSpc>
                <a:spcPct val="150000"/>
              </a:lnSpc>
              <a:buFont typeface="Wingdings" panose="05000000000000000000" pitchFamily="2" charset="2"/>
              <a:buChar char="Ø"/>
            </a:pPr>
            <a:r>
              <a:rPr lang="en-US" dirty="0">
                <a:highlight>
                  <a:srgbClr val="C0C0C0"/>
                </a:highlight>
              </a:rPr>
              <a:t>A dedicated session on observability will be coming in future</a:t>
            </a:r>
            <a:endParaRPr lang="en-IN" dirty="0">
              <a:highlight>
                <a:srgbClr val="C0C0C0"/>
              </a:highlight>
            </a:endParaRPr>
          </a:p>
        </p:txBody>
      </p:sp>
    </p:spTree>
    <p:extLst>
      <p:ext uri="{BB962C8B-B14F-4D97-AF65-F5344CB8AC3E}">
        <p14:creationId xmlns:p14="http://schemas.microsoft.com/office/powerpoint/2010/main" val="332732707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6CBE5-F696-9413-32D4-ED6D02CC8B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3EBFD-6C15-3651-8E6A-E222B093830C}"/>
              </a:ext>
            </a:extLst>
          </p:cNvPr>
          <p:cNvSpPr>
            <a:spLocks noGrp="1"/>
          </p:cNvSpPr>
          <p:nvPr>
            <p:ph type="title"/>
          </p:nvPr>
        </p:nvSpPr>
        <p:spPr>
          <a:xfrm>
            <a:off x="589056" y="1828800"/>
            <a:ext cx="11576050" cy="2852737"/>
          </a:xfrm>
        </p:spPr>
        <p:txBody>
          <a:bodyPr anchor="b">
            <a:normAutofit/>
          </a:bodyPr>
          <a:lstStyle/>
          <a:p>
            <a:r>
              <a:rPr lang="en-US" dirty="0"/>
              <a:t>Case Study</a:t>
            </a:r>
          </a:p>
        </p:txBody>
      </p:sp>
    </p:spTree>
    <p:extLst>
      <p:ext uri="{BB962C8B-B14F-4D97-AF65-F5344CB8AC3E}">
        <p14:creationId xmlns:p14="http://schemas.microsoft.com/office/powerpoint/2010/main" val="301385972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46CEE-00D7-4B8D-AFC0-987802C1A03C}"/>
              </a:ext>
            </a:extLst>
          </p:cNvPr>
          <p:cNvSpPr>
            <a:spLocks noGrp="1"/>
          </p:cNvSpPr>
          <p:nvPr>
            <p:ph type="title"/>
          </p:nvPr>
        </p:nvSpPr>
        <p:spPr/>
        <p:txBody>
          <a:bodyPr/>
          <a:lstStyle/>
          <a:p>
            <a:r>
              <a:rPr lang="en-US" dirty="0"/>
              <a:t>Background &amp; Problem Statement</a:t>
            </a:r>
          </a:p>
        </p:txBody>
      </p:sp>
      <p:sp>
        <p:nvSpPr>
          <p:cNvPr id="3" name="Text Placeholder 2">
            <a:extLst>
              <a:ext uri="{FF2B5EF4-FFF2-40B4-BE49-F238E27FC236}">
                <a16:creationId xmlns:a16="http://schemas.microsoft.com/office/drawing/2014/main" id="{D5693EDB-E3EC-4594-EF06-EFAF6F8C94B5}"/>
              </a:ext>
            </a:extLst>
          </p:cNvPr>
          <p:cNvSpPr>
            <a:spLocks noGrp="1"/>
          </p:cNvSpPr>
          <p:nvPr>
            <p:ph type="body" sz="quarter" idx="13"/>
          </p:nvPr>
        </p:nvSpPr>
        <p:spPr>
          <a:xfrm>
            <a:off x="0" y="1066800"/>
            <a:ext cx="12039600" cy="5486400"/>
          </a:xfrm>
        </p:spPr>
        <p:txBody>
          <a:bodyPr>
            <a:normAutofit lnSpcReduction="10000"/>
          </a:bodyPr>
          <a:lstStyle/>
          <a:p>
            <a:pPr algn="just">
              <a:lnSpc>
                <a:spcPct val="150000"/>
              </a:lnSpc>
            </a:pPr>
            <a:r>
              <a:rPr lang="en-US" dirty="0"/>
              <a:t>DoorDash is an American technology company that operates an on-demand delivery platform connecting consumers with local merchants for food, groceries, and other retail items. It is the largest food delivery service in the United States and facilitates deliveries through independent contractors called "Dashers". </a:t>
            </a:r>
          </a:p>
          <a:p>
            <a:pPr algn="just">
              <a:lnSpc>
                <a:spcPct val="150000"/>
              </a:lnSpc>
            </a:pPr>
            <a:r>
              <a:rPr lang="en-US" b="1" u="sng" dirty="0"/>
              <a:t>Business Problem</a:t>
            </a:r>
          </a:p>
          <a:p>
            <a:pPr algn="just">
              <a:lnSpc>
                <a:spcPct val="150000"/>
              </a:lnSpc>
            </a:pPr>
            <a:r>
              <a:rPr lang="en-US" dirty="0"/>
              <a:t>Their earlier ML workflows were:</a:t>
            </a:r>
          </a:p>
          <a:p>
            <a:pPr algn="just">
              <a:lnSpc>
                <a:spcPct val="150000"/>
              </a:lnSpc>
            </a:pPr>
            <a:r>
              <a:rPr lang="en-US" dirty="0"/>
              <a:t>Fragmented (analytics, batch ML, real-time ML all separate)</a:t>
            </a:r>
          </a:p>
          <a:p>
            <a:pPr algn="just">
              <a:lnSpc>
                <a:spcPct val="150000"/>
              </a:lnSpc>
            </a:pPr>
            <a:r>
              <a:rPr lang="en-US" dirty="0"/>
              <a:t>Low observability (data issues → incorrect ETAs)</a:t>
            </a:r>
          </a:p>
          <a:p>
            <a:pPr algn="just">
              <a:lnSpc>
                <a:spcPct val="150000"/>
              </a:lnSpc>
            </a:pPr>
            <a:r>
              <a:rPr lang="en-US" dirty="0"/>
              <a:t>Slow deployment (weeks)</a:t>
            </a:r>
          </a:p>
          <a:p>
            <a:pPr algn="just">
              <a:lnSpc>
                <a:spcPct val="150000"/>
              </a:lnSpc>
            </a:pPr>
            <a:r>
              <a:rPr lang="en-US" dirty="0"/>
              <a:t>Frequent data drift</a:t>
            </a:r>
          </a:p>
          <a:p>
            <a:pPr algn="just">
              <a:lnSpc>
                <a:spcPct val="150000"/>
              </a:lnSpc>
            </a:pPr>
            <a:r>
              <a:rPr lang="en-US" dirty="0"/>
              <a:t>Manual pipeline debugging</a:t>
            </a:r>
          </a:p>
          <a:p>
            <a:pPr algn="just">
              <a:lnSpc>
                <a:spcPct val="150000"/>
              </a:lnSpc>
            </a:pPr>
            <a:r>
              <a:rPr lang="en-US" dirty="0"/>
              <a:t>DoorDash needed a </a:t>
            </a:r>
            <a:r>
              <a:rPr lang="en-US" b="1" dirty="0"/>
              <a:t>unified, reliable, production-grade ML data platform</a:t>
            </a:r>
            <a:r>
              <a:rPr lang="en-US" dirty="0" smtClean="0"/>
              <a:t>.</a:t>
            </a:r>
            <a:endParaRPr lang="en-US" dirty="0"/>
          </a:p>
        </p:txBody>
      </p:sp>
    </p:spTree>
    <p:extLst>
      <p:ext uri="{BB962C8B-B14F-4D97-AF65-F5344CB8AC3E}">
        <p14:creationId xmlns:p14="http://schemas.microsoft.com/office/powerpoint/2010/main" val="351568660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5A7FF-5398-D893-47F7-5B9898627CF9}"/>
              </a:ext>
            </a:extLst>
          </p:cNvPr>
          <p:cNvSpPr>
            <a:spLocks noGrp="1"/>
          </p:cNvSpPr>
          <p:nvPr>
            <p:ph type="title"/>
          </p:nvPr>
        </p:nvSpPr>
        <p:spPr/>
        <p:txBody>
          <a:bodyPr>
            <a:normAutofit/>
          </a:bodyPr>
          <a:lstStyle/>
          <a:p>
            <a:r>
              <a:rPr lang="en-US" dirty="0"/>
              <a:t>Architecture of the DoorDash ML Platform</a:t>
            </a:r>
          </a:p>
        </p:txBody>
      </p:sp>
      <p:pic>
        <p:nvPicPr>
          <p:cNvPr id="9" name="Picture 8">
            <a:extLst>
              <a:ext uri="{FF2B5EF4-FFF2-40B4-BE49-F238E27FC236}">
                <a16:creationId xmlns:a16="http://schemas.microsoft.com/office/drawing/2014/main" id="{378159DA-E136-AFA5-C668-BE4934855817}"/>
              </a:ext>
            </a:extLst>
          </p:cNvPr>
          <p:cNvPicPr>
            <a:picLocks noChangeAspect="1"/>
          </p:cNvPicPr>
          <p:nvPr/>
        </p:nvPicPr>
        <p:blipFill>
          <a:blip r:embed="rId2"/>
          <a:stretch>
            <a:fillRect/>
          </a:stretch>
        </p:blipFill>
        <p:spPr>
          <a:xfrm>
            <a:off x="152400" y="1095610"/>
            <a:ext cx="11430000" cy="5619750"/>
          </a:xfrm>
          <a:prstGeom prst="rect">
            <a:avLst/>
          </a:prstGeom>
        </p:spPr>
      </p:pic>
      <p:sp>
        <p:nvSpPr>
          <p:cNvPr id="10" name="TextBox 9">
            <a:extLst>
              <a:ext uri="{FF2B5EF4-FFF2-40B4-BE49-F238E27FC236}">
                <a16:creationId xmlns:a16="http://schemas.microsoft.com/office/drawing/2014/main" id="{7536F22C-7C83-1B34-5111-A87EC200B4FB}"/>
              </a:ext>
            </a:extLst>
          </p:cNvPr>
          <p:cNvSpPr txBox="1"/>
          <p:nvPr/>
        </p:nvSpPr>
        <p:spPr>
          <a:xfrm>
            <a:off x="10401300" y="5257800"/>
            <a:ext cx="2362200" cy="276999"/>
          </a:xfrm>
          <a:prstGeom prst="rect">
            <a:avLst/>
          </a:prstGeom>
          <a:noFill/>
        </p:spPr>
        <p:txBody>
          <a:bodyPr wrap="square" rtlCol="0">
            <a:spAutoFit/>
          </a:bodyPr>
          <a:lstStyle/>
          <a:p>
            <a:r>
              <a:rPr lang="en-US" sz="1200" dirty="0">
                <a:latin typeface="Helvetica" panose="020B0604020202020204" pitchFamily="34" charset="0"/>
                <a:cs typeface="Helvetica" panose="020B0604020202020204" pitchFamily="34" charset="0"/>
                <a:hlinkClick r:id="rId3"/>
              </a:rPr>
              <a:t>Image Source</a:t>
            </a:r>
            <a:endParaRPr lang="en-US" sz="1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47490382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66043-30DA-61E8-27EB-94C2E6D1F468}"/>
              </a:ext>
            </a:extLst>
          </p:cNvPr>
          <p:cNvSpPr>
            <a:spLocks noGrp="1"/>
          </p:cNvSpPr>
          <p:nvPr>
            <p:ph type="title"/>
          </p:nvPr>
        </p:nvSpPr>
        <p:spPr/>
        <p:txBody>
          <a:bodyPr/>
          <a:lstStyle/>
          <a:p>
            <a:r>
              <a:rPr lang="en-US" dirty="0"/>
              <a:t>Components</a:t>
            </a:r>
          </a:p>
        </p:txBody>
      </p:sp>
      <p:sp>
        <p:nvSpPr>
          <p:cNvPr id="3" name="Text Placeholder 2">
            <a:extLst>
              <a:ext uri="{FF2B5EF4-FFF2-40B4-BE49-F238E27FC236}">
                <a16:creationId xmlns:a16="http://schemas.microsoft.com/office/drawing/2014/main" id="{C8225AD9-0C80-3EDB-38E5-F6895D9E37AA}"/>
              </a:ext>
            </a:extLst>
          </p:cNvPr>
          <p:cNvSpPr>
            <a:spLocks noGrp="1"/>
          </p:cNvSpPr>
          <p:nvPr>
            <p:ph type="body" sz="quarter" idx="13"/>
          </p:nvPr>
        </p:nvSpPr>
        <p:spPr>
          <a:xfrm>
            <a:off x="152400" y="1066800"/>
            <a:ext cx="11811000" cy="5630631"/>
          </a:xfrm>
        </p:spPr>
        <p:txBody>
          <a:bodyPr>
            <a:normAutofit lnSpcReduction="10000"/>
          </a:bodyPr>
          <a:lstStyle/>
          <a:p>
            <a:pPr marL="0" indent="0" algn="just">
              <a:buNone/>
            </a:pPr>
            <a:r>
              <a:rPr lang="en-US" b="1" u="sng" dirty="0"/>
              <a:t>Feature Store</a:t>
            </a:r>
            <a:r>
              <a:rPr lang="en-US" u="sng" dirty="0"/>
              <a:t> </a:t>
            </a:r>
            <a:r>
              <a:rPr lang="en-US" dirty="0"/>
              <a:t>- Low latency store from which Prediction Service reads common features needed for evaluating the model. Supports numerical, categorical, and embedding features. </a:t>
            </a:r>
          </a:p>
          <a:p>
            <a:pPr marL="0" indent="0" algn="just">
              <a:buNone/>
            </a:pPr>
            <a:r>
              <a:rPr lang="en-US" b="1" u="sng" dirty="0"/>
              <a:t>Realtime Feature Aggregator</a:t>
            </a:r>
            <a:r>
              <a:rPr lang="en-US" u="sng" dirty="0"/>
              <a:t> </a:t>
            </a:r>
            <a:r>
              <a:rPr lang="en-US" dirty="0"/>
              <a:t>- Listens to a stream of events and aggregates them into features in </a:t>
            </a:r>
            <a:r>
              <a:rPr lang="en-US" dirty="0" err="1"/>
              <a:t>realtime</a:t>
            </a:r>
            <a:r>
              <a:rPr lang="en-US" dirty="0"/>
              <a:t> and stores them in the Feature Store. These are for features such as historic store wait time in the past 30 mins, recent driving speeds, etc. </a:t>
            </a:r>
          </a:p>
          <a:p>
            <a:pPr marL="0" indent="0" algn="just">
              <a:buNone/>
            </a:pPr>
            <a:r>
              <a:rPr lang="en-US" b="1" u="sng" dirty="0"/>
              <a:t>Historical Aggregator</a:t>
            </a:r>
            <a:r>
              <a:rPr lang="en-US" u="sng" dirty="0"/>
              <a:t> </a:t>
            </a:r>
            <a:r>
              <a:rPr lang="en-US" dirty="0"/>
              <a:t>- This runs offline to compute features which are longer-term aggregations like 1W, 3M, etc. These calculations run offline. Results are stored in the Feature Warehouse and also uploaded to the Feature Store. </a:t>
            </a:r>
          </a:p>
          <a:p>
            <a:pPr marL="0" indent="0" algn="just">
              <a:buNone/>
            </a:pPr>
            <a:r>
              <a:rPr lang="en-US" b="1" u="sng" dirty="0"/>
              <a:t>Prediction Logs</a:t>
            </a:r>
            <a:r>
              <a:rPr lang="en-US" u="sng" dirty="0"/>
              <a:t> </a:t>
            </a:r>
            <a:r>
              <a:rPr lang="en-US" dirty="0"/>
              <a:t>- This stores the predictions made from the prediction service including the features used when the prediction was made and the id of the model used to make the prediction. This is useful for debugging as well as for training data for the next model refresh. </a:t>
            </a:r>
          </a:p>
          <a:p>
            <a:pPr marL="0" indent="0" algn="just">
              <a:buNone/>
            </a:pPr>
            <a:r>
              <a:rPr lang="en-US" b="1" u="sng" dirty="0"/>
              <a:t>Model Training Pipeline</a:t>
            </a:r>
            <a:r>
              <a:rPr lang="en-US" u="sng" dirty="0"/>
              <a:t> </a:t>
            </a:r>
            <a:r>
              <a:rPr lang="en-US" dirty="0"/>
              <a:t>- All the production models will be built with this pipeline. The training script must be in the repository. Only this training pipeline will have access to write models into the Model Store to generate a trace of changes going into the Model Store for security and audit. The training pipeline will eventually support auto-retraining of models periodically and auto-deploy/monitoring. This is equivalent to the CI/CD system for ML Models. </a:t>
            </a:r>
          </a:p>
          <a:p>
            <a:pPr marL="0" indent="0" algn="just">
              <a:buNone/>
            </a:pPr>
            <a:r>
              <a:rPr lang="en-US" b="1" u="sng" dirty="0"/>
              <a:t>Model Store</a:t>
            </a:r>
            <a:r>
              <a:rPr lang="en-US" u="sng" dirty="0"/>
              <a:t> </a:t>
            </a:r>
            <a:r>
              <a:rPr lang="en-US" dirty="0"/>
              <a:t>- Stores the model files and metadata. Metadata identifies which model is currently active for certain predictions, defines which models are getting shadow traffic. </a:t>
            </a:r>
          </a:p>
          <a:p>
            <a:pPr marL="0" indent="0" algn="just">
              <a:buNone/>
            </a:pPr>
            <a:r>
              <a:rPr lang="en-US" b="1" u="sng" dirty="0"/>
              <a:t>Prediction Service</a:t>
            </a:r>
            <a:r>
              <a:rPr lang="en-US" u="sng" dirty="0"/>
              <a:t> </a:t>
            </a:r>
            <a:r>
              <a:rPr lang="en-US" dirty="0"/>
              <a:t>- Serves predictions in production for various use cases. Given a request with request features, context (store id, consumer id, </a:t>
            </a:r>
            <a:r>
              <a:rPr lang="en-US" dirty="0" err="1"/>
              <a:t>etc</a:t>
            </a:r>
            <a:r>
              <a:rPr lang="en-US" dirty="0"/>
              <a:t>) and prediction name (optionally including override model id to support A/B testing), generates the prediction. </a:t>
            </a:r>
          </a:p>
        </p:txBody>
      </p:sp>
    </p:spTree>
    <p:extLst>
      <p:ext uri="{BB962C8B-B14F-4D97-AF65-F5344CB8AC3E}">
        <p14:creationId xmlns:p14="http://schemas.microsoft.com/office/powerpoint/2010/main" val="60180345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5C736-48AF-F9D5-AE8B-550E4D7C669A}"/>
              </a:ext>
            </a:extLst>
          </p:cNvPr>
          <p:cNvSpPr>
            <a:spLocks noGrp="1"/>
          </p:cNvSpPr>
          <p:nvPr>
            <p:ph type="title"/>
          </p:nvPr>
        </p:nvSpPr>
        <p:spPr/>
        <p:txBody>
          <a:bodyPr/>
          <a:lstStyle/>
          <a:p>
            <a:r>
              <a:rPr lang="en-US" dirty="0"/>
              <a:t>References:</a:t>
            </a:r>
          </a:p>
        </p:txBody>
      </p:sp>
      <p:sp>
        <p:nvSpPr>
          <p:cNvPr id="3" name="Text Placeholder 2">
            <a:extLst>
              <a:ext uri="{FF2B5EF4-FFF2-40B4-BE49-F238E27FC236}">
                <a16:creationId xmlns:a16="http://schemas.microsoft.com/office/drawing/2014/main" id="{01CF7771-506F-AA5E-D539-3C3CF0998C38}"/>
              </a:ext>
            </a:extLst>
          </p:cNvPr>
          <p:cNvSpPr>
            <a:spLocks noGrp="1"/>
          </p:cNvSpPr>
          <p:nvPr>
            <p:ph type="body" sz="quarter" idx="13"/>
          </p:nvPr>
        </p:nvSpPr>
        <p:spPr>
          <a:xfrm>
            <a:off x="533400" y="1143000"/>
            <a:ext cx="10160000" cy="5029200"/>
          </a:xfrm>
        </p:spPr>
        <p:txBody>
          <a:bodyPr>
            <a:normAutofit/>
          </a:bodyPr>
          <a:lstStyle/>
          <a:p>
            <a:r>
              <a:rPr lang="en-US" dirty="0"/>
              <a:t>Data Pipelines Pocket Reference By James Densmore</a:t>
            </a:r>
          </a:p>
          <a:p>
            <a:r>
              <a:rPr lang="en-US" dirty="0"/>
              <a:t>Fundamentals of Data Engineering By Joe Reis and Matt Housley</a:t>
            </a:r>
          </a:p>
          <a:p>
            <a:r>
              <a:rPr lang="en-US" dirty="0"/>
              <a:t>Effective Data Science Infrastructure By Ville </a:t>
            </a:r>
            <a:r>
              <a:rPr lang="en-US" dirty="0" err="1"/>
              <a:t>Tuulos</a:t>
            </a:r>
            <a:endParaRPr lang="en-US" dirty="0"/>
          </a:p>
          <a:p>
            <a:r>
              <a:rPr lang="en-US" dirty="0"/>
              <a:t>Summary from </a:t>
            </a:r>
            <a:r>
              <a:rPr lang="en-US" dirty="0">
                <a:hlinkClick r:id="rId2"/>
              </a:rPr>
              <a:t>https://medium.com/@ZhouAnnaWrites/book-notes-fundamentals-of-data-engineering-chapter-6-storage-81a533f81f0c</a:t>
            </a:r>
            <a:r>
              <a:rPr lang="en-US" dirty="0"/>
              <a:t> </a:t>
            </a:r>
          </a:p>
          <a:p>
            <a:r>
              <a:rPr lang="en-US" dirty="0">
                <a:hlinkClick r:id="rId3"/>
              </a:rPr>
              <a:t>https://www.linkedin.com/pulse/continuous-integration-deployment-training-ci-cd-ct-damien-ajx7c/</a:t>
            </a:r>
            <a:r>
              <a:rPr lang="en-US" dirty="0"/>
              <a:t> </a:t>
            </a:r>
          </a:p>
          <a:p>
            <a:r>
              <a:rPr lang="en-US" dirty="0">
                <a:hlinkClick r:id="rId4"/>
              </a:rPr>
              <a:t>https://www.techtarget.com/searchdatacenter/definition/infrastructure</a:t>
            </a:r>
            <a:r>
              <a:rPr lang="en-US" dirty="0"/>
              <a:t> </a:t>
            </a:r>
          </a:p>
          <a:p>
            <a:r>
              <a:rPr lang="en-US" dirty="0">
                <a:hlinkClick r:id="rId5"/>
              </a:rPr>
              <a:t>https://www.pcloudy.com/cicd-pipeline-demystifying-the-complexities/</a:t>
            </a:r>
            <a:r>
              <a:rPr lang="en-US" dirty="0"/>
              <a:t> </a:t>
            </a:r>
          </a:p>
          <a:p>
            <a:r>
              <a:rPr lang="en-US" dirty="0">
                <a:hlinkClick r:id="rId6"/>
              </a:rPr>
              <a:t>https://www.hardtechnology.net/post/dynamic-dns/</a:t>
            </a:r>
            <a:r>
              <a:rPr lang="en-US" dirty="0"/>
              <a:t> </a:t>
            </a:r>
          </a:p>
          <a:p>
            <a:r>
              <a:rPr lang="en-US" dirty="0">
                <a:hlinkClick r:id="rId7"/>
              </a:rPr>
              <a:t>https://medium.com/innovationendeavors/operational-machine-learning-for-the-modern-data-stack-178a3feba334</a:t>
            </a:r>
            <a:r>
              <a:rPr lang="en-US" dirty="0"/>
              <a:t> </a:t>
            </a:r>
          </a:p>
        </p:txBody>
      </p:sp>
    </p:spTree>
    <p:extLst>
      <p:ext uri="{BB962C8B-B14F-4D97-AF65-F5344CB8AC3E}">
        <p14:creationId xmlns:p14="http://schemas.microsoft.com/office/powerpoint/2010/main" val="161506802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endParaRPr lang="en-US" dirty="0"/>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27597</TotalTime>
  <Words>5959</Words>
  <Application>Microsoft Office PowerPoint</Application>
  <PresentationFormat>Widescreen</PresentationFormat>
  <Paragraphs>840</Paragraphs>
  <Slides>98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98</vt:i4>
      </vt:variant>
    </vt:vector>
  </HeadingPairs>
  <TitlesOfParts>
    <vt:vector size="106" baseType="lpstr">
      <vt:lpstr>Arial</vt:lpstr>
      <vt:lpstr>Calibri</vt:lpstr>
      <vt:lpstr>Calibri Light</vt:lpstr>
      <vt:lpstr>Courier New</vt:lpstr>
      <vt:lpstr>Helvetica</vt:lpstr>
      <vt:lpstr>Helvetica Light</vt:lpstr>
      <vt:lpstr>Wingdings</vt:lpstr>
      <vt:lpstr>Office Theme</vt:lpstr>
      <vt:lpstr> Modern Data Infrastructure and DataOps </vt:lpstr>
      <vt:lpstr>Agenda</vt:lpstr>
      <vt:lpstr>Introduction</vt:lpstr>
      <vt:lpstr>Data Pipeline Architecture – Re-Introduction</vt:lpstr>
      <vt:lpstr>Key Drivers from Last 2 Decades</vt:lpstr>
      <vt:lpstr>Data Ingestion Infrastructure</vt:lpstr>
      <vt:lpstr>Generation / Source Systems </vt:lpstr>
      <vt:lpstr>Data Ingestion Infra – Key parameters</vt:lpstr>
      <vt:lpstr>Tools</vt:lpstr>
      <vt:lpstr>Data Transformation Infrastructure</vt:lpstr>
      <vt:lpstr>Transformation &amp; Modelling</vt:lpstr>
      <vt:lpstr>Tools</vt:lpstr>
      <vt:lpstr>Workflow Orchestration Platforms</vt:lpstr>
      <vt:lpstr>Problem Statement</vt:lpstr>
      <vt:lpstr>Solution</vt:lpstr>
      <vt:lpstr>Data Storage Infrastructure</vt:lpstr>
      <vt:lpstr>Introduction</vt:lpstr>
      <vt:lpstr>Storage Layering</vt:lpstr>
      <vt:lpstr>Data Storage Infrastructure -Raw Ingredients</vt:lpstr>
      <vt:lpstr>HDD/SDD/RAM</vt:lpstr>
      <vt:lpstr>Networking and CPU</vt:lpstr>
      <vt:lpstr>Serialization</vt:lpstr>
      <vt:lpstr>Compression &amp; Caching</vt:lpstr>
      <vt:lpstr>Data Storage Infrastructure - Storage Systems</vt:lpstr>
      <vt:lpstr>Introduction</vt:lpstr>
      <vt:lpstr>Single Machine vs Distributed Storage</vt:lpstr>
      <vt:lpstr>Eventual vs Strong Consistency</vt:lpstr>
      <vt:lpstr>Storage Types</vt:lpstr>
      <vt:lpstr>File Storage</vt:lpstr>
      <vt:lpstr>File Storage - Types</vt:lpstr>
      <vt:lpstr>File Storage – Types - Contd</vt:lpstr>
      <vt:lpstr>Block Storage</vt:lpstr>
      <vt:lpstr>Block Storage - Types</vt:lpstr>
      <vt:lpstr>Block Storage – Types - Contd</vt:lpstr>
      <vt:lpstr>Object Storage</vt:lpstr>
      <vt:lpstr>Object Storage</vt:lpstr>
      <vt:lpstr>Cache and Memory-Based Storage Systems - Contd</vt:lpstr>
      <vt:lpstr>Cache and Memory-Based Storage Systems - Contd</vt:lpstr>
      <vt:lpstr>Cache and Memory-Based Storage Systems - Contd</vt:lpstr>
      <vt:lpstr>Hadoop Distributed File System</vt:lpstr>
      <vt:lpstr>Hadoop Distributed File System - Contd</vt:lpstr>
      <vt:lpstr>Hadoop Distributed File System - Contd</vt:lpstr>
      <vt:lpstr>Streaming Data Storage</vt:lpstr>
      <vt:lpstr>Data Storage Infrastructure -Storage Abstractions</vt:lpstr>
      <vt:lpstr>Abstractions</vt:lpstr>
      <vt:lpstr>Data Serving Infrastructure</vt:lpstr>
      <vt:lpstr>Introduction</vt:lpstr>
      <vt:lpstr>Data Serving Infrastructure - Reverse ETL</vt:lpstr>
      <vt:lpstr>What is it?</vt:lpstr>
      <vt:lpstr>Example</vt:lpstr>
      <vt:lpstr>Detailed</vt:lpstr>
      <vt:lpstr>Data Serving Infrastructure - Data Analytics</vt:lpstr>
      <vt:lpstr>Introduction</vt:lpstr>
      <vt:lpstr>Detailed</vt:lpstr>
      <vt:lpstr>Detailed</vt:lpstr>
      <vt:lpstr>Data Serving Infrastructure - Data Science &amp; Machine Learning</vt:lpstr>
      <vt:lpstr>Introduction</vt:lpstr>
      <vt:lpstr>The Stack</vt:lpstr>
      <vt:lpstr>Datawarehouse</vt:lpstr>
      <vt:lpstr>Compute Resources</vt:lpstr>
      <vt:lpstr>Job Scheduler</vt:lpstr>
      <vt:lpstr>Architecture</vt:lpstr>
      <vt:lpstr>Versioning</vt:lpstr>
      <vt:lpstr>Model Operations</vt:lpstr>
      <vt:lpstr>Feature Engineering</vt:lpstr>
      <vt:lpstr>Model Development</vt:lpstr>
      <vt:lpstr>Stack Again</vt:lpstr>
      <vt:lpstr>Data Scientists/ ML Engineers  Freedom and Responsibility </vt:lpstr>
      <vt:lpstr>Data Serving Infrastructure - Ways to serve data</vt:lpstr>
      <vt:lpstr>Introduction</vt:lpstr>
      <vt:lpstr>File Exchange</vt:lpstr>
      <vt:lpstr>Databases</vt:lpstr>
      <vt:lpstr>Streaming Systems</vt:lpstr>
      <vt:lpstr>Query Federation</vt:lpstr>
      <vt:lpstr>Jupyter Notebook</vt:lpstr>
      <vt:lpstr>Automation in  Data Infrastructure Management</vt:lpstr>
      <vt:lpstr>Summary of Data Infrastructure Components</vt:lpstr>
      <vt:lpstr>Key Areas for Automation</vt:lpstr>
      <vt:lpstr>Key Areas for Automation</vt:lpstr>
      <vt:lpstr>DevOps &amp; DataOps Foundation</vt:lpstr>
      <vt:lpstr>Devops</vt:lpstr>
      <vt:lpstr>Devops for data</vt:lpstr>
      <vt:lpstr>Cloud Foundation</vt:lpstr>
      <vt:lpstr>Typical On-Prem Infrastructure Components</vt:lpstr>
      <vt:lpstr>Cloud Infra</vt:lpstr>
      <vt:lpstr>Security Foundation</vt:lpstr>
      <vt:lpstr>Data Security - Basics</vt:lpstr>
      <vt:lpstr>Continuous Training (CT) and Continuous Deployment (CD) pipelines</vt:lpstr>
      <vt:lpstr>Introduction</vt:lpstr>
      <vt:lpstr>Key Phases</vt:lpstr>
      <vt:lpstr>DataOps and Observability</vt:lpstr>
      <vt:lpstr>Key Phases</vt:lpstr>
      <vt:lpstr>Case Study</vt:lpstr>
      <vt:lpstr>Background &amp; Problem Statement</vt:lpstr>
      <vt:lpstr>Architecture of the DoorDash ML Platform</vt:lpstr>
      <vt:lpstr>Components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Admin</cp:lastModifiedBy>
  <cp:revision>898</cp:revision>
  <dcterms:created xsi:type="dcterms:W3CDTF">2018-10-16T06:13:57Z</dcterms:created>
  <dcterms:modified xsi:type="dcterms:W3CDTF">2026-02-09T10:04:08Z</dcterms:modified>
</cp:coreProperties>
</file>